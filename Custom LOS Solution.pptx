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66" r:id="rId5"/>
    <p:sldId id="261" r:id="rId6"/>
    <p:sldId id="262" r:id="rId7"/>
    <p:sldId id="267" r:id="rId8"/>
    <p:sldId id="259" r:id="rId9"/>
    <p:sldId id="265" r:id="rId10"/>
    <p:sldId id="260" r:id="rId11"/>
    <p:sldId id="263" r:id="rId12"/>
    <p:sldId id="25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71B2-451C-4F7C-A968-768F893B78BE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22E0A-79CF-4F65-807D-CE8DF7C16D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6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B601-1939-2B6C-3014-CBD7CE8E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51710-77B0-744F-9D74-822577D71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FC3FF-5A89-C4A7-C0E5-61AFF3C58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CA34-22CE-D0A3-3200-FA45BFF72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2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2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28037"/>
            <a:ext cx="3916906" cy="31085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1900" b="1">
                <a:solidFill>
                  <a:srgbClr val="002060"/>
                </a:solidFill>
              </a:defRPr>
            </a:pPr>
            <a:r>
              <a:t>Custom LOS + AI Assistant on AWS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57200"/>
            <a:ext cx="969264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860" b="0">
                <a:solidFill>
                  <a:srgbClr val="5C6C80"/>
                </a:solidFill>
              </a:defRPr>
            </a:pPr>
            <a:r>
              <a:t>Core LOS transaction platform separated from AI enablement, with clean system relationships and minimal connector overlap.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470" y="797275"/>
            <a:ext cx="11658600" cy="5440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886968"/>
            <a:ext cx="29260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819" b="1">
                <a:solidFill>
                  <a:srgbClr val="5C6C80"/>
                </a:solidFill>
              </a:defRPr>
            </a:pPr>
            <a:r>
              <a:t>AWS Cloud / Enterprise Deployment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6903720" cy="47548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33856"/>
            <a:ext cx="672084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002060"/>
                </a:solidFill>
              </a:defRPr>
            </a:pPr>
            <a:r>
              <a:t>Core LOS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097280"/>
            <a:ext cx="3977639" cy="4754880"/>
          </a:xfrm>
          <a:prstGeom prst="roundRect">
            <a:avLst>
              <a:gd name="adj" fmla="val 3500"/>
            </a:avLst>
          </a:prstGeom>
          <a:solidFill>
            <a:srgbClr val="FCFAFF"/>
          </a:solidFill>
          <a:ln w="1524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133856"/>
            <a:ext cx="3794759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6D4ABE"/>
                </a:solidFill>
              </a:defRPr>
            </a:pPr>
            <a:r>
              <a:t>AI Enablement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44752"/>
            <a:ext cx="6473952" cy="8412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481328"/>
            <a:ext cx="629107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346EBD"/>
                </a:solidFill>
              </a:defRPr>
            </a:pPr>
            <a:r>
              <a:t>Channels &amp;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87168"/>
            <a:ext cx="6473952" cy="10607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523744"/>
            <a:ext cx="629107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00929C"/>
                </a:solidFill>
              </a:defRPr>
            </a:pPr>
            <a:r>
              <a:t>Application &amp; API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12463"/>
            <a:ext cx="6473952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749039"/>
            <a:ext cx="629107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86BC25"/>
                </a:solidFill>
              </a:defRPr>
            </a:pPr>
            <a:r>
              <a:t>Data, Documents &amp;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01184"/>
            <a:ext cx="6473952" cy="731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937760"/>
            <a:ext cx="629107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>
              <a:defRPr sz="919" b="1">
                <a:solidFill>
                  <a:srgbClr val="FF9900"/>
                </a:solidFill>
              </a:defRPr>
            </a:pPr>
            <a:r>
              <a:t>External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719072"/>
            <a:ext cx="10515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LOS Users</a:t>
            </a:r>
          </a:p>
          <a:p>
            <a:pPr algn="ctr">
              <a:defRPr sz="670">
                <a:solidFill>
                  <a:srgbClr val="5C6C80"/>
                </a:solidFill>
              </a:defRPr>
            </a:pPr>
            <a:r>
              <a:t>Sales • CC • Credit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719072"/>
            <a:ext cx="73152" cy="384048"/>
          </a:xfrm>
          <a:prstGeom prst="roundRect">
            <a:avLst>
              <a:gd name="adj" fmla="val 6000"/>
            </a:avLst>
          </a:prstGeom>
          <a:solidFill>
            <a:srgbClr val="346EBD"/>
          </a:solidFill>
          <a:ln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130552" y="1645920"/>
            <a:ext cx="1005840" cy="530352"/>
          </a:xfrm>
          <a:prstGeom prst="roundRect">
            <a:avLst>
              <a:gd name="adj" fmla="val 6000"/>
            </a:avLst>
          </a:prstGeom>
          <a:solidFill>
            <a:srgbClr val="ECF3FD"/>
          </a:solidFill>
          <a:ln w="1397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80" b="1">
                <a:solidFill>
                  <a:srgbClr val="283241"/>
                </a:solidFill>
              </a:defRPr>
            </a:pPr>
            <a:r>
              <a:t>Web App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React / Next.js</a:t>
            </a:r>
            <a:br/>
            <a:r>
              <a:t>on Amplify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0552" y="1645920"/>
            <a:ext cx="73152" cy="530352"/>
          </a:xfrm>
          <a:prstGeom prst="roundRect">
            <a:avLst>
              <a:gd name="adj" fmla="val 6000"/>
            </a:avLst>
          </a:prstGeom>
          <a:solidFill>
            <a:srgbClr val="346EBD"/>
          </a:solidFill>
          <a:ln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310128" y="1645920"/>
            <a:ext cx="98755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Cognito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Login • roles • JWT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1645920"/>
            <a:ext cx="73152" cy="530352"/>
          </a:xfrm>
          <a:prstGeom prst="roundRect">
            <a:avLst>
              <a:gd name="adj" fmla="val 6000"/>
            </a:avLst>
          </a:prstGeom>
          <a:solidFill>
            <a:srgbClr val="346EBD"/>
          </a:solidFill>
          <a:ln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71416" y="1645920"/>
            <a:ext cx="98755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CloudFront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CDN / caching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1645920"/>
            <a:ext cx="73152" cy="530352"/>
          </a:xfrm>
          <a:prstGeom prst="roundRect">
            <a:avLst>
              <a:gd name="adj" fmla="val 6000"/>
            </a:avLst>
          </a:prstGeom>
          <a:solidFill>
            <a:srgbClr val="346EBD"/>
          </a:solidFill>
          <a:ln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32704" y="1645920"/>
            <a:ext cx="98755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WAF + DNS</a:t>
            </a:r>
          </a:p>
          <a:p>
            <a:pPr algn="ctr">
              <a:defRPr sz="680">
                <a:solidFill>
                  <a:srgbClr val="5C6C80"/>
                </a:solidFill>
              </a:defRPr>
            </a:pPr>
            <a:r>
              <a:t>Edge security</a:t>
            </a:r>
            <a:br/>
            <a:r>
              <a:t>Route 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32704" y="1645920"/>
            <a:ext cx="73152" cy="530352"/>
          </a:xfrm>
          <a:prstGeom prst="roundRect">
            <a:avLst>
              <a:gd name="adj" fmla="val 6000"/>
            </a:avLst>
          </a:prstGeom>
          <a:solidFill>
            <a:srgbClr val="346EBD"/>
          </a:solidFill>
          <a:ln>
            <a:solidFill>
              <a:srgbClr val="34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4128" y="2743200"/>
            <a:ext cx="1188720" cy="530352"/>
          </a:xfrm>
          <a:prstGeom prst="roundRect">
            <a:avLst>
              <a:gd name="adj" fmla="val 6000"/>
            </a:avLst>
          </a:prstGeom>
          <a:solidFill>
            <a:srgbClr val="E9F9FA"/>
          </a:solidFill>
          <a:ln w="13970"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80" b="1">
                <a:solidFill>
                  <a:srgbClr val="283241"/>
                </a:solidFill>
              </a:defRPr>
            </a:pPr>
            <a:r>
              <a:t>API Gateway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Secured LOS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2743200"/>
            <a:ext cx="73152" cy="530352"/>
          </a:xfrm>
          <a:prstGeom prst="roundRect">
            <a:avLst>
              <a:gd name="adj" fmla="val 6000"/>
            </a:avLst>
          </a:prstGeom>
          <a:solidFill>
            <a:srgbClr val="00929C"/>
          </a:solidFill>
          <a:ln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521415" y="2668883"/>
            <a:ext cx="3101769" cy="6961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80" b="1">
                <a:solidFill>
                  <a:srgbClr val="283241"/>
                </a:solidFill>
              </a:defRPr>
            </a:pPr>
            <a:r>
              <a:t>Lambda Business Services</a:t>
            </a:r>
          </a:p>
          <a:p>
            <a:pPr algn="ctr">
              <a:defRPr sz="720">
                <a:solidFill>
                  <a:srgbClr val="5C6C80"/>
                </a:solidFill>
              </a:defRPr>
            </a:pPr>
            <a:r>
              <a:t>Lead service   |   Application service   |   Document service   |   Customer service   |   Workflow service   |   Integration adapters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87168" y="2651760"/>
            <a:ext cx="73152" cy="713232"/>
          </a:xfrm>
          <a:prstGeom prst="roundRect">
            <a:avLst>
              <a:gd name="adj" fmla="val 6000"/>
            </a:avLst>
          </a:prstGeom>
          <a:solidFill>
            <a:srgbClr val="00929C"/>
          </a:solidFill>
          <a:ln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907024" y="2743200"/>
            <a:ext cx="10972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00" b="1">
                <a:solidFill>
                  <a:srgbClr val="283241"/>
                </a:solidFill>
              </a:defRPr>
            </a:pPr>
            <a:r>
              <a:t>EventBridge / SQS</a:t>
            </a:r>
          </a:p>
          <a:p>
            <a:pPr algn="ctr">
              <a:defRPr sz="680">
                <a:solidFill>
                  <a:srgbClr val="5C6C80"/>
                </a:solidFill>
              </a:defRPr>
            </a:pPr>
            <a:r>
              <a:t>Async events,</a:t>
            </a:r>
            <a:br/>
            <a:r>
              <a:t>retries, callbacks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07024" y="2743200"/>
            <a:ext cx="73152" cy="530352"/>
          </a:xfrm>
          <a:prstGeom prst="roundRect">
            <a:avLst>
              <a:gd name="adj" fmla="val 6000"/>
            </a:avLst>
          </a:prstGeom>
          <a:solidFill>
            <a:srgbClr val="00929C"/>
          </a:solidFill>
          <a:ln>
            <a:solidFill>
              <a:srgbClr val="009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0120" y="3968496"/>
            <a:ext cx="1353312" cy="530352"/>
          </a:xfrm>
          <a:prstGeom prst="roundRect">
            <a:avLst>
              <a:gd name="adj" fmla="val 6000"/>
            </a:avLst>
          </a:prstGeom>
          <a:solidFill>
            <a:srgbClr val="F2FBF0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Aurora PostgreSQL</a:t>
            </a:r>
          </a:p>
          <a:p>
            <a:pPr algn="ctr">
              <a:defRPr sz="680">
                <a:solidFill>
                  <a:srgbClr val="5C6C80"/>
                </a:solidFill>
              </a:defRPr>
            </a:pPr>
            <a:r>
              <a:t>Leads • applications</a:t>
            </a:r>
            <a:br/>
            <a:r>
              <a:t>applicants •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3968496"/>
            <a:ext cx="73152" cy="530352"/>
          </a:xfrm>
          <a:prstGeom prst="roundRect">
            <a:avLst>
              <a:gd name="adj" fmla="val 6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578608" y="3968496"/>
            <a:ext cx="10515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Amazon S3</a:t>
            </a:r>
          </a:p>
          <a:p>
            <a:pPr algn="ctr">
              <a:defRPr sz="680">
                <a:solidFill>
                  <a:srgbClr val="5C6C80"/>
                </a:solidFill>
              </a:defRPr>
            </a:pPr>
            <a:r>
              <a:t>KYC docs • forms</a:t>
            </a:r>
            <a:br/>
            <a:r>
              <a:t>statements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78608" y="3968496"/>
            <a:ext cx="73152" cy="530352"/>
          </a:xfrm>
          <a:prstGeom prst="roundRect">
            <a:avLst>
              <a:gd name="adj" fmla="val 6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904487" y="3968496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Step Functions</a:t>
            </a:r>
          </a:p>
          <a:p>
            <a:pPr algn="ctr">
              <a:defRPr sz="670">
                <a:solidFill>
                  <a:srgbClr val="5C6C80"/>
                </a:solidFill>
              </a:defRPr>
            </a:pPr>
            <a:r>
              <a:t>KYC → bureau → credit</a:t>
            </a:r>
            <a:br/>
            <a:r>
              <a:t>approval → eSign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04487" y="3968496"/>
            <a:ext cx="73152" cy="530352"/>
          </a:xfrm>
          <a:prstGeom prst="roundRect">
            <a:avLst>
              <a:gd name="adj" fmla="val 6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504688" y="3968496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19" b="1">
                <a:solidFill>
                  <a:srgbClr val="283241"/>
                </a:solidFill>
              </a:defRPr>
            </a:pPr>
            <a:r>
              <a:t>Audit &amp; Monitoring</a:t>
            </a:r>
          </a:p>
          <a:p>
            <a:pPr algn="ctr">
              <a:defRPr sz="670">
                <a:solidFill>
                  <a:srgbClr val="5C6C80"/>
                </a:solidFill>
              </a:defRPr>
            </a:pPr>
            <a:r>
              <a:t>CloudWatch • CloudTrail</a:t>
            </a:r>
            <a:br/>
            <a:r>
              <a:t>X-Ray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04688" y="3968496"/>
            <a:ext cx="73152" cy="530352"/>
          </a:xfrm>
          <a:prstGeom prst="roundRect">
            <a:avLst>
              <a:gd name="adj" fmla="val 6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60120" y="512064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Bureau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" y="5120640"/>
            <a:ext cx="73152" cy="329184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240280" y="512064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19" b="1">
                <a:solidFill>
                  <a:srgbClr val="283241"/>
                </a:solidFill>
              </a:defRPr>
            </a:pPr>
            <a:r>
              <a:t>CKYC / KRA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0280" y="5120640"/>
            <a:ext cx="73152" cy="329184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520440" y="512064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19" b="1">
                <a:solidFill>
                  <a:srgbClr val="283241"/>
                </a:solidFill>
              </a:defRPr>
            </a:pPr>
            <a:r>
              <a:t>DigiLocker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5120640"/>
            <a:ext cx="73152" cy="329184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00600" y="512064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OCR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5120640"/>
            <a:ext cx="73152" cy="329184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080760" y="5120640"/>
            <a:ext cx="1115568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40" b="1">
                <a:solidFill>
                  <a:srgbClr val="283241"/>
                </a:solidFill>
              </a:defRPr>
            </a:pPr>
            <a:r>
              <a:t>eSign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80760" y="5120640"/>
            <a:ext cx="73152" cy="329184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909560" y="1554480"/>
            <a:ext cx="3429000" cy="566928"/>
          </a:xfrm>
          <a:prstGeom prst="roundRect">
            <a:avLst>
              <a:gd name="adj" fmla="val 6000"/>
            </a:avLst>
          </a:prstGeom>
          <a:solidFill>
            <a:srgbClr val="F3F0FB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919" b="1">
                <a:solidFill>
                  <a:srgbClr val="283241"/>
                </a:solidFill>
              </a:defRPr>
            </a:pPr>
            <a:r>
              <a:t>Amazon Bedrock Agent</a:t>
            </a:r>
          </a:p>
          <a:p>
            <a:pPr algn="ctr">
              <a:defRPr sz="740">
                <a:solidFill>
                  <a:srgbClr val="5C6C80"/>
                </a:solidFill>
              </a:defRPr>
            </a:pPr>
            <a:r>
              <a:t>Orchestrates assistant requests and invokes approved actions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09560" y="1554480"/>
            <a:ext cx="73152" cy="566928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909560" y="2395728"/>
            <a:ext cx="157276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Action Groups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rPr err="1"/>
              <a:t>OpenAPI</a:t>
            </a:r>
            <a:r>
              <a:t> schema</a:t>
            </a:r>
            <a:br>
              <a:rPr/>
            </a:br>
            <a:r>
              <a:t>calls Lambda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09560" y="2395728"/>
            <a:ext cx="73152" cy="548640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765792" y="2395728"/>
            <a:ext cx="157276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60" b="1">
                <a:solidFill>
                  <a:srgbClr val="283241"/>
                </a:solidFill>
              </a:defRPr>
            </a:pPr>
            <a:r>
              <a:t>Guardrails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Safety / policy</a:t>
            </a:r>
            <a:br>
              <a:rPr/>
            </a:br>
            <a:r>
              <a:t>controls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65792" y="2395728"/>
            <a:ext cx="73152" cy="548640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909560" y="3236976"/>
            <a:ext cx="34290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900" b="1">
                <a:solidFill>
                  <a:srgbClr val="283241"/>
                </a:solidFill>
              </a:defRPr>
            </a:pPr>
            <a:r>
              <a:t>Bedrock Knowledge Bases</a:t>
            </a:r>
          </a:p>
          <a:p>
            <a:pPr algn="ctr">
              <a:defRPr sz="720">
                <a:solidFill>
                  <a:srgbClr val="5C6C80"/>
                </a:solidFill>
              </a:defRPr>
            </a:pPr>
            <a:r>
              <a:t>Retrieval over policies, SOPs, product rules and FAQs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09560" y="3236976"/>
            <a:ext cx="73152" cy="566928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909560" y="4078224"/>
            <a:ext cx="157276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19" b="1">
                <a:solidFill>
                  <a:srgbClr val="283241"/>
                </a:solidFill>
              </a:defRPr>
            </a:pPr>
            <a:r>
              <a:t>Aurora pgvector</a:t>
            </a:r>
          </a:p>
          <a:p>
            <a:pPr algn="ctr">
              <a:defRPr sz="700">
                <a:solidFill>
                  <a:srgbClr val="5C6C80"/>
                </a:solidFill>
              </a:defRPr>
            </a:pPr>
            <a:r>
              <a:t>Simple vector</a:t>
            </a:r>
            <a:br/>
            <a:r>
              <a:t>store option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09560" y="4078224"/>
            <a:ext cx="73152" cy="548640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765792" y="4078224"/>
            <a:ext cx="157276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800" b="1">
                <a:solidFill>
                  <a:srgbClr val="283241"/>
                </a:solidFill>
              </a:defRPr>
            </a:pPr>
            <a:r>
              <a:t>OpenSearch Serverless</a:t>
            </a:r>
          </a:p>
          <a:p>
            <a:pPr algn="ctr">
              <a:defRPr sz="690">
                <a:solidFill>
                  <a:srgbClr val="5C6C80"/>
                </a:solidFill>
              </a:defRPr>
            </a:pPr>
            <a:r>
              <a:t>Scale-out vector /</a:t>
            </a:r>
            <a:br/>
            <a:r>
              <a:t>search option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65792" y="4078224"/>
            <a:ext cx="73152" cy="548640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909560" y="4992624"/>
            <a:ext cx="3429000" cy="420624"/>
          </a:xfrm>
          <a:prstGeom prst="roundRect">
            <a:avLst>
              <a:gd name="adj" fmla="val 6000"/>
            </a:avLst>
          </a:prstGeom>
          <a:solidFill>
            <a:srgbClr val="F3F0FB"/>
          </a:solidFill>
          <a:ln w="13970"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54864" bIns="18288" rtlCol="0" anchor="ctr"/>
          <a:lstStyle/>
          <a:p>
            <a:pPr algn="ctr">
              <a:defRPr sz="720" b="1">
                <a:solidFill>
                  <a:srgbClr val="283241"/>
                </a:solidFill>
              </a:defRPr>
            </a:pPr>
            <a:r>
              <a:t>AI use cases</a:t>
            </a:r>
          </a:p>
          <a:p>
            <a:pPr algn="ctr">
              <a:defRPr sz="620">
                <a:solidFill>
                  <a:srgbClr val="5C6C80"/>
                </a:solidFill>
              </a:defRPr>
            </a:pPr>
            <a:r>
              <a:t>Create/fetch lead • application status • document checks • policy Q&amp;A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09560" y="4992624"/>
            <a:ext cx="73152" cy="420624"/>
          </a:xfrm>
          <a:prstGeom prst="roundRect">
            <a:avLst>
              <a:gd name="adj" fmla="val 6000"/>
            </a:avLst>
          </a:prstGeom>
          <a:solidFill>
            <a:srgbClr val="6D4ABE"/>
          </a:solidFill>
          <a:ln>
            <a:solidFill>
              <a:srgbClr val="6D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1965960" y="1911095"/>
            <a:ext cx="164592" cy="0"/>
          </a:xfrm>
          <a:prstGeom prst="line">
            <a:avLst/>
          </a:prstGeom>
          <a:ln w="19050">
            <a:solidFill>
              <a:srgbClr val="346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36392" y="1911095"/>
            <a:ext cx="173736" cy="0"/>
          </a:xfrm>
          <a:prstGeom prst="line">
            <a:avLst/>
          </a:prstGeom>
          <a:ln w="19050">
            <a:solidFill>
              <a:srgbClr val="346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97680" y="1911095"/>
            <a:ext cx="173736" cy="0"/>
          </a:xfrm>
          <a:prstGeom prst="line">
            <a:avLst/>
          </a:prstGeom>
          <a:ln w="19050">
            <a:solidFill>
              <a:srgbClr val="346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458968" y="1911095"/>
            <a:ext cx="173736" cy="0"/>
          </a:xfrm>
          <a:prstGeom prst="line">
            <a:avLst/>
          </a:prstGeom>
          <a:ln w="19050">
            <a:solidFill>
              <a:srgbClr val="346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717515" y="2133464"/>
            <a:ext cx="0" cy="515557"/>
          </a:xfrm>
          <a:prstGeom prst="line">
            <a:avLst/>
          </a:prstGeom>
          <a:ln w="19050">
            <a:solidFill>
              <a:srgbClr val="00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789571" y="2341857"/>
            <a:ext cx="694944" cy="10972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>
              <a:defRPr sz="680" b="0">
                <a:solidFill>
                  <a:srgbClr val="00929C"/>
                </a:solidFill>
              </a:defRPr>
            </a:pPr>
            <a:r>
              <a:t>User request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212848" y="3008376"/>
            <a:ext cx="274320" cy="0"/>
          </a:xfrm>
          <a:prstGeom prst="line">
            <a:avLst/>
          </a:prstGeom>
          <a:ln w="19050">
            <a:solidFill>
              <a:srgbClr val="00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632704" y="3008376"/>
            <a:ext cx="274320" cy="0"/>
          </a:xfrm>
          <a:prstGeom prst="line">
            <a:avLst/>
          </a:prstGeom>
          <a:ln w="19050">
            <a:solidFill>
              <a:srgbClr val="00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526280" y="3364992"/>
            <a:ext cx="0" cy="603504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296994" y="3748698"/>
            <a:ext cx="1554480" cy="12801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>
              <a:defRPr sz="660" b="0">
                <a:solidFill>
                  <a:srgbClr val="86BC25"/>
                </a:solidFill>
              </a:defRPr>
            </a:pPr>
            <a:r>
              <a:t>Reads / writes / workflow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313432" y="4233672"/>
            <a:ext cx="265176" cy="0"/>
          </a:xfrm>
          <a:prstGeom prst="line">
            <a:avLst/>
          </a:prstGeom>
          <a:ln w="1778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630168" y="4233672"/>
            <a:ext cx="274319" cy="0"/>
          </a:xfrm>
          <a:prstGeom prst="line">
            <a:avLst/>
          </a:prstGeom>
          <a:ln w="1778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230368" y="4233672"/>
            <a:ext cx="274320" cy="0"/>
          </a:xfrm>
          <a:prstGeom prst="line">
            <a:avLst/>
          </a:prstGeom>
          <a:ln w="1778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526280" y="4498848"/>
            <a:ext cx="0" cy="621792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219938" y="4564603"/>
            <a:ext cx="1554480" cy="12801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>
              <a:defRPr sz="660" b="0">
                <a:solidFill>
                  <a:srgbClr val="FF9900"/>
                </a:solidFill>
              </a:defRPr>
            </a:pPr>
            <a:r>
              <a:t>verification / fulfilment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075688" y="5285232"/>
            <a:ext cx="164592" cy="0"/>
          </a:xfrm>
          <a:prstGeom prst="line">
            <a:avLst/>
          </a:prstGeom>
          <a:ln w="1651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355848" y="5285232"/>
            <a:ext cx="164592" cy="0"/>
          </a:xfrm>
          <a:prstGeom prst="line">
            <a:avLst/>
          </a:prstGeom>
          <a:ln w="1651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636008" y="5285232"/>
            <a:ext cx="164592" cy="0"/>
          </a:xfrm>
          <a:prstGeom prst="line">
            <a:avLst/>
          </a:prstGeom>
          <a:ln w="1651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916168" y="5285232"/>
            <a:ext cx="164592" cy="0"/>
          </a:xfrm>
          <a:prstGeom prst="line">
            <a:avLst/>
          </a:prstGeom>
          <a:ln w="1651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28632" y="2121408"/>
            <a:ext cx="0" cy="274320"/>
          </a:xfrm>
          <a:prstGeom prst="line">
            <a:avLst/>
          </a:prstGeom>
          <a:ln w="1905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628632" y="2944368"/>
            <a:ext cx="0" cy="292608"/>
          </a:xfrm>
          <a:prstGeom prst="line">
            <a:avLst/>
          </a:prstGeom>
          <a:ln w="1905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95944" y="3803904"/>
            <a:ext cx="0" cy="274320"/>
          </a:xfrm>
          <a:prstGeom prst="line">
            <a:avLst/>
          </a:prstGeom>
          <a:ln w="1778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552176" y="3803904"/>
            <a:ext cx="0" cy="274320"/>
          </a:xfrm>
          <a:prstGeom prst="line">
            <a:avLst/>
          </a:prstGeom>
          <a:ln w="1778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20256" y="1911095"/>
            <a:ext cx="1280743" cy="8561"/>
          </a:xfrm>
          <a:prstGeom prst="line">
            <a:avLst/>
          </a:prstGeom>
          <a:ln w="2159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241176" y="1392366"/>
            <a:ext cx="799194" cy="118494"/>
          </a:xfrm>
          <a:prstGeom prst="rect">
            <a:avLst/>
          </a:prstGeom>
          <a:solidFill>
            <a:schemeClr val="bg1"/>
          </a:solidFill>
        </p:spPr>
        <p:txBody>
          <a:bodyPr wrap="none" lIns="27432" tIns="9144" rIns="27432" bIns="9144" anchor="ctr">
            <a:spAutoFit/>
          </a:bodyPr>
          <a:lstStyle/>
          <a:p>
            <a:pPr algn="ctr">
              <a:defRPr sz="680" b="0">
                <a:solidFill>
                  <a:srgbClr val="6D4ABE"/>
                </a:solidFill>
              </a:defRPr>
            </a:pPr>
            <a:r>
              <a:rPr lang="en-US" sz="650"/>
              <a:t>Assistant</a:t>
            </a:r>
            <a:r>
              <a:rPr sz="650"/>
              <a:t> interaction</a:t>
            </a:r>
            <a:endParaRPr lang="en-US" sz="680"/>
          </a:p>
        </p:txBody>
      </p:sp>
      <p:cxnSp>
        <p:nvCxnSpPr>
          <p:cNvPr id="91" name="Connector 90"/>
          <p:cNvCxnSpPr/>
          <p:nvPr/>
        </p:nvCxnSpPr>
        <p:spPr>
          <a:xfrm flipH="1" flipV="1">
            <a:off x="7198553" y="2670048"/>
            <a:ext cx="702446" cy="0"/>
          </a:xfrm>
          <a:prstGeom prst="line">
            <a:avLst/>
          </a:prstGeom>
          <a:ln w="2032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000057" y="2263397"/>
            <a:ext cx="1005840" cy="128016"/>
          </a:xfrm>
          <a:prstGeom prst="rect">
            <a:avLst/>
          </a:prstGeom>
          <a:solidFill>
            <a:schemeClr val="bg1"/>
          </a:solidFill>
        </p:spPr>
        <p:txBody>
          <a:bodyPr wrap="none" lIns="27432" tIns="9144" rIns="27432" bIns="9144" anchor="ctr">
            <a:spAutoFit/>
          </a:bodyPr>
          <a:lstStyle/>
          <a:p>
            <a:pPr algn="ctr">
              <a:defRPr sz="670" b="0">
                <a:solidFill>
                  <a:srgbClr val="6D4ABE"/>
                </a:solidFill>
              </a:defRPr>
            </a:pPr>
            <a:r>
              <a:t>approved actions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200437" y="4250795"/>
            <a:ext cx="700562" cy="8562"/>
          </a:xfrm>
          <a:prstGeom prst="line">
            <a:avLst/>
          </a:prstGeom>
          <a:ln w="15240">
            <a:solidFill>
              <a:srgbClr val="6D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10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68822-F782-E838-8835-BC291BD8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6BC9C53-2E08-3543-534B-F6B703052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78B85B0-CFB7-869B-2B78-10799A16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F86E11-2D78-1EB6-B561-6A0B2582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64427"/>
              </p:ext>
            </p:extLst>
          </p:nvPr>
        </p:nvGraphicFramePr>
        <p:xfrm>
          <a:off x="766175" y="428544"/>
          <a:ext cx="10053959" cy="52036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2258">
                  <a:extLst>
                    <a:ext uri="{9D8B030D-6E8A-4147-A177-3AD203B41FA5}">
                      <a16:colId xmlns:a16="http://schemas.microsoft.com/office/drawing/2014/main" val="3287132981"/>
                    </a:ext>
                  </a:extLst>
                </a:gridCol>
                <a:gridCol w="2944810">
                  <a:extLst>
                    <a:ext uri="{9D8B030D-6E8A-4147-A177-3AD203B41FA5}">
                      <a16:colId xmlns:a16="http://schemas.microsoft.com/office/drawing/2014/main" val="1489015509"/>
                    </a:ext>
                  </a:extLst>
                </a:gridCol>
                <a:gridCol w="5536891">
                  <a:extLst>
                    <a:ext uri="{9D8B030D-6E8A-4147-A177-3AD203B41FA5}">
                      <a16:colId xmlns:a16="http://schemas.microsoft.com/office/drawing/2014/main" val="3651113296"/>
                    </a:ext>
                  </a:extLst>
                </a:gridCol>
              </a:tblGrid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Area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Technology Stack</a:t>
                      </a:r>
                    </a:p>
                  </a:txBody>
                  <a:tcPr marL="49653" marR="49653" marT="24826" marB="24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</a:rPr>
                        <a:t>What is the use</a:t>
                      </a:r>
                    </a:p>
                  </a:txBody>
                  <a:tcPr marL="49653" marR="49653" marT="24826" marB="24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533855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Frontend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React / Next.js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build the LOS web application screens for lead creation, application processing, document upload, review, and status tracking.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152890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Frontend Hosting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AWS Amplify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host the web application.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347465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Domain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Route 53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configure a proper application URL such as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405270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Content Delivery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CloudFront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Cache loading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692392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Authentication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Cognito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manage user login, password policy, MFA, and user sessions.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98889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User Access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Cognito Groups / IAM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manage access for different user groups such as Sales, Contact Center, Credit, Gatekeeper, and Admin.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03037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API Layer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API Gateway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expose backend APIs for the frontend and Bedrock agent.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863850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Backend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AWS Lambda using Node.js / Python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handle LOS business logic such as lead creation, application updates, document processing, and status changes.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314389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Database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Aurora PostgreSQL Serverless v2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store LOS data such as leads, applicants, loan applications, workflow status, document details, and audit history.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34218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File Storage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S3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store uploaded documents such as KYC documents, bank statements, application forms, and signed forms.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205466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Workflow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AWS Step Functions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manage step-by-step LOS processes such as KYC, bureau check, credit review, approval, and e-sign.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073763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Events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</a:t>
                      </a:r>
                      <a:r>
                        <a:rPr lang="en-US" sz="1000" err="1">
                          <a:effectLst/>
                        </a:rPr>
                        <a:t>EventBridge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trigger actions when events happen, such as lead created, application submitted, or document uploaded.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15710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AIOrchestration  Platform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Amazon Bedrock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add AI capabilities for lead assistance, application summary, policy questions, and user support.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79324"/>
                  </a:ext>
                </a:extLst>
              </a:tr>
              <a:tr h="2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AI Actions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Bedrock Action Groups with AWS Lambda</a:t>
                      </a:r>
                    </a:p>
                  </a:txBody>
                  <a:tcPr marL="49653" marR="49653" marT="24826" marB="24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connect the Bedrock agent with backend LOS actions in a controlled way.</a:t>
                      </a:r>
                    </a:p>
                  </a:txBody>
                  <a:tcPr marL="49653" marR="49653" marT="24826" marB="248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489579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Knowledge Base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Bedrock Knowledge Bases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allow the AI assistant to answer from approved documents such as product policy, credit policy, SOPs, and process guides.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4501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Vector Store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Aurora PostgreSQL </a:t>
                      </a:r>
                      <a:r>
                        <a:rPr lang="en-US" sz="1000" err="1">
                          <a:effectLst/>
                        </a:rPr>
                        <a:t>pgvector</a:t>
                      </a:r>
                      <a:endParaRPr lang="en-US" sz="1000">
                        <a:effectLst/>
                      </a:endParaRP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To store document embeddings for knowledge search. This is simple for POC because the same database stack can be used.</a:t>
                      </a:r>
                    </a:p>
                  </a:txBody>
                  <a:tcPr marL="49653" marR="49653" marT="24826" marB="248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843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03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B743-F587-5B42-4BA1-4EEE4DB5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1C2D6A-859A-B4F2-1A5A-6EE38AE6C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58923"/>
              </p:ext>
            </p:extLst>
          </p:nvPr>
        </p:nvGraphicFramePr>
        <p:xfrm>
          <a:off x="378069" y="130097"/>
          <a:ext cx="11455357" cy="57891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7900">
                  <a:extLst>
                    <a:ext uri="{9D8B030D-6E8A-4147-A177-3AD203B41FA5}">
                      <a16:colId xmlns:a16="http://schemas.microsoft.com/office/drawing/2014/main" val="2438842651"/>
                    </a:ext>
                  </a:extLst>
                </a:gridCol>
                <a:gridCol w="1839951">
                  <a:extLst>
                    <a:ext uri="{9D8B030D-6E8A-4147-A177-3AD203B41FA5}">
                      <a16:colId xmlns:a16="http://schemas.microsoft.com/office/drawing/2014/main" val="1447653290"/>
                    </a:ext>
                  </a:extLst>
                </a:gridCol>
                <a:gridCol w="8127506">
                  <a:extLst>
                    <a:ext uri="{9D8B030D-6E8A-4147-A177-3AD203B41FA5}">
                      <a16:colId xmlns:a16="http://schemas.microsoft.com/office/drawing/2014/main" val="2074730927"/>
                    </a:ext>
                  </a:extLst>
                </a:gridCol>
              </a:tblGrid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AWS Stack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Other Alternatives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30801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Frontend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React / Next.js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895785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Hosting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Amplify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Netlify, Azure Static Web Apps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03028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Content Delivery / Cache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CloudFront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Front Door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884337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Web Security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WAF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Need to Explore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633290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Authentication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Cognito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Okta, Azure AD / Microsoft Entra External ID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754255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API Layer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API Gateway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Kong Gateway, Apigee, Azure API Management, MuleSoft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93041"/>
                  </a:ext>
                </a:extLst>
              </a:tr>
              <a:tr h="379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Backend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Lambda using Node.js / Python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Functions, Google Cloud Functions, Kubernetes microservices, Node.js APIs on containers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809092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Container Platform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ECS, Amazon EKS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AKS, Docker + Kubernetes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284418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Database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Aurora PostgreSQL Serverless v2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PostgreSQL on RDS, </a:t>
                      </a:r>
                      <a:r>
                        <a:rPr lang="en-US" sz="900" err="1"/>
                        <a:t>Supabase</a:t>
                      </a:r>
                      <a:r>
                        <a:rPr lang="en-US" sz="900"/>
                        <a:t> Postgres, Azure Database for PostgreSQL, Google Cloud SQL for PostgreSQL, Neon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74254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File Storage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S3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Blob Storage, Google Cloud Storage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7003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Workflow / Orchestration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Step Functions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Temporal, Camunda, Azure Logic Apps, Google Workflows, Apache Airflow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17226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Event / Async Processing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SQS / </a:t>
                      </a:r>
                      <a:r>
                        <a:rPr lang="en-US" sz="900" err="1"/>
                        <a:t>EventBridge</a:t>
                      </a:r>
                      <a:endParaRPr lang="en-US" sz="900"/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Kafka, Confluent Cloud, Azure Service Bus, Google Pub/Sub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681065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AI  Orchestration Layer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Bedrock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900"/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46146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RAG / Knowledge Base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Bedrock Knowledge Bases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err="1"/>
                        <a:t>LlamaIndex</a:t>
                      </a:r>
                      <a:r>
                        <a:rPr lang="en-US" sz="900"/>
                        <a:t>, </a:t>
                      </a:r>
                      <a:r>
                        <a:rPr lang="en-US" sz="900" err="1"/>
                        <a:t>LangChain</a:t>
                      </a:r>
                      <a:r>
                        <a:rPr lang="en-US" sz="900"/>
                        <a:t> RAG, Azure AI Search, Vertex AI Search, Pinecone-based RAG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493133"/>
                  </a:ext>
                </a:extLst>
              </a:tr>
              <a:tr h="379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Vector Store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Aurora </a:t>
                      </a:r>
                      <a:r>
                        <a:rPr lang="en-US" sz="900" err="1"/>
                        <a:t>pgvector</a:t>
                      </a:r>
                      <a:r>
                        <a:rPr lang="en-US" sz="900"/>
                        <a:t> / OpenSearch Serverless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Pinecone, Weaviate, Milvus, Qdrant, ChromaDB, Azure AI Search, Supabase pgvector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091165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OCR / Document AI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Textract</a:t>
                      </a:r>
                      <a:endParaRPr lang="en-US" sz="900" err="1"/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Google Document AI, Azure AI Document Intelligence, ABBYY, Tesseract OCR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58893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Secrets Management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Secrets Manager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err="1"/>
                        <a:t>HashiCorp</a:t>
                      </a:r>
                      <a:r>
                        <a:rPr lang="en-US" sz="900"/>
                        <a:t> Vault, Azure Key Vault, Google Secret Manager, Doppler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21428"/>
                  </a:ext>
                </a:extLst>
              </a:tr>
              <a:tr h="379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Encryption / Key Management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KMS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Key Vault, Google Cloud KMS, </a:t>
                      </a:r>
                      <a:r>
                        <a:rPr lang="en-US" sz="900" err="1"/>
                        <a:t>HashiCorp</a:t>
                      </a:r>
                      <a:r>
                        <a:rPr lang="en-US" sz="900"/>
                        <a:t> Vault Transit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806099"/>
                  </a:ext>
                </a:extLst>
              </a:tr>
              <a:tr h="32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Monitoring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CloudWatch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Datadog, New Relic, Azure Monitor, Google Cloud Operations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461643"/>
                  </a:ext>
                </a:extLst>
              </a:tr>
              <a:tr h="209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Audit Logs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CloudTrail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Activity Logs, Google Cloud Audit Logs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611139"/>
                  </a:ext>
                </a:extLst>
              </a:tr>
              <a:tr h="163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Security Monitoring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GuardDuty / AWS Config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Microsoft Defender for Cloud, Wiz, Prisma Cloud, Lacework, Orca Security</a:t>
                      </a:r>
                    </a:p>
                  </a:txBody>
                  <a:tcPr marL="32617" marR="32617" marT="16309" marB="163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0452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78C1B64-FA11-D005-B3EB-792EA8735C5D}"/>
              </a:ext>
            </a:extLst>
          </p:cNvPr>
          <p:cNvSpPr/>
          <p:nvPr/>
        </p:nvSpPr>
        <p:spPr>
          <a:xfrm>
            <a:off x="11227777" y="70338"/>
            <a:ext cx="879231" cy="3516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Mohit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28794-B7D7-7981-5AD8-FEE4DED3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15CAAA-3C3D-B364-A0CA-3BDB7E9BEF07}"/>
              </a:ext>
            </a:extLst>
          </p:cNvPr>
          <p:cNvSpPr txBox="1"/>
          <p:nvPr/>
        </p:nvSpPr>
        <p:spPr>
          <a:xfrm>
            <a:off x="3993789" y="2775715"/>
            <a:ext cx="352737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2595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LOS + AI Solution on AWS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 for loan origination, intelligent workflows, document processing, and Bedrock-powered assistant / RAG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1147572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08760" y="3493008"/>
            <a:ext cx="256032" cy="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94860" y="2148840"/>
            <a:ext cx="0" cy="210312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94860" y="2926080"/>
            <a:ext cx="0" cy="18288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6640" y="3822192"/>
            <a:ext cx="228600" cy="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06640" y="3822192"/>
            <a:ext cx="228600" cy="786384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9736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950208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40680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30568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32520" y="3977640"/>
            <a:ext cx="0" cy="0"/>
          </a:xfrm>
          <a:prstGeom prst="line">
            <a:avLst/>
          </a:prstGeom>
          <a:noFill/>
          <a:ln w="12700">
            <a:solidFill>
              <a:srgbClr val="B4C1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1234440"/>
            <a:ext cx="1188720" cy="452628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" y="13075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Channels &amp; Roles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484632" y="1709928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9496" y="17465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4632" y="2231136"/>
            <a:ext cx="859536" cy="530352"/>
          </a:xfrm>
          <a:prstGeom prst="roundRect">
            <a:avLst>
              <a:gd name="adj" fmla="val 8621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9496" y="226771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</a:t>
            </a:r>
            <a:endParaRPr lang="en-US" sz="1030"/>
          </a:p>
        </p:txBody>
      </p:sp>
      <p:sp>
        <p:nvSpPr>
          <p:cNvPr id="22" name="Shape 20"/>
          <p:cNvSpPr/>
          <p:nvPr/>
        </p:nvSpPr>
        <p:spPr>
          <a:xfrm>
            <a:off x="484632" y="2880360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9496" y="29169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84632" y="3401568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9496" y="343814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/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Gatekeeper</a:t>
            </a:r>
            <a:endParaRPr lang="en-US" sz="1030"/>
          </a:p>
        </p:txBody>
      </p:sp>
      <p:sp>
        <p:nvSpPr>
          <p:cNvPr id="26" name="Shape 24"/>
          <p:cNvSpPr/>
          <p:nvPr/>
        </p:nvSpPr>
        <p:spPr>
          <a:xfrm>
            <a:off x="484632" y="3922776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9496" y="39593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30"/>
          </a:p>
        </p:txBody>
      </p:sp>
      <p:sp>
        <p:nvSpPr>
          <p:cNvPr id="28" name="Shape 26"/>
          <p:cNvSpPr/>
          <p:nvPr/>
        </p:nvSpPr>
        <p:spPr>
          <a:xfrm>
            <a:off x="484632" y="4443984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FFF3E5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9496" y="44805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29768" y="50749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C7086"/>
                </a:solidFill>
              </a:rPr>
              <a:t>Browser / mobile web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1783080" y="123444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929384" y="130759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2D6C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Experience, Edge Security &amp; Identity</a:t>
            </a:r>
            <a:endParaRPr lang="en-US" sz="1550"/>
          </a:p>
        </p:txBody>
      </p:sp>
      <p:sp>
        <p:nvSpPr>
          <p:cNvPr id="33" name="Text 31"/>
          <p:cNvSpPr/>
          <p:nvPr/>
        </p:nvSpPr>
        <p:spPr>
          <a:xfrm>
            <a:off x="1929384" y="1627632"/>
            <a:ext cx="533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53 + CloudFront + AWS WAF in front of Amplify-hosted React / Next.js LOS portal</a:t>
            </a:r>
            <a:endParaRPr lang="en-US" sz="1050"/>
          </a:p>
          <a:p>
            <a:pPr marL="127000" indent="-127000">
              <a:buSzPct val="100000"/>
              <a:buChar char="•"/>
            </a:pPr>
            <a:r>
              <a:rPr lang="en-US" sz="105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Cognito for login, MFA, JWT, user groups and role-aligned access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2834640" y="2359152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80944" y="24231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2D6CDF"/>
                </a:solidFill>
              </a:rPr>
              <a:t>Amazon API Gateway</a:t>
            </a:r>
            <a:endParaRPr lang="en-US" sz="1450"/>
          </a:p>
        </p:txBody>
      </p:sp>
      <p:sp>
        <p:nvSpPr>
          <p:cNvPr id="36" name="Text 34"/>
          <p:cNvSpPr/>
          <p:nvPr/>
        </p:nvSpPr>
        <p:spPr>
          <a:xfrm>
            <a:off x="3035808" y="267004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90">
                <a:solidFill>
                  <a:srgbClr val="15324B"/>
                </a:solidFill>
              </a:rPr>
              <a:t>REST / secure endpoints for UI, Bedrock action groups, and partner integrations</a:t>
            </a:r>
            <a:endParaRPr lang="en-US" sz="890"/>
          </a:p>
        </p:txBody>
      </p:sp>
      <p:sp>
        <p:nvSpPr>
          <p:cNvPr id="37" name="Shape 35"/>
          <p:cNvSpPr/>
          <p:nvPr/>
        </p:nvSpPr>
        <p:spPr>
          <a:xfrm>
            <a:off x="1783080" y="3108960"/>
            <a:ext cx="56235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929384" y="318211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&amp; Orchestration Services</a:t>
            </a:r>
            <a:endParaRPr lang="en-US" sz="1550"/>
          </a:p>
        </p:txBody>
      </p:sp>
      <p:sp>
        <p:nvSpPr>
          <p:cNvPr id="39" name="Text 37"/>
          <p:cNvSpPr/>
          <p:nvPr/>
        </p:nvSpPr>
        <p:spPr>
          <a:xfrm>
            <a:off x="1929384" y="3493008"/>
            <a:ext cx="5330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 business services built on AWS Lambda (Node.js / Python), isolated by domain and policy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1947672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002536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2971800" y="3611880"/>
            <a:ext cx="987552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026664" y="364845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File /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80"/>
          </a:p>
        </p:txBody>
      </p:sp>
      <p:sp>
        <p:nvSpPr>
          <p:cNvPr id="44" name="Shape 42"/>
          <p:cNvSpPr/>
          <p:nvPr/>
        </p:nvSpPr>
        <p:spPr>
          <a:xfrm>
            <a:off x="4069080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23944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5111496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166360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6153912" y="3611880"/>
            <a:ext cx="1051560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208776" y="3648456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80"/>
          </a:p>
        </p:txBody>
      </p:sp>
      <p:sp>
        <p:nvSpPr>
          <p:cNvPr id="50" name="Text 48"/>
          <p:cNvSpPr/>
          <p:nvPr/>
        </p:nvSpPr>
        <p:spPr>
          <a:xfrm>
            <a:off x="1938528" y="4233672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i="1">
                <a:solidFill>
                  <a:srgbClr val="5C7086"/>
                </a:solidFill>
              </a:rPr>
              <a:t>AI Assistant Lambda mediates prompts, context assembly, guardrails, and action responses</a:t>
            </a:r>
            <a:endParaRPr lang="en-US" sz="940"/>
          </a:p>
        </p:txBody>
      </p:sp>
      <p:sp>
        <p:nvSpPr>
          <p:cNvPr id="51" name="Shape 49"/>
          <p:cNvSpPr/>
          <p:nvPr/>
        </p:nvSpPr>
        <p:spPr>
          <a:xfrm>
            <a:off x="1783080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BFE1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929384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Transactional Data</a:t>
            </a:r>
            <a:endParaRPr lang="en-US" sz="1300"/>
          </a:p>
        </p:txBody>
      </p:sp>
      <p:sp>
        <p:nvSpPr>
          <p:cNvPr id="53" name="Text 51"/>
          <p:cNvSpPr/>
          <p:nvPr/>
        </p:nvSpPr>
        <p:spPr>
          <a:xfrm>
            <a:off x="1929384" y="5084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PostgreSQL Serverless v2</a:t>
            </a:r>
            <a:endParaRPr lang="en-US" sz="900"/>
          </a:p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Leads, applicants, loan files, workflow state, audit trail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3273552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FFF3E5"/>
          </a:solidFill>
          <a:ln w="12700">
            <a:solidFill>
              <a:srgbClr val="F8D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419856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F18F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300"/>
          </a:p>
        </p:txBody>
      </p:sp>
      <p:sp>
        <p:nvSpPr>
          <p:cNvPr id="56" name="Text 54"/>
          <p:cNvSpPr/>
          <p:nvPr/>
        </p:nvSpPr>
        <p:spPr>
          <a:xfrm>
            <a:off x="3419856" y="5084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S3</a:t>
            </a:r>
            <a:endParaRPr lang="en-US" sz="900"/>
          </a:p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docs, forms, signed files, statements, OCR inputs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4764024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F3ECFF"/>
          </a:solidFill>
          <a:ln w="12700">
            <a:solidFill>
              <a:srgbClr val="D9C9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10328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6F42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350"/>
          </a:p>
        </p:txBody>
      </p:sp>
      <p:sp>
        <p:nvSpPr>
          <p:cNvPr id="59" name="Text 57"/>
          <p:cNvSpPr/>
          <p:nvPr/>
        </p:nvSpPr>
        <p:spPr>
          <a:xfrm>
            <a:off x="4910328" y="5010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27000" indent="-127000">
              <a:buSzPct val="100000"/>
              <a:buChar char="•"/>
            </a:pPr>
            <a:r>
              <a:rPr lang="en-US" sz="94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Step Functions</a:t>
            </a:r>
            <a:endParaRPr lang="en-US" sz="940"/>
          </a:p>
          <a:p>
            <a:pPr marL="127000" indent="-127000">
              <a:buSzPct val="100000"/>
              <a:buChar char="•"/>
            </a:pPr>
            <a:r>
              <a:rPr lang="en-US" sz="94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KYC, bureau, review, approval, e-sign orchestration</a:t>
            </a:r>
            <a:endParaRPr lang="en-US" sz="940"/>
          </a:p>
        </p:txBody>
      </p:sp>
      <p:sp>
        <p:nvSpPr>
          <p:cNvPr id="60" name="Shape 58"/>
          <p:cNvSpPr/>
          <p:nvPr/>
        </p:nvSpPr>
        <p:spPr>
          <a:xfrm>
            <a:off x="6254496" y="4718304"/>
            <a:ext cx="1152144" cy="859536"/>
          </a:xfrm>
          <a:prstGeom prst="roundRect">
            <a:avLst>
              <a:gd name="adj" fmla="val 8511"/>
            </a:avLst>
          </a:prstGeom>
          <a:solidFill>
            <a:srgbClr val="EAF2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400800" y="47914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D6C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/ Events</a:t>
            </a:r>
            <a:endParaRPr lang="en-US" sz="1300"/>
          </a:p>
        </p:txBody>
      </p:sp>
      <p:sp>
        <p:nvSpPr>
          <p:cNvPr id="62" name="Text 60"/>
          <p:cNvSpPr/>
          <p:nvPr/>
        </p:nvSpPr>
        <p:spPr>
          <a:xfrm>
            <a:off x="6400800" y="50840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88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EventBridge / SQS</a:t>
            </a:r>
            <a:endParaRPr lang="en-US" sz="880"/>
          </a:p>
          <a:p>
            <a:pPr marL="127000" indent="-127000">
              <a:buSzPct val="100000"/>
              <a:buChar char="•"/>
            </a:pPr>
            <a:r>
              <a:rPr lang="en-US" sz="88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Retries, callbacks, decoupled processing</a:t>
            </a:r>
            <a:endParaRPr lang="en-US" sz="880"/>
          </a:p>
        </p:txBody>
      </p:sp>
      <p:sp>
        <p:nvSpPr>
          <p:cNvPr id="63" name="Shape 61"/>
          <p:cNvSpPr/>
          <p:nvPr/>
        </p:nvSpPr>
        <p:spPr>
          <a:xfrm>
            <a:off x="7726680" y="1234440"/>
            <a:ext cx="4096512" cy="2057400"/>
          </a:xfrm>
          <a:prstGeom prst="roundRect">
            <a:avLst>
              <a:gd name="adj" fmla="val 3556"/>
            </a:avLst>
          </a:prstGeom>
          <a:solidFill>
            <a:srgbClr val="FFF3E5"/>
          </a:solidFill>
          <a:ln w="12700">
            <a:solidFill>
              <a:srgbClr val="F8D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872984" y="13075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F18F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 Layer</a:t>
            </a:r>
            <a:endParaRPr lang="en-US" sz="1650"/>
          </a:p>
        </p:txBody>
      </p:sp>
      <p:sp>
        <p:nvSpPr>
          <p:cNvPr id="65" name="Text 63"/>
          <p:cNvSpPr/>
          <p:nvPr/>
        </p:nvSpPr>
        <p:spPr>
          <a:xfrm>
            <a:off x="7872984" y="1627632"/>
            <a:ext cx="3803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Bedrock foundation model(s) with Guardrails for policy, safety and grounded responses</a:t>
            </a:r>
            <a:endParaRPr lang="en-US" sz="1000"/>
          </a:p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Agent uses action groups to invoke controlled backend functions — not direct DB writes</a:t>
            </a:r>
            <a:endParaRPr lang="en-US" sz="1000"/>
          </a:p>
        </p:txBody>
      </p:sp>
      <p:sp>
        <p:nvSpPr>
          <p:cNvPr id="66" name="Shape 64"/>
          <p:cNvSpPr/>
          <p:nvPr/>
        </p:nvSpPr>
        <p:spPr>
          <a:xfrm>
            <a:off x="791870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97356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050"/>
          </a:p>
        </p:txBody>
      </p:sp>
      <p:sp>
        <p:nvSpPr>
          <p:cNvPr id="68" name="Shape 66"/>
          <p:cNvSpPr/>
          <p:nvPr/>
        </p:nvSpPr>
        <p:spPr>
          <a:xfrm>
            <a:off x="892454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897940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1050"/>
          </a:p>
        </p:txBody>
      </p:sp>
      <p:sp>
        <p:nvSpPr>
          <p:cNvPr id="70" name="Shape 68"/>
          <p:cNvSpPr/>
          <p:nvPr/>
        </p:nvSpPr>
        <p:spPr>
          <a:xfrm>
            <a:off x="993038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998524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050"/>
          </a:p>
        </p:txBody>
      </p:sp>
      <p:sp>
        <p:nvSpPr>
          <p:cNvPr id="72" name="Shape 70"/>
          <p:cNvSpPr/>
          <p:nvPr/>
        </p:nvSpPr>
        <p:spPr>
          <a:xfrm>
            <a:off x="10936224" y="2377440"/>
            <a:ext cx="67665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0991088" y="2414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FM(s)</a:t>
            </a:r>
            <a:endParaRPr lang="en-US" sz="1050"/>
          </a:p>
        </p:txBody>
      </p:sp>
      <p:sp>
        <p:nvSpPr>
          <p:cNvPr id="74" name="Shape 72"/>
          <p:cNvSpPr/>
          <p:nvPr/>
        </p:nvSpPr>
        <p:spPr>
          <a:xfrm>
            <a:off x="7726680" y="3401568"/>
            <a:ext cx="4096512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872984" y="347472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&amp; Enterprise Integration</a:t>
            </a:r>
            <a:endParaRPr lang="en-US" sz="1600"/>
          </a:p>
        </p:txBody>
      </p:sp>
      <p:sp>
        <p:nvSpPr>
          <p:cNvPr id="76" name="Text 74"/>
          <p:cNvSpPr/>
          <p:nvPr/>
        </p:nvSpPr>
        <p:spPr>
          <a:xfrm>
            <a:off x="7872984" y="3730752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Knowledge Bases ingest approved policy, SOP, product and FAQ content from S3 / curated sources</a:t>
            </a:r>
            <a:endParaRPr lang="en-US" sz="990"/>
          </a:p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layer: use Aurora pgvector for a compact POC; scale to OpenSearch Serverless if search workload grows</a:t>
            </a:r>
            <a:endParaRPr lang="en-US" sz="990"/>
          </a:p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adapters connect bureau, CKYC, DigiLocker, PAN/OCR, e-sign, notifications and core systems</a:t>
            </a:r>
            <a:endParaRPr lang="en-US" sz="990"/>
          </a:p>
        </p:txBody>
      </p:sp>
      <p:sp>
        <p:nvSpPr>
          <p:cNvPr id="77" name="Shape 75"/>
          <p:cNvSpPr/>
          <p:nvPr/>
        </p:nvSpPr>
        <p:spPr>
          <a:xfrm>
            <a:off x="7936992" y="4645152"/>
            <a:ext cx="1060704" cy="493776"/>
          </a:xfrm>
          <a:prstGeom prst="roundRect">
            <a:avLst>
              <a:gd name="adj" fmla="val 9259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991856" y="468172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80"/>
          </a:p>
        </p:txBody>
      </p:sp>
      <p:sp>
        <p:nvSpPr>
          <p:cNvPr id="79" name="Shape 77"/>
          <p:cNvSpPr/>
          <p:nvPr/>
        </p:nvSpPr>
        <p:spPr>
          <a:xfrm>
            <a:off x="9125712" y="4645152"/>
            <a:ext cx="1078992" cy="493776"/>
          </a:xfrm>
          <a:prstGeom prst="roundRect">
            <a:avLst>
              <a:gd name="adj" fmla="val 9259"/>
            </a:avLst>
          </a:prstGeom>
          <a:solidFill>
            <a:srgbClr val="EAF8EE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9180576" y="4681728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1080"/>
          </a:p>
        </p:txBody>
      </p:sp>
      <p:sp>
        <p:nvSpPr>
          <p:cNvPr id="81" name="Shape 79"/>
          <p:cNvSpPr/>
          <p:nvPr/>
        </p:nvSpPr>
        <p:spPr>
          <a:xfrm>
            <a:off x="10332720" y="4645152"/>
            <a:ext cx="1243584" cy="493776"/>
          </a:xfrm>
          <a:prstGeom prst="roundRect">
            <a:avLst>
              <a:gd name="adj" fmla="val 9259"/>
            </a:avLst>
          </a:prstGeom>
          <a:solidFill>
            <a:srgbClr val="F3ECFF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10387584" y="4681728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</a:t>
            </a:r>
            <a:endParaRPr lang="en-US" sz="1030"/>
          </a:p>
        </p:txBody>
      </p:sp>
      <p:sp>
        <p:nvSpPr>
          <p:cNvPr id="83" name="Text 81"/>
          <p:cNvSpPr/>
          <p:nvPr/>
        </p:nvSpPr>
        <p:spPr>
          <a:xfrm>
            <a:off x="7936992" y="52303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C7086"/>
                </a:solidFill>
              </a:rPr>
              <a:t>Policy Q&amp;A | next-best-action | document / status summarization</a:t>
            </a:r>
            <a:endParaRPr lang="en-US" sz="930"/>
          </a:p>
        </p:txBody>
      </p:sp>
      <p:sp>
        <p:nvSpPr>
          <p:cNvPr id="84" name="Shape 82"/>
          <p:cNvSpPr/>
          <p:nvPr/>
        </p:nvSpPr>
        <p:spPr>
          <a:xfrm>
            <a:off x="320040" y="5925312"/>
            <a:ext cx="11503152" cy="621792"/>
          </a:xfrm>
          <a:prstGeom prst="roundRect">
            <a:avLst>
              <a:gd name="adj" fmla="val 7353"/>
            </a:avLst>
          </a:prstGeom>
          <a:solidFill>
            <a:srgbClr val="163A5B"/>
          </a:solidFill>
          <a:ln w="12700">
            <a:solidFill>
              <a:srgbClr val="163A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12064" y="61081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Cross-cutting controls</a:t>
            </a:r>
            <a:endParaRPr lang="en-US" sz="1200"/>
          </a:p>
        </p:txBody>
      </p:sp>
      <p:sp>
        <p:nvSpPr>
          <p:cNvPr id="86" name="Text 84"/>
          <p:cNvSpPr/>
          <p:nvPr/>
        </p:nvSpPr>
        <p:spPr>
          <a:xfrm>
            <a:off x="1810512" y="6099048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IAM roles | Secrets Manager | VPC/private DB access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25597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83C24-E14E-F826-E863-EDC009F0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84BEA5-EC71-32C0-3913-CD2BE0224E51}"/>
              </a:ext>
            </a:extLst>
          </p:cNvPr>
          <p:cNvSpPr/>
          <p:nvPr/>
        </p:nvSpPr>
        <p:spPr>
          <a:xfrm>
            <a:off x="320040" y="20116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LOS + AI Solution on AWS</a:t>
            </a:r>
            <a:endParaRPr lang="en-US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38C0CF-CFA7-BDA7-C0C4-B09AE71B1255}"/>
              </a:ext>
            </a:extLst>
          </p:cNvPr>
          <p:cNvSpPr/>
          <p:nvPr/>
        </p:nvSpPr>
        <p:spPr>
          <a:xfrm>
            <a:off x="320040" y="60350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 for loan origination, intelligent workflows, document processing, and Bedrock-powered assistant / RAG</a:t>
            </a:r>
            <a:endParaRPr lang="en-US" sz="11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DC60E7-27F7-93BE-87F7-D1E6DB3131DD}"/>
              </a:ext>
            </a:extLst>
          </p:cNvPr>
          <p:cNvSpPr/>
          <p:nvPr/>
        </p:nvSpPr>
        <p:spPr>
          <a:xfrm>
            <a:off x="9281160" y="219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AWS-native | Secure | Serverless-first | API-driven</a:t>
            </a:r>
            <a:endParaRPr lang="en-US" sz="10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E35956-FDF6-3293-5353-274039FEC507}"/>
              </a:ext>
            </a:extLst>
          </p:cNvPr>
          <p:cNvSpPr/>
          <p:nvPr/>
        </p:nvSpPr>
        <p:spPr>
          <a:xfrm>
            <a:off x="320040" y="932688"/>
            <a:ext cx="11475720" cy="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76B8E6-40C7-ABAC-96C7-8CDEDEDF9343}"/>
              </a:ext>
            </a:extLst>
          </p:cNvPr>
          <p:cNvSpPr/>
          <p:nvPr/>
        </p:nvSpPr>
        <p:spPr>
          <a:xfrm>
            <a:off x="1508760" y="3493008"/>
            <a:ext cx="256032" cy="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5FB500-A29C-40A0-9CDC-2F7D0F3574D3}"/>
              </a:ext>
            </a:extLst>
          </p:cNvPr>
          <p:cNvSpPr/>
          <p:nvPr/>
        </p:nvSpPr>
        <p:spPr>
          <a:xfrm>
            <a:off x="4594860" y="2148840"/>
            <a:ext cx="0" cy="210312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6DB132-D12A-B6DB-D591-CD633D7DF0B7}"/>
              </a:ext>
            </a:extLst>
          </p:cNvPr>
          <p:cNvSpPr/>
          <p:nvPr/>
        </p:nvSpPr>
        <p:spPr>
          <a:xfrm>
            <a:off x="4594860" y="2926080"/>
            <a:ext cx="0" cy="18288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1149A4-682F-BE96-1196-72F998E0F016}"/>
              </a:ext>
            </a:extLst>
          </p:cNvPr>
          <p:cNvSpPr/>
          <p:nvPr/>
        </p:nvSpPr>
        <p:spPr>
          <a:xfrm>
            <a:off x="7406640" y="3822192"/>
            <a:ext cx="228600" cy="0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EF2739-F57D-BB86-E1E8-78DECC411BF0}"/>
              </a:ext>
            </a:extLst>
          </p:cNvPr>
          <p:cNvSpPr/>
          <p:nvPr/>
        </p:nvSpPr>
        <p:spPr>
          <a:xfrm>
            <a:off x="7406640" y="3822192"/>
            <a:ext cx="228600" cy="786384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57ADF65-7144-CC22-496F-46A5360CB1DC}"/>
              </a:ext>
            </a:extLst>
          </p:cNvPr>
          <p:cNvSpPr/>
          <p:nvPr/>
        </p:nvSpPr>
        <p:spPr>
          <a:xfrm>
            <a:off x="2459736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85F0BFE-3F3E-C5D4-9876-61A0B4A55BC6}"/>
              </a:ext>
            </a:extLst>
          </p:cNvPr>
          <p:cNvSpPr/>
          <p:nvPr/>
        </p:nvSpPr>
        <p:spPr>
          <a:xfrm>
            <a:off x="3950208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94DE7D-26A9-90CB-D634-5AD4723CD946}"/>
              </a:ext>
            </a:extLst>
          </p:cNvPr>
          <p:cNvSpPr/>
          <p:nvPr/>
        </p:nvSpPr>
        <p:spPr>
          <a:xfrm>
            <a:off x="5440680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FD8462-6AA9-AA84-E503-CC6CFF51F223}"/>
              </a:ext>
            </a:extLst>
          </p:cNvPr>
          <p:cNvSpPr/>
          <p:nvPr/>
        </p:nvSpPr>
        <p:spPr>
          <a:xfrm>
            <a:off x="6830568" y="4590288"/>
            <a:ext cx="0" cy="128016"/>
          </a:xfrm>
          <a:prstGeom prst="line">
            <a:avLst/>
          </a:prstGeom>
          <a:noFill/>
          <a:ln w="12700">
            <a:solidFill>
              <a:srgbClr val="94A8B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81E842B-04A3-6F16-C6C9-CB1F30A8F31F}"/>
              </a:ext>
            </a:extLst>
          </p:cNvPr>
          <p:cNvSpPr/>
          <p:nvPr/>
        </p:nvSpPr>
        <p:spPr>
          <a:xfrm>
            <a:off x="8732520" y="3977640"/>
            <a:ext cx="0" cy="0"/>
          </a:xfrm>
          <a:prstGeom prst="line">
            <a:avLst/>
          </a:prstGeom>
          <a:noFill/>
          <a:ln w="12700">
            <a:solidFill>
              <a:srgbClr val="B4C1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55EA880-9A27-ADC5-C953-32DC4B1D6C97}"/>
              </a:ext>
            </a:extLst>
          </p:cNvPr>
          <p:cNvSpPr/>
          <p:nvPr/>
        </p:nvSpPr>
        <p:spPr>
          <a:xfrm>
            <a:off x="320040" y="1234440"/>
            <a:ext cx="1188720" cy="4526280"/>
          </a:xfrm>
          <a:prstGeom prst="roundRect">
            <a:avLst>
              <a:gd name="adj" fmla="val 6154"/>
            </a:avLst>
          </a:prstGeom>
          <a:solidFill>
            <a:srgbClr val="EEF3F8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0E639C-D8B9-611B-180F-A0E0F90642DB}"/>
              </a:ext>
            </a:extLst>
          </p:cNvPr>
          <p:cNvSpPr/>
          <p:nvPr/>
        </p:nvSpPr>
        <p:spPr>
          <a:xfrm>
            <a:off x="466344" y="13075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Channels &amp; Roles</a:t>
            </a:r>
            <a:endParaRPr lang="en-US" sz="16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1EB46E0-6DF1-778D-C115-08133C274E4D}"/>
              </a:ext>
            </a:extLst>
          </p:cNvPr>
          <p:cNvSpPr/>
          <p:nvPr/>
        </p:nvSpPr>
        <p:spPr>
          <a:xfrm>
            <a:off x="484632" y="1709928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0064BF6-8B49-23AF-429B-CCED31CF49B6}"/>
              </a:ext>
            </a:extLst>
          </p:cNvPr>
          <p:cNvSpPr/>
          <p:nvPr/>
        </p:nvSpPr>
        <p:spPr>
          <a:xfrm>
            <a:off x="539496" y="17465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F8C4F43-91F9-81F5-C5BB-E569E4ACFCBB}"/>
              </a:ext>
            </a:extLst>
          </p:cNvPr>
          <p:cNvSpPr/>
          <p:nvPr/>
        </p:nvSpPr>
        <p:spPr>
          <a:xfrm>
            <a:off x="484632" y="2231136"/>
            <a:ext cx="859536" cy="530352"/>
          </a:xfrm>
          <a:prstGeom prst="roundRect">
            <a:avLst>
              <a:gd name="adj" fmla="val 8621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3C1696C-F5B3-8F68-5794-9FE624407DBE}"/>
              </a:ext>
            </a:extLst>
          </p:cNvPr>
          <p:cNvSpPr/>
          <p:nvPr/>
        </p:nvSpPr>
        <p:spPr>
          <a:xfrm>
            <a:off x="539496" y="226771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</a:t>
            </a:r>
            <a:endParaRPr lang="en-US" sz="103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D81CB18-FD12-D29E-4376-D534C078B60F}"/>
              </a:ext>
            </a:extLst>
          </p:cNvPr>
          <p:cNvSpPr/>
          <p:nvPr/>
        </p:nvSpPr>
        <p:spPr>
          <a:xfrm>
            <a:off x="484632" y="2880360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F0A1BB0-ACAF-3118-9348-712AF82C1F5D}"/>
              </a:ext>
            </a:extLst>
          </p:cNvPr>
          <p:cNvSpPr/>
          <p:nvPr/>
        </p:nvSpPr>
        <p:spPr>
          <a:xfrm>
            <a:off x="539496" y="291693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FCAE824-6832-2E99-4DAC-3E0414FE31F6}"/>
              </a:ext>
            </a:extLst>
          </p:cNvPr>
          <p:cNvSpPr/>
          <p:nvPr/>
        </p:nvSpPr>
        <p:spPr>
          <a:xfrm>
            <a:off x="484632" y="3401568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7CFF7DB-319C-ACA8-8C12-CA037FD2A19E}"/>
              </a:ext>
            </a:extLst>
          </p:cNvPr>
          <p:cNvSpPr/>
          <p:nvPr/>
        </p:nvSpPr>
        <p:spPr>
          <a:xfrm>
            <a:off x="539496" y="343814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/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Gatekeeper</a:t>
            </a:r>
            <a:endParaRPr lang="en-US" sz="103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1BCA398-C48B-F863-F681-0281E4BE257A}"/>
              </a:ext>
            </a:extLst>
          </p:cNvPr>
          <p:cNvSpPr/>
          <p:nvPr/>
        </p:nvSpPr>
        <p:spPr>
          <a:xfrm>
            <a:off x="484632" y="3922776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4CA69B1-A18C-A918-0BDA-E67E8E830853}"/>
              </a:ext>
            </a:extLst>
          </p:cNvPr>
          <p:cNvSpPr/>
          <p:nvPr/>
        </p:nvSpPr>
        <p:spPr>
          <a:xfrm>
            <a:off x="539496" y="395935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3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F1CBBFA-D641-8303-73E0-27C45B929F50}"/>
              </a:ext>
            </a:extLst>
          </p:cNvPr>
          <p:cNvSpPr/>
          <p:nvPr/>
        </p:nvSpPr>
        <p:spPr>
          <a:xfrm>
            <a:off x="484632" y="4443984"/>
            <a:ext cx="859536" cy="420624"/>
          </a:xfrm>
          <a:prstGeom prst="roundRect">
            <a:avLst>
              <a:gd name="adj" fmla="val 10870"/>
            </a:avLst>
          </a:prstGeom>
          <a:solidFill>
            <a:srgbClr val="FFF3E5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6871A63-651E-F316-9CC5-E22D2BF865B9}"/>
              </a:ext>
            </a:extLst>
          </p:cNvPr>
          <p:cNvSpPr/>
          <p:nvPr/>
        </p:nvSpPr>
        <p:spPr>
          <a:xfrm>
            <a:off x="539496" y="44805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E240D65-5866-9CD5-0D62-F5CB2FA86998}"/>
              </a:ext>
            </a:extLst>
          </p:cNvPr>
          <p:cNvSpPr/>
          <p:nvPr/>
        </p:nvSpPr>
        <p:spPr>
          <a:xfrm>
            <a:off x="429768" y="50749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5C7086"/>
                </a:solidFill>
              </a:rPr>
              <a:t>Browser / mobile web</a:t>
            </a:r>
            <a:endParaRPr lang="en-US" sz="9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40F7DAD-D299-8F94-034D-321C38EEABF4}"/>
              </a:ext>
            </a:extLst>
          </p:cNvPr>
          <p:cNvSpPr/>
          <p:nvPr/>
        </p:nvSpPr>
        <p:spPr>
          <a:xfrm>
            <a:off x="1783080" y="123444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0FCE67-3A62-FAA0-41E8-ACFFE34FF131}"/>
              </a:ext>
            </a:extLst>
          </p:cNvPr>
          <p:cNvSpPr/>
          <p:nvPr/>
        </p:nvSpPr>
        <p:spPr>
          <a:xfrm>
            <a:off x="1929384" y="130759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2D6C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Experience, Edge Security &amp; Identity</a:t>
            </a:r>
            <a:endParaRPr lang="en-US" sz="15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96EA8DF-B4CA-AFEF-EBB0-C1492A0D3F20}"/>
              </a:ext>
            </a:extLst>
          </p:cNvPr>
          <p:cNvSpPr/>
          <p:nvPr/>
        </p:nvSpPr>
        <p:spPr>
          <a:xfrm>
            <a:off x="1929384" y="1627632"/>
            <a:ext cx="5330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53 + CloudFront + AWS WAF in front of Amplify-hosted React / Next.js LOS portal</a:t>
            </a:r>
            <a:endParaRPr lang="en-US" sz="1050"/>
          </a:p>
          <a:p>
            <a:pPr marL="127000" indent="-127000">
              <a:buSzPct val="100000"/>
              <a:buChar char="•"/>
            </a:pPr>
            <a:r>
              <a:rPr lang="en-US" sz="105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Cognito for login, MFA, JWT, user groups and role-aligned access</a:t>
            </a:r>
            <a:endParaRPr lang="en-US" sz="10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4078037-52B5-987D-54F7-76F5A3485587}"/>
              </a:ext>
            </a:extLst>
          </p:cNvPr>
          <p:cNvSpPr/>
          <p:nvPr/>
        </p:nvSpPr>
        <p:spPr>
          <a:xfrm>
            <a:off x="2834640" y="2359152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8B76F21-2635-AB14-267D-0481EA692381}"/>
              </a:ext>
            </a:extLst>
          </p:cNvPr>
          <p:cNvSpPr/>
          <p:nvPr/>
        </p:nvSpPr>
        <p:spPr>
          <a:xfrm>
            <a:off x="2980944" y="24231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2D6CDF"/>
                </a:solidFill>
              </a:rPr>
              <a:t>Amazon API Gateway</a:t>
            </a:r>
            <a:endParaRPr lang="en-US" sz="14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3CEB4EE-BD1A-DDB4-E8C8-979E2F6C5FA9}"/>
              </a:ext>
            </a:extLst>
          </p:cNvPr>
          <p:cNvSpPr/>
          <p:nvPr/>
        </p:nvSpPr>
        <p:spPr>
          <a:xfrm>
            <a:off x="3035808" y="2670048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90">
                <a:solidFill>
                  <a:srgbClr val="15324B"/>
                </a:solidFill>
              </a:rPr>
              <a:t>REST / secure endpoints for UI, Bedrock action groups, and partner integrations</a:t>
            </a:r>
            <a:endParaRPr lang="en-US" sz="89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D75757F-EC56-9A42-0288-5BDEF84C96CA}"/>
              </a:ext>
            </a:extLst>
          </p:cNvPr>
          <p:cNvSpPr/>
          <p:nvPr/>
        </p:nvSpPr>
        <p:spPr>
          <a:xfrm>
            <a:off x="1783080" y="3108960"/>
            <a:ext cx="56235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26D2DBA-FFDE-5748-B214-731AAB2D4D06}"/>
              </a:ext>
            </a:extLst>
          </p:cNvPr>
          <p:cNvSpPr/>
          <p:nvPr/>
        </p:nvSpPr>
        <p:spPr>
          <a:xfrm>
            <a:off x="1929384" y="3182112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&amp; Orchestration Services</a:t>
            </a:r>
            <a:endParaRPr lang="en-US" sz="155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FDC09EF-09F9-EA48-702F-8F3A393917D6}"/>
              </a:ext>
            </a:extLst>
          </p:cNvPr>
          <p:cNvSpPr/>
          <p:nvPr/>
        </p:nvSpPr>
        <p:spPr>
          <a:xfrm>
            <a:off x="1929384" y="3493008"/>
            <a:ext cx="5330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 business services built on AWS Lambda (Node.js / Python), isolated by domain and policy</a:t>
            </a:r>
            <a:endParaRPr lang="en-US" sz="10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B4DB2E0-B43F-9DAC-7FF5-3CB0FBC022BB}"/>
              </a:ext>
            </a:extLst>
          </p:cNvPr>
          <p:cNvSpPr/>
          <p:nvPr/>
        </p:nvSpPr>
        <p:spPr>
          <a:xfrm>
            <a:off x="1947672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FE237B8-90FB-AEE0-C44F-EB48560C16E9}"/>
              </a:ext>
            </a:extLst>
          </p:cNvPr>
          <p:cNvSpPr/>
          <p:nvPr/>
        </p:nvSpPr>
        <p:spPr>
          <a:xfrm>
            <a:off x="2002536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1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F47FD95-9925-F5CC-4CBE-5D1EEBB3A87E}"/>
              </a:ext>
            </a:extLst>
          </p:cNvPr>
          <p:cNvSpPr/>
          <p:nvPr/>
        </p:nvSpPr>
        <p:spPr>
          <a:xfrm>
            <a:off x="2971800" y="3611880"/>
            <a:ext cx="987552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E2DE294-EE6A-BAE3-6752-F30724AAD265}"/>
              </a:ext>
            </a:extLst>
          </p:cNvPr>
          <p:cNvSpPr/>
          <p:nvPr/>
        </p:nvSpPr>
        <p:spPr>
          <a:xfrm>
            <a:off x="3026664" y="364845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File /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8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A9FC767-4ABC-7478-7962-352401683205}"/>
              </a:ext>
            </a:extLst>
          </p:cNvPr>
          <p:cNvSpPr/>
          <p:nvPr/>
        </p:nvSpPr>
        <p:spPr>
          <a:xfrm>
            <a:off x="4069080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1C1F7F5-D118-A19C-EE70-032B91B338FF}"/>
              </a:ext>
            </a:extLst>
          </p:cNvPr>
          <p:cNvSpPr/>
          <p:nvPr/>
        </p:nvSpPr>
        <p:spPr>
          <a:xfrm>
            <a:off x="4123944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</a:t>
            </a:r>
            <a:endParaRPr lang="en-US" sz="105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04517E3-2B95-FB9F-CF85-0B3ECA786DD9}"/>
              </a:ext>
            </a:extLst>
          </p:cNvPr>
          <p:cNvSpPr/>
          <p:nvPr/>
        </p:nvSpPr>
        <p:spPr>
          <a:xfrm>
            <a:off x="5111496" y="3611880"/>
            <a:ext cx="932688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557587E-3628-F2C9-61A4-9B9D060B7C26}"/>
              </a:ext>
            </a:extLst>
          </p:cNvPr>
          <p:cNvSpPr/>
          <p:nvPr/>
        </p:nvSpPr>
        <p:spPr>
          <a:xfrm>
            <a:off x="5166360" y="364845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1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036CCA9-DDE0-2854-DAA7-D2F9D4147BB0}"/>
              </a:ext>
            </a:extLst>
          </p:cNvPr>
          <p:cNvSpPr/>
          <p:nvPr/>
        </p:nvSpPr>
        <p:spPr>
          <a:xfrm>
            <a:off x="6153912" y="3611880"/>
            <a:ext cx="1051560" cy="512064"/>
          </a:xfrm>
          <a:prstGeom prst="roundRect">
            <a:avLst>
              <a:gd name="adj" fmla="val 8929"/>
            </a:avLst>
          </a:prstGeom>
          <a:solidFill>
            <a:srgbClr val="E8F8F5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046194F-A54B-A6C0-2188-75774CFAB3E3}"/>
              </a:ext>
            </a:extLst>
          </p:cNvPr>
          <p:cNvSpPr/>
          <p:nvPr/>
        </p:nvSpPr>
        <p:spPr>
          <a:xfrm>
            <a:off x="6208776" y="3648456"/>
            <a:ext cx="94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0F7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8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F074EC4-7490-52D1-743F-85986168B49E}"/>
              </a:ext>
            </a:extLst>
          </p:cNvPr>
          <p:cNvSpPr/>
          <p:nvPr/>
        </p:nvSpPr>
        <p:spPr>
          <a:xfrm>
            <a:off x="1938528" y="4233672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i="1">
                <a:solidFill>
                  <a:srgbClr val="5C7086"/>
                </a:solidFill>
              </a:rPr>
              <a:t>AI Assistant Lambda mediates prompts, context assembly, guardrails, and action responses</a:t>
            </a:r>
            <a:endParaRPr lang="en-US" sz="94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F8CAFB5-F7DC-A6C0-EF0D-43814113D8AF}"/>
              </a:ext>
            </a:extLst>
          </p:cNvPr>
          <p:cNvSpPr/>
          <p:nvPr/>
        </p:nvSpPr>
        <p:spPr>
          <a:xfrm>
            <a:off x="1783080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EAF8EE"/>
          </a:solidFill>
          <a:ln w="12700">
            <a:solidFill>
              <a:srgbClr val="BFE1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65A113CE-45FA-2F8F-0985-639DC250619D}"/>
              </a:ext>
            </a:extLst>
          </p:cNvPr>
          <p:cNvSpPr/>
          <p:nvPr/>
        </p:nvSpPr>
        <p:spPr>
          <a:xfrm>
            <a:off x="1929384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Transactional Data</a:t>
            </a:r>
            <a:endParaRPr lang="en-US" sz="13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6B41202-2293-0DB8-80DE-705A55076DA3}"/>
              </a:ext>
            </a:extLst>
          </p:cNvPr>
          <p:cNvSpPr/>
          <p:nvPr/>
        </p:nvSpPr>
        <p:spPr>
          <a:xfrm>
            <a:off x="1929384" y="5084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PostgreSQL Serverless v2</a:t>
            </a:r>
            <a:endParaRPr lang="en-US" sz="900"/>
          </a:p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Leads, applicants, loan files, workflow state, audit trail</a:t>
            </a:r>
            <a:endParaRPr lang="en-US" sz="9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6337B69-76C9-C786-267A-68433C2ADA42}"/>
              </a:ext>
            </a:extLst>
          </p:cNvPr>
          <p:cNvSpPr/>
          <p:nvPr/>
        </p:nvSpPr>
        <p:spPr>
          <a:xfrm>
            <a:off x="3273552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FFF3E5"/>
          </a:solidFill>
          <a:ln w="12700">
            <a:solidFill>
              <a:srgbClr val="F8D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BB71262C-B034-C823-4503-ED0CE00821B0}"/>
              </a:ext>
            </a:extLst>
          </p:cNvPr>
          <p:cNvSpPr/>
          <p:nvPr/>
        </p:nvSpPr>
        <p:spPr>
          <a:xfrm>
            <a:off x="3419856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F18F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3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821F7A8-D714-4D22-000E-1138952B3DFB}"/>
              </a:ext>
            </a:extLst>
          </p:cNvPr>
          <p:cNvSpPr/>
          <p:nvPr/>
        </p:nvSpPr>
        <p:spPr>
          <a:xfrm>
            <a:off x="3419856" y="5084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S3</a:t>
            </a:r>
            <a:endParaRPr lang="en-US" sz="900"/>
          </a:p>
          <a:p>
            <a:pPr marL="127000" indent="-127000">
              <a:buSzPct val="100000"/>
              <a:buChar char="•"/>
            </a:pPr>
            <a:r>
              <a:rPr lang="en-US" sz="9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docs, forms, signed files, statements, OCR inputs</a:t>
            </a:r>
            <a:endParaRPr lang="en-US" sz="9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46105470-B774-EA78-A7E4-9B0F0C49636B}"/>
              </a:ext>
            </a:extLst>
          </p:cNvPr>
          <p:cNvSpPr/>
          <p:nvPr/>
        </p:nvSpPr>
        <p:spPr>
          <a:xfrm>
            <a:off x="4764024" y="4718304"/>
            <a:ext cx="1344168" cy="859536"/>
          </a:xfrm>
          <a:prstGeom prst="roundRect">
            <a:avLst>
              <a:gd name="adj" fmla="val 8511"/>
            </a:avLst>
          </a:prstGeom>
          <a:solidFill>
            <a:srgbClr val="F3ECFF"/>
          </a:solidFill>
          <a:ln w="12700">
            <a:solidFill>
              <a:srgbClr val="D9C9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46F1586-96D5-AC3E-E499-021EE9C9EA2F}"/>
              </a:ext>
            </a:extLst>
          </p:cNvPr>
          <p:cNvSpPr/>
          <p:nvPr/>
        </p:nvSpPr>
        <p:spPr>
          <a:xfrm>
            <a:off x="4910328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6F42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35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8F99B9C-5E67-2281-0D39-A4FD9C4AE186}"/>
              </a:ext>
            </a:extLst>
          </p:cNvPr>
          <p:cNvSpPr/>
          <p:nvPr/>
        </p:nvSpPr>
        <p:spPr>
          <a:xfrm>
            <a:off x="4910328" y="5010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27000" indent="-127000">
              <a:buSzPct val="100000"/>
              <a:buChar char="•"/>
            </a:pPr>
            <a:r>
              <a:rPr lang="en-US" sz="94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Step Functions</a:t>
            </a:r>
            <a:endParaRPr lang="en-US" sz="940"/>
          </a:p>
          <a:p>
            <a:pPr marL="127000" indent="-127000">
              <a:buSzPct val="100000"/>
              <a:buChar char="•"/>
            </a:pPr>
            <a:r>
              <a:rPr lang="en-US" sz="94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KYC, bureau, review, approval, e-sign orchestration</a:t>
            </a:r>
            <a:endParaRPr lang="en-US" sz="94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E7EB9FCD-6C80-E485-AFB1-EA8D1CD90653}"/>
              </a:ext>
            </a:extLst>
          </p:cNvPr>
          <p:cNvSpPr/>
          <p:nvPr/>
        </p:nvSpPr>
        <p:spPr>
          <a:xfrm>
            <a:off x="6254496" y="4718304"/>
            <a:ext cx="1152144" cy="859536"/>
          </a:xfrm>
          <a:prstGeom prst="roundRect">
            <a:avLst>
              <a:gd name="adj" fmla="val 8511"/>
            </a:avLst>
          </a:prstGeom>
          <a:solidFill>
            <a:srgbClr val="EAF2FF"/>
          </a:solidFill>
          <a:ln w="12700">
            <a:solidFill>
              <a:srgbClr val="BFD3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B2FC7E5B-BD5F-F56E-D409-79B81B3591CD}"/>
              </a:ext>
            </a:extLst>
          </p:cNvPr>
          <p:cNvSpPr/>
          <p:nvPr/>
        </p:nvSpPr>
        <p:spPr>
          <a:xfrm>
            <a:off x="6400800" y="479145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2D6C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/ Events</a:t>
            </a:r>
            <a:endParaRPr lang="en-US" sz="130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68A65661-81E4-B49E-3944-3A58CB4DFCD0}"/>
              </a:ext>
            </a:extLst>
          </p:cNvPr>
          <p:cNvSpPr/>
          <p:nvPr/>
        </p:nvSpPr>
        <p:spPr>
          <a:xfrm>
            <a:off x="6400800" y="5084064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127000" indent="-127000">
              <a:buSzPct val="100000"/>
              <a:buChar char="•"/>
            </a:pPr>
            <a:r>
              <a:rPr lang="en-US" sz="88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EventBridge / SQS</a:t>
            </a:r>
            <a:endParaRPr lang="en-US" sz="880"/>
          </a:p>
          <a:p>
            <a:pPr marL="127000" indent="-127000">
              <a:buSzPct val="100000"/>
              <a:buChar char="•"/>
            </a:pPr>
            <a:r>
              <a:rPr lang="en-US" sz="88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Retries, callbacks, decoupled processing</a:t>
            </a:r>
            <a:endParaRPr lang="en-US" sz="88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19545218-6635-0D48-6677-4F5E68C436B5}"/>
              </a:ext>
            </a:extLst>
          </p:cNvPr>
          <p:cNvSpPr/>
          <p:nvPr/>
        </p:nvSpPr>
        <p:spPr>
          <a:xfrm>
            <a:off x="7726680" y="1234440"/>
            <a:ext cx="4096512" cy="2057400"/>
          </a:xfrm>
          <a:prstGeom prst="roundRect">
            <a:avLst>
              <a:gd name="adj" fmla="val 3556"/>
            </a:avLst>
          </a:prstGeom>
          <a:solidFill>
            <a:srgbClr val="FFF3E5"/>
          </a:solidFill>
          <a:ln w="12700">
            <a:solidFill>
              <a:srgbClr val="F8D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246B3B5-09D3-151F-E2D1-E2FED2A51CB5}"/>
              </a:ext>
            </a:extLst>
          </p:cNvPr>
          <p:cNvSpPr/>
          <p:nvPr/>
        </p:nvSpPr>
        <p:spPr>
          <a:xfrm>
            <a:off x="7872984" y="13075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>
                <a:solidFill>
                  <a:srgbClr val="F18F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 Layer</a:t>
            </a:r>
            <a:endParaRPr lang="en-US" sz="165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5F992E3A-735D-5D8D-DF54-6C7DA5CB25CE}"/>
              </a:ext>
            </a:extLst>
          </p:cNvPr>
          <p:cNvSpPr/>
          <p:nvPr/>
        </p:nvSpPr>
        <p:spPr>
          <a:xfrm>
            <a:off x="7872984" y="1627632"/>
            <a:ext cx="3803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Bedrock foundation model(s) with Guardrails for policy, safety and grounded responses</a:t>
            </a:r>
            <a:endParaRPr lang="en-US" sz="1000"/>
          </a:p>
          <a:p>
            <a:pPr marL="127000" indent="-127000">
              <a:buSzPct val="100000"/>
              <a:buChar char="•"/>
            </a:pPr>
            <a:r>
              <a:rPr lang="en-US" sz="100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Agent uses action groups to invoke controlled backend functions — not direct DB writes</a:t>
            </a:r>
            <a:endParaRPr lang="en-US" sz="100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319496A-34E0-B0DF-062A-9C7A9A14C384}"/>
              </a:ext>
            </a:extLst>
          </p:cNvPr>
          <p:cNvSpPr/>
          <p:nvPr/>
        </p:nvSpPr>
        <p:spPr>
          <a:xfrm>
            <a:off x="791870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2250F6E2-CA2B-A3DB-7847-EDB27BFC3556}"/>
              </a:ext>
            </a:extLst>
          </p:cNvPr>
          <p:cNvSpPr/>
          <p:nvPr/>
        </p:nvSpPr>
        <p:spPr>
          <a:xfrm>
            <a:off x="797356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05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5B324FC-7E8D-9B10-B9B3-B360D6711AD8}"/>
              </a:ext>
            </a:extLst>
          </p:cNvPr>
          <p:cNvSpPr/>
          <p:nvPr/>
        </p:nvSpPr>
        <p:spPr>
          <a:xfrm>
            <a:off x="892454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A8EC77EA-78AB-78C5-0699-D9DBD567D296}"/>
              </a:ext>
            </a:extLst>
          </p:cNvPr>
          <p:cNvSpPr/>
          <p:nvPr/>
        </p:nvSpPr>
        <p:spPr>
          <a:xfrm>
            <a:off x="897940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105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03C1D833-9BEC-A93C-782C-8CCC6BE881EA}"/>
              </a:ext>
            </a:extLst>
          </p:cNvPr>
          <p:cNvSpPr/>
          <p:nvPr/>
        </p:nvSpPr>
        <p:spPr>
          <a:xfrm>
            <a:off x="9930384" y="2377440"/>
            <a:ext cx="85953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5A966CF-F401-1E6E-4223-6EB5D410AF7B}"/>
              </a:ext>
            </a:extLst>
          </p:cNvPr>
          <p:cNvSpPr/>
          <p:nvPr/>
        </p:nvSpPr>
        <p:spPr>
          <a:xfrm>
            <a:off x="9985248" y="241401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05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AFD14A14-1D40-801E-E50E-9B452C6E2E13}"/>
              </a:ext>
            </a:extLst>
          </p:cNvPr>
          <p:cNvSpPr/>
          <p:nvPr/>
        </p:nvSpPr>
        <p:spPr>
          <a:xfrm>
            <a:off x="10936224" y="2377440"/>
            <a:ext cx="67665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5BA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0A9C3E35-C49C-6206-9D9E-EDC24AAA002C}"/>
              </a:ext>
            </a:extLst>
          </p:cNvPr>
          <p:cNvSpPr/>
          <p:nvPr/>
        </p:nvSpPr>
        <p:spPr>
          <a:xfrm>
            <a:off x="10991088" y="2414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18F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FM(s)</a:t>
            </a:r>
            <a:endParaRPr lang="en-US" sz="105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58B76A7-853F-09EC-E860-16EB9947ADBA}"/>
              </a:ext>
            </a:extLst>
          </p:cNvPr>
          <p:cNvSpPr/>
          <p:nvPr/>
        </p:nvSpPr>
        <p:spPr>
          <a:xfrm>
            <a:off x="7726680" y="3401568"/>
            <a:ext cx="4096512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28D64138-3788-A1B2-150D-7B21D574CB94}"/>
              </a:ext>
            </a:extLst>
          </p:cNvPr>
          <p:cNvSpPr/>
          <p:nvPr/>
        </p:nvSpPr>
        <p:spPr>
          <a:xfrm>
            <a:off x="7872984" y="347472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6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&amp; Enterprise Integration</a:t>
            </a:r>
            <a:endParaRPr lang="en-US" sz="160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5734D740-7137-2E40-23A0-14FF2D470095}"/>
              </a:ext>
            </a:extLst>
          </p:cNvPr>
          <p:cNvSpPr/>
          <p:nvPr/>
        </p:nvSpPr>
        <p:spPr>
          <a:xfrm>
            <a:off x="7872984" y="3730752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Bedrock Knowledge Bases ingest approved policy, SOP, product and FAQ content from S3 / curated sources</a:t>
            </a:r>
            <a:endParaRPr lang="en-US" sz="990"/>
          </a:p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layer: use Aurora pgvector for a compact POC; scale to OpenSearch Serverless if search workload grows</a:t>
            </a:r>
            <a:endParaRPr lang="en-US" sz="990"/>
          </a:p>
          <a:p>
            <a:pPr marL="127000" indent="-127000">
              <a:buSzPct val="100000"/>
              <a:buChar char="•"/>
            </a:pPr>
            <a:r>
              <a:rPr lang="en-US" sz="990">
                <a:solidFill>
                  <a:srgbClr val="15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adapters connect bureau, CKYC, DigiLocker, PAN/OCR, e-sign, notifications and core systems</a:t>
            </a:r>
            <a:endParaRPr lang="en-US" sz="99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AF41191B-EE55-758A-043D-294CCFC28D1A}"/>
              </a:ext>
            </a:extLst>
          </p:cNvPr>
          <p:cNvSpPr/>
          <p:nvPr/>
        </p:nvSpPr>
        <p:spPr>
          <a:xfrm>
            <a:off x="7936992" y="4645152"/>
            <a:ext cx="1060704" cy="493776"/>
          </a:xfrm>
          <a:prstGeom prst="roundRect">
            <a:avLst>
              <a:gd name="adj" fmla="val 9259"/>
            </a:avLst>
          </a:prstGeom>
          <a:solidFill>
            <a:srgbClr val="EAF2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37323AD9-1DEB-6A8E-3309-472C7587A8B9}"/>
              </a:ext>
            </a:extLst>
          </p:cNvPr>
          <p:cNvSpPr/>
          <p:nvPr/>
        </p:nvSpPr>
        <p:spPr>
          <a:xfrm>
            <a:off x="7991856" y="468172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8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9195697-8C76-F5E9-B610-49570F368A55}"/>
              </a:ext>
            </a:extLst>
          </p:cNvPr>
          <p:cNvSpPr/>
          <p:nvPr/>
        </p:nvSpPr>
        <p:spPr>
          <a:xfrm>
            <a:off x="9125712" y="4645152"/>
            <a:ext cx="1078992" cy="493776"/>
          </a:xfrm>
          <a:prstGeom prst="roundRect">
            <a:avLst>
              <a:gd name="adj" fmla="val 9259"/>
            </a:avLst>
          </a:prstGeom>
          <a:solidFill>
            <a:srgbClr val="EAF8EE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2B44D957-2671-FDD6-8013-B689887AE0D9}"/>
              </a:ext>
            </a:extLst>
          </p:cNvPr>
          <p:cNvSpPr/>
          <p:nvPr/>
        </p:nvSpPr>
        <p:spPr>
          <a:xfrm>
            <a:off x="9180576" y="4681728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108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D2B85C1D-453E-3D02-2C04-C2FBF1682B3E}"/>
              </a:ext>
            </a:extLst>
          </p:cNvPr>
          <p:cNvSpPr/>
          <p:nvPr/>
        </p:nvSpPr>
        <p:spPr>
          <a:xfrm>
            <a:off x="10332720" y="4645152"/>
            <a:ext cx="1243584" cy="493776"/>
          </a:xfrm>
          <a:prstGeom prst="roundRect">
            <a:avLst>
              <a:gd name="adj" fmla="val 9259"/>
            </a:avLst>
          </a:prstGeom>
          <a:solidFill>
            <a:srgbClr val="F3ECFF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DEC617F6-AA62-8347-54AA-299F3D39182B}"/>
              </a:ext>
            </a:extLst>
          </p:cNvPr>
          <p:cNvSpPr/>
          <p:nvPr/>
        </p:nvSpPr>
        <p:spPr>
          <a:xfrm>
            <a:off x="10387584" y="4681728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OpenSearch</a:t>
            </a:r>
            <a:endParaRPr lang="en-US" sz="1030"/>
          </a:p>
          <a:p>
            <a:pPr marL="0" indent="0" algn="ctr">
              <a:buNone/>
            </a:pPr>
            <a:r>
              <a:rPr lang="en-US" sz="1030" b="1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Serverless</a:t>
            </a:r>
            <a:endParaRPr lang="en-US" sz="103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022FEBA8-4BA8-80CA-A741-F9E76E339215}"/>
              </a:ext>
            </a:extLst>
          </p:cNvPr>
          <p:cNvSpPr/>
          <p:nvPr/>
        </p:nvSpPr>
        <p:spPr>
          <a:xfrm>
            <a:off x="7936992" y="52303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>
                <a:solidFill>
                  <a:srgbClr val="5C7086"/>
                </a:solidFill>
              </a:rPr>
              <a:t>Policy Q&amp;A | next-best-action | document / status summarization</a:t>
            </a:r>
            <a:endParaRPr lang="en-US" sz="93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00C38B9-0793-EBD5-641E-CE602D792D00}"/>
              </a:ext>
            </a:extLst>
          </p:cNvPr>
          <p:cNvSpPr/>
          <p:nvPr/>
        </p:nvSpPr>
        <p:spPr>
          <a:xfrm>
            <a:off x="320040" y="5925312"/>
            <a:ext cx="11503152" cy="621792"/>
          </a:xfrm>
          <a:prstGeom prst="roundRect">
            <a:avLst>
              <a:gd name="adj" fmla="val 7353"/>
            </a:avLst>
          </a:prstGeom>
          <a:solidFill>
            <a:srgbClr val="163A5B"/>
          </a:solidFill>
          <a:ln w="12700">
            <a:solidFill>
              <a:srgbClr val="163A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227FF11B-20F2-B217-8110-D82817E9340E}"/>
              </a:ext>
            </a:extLst>
          </p:cNvPr>
          <p:cNvSpPr/>
          <p:nvPr/>
        </p:nvSpPr>
        <p:spPr>
          <a:xfrm>
            <a:off x="512064" y="61081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Cross-cutting controls</a:t>
            </a:r>
            <a:endParaRPr lang="en-US" sz="120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C998B59F-12E2-B5B8-FF9E-D9375B7F6696}"/>
              </a:ext>
            </a:extLst>
          </p:cNvPr>
          <p:cNvSpPr/>
          <p:nvPr/>
        </p:nvSpPr>
        <p:spPr>
          <a:xfrm>
            <a:off x="1810512" y="6099048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FFFFFF"/>
                </a:solidFill>
              </a:rPr>
              <a:t>IAM roles | KMS encryption | Secrets Manager | VPC/private DB access | CloudWatch logs/alarms | CloudTrail audit | X-Ray tracing | CI/CD with Amplify + SAM/CDK</a:t>
            </a:r>
            <a:endParaRPr lang="en-US" sz="102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C68AF5E9-58C5-8F13-0EC5-BAA9A67D313E}"/>
              </a:ext>
            </a:extLst>
          </p:cNvPr>
          <p:cNvSpPr/>
          <p:nvPr/>
        </p:nvSpPr>
        <p:spPr>
          <a:xfrm>
            <a:off x="9464040" y="502920"/>
            <a:ext cx="2359152" cy="384048"/>
          </a:xfrm>
          <a:prstGeom prst="roundRect">
            <a:avLst>
              <a:gd name="adj" fmla="val 9524"/>
            </a:avLst>
          </a:prstGeom>
          <a:solidFill>
            <a:srgbClr val="FFF8E1"/>
          </a:solidFill>
          <a:ln w="12700">
            <a:solidFill>
              <a:srgbClr val="F4D0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D7695FD-4EAD-4E84-EF11-2CDFB95006DF}"/>
              </a:ext>
            </a:extLst>
          </p:cNvPr>
          <p:cNvSpPr/>
          <p:nvPr/>
        </p:nvSpPr>
        <p:spPr>
          <a:xfrm>
            <a:off x="8106507" y="128543"/>
            <a:ext cx="1099039" cy="4659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Mohit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7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9F0752-5AFC-99EE-C472-EE43DB9C7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37209"/>
              </p:ext>
            </p:extLst>
          </p:nvPr>
        </p:nvGraphicFramePr>
        <p:xfrm>
          <a:off x="353122" y="130097"/>
          <a:ext cx="11480304" cy="65496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2847">
                  <a:extLst>
                    <a:ext uri="{9D8B030D-6E8A-4147-A177-3AD203B41FA5}">
                      <a16:colId xmlns:a16="http://schemas.microsoft.com/office/drawing/2014/main" val="2438842651"/>
                    </a:ext>
                  </a:extLst>
                </a:gridCol>
                <a:gridCol w="1839951">
                  <a:extLst>
                    <a:ext uri="{9D8B030D-6E8A-4147-A177-3AD203B41FA5}">
                      <a16:colId xmlns:a16="http://schemas.microsoft.com/office/drawing/2014/main" val="1447653290"/>
                    </a:ext>
                  </a:extLst>
                </a:gridCol>
                <a:gridCol w="8127506">
                  <a:extLst>
                    <a:ext uri="{9D8B030D-6E8A-4147-A177-3AD203B41FA5}">
                      <a16:colId xmlns:a16="http://schemas.microsoft.com/office/drawing/2014/main" val="2074730927"/>
                    </a:ext>
                  </a:extLst>
                </a:gridCol>
              </a:tblGrid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Area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Current AWS Stack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Other Alternatives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30801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Frontend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React / Next.js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Angular, Vue.js, Salesforce LWC, Flutter Web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895785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Hosting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Amplify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err="1"/>
                        <a:t>Vercel</a:t>
                      </a:r>
                      <a:r>
                        <a:rPr lang="en-US" sz="900"/>
                        <a:t>, Netlify, Azure Static Web Apps, Firebase Hosting, Cloudflare Pages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03028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Content Delivery / Cache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CloudFront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Cloudflare CDN, Azure Front Door, Akamai, Fastly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884337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Web Security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WAF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Cloudflare WAF, Azure WAF, Imperva WAF, Akamai App &amp; API Protector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633290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Authentication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Cognito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Auth0, Okta, Azure AD B2C / Microsoft Entra External ID, Firebase Authentication, Keycloak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754255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API Layer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API Gateway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Kong Gateway, Apigee, Azure API Management, MuleSoft API Manager, NGINX API Gateway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93041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Backend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Lambda using Node.js / Python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Functions, Google Cloud Functions, Cloud Run, Kubernetes microservices, Spring Boot / Node.js APIs on containers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809092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Container Platform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Not in current stack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ECS, Amazon EKS, Azure AKS, Google GKE, OpenShift, Docker + Kubernetes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284418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Database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Aurora PostgreSQL Serverless v2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PostgreSQL on RDS, Supabase Postgres, Azure Database for PostgreSQL, Google Cloud SQL for PostgreSQL, Neon, CockroachDB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074254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File Storage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S3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Blob Storage, Google Cloud Storage, MinIO, Cloudflare R2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7003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Workflow / Orchestration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Step Functions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Temporal, Camunda, Azure Logic Apps, Google Workflows, Apache Airflow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317226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Event / Async Processing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SQS / EventBridge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Kafka, Confluent Cloud, RabbitMQ, Azure Service Bus, Google Pub/Sub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681065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AI / LLM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Bedrock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OpenAI, OpenAI API, Google Vertex AI, Anthropic API, Cohere, Mistral AI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146146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AI Agent Framework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Bedrock Agents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LangChain, LlamaIndex, Microsoft Semantic Kernel, OpenAI Assistants/Responses APIs, CrewAI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519052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RAG / Knowledge Base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Bedrock Knowledge Bases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LlamaIndex, LangChain RAG, Azure AI Search, Vertex AI Search, Pinecone-based RAG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493133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Vector Store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Aurora pgvector / OpenSearch Serverless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Pinecone, Weaviate, Milvus, Qdrant, ChromaDB, Azure AI Search, Supabase pgvector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091165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Search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OpenSearch Serverless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Elasticsearch, Azure AI Search, Algolia, Solr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019309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OCR / Document AI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Textract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Google Document AI, Azure AI Document Intelligence, ABBYY, Tesseract OCR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58893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Secrets Management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Secrets Manager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HashiCorp Vault, Azure Key Vault, Google Secret Manager, Doppler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21428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Encryption / Key Management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KMS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Key Vault, Google Cloud KMS, HashiCorp Vault Transit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806099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Monitoring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CloudWatch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Datadog, New Relic, Grafana, Prometheus, Azure Monitor, Google Cloud Operations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461643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Distributed Tracing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X-Ray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OpenTelemetry, Jaeger, Datadog APM, New Relic APM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512051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Audit Logs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CloudTrail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Azure Activity Logs, Google Cloud Audit Logs, Splunk, Elastic SIEM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611139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CI/CD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SAM/CDK + Amplify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GitHub Actions, GitLab CI/CD, Azure DevOps, Jenkins, Terraform, Pulumi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6686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Infrastructure as Code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CDK / SAM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Terraform, Pulumi, Azure Bicep, CloudFormation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624174"/>
                  </a:ext>
                </a:extLst>
              </a:tr>
              <a:tr h="25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Backup / DR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AWS Backup / Aurora Backups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Veeam, Commvault, Azure Backup, Google Backup and DR, native database backups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829705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Notifications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Amazon SNS / SES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SendGrid, Twilio, Azure Communication Services, Firebase Cloud Messaging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75557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Integration Layer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Lambda + API Gateway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MuleSoft, Boomi, Workato, Apache Camel, Spring Integration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5337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 Warehouse / Analytics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Not in current stack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Snowflake, BigQuery, Redshift, Databricks, Azure Synapse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21833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BI / Reporting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Not in current stack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Power BI, Tableau, Amazon QuickSight, Looker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350685"/>
                  </a:ext>
                </a:extLst>
              </a:tr>
              <a:tr h="150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Security Monitoring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GuardDuty / AWS Config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Microsoft Defender for Cloud, Wiz, Prisma Cloud, Lacework, Orca Security</a:t>
                      </a:r>
                    </a:p>
                  </a:txBody>
                  <a:tcPr marL="32617" marR="32617" marT="16309" marB="1630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04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24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8046720" cy="32004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1800" b="1">
                <a:solidFill>
                  <a:srgbClr val="002060"/>
                </a:solidFill>
              </a:defRPr>
            </a:pPr>
            <a:r>
              <a:t>Custom LOS + AI Assistant on AWS —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38912"/>
            <a:ext cx="9601200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0">
                <a:solidFill>
                  <a:srgbClr val="4E607D"/>
                </a:solidFill>
              </a:defRPr>
            </a:pPr>
            <a:r>
              <a:t>System-focused view: access, application services, data, workflows, external integrations, Bedrock agent actions, RAG,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146304"/>
            <a:ext cx="1051560" cy="292608"/>
          </a:xfrm>
          <a:prstGeom prst="roundRect">
            <a:avLst>
              <a:gd name="adj" fmla="val 12000"/>
            </a:avLst>
          </a:prstGeom>
          <a:solidFill>
            <a:srgbClr val="F0FCF0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19" b="1">
                <a:solidFill>
                  <a:srgbClr val="86BC25"/>
                </a:solidFill>
              </a:defRPr>
            </a:pPr>
            <a:r>
              <a:t>POC/MVP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146304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FFF5E1"/>
          </a:solidFill>
          <a:ln w="1397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19" b="1">
                <a:solidFill>
                  <a:srgbClr val="FF9900"/>
                </a:solidFill>
              </a:defRPr>
            </a:pPr>
            <a:r>
              <a:t>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749808"/>
            <a:ext cx="11750040" cy="53949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804672"/>
            <a:ext cx="2743200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4E607D"/>
                </a:solidFill>
              </a:defRPr>
            </a:pPr>
            <a:r>
              <a:t>AWS Cloud / Enterprise VPC Boundary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1508760" cy="4526280"/>
          </a:xfrm>
          <a:prstGeom prst="roundRect">
            <a:avLst>
              <a:gd name="adj" fmla="val 5000"/>
            </a:avLst>
          </a:prstGeom>
          <a:solidFill>
            <a:srgbClr val="FBFCFE"/>
          </a:solidFill>
          <a:ln w="12700">
            <a:solidFill>
              <a:srgbClr val="96A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143000"/>
            <a:ext cx="1362456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96A0B4"/>
                </a:solidFill>
              </a:defRPr>
            </a:pPr>
            <a:r>
              <a:t>Users &amp; 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115568"/>
            <a:ext cx="1828800" cy="4526280"/>
          </a:xfrm>
          <a:prstGeom prst="roundRect">
            <a:avLst>
              <a:gd name="adj" fmla="val 5000"/>
            </a:avLst>
          </a:prstGeom>
          <a:solidFill>
            <a:srgbClr val="FAFDFF"/>
          </a:solidFill>
          <a:ln w="1270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30552" y="1143000"/>
            <a:ext cx="1682496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3970B4"/>
                </a:solidFill>
              </a:defRPr>
            </a:pPr>
            <a:r>
              <a:t>Access &amp; 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115568"/>
            <a:ext cx="2331720" cy="4526280"/>
          </a:xfrm>
          <a:prstGeom prst="roundRect">
            <a:avLst>
              <a:gd name="adj" fmla="val 5000"/>
            </a:avLst>
          </a:prstGeom>
          <a:solidFill>
            <a:srgbClr val="FAFDFF"/>
          </a:solidFill>
          <a:ln w="1270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2232" y="1143000"/>
            <a:ext cx="2185415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00919B"/>
                </a:solidFill>
              </a:defRPr>
            </a:pPr>
            <a:r>
              <a:t>API &amp; Core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115568"/>
            <a:ext cx="1920240" cy="4526280"/>
          </a:xfrm>
          <a:prstGeom prst="roundRect">
            <a:avLst>
              <a:gd name="adj" fmla="val 5000"/>
            </a:avLst>
          </a:prstGeom>
          <a:solidFill>
            <a:srgbClr val="FAFFFA"/>
          </a:solidFill>
          <a:ln w="1270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1143000"/>
            <a:ext cx="1773936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86BC25"/>
                </a:solidFill>
              </a:defRPr>
            </a:pPr>
            <a:r>
              <a:t>Data, Docs &amp;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115568"/>
            <a:ext cx="2697480" cy="4526280"/>
          </a:xfrm>
          <a:prstGeom prst="roundRect">
            <a:avLst>
              <a:gd name="adj" fmla="val 5000"/>
            </a:avLst>
          </a:prstGeom>
          <a:solidFill>
            <a:srgbClr val="FDFAFF"/>
          </a:solidFill>
          <a:ln w="1270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1143000"/>
            <a:ext cx="2551176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6744B4"/>
                </a:solidFill>
              </a:defRPr>
            </a:pPr>
            <a:r>
              <a:t>AI, RAG &amp; Agent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1508760"/>
            <a:ext cx="11704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A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👥  LOS Users</a:t>
            </a:r>
          </a:p>
          <a:p>
            <a:pPr algn="ctr">
              <a:spcBef>
                <a:spcPts val="100"/>
              </a:spcBef>
              <a:defRPr sz="720">
                <a:solidFill>
                  <a:srgbClr val="4E607D"/>
                </a:solidFill>
              </a:defRPr>
            </a:pPr>
            <a:r>
              <a:t>Sales • CC • Branch</a:t>
            </a:r>
            <a:br/>
            <a:r>
              <a:t>Credit • Gatekeeper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1508760"/>
            <a:ext cx="91440" cy="548640"/>
          </a:xfrm>
          <a:prstGeom prst="roundRect">
            <a:avLst>
              <a:gd name="adj" fmla="val 12000"/>
            </a:avLst>
          </a:prstGeom>
          <a:solidFill>
            <a:srgbClr val="A0AABE"/>
          </a:solidFill>
          <a:ln>
            <a:solidFill>
              <a:srgbClr val="A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6072" y="2331720"/>
            <a:ext cx="1170432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A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💬  AI Chat User</a:t>
            </a:r>
          </a:p>
          <a:p>
            <a:pPr algn="ctr">
              <a:spcBef>
                <a:spcPts val="100"/>
              </a:spcBef>
              <a:defRPr sz="720">
                <a:solidFill>
                  <a:srgbClr val="4E607D"/>
                </a:solidFill>
              </a:defRPr>
            </a:pPr>
            <a:r>
              <a:t>Natural language</a:t>
            </a:r>
            <a:br/>
            <a:r>
              <a:t>LOS 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" y="2331720"/>
            <a:ext cx="91440" cy="512064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6072" y="3127248"/>
            <a:ext cx="11704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A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🔗  Partners</a:t>
            </a:r>
          </a:p>
          <a:p>
            <a:pPr algn="ctr">
              <a:spcBef>
                <a:spcPts val="100"/>
              </a:spcBef>
              <a:defRPr sz="720">
                <a:solidFill>
                  <a:srgbClr val="4E607D"/>
                </a:solidFill>
              </a:defRPr>
            </a:pPr>
            <a:r>
              <a:t>Aggregator /</a:t>
            </a:r>
            <a:br/>
            <a:r>
              <a:t>Service APIs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3127248"/>
            <a:ext cx="91440" cy="54864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6072" y="4041648"/>
            <a:ext cx="117043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A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🏦  External</a:t>
            </a:r>
            <a:br/>
            <a:r>
              <a:t>Systems</a:t>
            </a:r>
          </a:p>
          <a:p>
            <a:pPr algn="ctr">
              <a:spcBef>
                <a:spcPts val="100"/>
              </a:spcBef>
              <a:defRPr sz="720">
                <a:solidFill>
                  <a:srgbClr val="4E607D"/>
                </a:solidFill>
              </a:defRPr>
            </a:pPr>
            <a:r>
              <a:t>Bureau • CKYC</a:t>
            </a:r>
            <a:br/>
            <a:r>
              <a:t>DigiLocker • 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4041648"/>
            <a:ext cx="91440" cy="594360"/>
          </a:xfrm>
          <a:prstGeom prst="roundRect">
            <a:avLst>
              <a:gd name="adj" fmla="val 12000"/>
            </a:avLst>
          </a:prstGeom>
          <a:solidFill>
            <a:srgbClr val="BE3C37"/>
          </a:solidFill>
          <a:ln>
            <a:solidFill>
              <a:srgbClr val="BE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40280" y="1353312"/>
            <a:ext cx="14173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9" b="1">
                <a:solidFill>
                  <a:srgbClr val="222D3E"/>
                </a:solidFill>
              </a:defRPr>
            </a:pPr>
            <a:r>
              <a:t>Route 53</a:t>
            </a:r>
          </a:p>
          <a:p>
            <a:pPr algn="ctr">
              <a:spcBef>
                <a:spcPts val="100"/>
              </a:spcBef>
              <a:defRPr sz="750">
                <a:solidFill>
                  <a:srgbClr val="4E607D"/>
                </a:solidFill>
              </a:defRPr>
            </a:pPr>
            <a:r>
              <a:t>DNS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1353312"/>
            <a:ext cx="91440" cy="420624"/>
          </a:xfrm>
          <a:prstGeom prst="roundRect">
            <a:avLst>
              <a:gd name="adj" fmla="val 12000"/>
            </a:avLst>
          </a:prstGeom>
          <a:solidFill>
            <a:srgbClr val="3970B4"/>
          </a:solidFill>
          <a:ln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40280" y="1901952"/>
            <a:ext cx="14173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0" b="1">
                <a:solidFill>
                  <a:srgbClr val="222D3E"/>
                </a:solidFill>
              </a:defRPr>
            </a:pPr>
            <a:r>
              <a:t>CloudFront + WAF</a:t>
            </a:r>
          </a:p>
          <a:p>
            <a:pPr algn="ctr">
              <a:spcBef>
                <a:spcPts val="100"/>
              </a:spcBef>
              <a:defRPr sz="740">
                <a:solidFill>
                  <a:srgbClr val="4E607D"/>
                </a:solidFill>
              </a:defRPr>
            </a:pPr>
            <a:r>
              <a:t>CDN, cache,</a:t>
            </a:r>
            <a:br/>
            <a:r>
              <a:t>edge protection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1901952"/>
            <a:ext cx="91440" cy="475488"/>
          </a:xfrm>
          <a:prstGeom prst="roundRect">
            <a:avLst>
              <a:gd name="adj" fmla="val 12000"/>
            </a:avLst>
          </a:prstGeom>
          <a:solidFill>
            <a:srgbClr val="3970B4"/>
          </a:solidFill>
          <a:ln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240280" y="2578608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 w="1397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0" b="1">
                <a:solidFill>
                  <a:srgbClr val="222D3E"/>
                </a:solidFill>
              </a:defRPr>
            </a:pPr>
            <a:r>
              <a:t>🖥  AWS Amplify</a:t>
            </a:r>
          </a:p>
          <a:p>
            <a:pPr algn="ctr">
              <a:spcBef>
                <a:spcPts val="100"/>
              </a:spcBef>
              <a:defRPr sz="740">
                <a:solidFill>
                  <a:srgbClr val="4E607D"/>
                </a:solidFill>
              </a:defRPr>
            </a:pPr>
            <a:r>
              <a:t>React / Next.js</a:t>
            </a:r>
            <a:br/>
            <a:r>
              <a:t>LOS Web 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40280" y="2578608"/>
            <a:ext cx="91440" cy="530352"/>
          </a:xfrm>
          <a:prstGeom prst="roundRect">
            <a:avLst>
              <a:gd name="adj" fmla="val 12000"/>
            </a:avLst>
          </a:prstGeom>
          <a:solidFill>
            <a:srgbClr val="3970B4"/>
          </a:solidFill>
          <a:ln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240280" y="3401568"/>
            <a:ext cx="141732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0" b="1">
                <a:solidFill>
                  <a:srgbClr val="222D3E"/>
                </a:solidFill>
              </a:defRPr>
            </a:pPr>
            <a:r>
              <a:t>🔐  Amazon Cognito</a:t>
            </a:r>
          </a:p>
          <a:p>
            <a:pPr algn="ctr">
              <a:spcBef>
                <a:spcPts val="100"/>
              </a:spcBef>
              <a:defRPr sz="740">
                <a:solidFill>
                  <a:srgbClr val="4E607D"/>
                </a:solidFill>
              </a:defRPr>
            </a:pPr>
            <a:r>
              <a:t>Login, groups,</a:t>
            </a:r>
            <a:br/>
            <a:r>
              <a:t>JWT tokens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3401568"/>
            <a:ext cx="91440" cy="512064"/>
          </a:xfrm>
          <a:prstGeom prst="roundRect">
            <a:avLst>
              <a:gd name="adj" fmla="val 12000"/>
            </a:avLst>
          </a:prstGeom>
          <a:solidFill>
            <a:srgbClr val="3970B4"/>
          </a:solidFill>
          <a:ln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240280" y="4297680"/>
            <a:ext cx="1417320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50" b="1">
                <a:solidFill>
                  <a:srgbClr val="222D3E"/>
                </a:solidFill>
              </a:defRPr>
            </a:pPr>
            <a:r>
              <a:t>Role Model</a:t>
            </a:r>
          </a:p>
          <a:p>
            <a:pPr algn="ctr">
              <a:spcBef>
                <a:spcPts val="100"/>
              </a:spcBef>
              <a:defRPr sz="730">
                <a:solidFill>
                  <a:srgbClr val="4E607D"/>
                </a:solidFill>
              </a:defRPr>
            </a:pPr>
            <a:r>
              <a:t>Sales • CC • Credit</a:t>
            </a:r>
            <a:br/>
            <a:r>
              <a:t>Admin • Gatekeeper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0280" y="4297680"/>
            <a:ext cx="91440" cy="475488"/>
          </a:xfrm>
          <a:prstGeom prst="roundRect">
            <a:avLst>
              <a:gd name="adj" fmla="val 12000"/>
            </a:avLst>
          </a:prstGeom>
          <a:solidFill>
            <a:srgbClr val="3970B4"/>
          </a:solidFill>
          <a:ln>
            <a:solidFill>
              <a:srgbClr val="39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15968" y="1389888"/>
            <a:ext cx="1783080" cy="53035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00" b="1">
                <a:solidFill>
                  <a:srgbClr val="222D3E"/>
                </a:solidFill>
              </a:defRPr>
            </a:pPr>
            <a:r>
              <a:t>🌐  Amazon API Gateway</a:t>
            </a:r>
          </a:p>
          <a:p>
            <a:pPr algn="ctr">
              <a:spcBef>
                <a:spcPts val="100"/>
              </a:spcBef>
              <a:defRPr sz="780">
                <a:solidFill>
                  <a:srgbClr val="4E607D"/>
                </a:solidFill>
              </a:defRPr>
            </a:pPr>
            <a:r>
              <a:t>Secured REST APIs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5968" y="1389888"/>
            <a:ext cx="91440" cy="53035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51960" y="2148840"/>
            <a:ext cx="1901952" cy="2176272"/>
          </a:xfrm>
          <a:prstGeom prst="roundRect">
            <a:avLst>
              <a:gd name="adj" fmla="val 4000"/>
            </a:avLst>
          </a:prstGeom>
          <a:solidFill>
            <a:srgbClr val="FA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2221992"/>
            <a:ext cx="1627632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>
              <a:defRPr sz="830" b="1">
                <a:solidFill>
                  <a:srgbClr val="00919B"/>
                </a:solidFill>
              </a:defRPr>
            </a:pPr>
            <a:r>
              <a:t>AWS Lambda 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7408" y="2542032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Lead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create/fetch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07408" y="2542032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12080" y="2542032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Application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loan file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2542032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07408" y="3063240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Document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upload/meta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07408" y="3063240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212080" y="3063240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Customer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applicant 360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12080" y="3063240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407408" y="3584448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Workflow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submit/approve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8" y="3584448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212080" y="3584448"/>
            <a:ext cx="71323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770" b="1">
                <a:solidFill>
                  <a:srgbClr val="222D3E"/>
                </a:solidFill>
              </a:defRPr>
            </a:pPr>
            <a:r>
              <a:t>Integration</a:t>
            </a:r>
          </a:p>
          <a:p>
            <a:pPr algn="ctr">
              <a:spcBef>
                <a:spcPts val="100"/>
              </a:spcBef>
              <a:defRPr sz="650">
                <a:solidFill>
                  <a:srgbClr val="4E607D"/>
                </a:solidFill>
              </a:defRPr>
            </a:pPr>
            <a:r>
              <a:t>API calls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12080" y="3584448"/>
            <a:ext cx="91440" cy="393192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315968" y="4553712"/>
            <a:ext cx="17830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29" b="1">
                <a:solidFill>
                  <a:srgbClr val="222D3E"/>
                </a:solidFill>
              </a:defRPr>
            </a:pPr>
            <a:r>
              <a:t>⇄  EventBridge / SQS</a:t>
            </a:r>
          </a:p>
          <a:p>
            <a:pPr algn="ctr">
              <a:spcBef>
                <a:spcPts val="100"/>
              </a:spcBef>
              <a:defRPr sz="710">
                <a:solidFill>
                  <a:srgbClr val="4E607D"/>
                </a:solidFill>
              </a:defRPr>
            </a:pPr>
            <a:r>
              <a:t>async events, retries, callbacks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15968" y="4553712"/>
            <a:ext cx="91440" cy="420624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784848" y="1389888"/>
            <a:ext cx="1481328" cy="640080"/>
          </a:xfrm>
          <a:prstGeom prst="roundRect">
            <a:avLst>
              <a:gd name="adj" fmla="val 12000"/>
            </a:avLst>
          </a:prstGeom>
          <a:solidFill>
            <a:srgbClr val="F0FCF0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29" b="1">
                <a:solidFill>
                  <a:srgbClr val="222D3E"/>
                </a:solidFill>
              </a:defRPr>
            </a:pPr>
            <a:r>
              <a:t>🗄  Aurora PostgreSQL</a:t>
            </a:r>
            <a:br/>
            <a:r>
              <a:t>Serverless v2</a:t>
            </a:r>
          </a:p>
          <a:p>
            <a:pPr algn="ctr">
              <a:spcBef>
                <a:spcPts val="100"/>
              </a:spcBef>
              <a:defRPr sz="710">
                <a:solidFill>
                  <a:srgbClr val="4E607D"/>
                </a:solidFill>
              </a:defRPr>
            </a:pPr>
            <a:r>
              <a:t>Leads • Applications</a:t>
            </a:r>
            <a:br/>
            <a:r>
              <a:t>Applicants • Audit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84848" y="1389888"/>
            <a:ext cx="91440" cy="640080"/>
          </a:xfrm>
          <a:prstGeom prst="roundRect">
            <a:avLst>
              <a:gd name="adj" fmla="val 12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784848" y="233172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29" b="1">
                <a:solidFill>
                  <a:srgbClr val="222D3E"/>
                </a:solidFill>
              </a:defRPr>
            </a:pPr>
            <a:r>
              <a:t>📁  Amazon S3</a:t>
            </a:r>
          </a:p>
          <a:p>
            <a:pPr algn="ctr">
              <a:spcBef>
                <a:spcPts val="100"/>
              </a:spcBef>
              <a:defRPr sz="710">
                <a:solidFill>
                  <a:srgbClr val="4E607D"/>
                </a:solidFill>
              </a:defRPr>
            </a:pPr>
            <a:r>
              <a:t>KYC docs • Forms</a:t>
            </a:r>
            <a:br/>
            <a:r>
              <a:t>Statements • Evidence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84848" y="2331720"/>
            <a:ext cx="91440" cy="566928"/>
          </a:xfrm>
          <a:prstGeom prst="roundRect">
            <a:avLst>
              <a:gd name="adj" fmla="val 12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784848" y="3218688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29" b="1">
                <a:solidFill>
                  <a:srgbClr val="222D3E"/>
                </a:solidFill>
              </a:defRPr>
            </a:pPr>
            <a:r>
              <a:t>⚙  Step Functions</a:t>
            </a:r>
          </a:p>
          <a:p>
            <a:pPr algn="ctr">
              <a:spcBef>
                <a:spcPts val="100"/>
              </a:spcBef>
              <a:defRPr sz="710">
                <a:solidFill>
                  <a:srgbClr val="4E607D"/>
                </a:solidFill>
              </a:defRPr>
            </a:pPr>
            <a:r>
              <a:t>KYC → Bureau → Credit</a:t>
            </a:r>
            <a:br/>
            <a:r>
              <a:t>Approval → eSign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84848" y="3218688"/>
            <a:ext cx="91440" cy="658368"/>
          </a:xfrm>
          <a:prstGeom prst="roundRect">
            <a:avLst>
              <a:gd name="adj" fmla="val 12000"/>
            </a:avLst>
          </a:prstGeom>
          <a:solidFill>
            <a:srgbClr val="86BC25"/>
          </a:solidFill>
          <a:ln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784848" y="4407408"/>
            <a:ext cx="148132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E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10" b="1">
                <a:solidFill>
                  <a:srgbClr val="222D3E"/>
                </a:solidFill>
              </a:defRPr>
            </a:pPr>
            <a:r>
              <a:t>🔌  External APIs</a:t>
            </a:r>
          </a:p>
          <a:p>
            <a:pPr algn="ctr">
              <a:spcBef>
                <a:spcPts val="100"/>
              </a:spcBef>
              <a:defRPr sz="690">
                <a:solidFill>
                  <a:srgbClr val="4E607D"/>
                </a:solidFill>
              </a:defRPr>
            </a:pPr>
            <a:r>
              <a:t>PAN • CKYC • Bureau</a:t>
            </a:r>
            <a:br/>
            <a:r>
              <a:t>DigiLocker • OCR • eSign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84848" y="4407408"/>
            <a:ext cx="91440" cy="585216"/>
          </a:xfrm>
          <a:prstGeom prst="roundRect">
            <a:avLst>
              <a:gd name="adj" fmla="val 12000"/>
            </a:avLst>
          </a:prstGeom>
          <a:solidFill>
            <a:srgbClr val="BE3C37"/>
          </a:solidFill>
          <a:ln>
            <a:solidFill>
              <a:srgbClr val="BE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979408" y="1325880"/>
            <a:ext cx="1783080" cy="566928"/>
          </a:xfrm>
          <a:prstGeom prst="roundRect">
            <a:avLst>
              <a:gd name="adj" fmla="val 12000"/>
            </a:avLst>
          </a:prstGeom>
          <a:solidFill>
            <a:srgbClr val="F2EEFC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0" b="1">
                <a:solidFill>
                  <a:srgbClr val="222D3E"/>
                </a:solidFill>
              </a:defRPr>
            </a:pPr>
            <a:r>
              <a:t>🤖  Amazon Bedrock Agent</a:t>
            </a:r>
          </a:p>
          <a:p>
            <a:pPr algn="ctr">
              <a:spcBef>
                <a:spcPts val="100"/>
              </a:spcBef>
              <a:defRPr sz="740">
                <a:solidFill>
                  <a:srgbClr val="4E607D"/>
                </a:solidFill>
              </a:defRPr>
            </a:pPr>
            <a:r>
              <a:t>Intent handling + orchestration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79408" y="1325880"/>
            <a:ext cx="91440" cy="566928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979408" y="2212848"/>
            <a:ext cx="17830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60" b="1">
                <a:solidFill>
                  <a:srgbClr val="222D3E"/>
                </a:solidFill>
              </a:defRPr>
            </a:pPr>
            <a:r>
              <a:t>Action Groups</a:t>
            </a:r>
          </a:p>
          <a:p>
            <a:pPr algn="ctr">
              <a:spcBef>
                <a:spcPts val="100"/>
              </a:spcBef>
              <a:defRPr sz="740">
                <a:solidFill>
                  <a:srgbClr val="4E607D"/>
                </a:solidFill>
              </a:defRPr>
            </a:pPr>
            <a:r>
              <a:t>OpenAPI schema → Lambda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79408" y="2212848"/>
            <a:ext cx="91440" cy="530352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979408" y="3017520"/>
            <a:ext cx="178308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50" b="1">
                <a:solidFill>
                  <a:srgbClr val="222D3E"/>
                </a:solidFill>
              </a:defRPr>
            </a:pPr>
            <a:r>
              <a:t>🛡  Bedrock Guardrails</a:t>
            </a:r>
          </a:p>
          <a:p>
            <a:pPr algn="ctr">
              <a:spcBef>
                <a:spcPts val="100"/>
              </a:spcBef>
              <a:defRPr sz="730">
                <a:solidFill>
                  <a:srgbClr val="4E607D"/>
                </a:solidFill>
              </a:defRPr>
            </a:pPr>
            <a:r>
              <a:t>safe responses, policy controls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79408" y="3017520"/>
            <a:ext cx="91440" cy="512064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979408" y="3776472"/>
            <a:ext cx="17830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📚  Knowledge Bases</a:t>
            </a:r>
          </a:p>
          <a:p>
            <a:pPr algn="ctr">
              <a:spcBef>
                <a:spcPts val="100"/>
              </a:spcBef>
              <a:defRPr sz="720">
                <a:solidFill>
                  <a:srgbClr val="4E607D"/>
                </a:solidFill>
              </a:defRPr>
            </a:pPr>
            <a:r>
              <a:t>LOS SOPs, credit policy,</a:t>
            </a:r>
            <a:br/>
            <a:r>
              <a:t>product rules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79408" y="3776472"/>
            <a:ext cx="91440" cy="530352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979408" y="4590288"/>
            <a:ext cx="84124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00" b="1">
                <a:solidFill>
                  <a:srgbClr val="222D3E"/>
                </a:solidFill>
              </a:defRPr>
            </a:pPr>
            <a:r>
              <a:t>pgvector</a:t>
            </a:r>
          </a:p>
          <a:p>
            <a:pPr algn="ctr">
              <a:spcBef>
                <a:spcPts val="100"/>
              </a:spcBef>
              <a:defRPr sz="680">
                <a:solidFill>
                  <a:srgbClr val="4E607D"/>
                </a:solidFill>
              </a:defRPr>
            </a:pPr>
            <a:r>
              <a:t>Aurora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9408" y="4590288"/>
            <a:ext cx="91440" cy="420624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9912096" y="4590288"/>
            <a:ext cx="84124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00" b="1">
                <a:solidFill>
                  <a:srgbClr val="222D3E"/>
                </a:solidFill>
              </a:defRPr>
            </a:pPr>
            <a:r>
              <a:t>OpenSearch</a:t>
            </a:r>
          </a:p>
          <a:p>
            <a:pPr algn="ctr">
              <a:spcBef>
                <a:spcPts val="100"/>
              </a:spcBef>
              <a:defRPr sz="680">
                <a:solidFill>
                  <a:srgbClr val="4E607D"/>
                </a:solidFill>
              </a:defRPr>
            </a:pPr>
            <a:r>
              <a:t>optional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12096" y="4590288"/>
            <a:ext cx="91440" cy="420624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>
            <a:off x="1764792" y="1783080"/>
            <a:ext cx="457200" cy="914400"/>
          </a:xfrm>
          <a:prstGeom prst="line">
            <a:avLst/>
          </a:prstGeom>
          <a:ln w="17780">
            <a:solidFill>
              <a:srgbClr val="39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64792" y="2587752"/>
            <a:ext cx="457200" cy="109728"/>
          </a:xfrm>
          <a:prstGeom prst="line">
            <a:avLst/>
          </a:prstGeom>
          <a:ln w="1778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657600" y="1682496"/>
            <a:ext cx="658368" cy="1014984"/>
          </a:xfrm>
          <a:prstGeom prst="line">
            <a:avLst/>
          </a:prstGeom>
          <a:ln w="17780">
            <a:solidFill>
              <a:srgbClr val="39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657600" y="1682496"/>
            <a:ext cx="658368" cy="1956816"/>
          </a:xfrm>
          <a:prstGeom prst="line">
            <a:avLst/>
          </a:prstGeom>
          <a:ln w="15240">
            <a:solidFill>
              <a:srgbClr val="39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099048" y="1664208"/>
            <a:ext cx="685800" cy="36576"/>
          </a:xfrm>
          <a:prstGeom prst="line">
            <a:avLst/>
          </a:prstGeom>
          <a:ln w="1778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099048" y="2615184"/>
            <a:ext cx="685800" cy="310896"/>
          </a:xfrm>
          <a:prstGeom prst="line">
            <a:avLst/>
          </a:prstGeom>
          <a:ln w="152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099048" y="3474720"/>
            <a:ext cx="685800" cy="73152"/>
          </a:xfrm>
          <a:prstGeom prst="line">
            <a:avLst/>
          </a:prstGeom>
          <a:ln w="152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099048" y="4690872"/>
            <a:ext cx="685800" cy="64008"/>
          </a:xfrm>
          <a:prstGeom prst="line">
            <a:avLst/>
          </a:prstGeom>
          <a:ln w="15240">
            <a:solidFill>
              <a:srgbClr val="00919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099048" y="1609344"/>
            <a:ext cx="2880360" cy="1088136"/>
          </a:xfrm>
          <a:prstGeom prst="line">
            <a:avLst/>
          </a:prstGeom>
          <a:ln w="2032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5623560" y="2212848"/>
            <a:ext cx="4251960" cy="667512"/>
          </a:xfrm>
          <a:prstGeom prst="line">
            <a:avLst/>
          </a:prstGeom>
          <a:ln w="1651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875520" y="4306824"/>
            <a:ext cx="0" cy="283464"/>
          </a:xfrm>
          <a:prstGeom prst="line">
            <a:avLst/>
          </a:prstGeom>
          <a:ln w="1397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784848" y="2615184"/>
            <a:ext cx="2194560" cy="1453896"/>
          </a:xfrm>
          <a:prstGeom prst="line">
            <a:avLst/>
          </a:prstGeom>
          <a:ln w="12700">
            <a:solidFill>
              <a:srgbClr val="6744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764792" y="1682496"/>
            <a:ext cx="2551176" cy="1719072"/>
          </a:xfrm>
          <a:prstGeom prst="line">
            <a:avLst/>
          </a:prstGeom>
          <a:ln w="15240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764792" y="4343400"/>
            <a:ext cx="5020056" cy="347472"/>
          </a:xfrm>
          <a:prstGeom prst="line">
            <a:avLst/>
          </a:prstGeom>
          <a:ln w="13970">
            <a:solidFill>
              <a:srgbClr val="BE3C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2898648" y="1143000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19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01568" y="1161288"/>
            <a:ext cx="96012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670" b="0">
                <a:solidFill>
                  <a:srgbClr val="4E607D"/>
                </a:solidFill>
              </a:defRPr>
            </a:pPr>
            <a:r>
              <a:t>secured web/API access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91072" y="1143000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00919B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19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1161288"/>
            <a:ext cx="86868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670" b="0">
                <a:solidFill>
                  <a:srgbClr val="4E607D"/>
                </a:solidFill>
              </a:defRPr>
            </a:pPr>
            <a:r>
              <a:t>business services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641080" y="1143000"/>
            <a:ext cx="475488" cy="228600"/>
          </a:xfrm>
          <a:prstGeom prst="roundRect">
            <a:avLst>
              <a:gd name="adj" fmla="val 12000"/>
            </a:avLst>
          </a:prstGeom>
          <a:solidFill>
            <a:srgbClr val="6744B4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919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0" y="1161288"/>
            <a:ext cx="109728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670" b="0">
                <a:solidFill>
                  <a:srgbClr val="4E607D"/>
                </a:solidFill>
              </a:defRPr>
            </a:pPr>
            <a:r>
              <a:t>AI agent actions / RAG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1480" y="5596128"/>
            <a:ext cx="11018520" cy="420624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BEC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4360" y="5650992"/>
            <a:ext cx="196596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1">
                <a:solidFill>
                  <a:srgbClr val="002060"/>
                </a:solidFill>
              </a:defRPr>
            </a:pPr>
            <a:r>
              <a:t>Cross-cutting Governance &amp; Operations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97480" y="5641848"/>
            <a:ext cx="8412480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750" b="0">
                <a:solidFill>
                  <a:srgbClr val="222D3E"/>
                </a:solidFill>
              </a:defRPr>
            </a:pPr>
            <a:r>
              <a:t>IAM  |  KMS Encryption  |  Secrets Manager  |  CloudTrail Audit  |  CloudWatch Logs/Alarms  |  X-Ray Tracing  |  Backup/DR  |  AI Prompt &amp; Response Audit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040" y="6309360"/>
            <a:ext cx="116586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2920" y="6364224"/>
            <a:ext cx="9784080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720" b="0">
                <a:solidFill>
                  <a:srgbClr val="4E607D"/>
                </a:solidFill>
              </a:defRPr>
            </a:pPr>
            <a:r>
              <a:t>Diagram intent: keep AI controlled through Bedrock Agent Action Groups → Lambda → approved LOS APIs. Core database is not directly exposed to users or AI.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21240" y="6364224"/>
            <a:ext cx="1828800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r">
              <a:defRPr sz="700" b="0">
                <a:solidFill>
                  <a:srgbClr val="4E607D"/>
                </a:solidFill>
              </a:defRPr>
            </a:pPr>
            <a:r>
              <a:t>Solid = request flow   Dashed = async/external/RAG reference</a:t>
            </a:r>
          </a:p>
        </p:txBody>
      </p:sp>
    </p:spTree>
    <p:extLst>
      <p:ext uri="{BB962C8B-B14F-4D97-AF65-F5344CB8AC3E}">
        <p14:creationId xmlns:p14="http://schemas.microsoft.com/office/powerpoint/2010/main" val="35147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5486400" cy="32004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1800" b="1">
                <a:solidFill>
                  <a:srgbClr val="002060"/>
                </a:solidFill>
              </a:defRPr>
            </a:pPr>
            <a:r>
              <a:t>AI-enabled LOS Interaction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38912"/>
            <a:ext cx="7863840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50" b="0">
                <a:solidFill>
                  <a:srgbClr val="4E607D"/>
                </a:solidFill>
              </a:defRPr>
            </a:pPr>
            <a:r>
              <a:t>Use this as a supporting slide when explaining how Bedrock interacts with the LOS safely.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1546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2788920" cy="38404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1150" b="1">
                <a:solidFill>
                  <a:srgbClr val="00919B"/>
                </a:solidFill>
              </a:defRPr>
            </a:pPr>
            <a:r>
              <a:t>1. Create / Fetch Lead through Agent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User asks in natural language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313432"/>
            <a:ext cx="0" cy="182880"/>
          </a:xfrm>
          <a:prstGeom prst="line">
            <a:avLst/>
          </a:prstGeom>
          <a:ln w="1397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532887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Bedrock Agent identifies intent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2971799"/>
            <a:ext cx="0" cy="182880"/>
          </a:xfrm>
          <a:prstGeom prst="line">
            <a:avLst/>
          </a:prstGeom>
          <a:ln w="1397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191255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Action Group invokes Lambda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75688" y="3630167"/>
            <a:ext cx="0" cy="182880"/>
          </a:xfrm>
          <a:prstGeom prst="line">
            <a:avLst/>
          </a:prstGeom>
          <a:ln w="1397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849623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LOS API validates and writes/reads Aurora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75688" y="4288536"/>
            <a:ext cx="0" cy="182879"/>
          </a:xfrm>
          <a:prstGeom prst="line">
            <a:avLst/>
          </a:prstGeom>
          <a:ln w="1397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4507991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E7F9FA"/>
          </a:solidFill>
          <a:ln w="1397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response returned.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1546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261872"/>
            <a:ext cx="2788920" cy="38404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1150" b="1">
                <a:solidFill>
                  <a:srgbClr val="6744B4"/>
                </a:solidFill>
              </a:defRPr>
            </a:pPr>
            <a:r>
              <a:t>2. Policy / SOP Question through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1874519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2EEFC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User asks eligibility/policy question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33288" y="2313432"/>
            <a:ext cx="0" cy="182880"/>
          </a:xfrm>
          <a:prstGeom prst="line">
            <a:avLst/>
          </a:prstGeom>
          <a:ln w="1397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80559" y="2532887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2EEFC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Bedrock Knowledge Base retrieves relevant chunks from policy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33288" y="2971799"/>
            <a:ext cx="0" cy="182880"/>
          </a:xfrm>
          <a:prstGeom prst="line">
            <a:avLst/>
          </a:prstGeom>
          <a:ln w="1397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80559" y="3191255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2EEFC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FM generates grounded response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33288" y="3630167"/>
            <a:ext cx="0" cy="182880"/>
          </a:xfrm>
          <a:prstGeom prst="line">
            <a:avLst/>
          </a:prstGeom>
          <a:ln w="13970">
            <a:solidFill>
              <a:srgbClr val="674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59" y="3849623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2EEFC"/>
          </a:solidFill>
          <a:ln w="13970">
            <a:solidFill>
              <a:srgbClr val="674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prompt/response logged.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097280"/>
            <a:ext cx="31546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1261872"/>
            <a:ext cx="2788920" cy="38404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1150" b="1">
                <a:solidFill>
                  <a:srgbClr val="86BC25"/>
                </a:solidFill>
              </a:defRPr>
            </a:pPr>
            <a:r>
              <a:t>3. Application Status / Next Best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874519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0FCF0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Agent fetches application, documents, workflow state and external verification status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90888" y="2313432"/>
            <a:ext cx="0" cy="182880"/>
          </a:xfrm>
          <a:prstGeom prst="line">
            <a:avLst/>
          </a:prstGeom>
          <a:ln w="1397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60" y="2532887"/>
            <a:ext cx="2514600" cy="438912"/>
          </a:xfrm>
          <a:prstGeom prst="roundRect">
            <a:avLst>
              <a:gd name="adj" fmla="val 12000"/>
            </a:avLst>
          </a:prstGeom>
          <a:solidFill>
            <a:srgbClr val="F0FCF0"/>
          </a:solidFill>
          <a:ln w="1397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73152" bIns="27432" rtlCol="0" anchor="ctr"/>
          <a:lstStyle/>
          <a:p>
            <a:pPr algn="ctr">
              <a:defRPr sz="840" b="1">
                <a:solidFill>
                  <a:srgbClr val="222D3E"/>
                </a:solidFill>
              </a:defRPr>
            </a:pPr>
            <a:r>
              <a:t>summarizes blockers and recommended next step for user.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172200"/>
            <a:ext cx="109728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245352"/>
            <a:ext cx="1056132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>
              <a:defRPr sz="800" b="1">
                <a:solidFill>
                  <a:srgbClr val="002060"/>
                </a:solidFill>
              </a:defRPr>
            </a:pPr>
            <a:r>
              <a:t>Control principle: Bedrock never directly updates LOS data. All actions pass through Lambda/business APIs, with validation, authorization, audit, and logs.</a:t>
            </a:r>
          </a:p>
        </p:txBody>
      </p:sp>
    </p:spTree>
    <p:extLst>
      <p:ext uri="{BB962C8B-B14F-4D97-AF65-F5344CB8AC3E}">
        <p14:creationId xmlns:p14="http://schemas.microsoft.com/office/powerpoint/2010/main" val="328555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733CA93AA63E4E8CAE2250DC0C3426" ma:contentTypeVersion="11" ma:contentTypeDescription="Create a new document." ma:contentTypeScope="" ma:versionID="530d2949a1f744ca43ad3273c1f664a3">
  <xsd:schema xmlns:xsd="http://www.w3.org/2001/XMLSchema" xmlns:xs="http://www.w3.org/2001/XMLSchema" xmlns:p="http://schemas.microsoft.com/office/2006/metadata/properties" xmlns:ns2="77e34bf6-ecaa-49cd-bc25-bee59559d1ec" xmlns:ns3="6b624e6c-d02a-4ab6-ab8e-7ab0185478da" targetNamespace="http://schemas.microsoft.com/office/2006/metadata/properties" ma:root="true" ma:fieldsID="13ecd38f2495231b5847cab16604733d" ns2:_="" ns3:_="">
    <xsd:import namespace="77e34bf6-ecaa-49cd-bc25-bee59559d1ec"/>
    <xsd:import namespace="6b624e6c-d02a-4ab6-ab8e-7ab0185478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e34bf6-ecaa-49cd-bc25-bee59559d1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24e6c-d02a-4ab6-ab8e-7ab0185478d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e2a396a-e8dd-445d-8c9b-fba83cdbcff1}" ma:internalName="TaxCatchAll" ma:showField="CatchAllData" ma:web="6b624e6c-d02a-4ab6-ab8e-7ab0185478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624e6c-d02a-4ab6-ab8e-7ab0185478da" xsi:nil="true"/>
    <lcf76f155ced4ddcb4097134ff3c332f xmlns="77e34bf6-ecaa-49cd-bc25-bee59559d1e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64F1D2-C4BC-424F-B978-1A8425DC95A6}">
  <ds:schemaRefs>
    <ds:schemaRef ds:uri="6b624e6c-d02a-4ab6-ab8e-7ab0185478da"/>
    <ds:schemaRef ds:uri="77e34bf6-ecaa-49cd-bc25-bee59559d1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B3562D-499D-42E2-9A66-3CB40BBF78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2A29E-A033-4664-88F2-0541E9BAF184}">
  <ds:schemaRefs>
    <ds:schemaRef ds:uri="6b624e6c-d02a-4ab6-ab8e-7ab0185478da"/>
    <ds:schemaRef ds:uri="77e34bf6-ecaa-49cd-bc25-bee59559d1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2026-05-04T05:07:19Z</dcterms:created>
  <dcterms:modified xsi:type="dcterms:W3CDTF">2026-05-07T10:38:59Z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0x01010045733CA93AA63E4E8CAE2250DC0C3426</vt:lpwstr>
  </property>
  <property fmtid="{D5CDD505-2E9C-101B-9397-08002B2CF9AE}" pid="3" name="MediaServiceImageTags">
    <vt:lpwstr/>
  </property>
</Properties>
</file>