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Lst>
  <p:notesMasterIdLst>
    <p:notesMasterId r:id="rId18"/>
  </p:notesMasterIdLst>
  <p:sldIdLst>
    <p:sldId id="256" r:id="rId6"/>
    <p:sldId id="266" r:id="rId7"/>
    <p:sldId id="257" r:id="rId8"/>
    <p:sldId id="269" r:id="rId9"/>
    <p:sldId id="258" r:id="rId10"/>
    <p:sldId id="2147483647" r:id="rId11"/>
    <p:sldId id="259" r:id="rId12"/>
    <p:sldId id="260" r:id="rId13"/>
    <p:sldId id="2147483646" r:id="rId14"/>
    <p:sldId id="2147483644" r:id="rId15"/>
    <p:sldId id="272"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3E0"/>
    <a:srgbClr val="002060"/>
    <a:srgbClr val="1C7A17"/>
    <a:srgbClr val="1B222D"/>
    <a:srgbClr val="0E7C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B88042-D64E-20F5-23C7-9FD737BDF7CA}" v="10" dt="2026-06-25T15:02:10.323"/>
    <p1510:client id="{17C9B38D-F765-7B6D-5C0F-43775CA8865C}" v="6" dt="2026-06-25T15:12:58.441"/>
    <p1510:client id="{214D07E6-9AF4-4DF1-9937-DB6F7614F086}" v="348" dt="2026-06-25T15:14:35.994"/>
    <p1510:client id="{6DA0ECB1-03E9-48BD-824D-532C8061FC8E}" v="89" dt="2026-06-25T15:34:39.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2F3E7D-DA62-4AF1-873D-534EE4A94B9E}" type="datetimeFigureOut">
              <a:rPr lang="en-IN" smtClean="0"/>
              <a:t>25-06-2026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7C586-5A6E-4BEA-BF1A-72ACB3E3F7D0}" type="slidenum">
              <a:rPr lang="en-IN" smtClean="0"/>
              <a:t>‹#›</a:t>
            </a:fld>
            <a:endParaRPr lang="en-IN"/>
          </a:p>
        </p:txBody>
      </p:sp>
    </p:spTree>
    <p:extLst>
      <p:ext uri="{BB962C8B-B14F-4D97-AF65-F5344CB8AC3E}">
        <p14:creationId xmlns:p14="http://schemas.microsoft.com/office/powerpoint/2010/main" val="623403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FD7C586-5A6E-4BEA-BF1A-72ACB3E3F7D0}" type="slidenum">
              <a:rPr lang="en-IN" smtClean="0"/>
              <a:t>2</a:t>
            </a:fld>
            <a:endParaRPr lang="en-IN"/>
          </a:p>
        </p:txBody>
      </p:sp>
    </p:spTree>
    <p:extLst>
      <p:ext uri="{BB962C8B-B14F-4D97-AF65-F5344CB8AC3E}">
        <p14:creationId xmlns:p14="http://schemas.microsoft.com/office/powerpoint/2010/main" val="3515030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5F18-E814-2865-9CAA-F28A59265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E554B-4F72-43DF-2926-FE5EE0E04F69}"/>
              </a:ext>
            </a:extLst>
          </p:cNvPr>
          <p:cNvSpPr>
            <a:spLocks noGrp="1" noRot="1" noChangeAspect="1"/>
          </p:cNvSpPr>
          <p:nvPr>
            <p:ph type="sldImg"/>
          </p:nvPr>
        </p:nvSpPr>
        <p:spPr>
          <a:xfrm>
            <a:off x="458788" y="720725"/>
            <a:ext cx="6397625" cy="3598863"/>
          </a:xfrm>
        </p:spPr>
        <p:txBody>
          <a:bodyPr/>
          <a:lstStyle/>
          <a:p>
            <a:endParaRPr lang="en-US"/>
          </a:p>
        </p:txBody>
      </p:sp>
      <p:sp>
        <p:nvSpPr>
          <p:cNvPr id="3" name="Notes Placeholder 2">
            <a:extLst>
              <a:ext uri="{FF2B5EF4-FFF2-40B4-BE49-F238E27FC236}">
                <a16:creationId xmlns:a16="http://schemas.microsoft.com/office/drawing/2014/main" id="{545C7D81-D454-4C8A-90BA-EF9E7612DC7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88A3B29-F52D-573A-59F0-E3F00BA0666B}"/>
              </a:ext>
            </a:extLst>
          </p:cNvPr>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10</a:t>
            </a:fld>
            <a:endParaRPr lang="en-GB"/>
          </a:p>
        </p:txBody>
      </p:sp>
    </p:spTree>
    <p:extLst>
      <p:ext uri="{BB962C8B-B14F-4D97-AF65-F5344CB8AC3E}">
        <p14:creationId xmlns:p14="http://schemas.microsoft.com/office/powerpoint/2010/main" val="2934081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End slide Black">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11195048"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grpSp>
        <p:nvGrpSpPr>
          <p:cNvPr id="2" name="Group 1">
            <a:extLst>
              <a:ext uri="{FF2B5EF4-FFF2-40B4-BE49-F238E27FC236}">
                <a16:creationId xmlns:a16="http://schemas.microsoft.com/office/drawing/2014/main" id="{81ACEC5F-6684-19A4-8DB2-D01D20CF66EB}"/>
              </a:ext>
            </a:extLst>
          </p:cNvPr>
          <p:cNvGrpSpPr>
            <a:grpSpLocks noChangeAspect="1"/>
          </p:cNvGrpSpPr>
          <p:nvPr userDrawn="1"/>
        </p:nvGrpSpPr>
        <p:grpSpPr>
          <a:xfrm>
            <a:off x="501651" y="304800"/>
            <a:ext cx="1998000" cy="374400"/>
            <a:chOff x="398463" y="404813"/>
            <a:chExt cx="1627187" cy="307976"/>
          </a:xfrm>
          <a:solidFill>
            <a:schemeClr val="tx1"/>
          </a:solidFill>
        </p:grpSpPr>
        <p:sp>
          <p:nvSpPr>
            <p:cNvPr id="3" name="Oval 5">
              <a:extLst>
                <a:ext uri="{FF2B5EF4-FFF2-40B4-BE49-F238E27FC236}">
                  <a16:creationId xmlns:a16="http://schemas.microsoft.com/office/drawing/2014/main" id="{B6F7F4E4-EBD6-D2FF-483E-C4A8C2E65DAD}"/>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4" name="Freeform 6">
              <a:extLst>
                <a:ext uri="{FF2B5EF4-FFF2-40B4-BE49-F238E27FC236}">
                  <a16:creationId xmlns:a16="http://schemas.microsoft.com/office/drawing/2014/main" id="{74D631DA-4C83-F099-AD60-37F2AB6534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5" name="Rectangle 7">
              <a:extLst>
                <a:ext uri="{FF2B5EF4-FFF2-40B4-BE49-F238E27FC236}">
                  <a16:creationId xmlns:a16="http://schemas.microsoft.com/office/drawing/2014/main" id="{BCED8C32-14C8-1C8C-85A0-35750C3AD9DE}"/>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7" name="Freeform 8">
              <a:extLst>
                <a:ext uri="{FF2B5EF4-FFF2-40B4-BE49-F238E27FC236}">
                  <a16:creationId xmlns:a16="http://schemas.microsoft.com/office/drawing/2014/main" id="{F16F90E7-CFB7-0CE8-10A9-67D252791AD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8" name="Rectangle 9">
              <a:extLst>
                <a:ext uri="{FF2B5EF4-FFF2-40B4-BE49-F238E27FC236}">
                  <a16:creationId xmlns:a16="http://schemas.microsoft.com/office/drawing/2014/main" id="{0E68EAD9-DB12-8805-8A93-33F6AF25F851}"/>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9" name="Rectangle 10">
              <a:extLst>
                <a:ext uri="{FF2B5EF4-FFF2-40B4-BE49-F238E27FC236}">
                  <a16:creationId xmlns:a16="http://schemas.microsoft.com/office/drawing/2014/main" id="{DA26D03A-9C29-EAB8-DD2D-5819082BD9F2}"/>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10" name="Freeform 11">
              <a:extLst>
                <a:ext uri="{FF2B5EF4-FFF2-40B4-BE49-F238E27FC236}">
                  <a16:creationId xmlns:a16="http://schemas.microsoft.com/office/drawing/2014/main" id="{8C0BA18F-62E0-C9F6-B298-3D75F5FEFA93}"/>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11" name="Freeform 12">
              <a:extLst>
                <a:ext uri="{FF2B5EF4-FFF2-40B4-BE49-F238E27FC236}">
                  <a16:creationId xmlns:a16="http://schemas.microsoft.com/office/drawing/2014/main" id="{77CE9C1F-0A16-9909-837C-CD5181A597AB}"/>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12" name="Freeform 13">
              <a:extLst>
                <a:ext uri="{FF2B5EF4-FFF2-40B4-BE49-F238E27FC236}">
                  <a16:creationId xmlns:a16="http://schemas.microsoft.com/office/drawing/2014/main" id="{1BEB03FB-D6C9-D9BA-DFA1-93F6C5F79A93}"/>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13" name="Freeform 14">
              <a:extLst>
                <a:ext uri="{FF2B5EF4-FFF2-40B4-BE49-F238E27FC236}">
                  <a16:creationId xmlns:a16="http://schemas.microsoft.com/office/drawing/2014/main" id="{254E8C09-5F87-5C15-1D31-8C54EB27D46B}"/>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grpSp>
    </p:spTree>
    <p:extLst>
      <p:ext uri="{BB962C8B-B14F-4D97-AF65-F5344CB8AC3E}">
        <p14:creationId xmlns:p14="http://schemas.microsoft.com/office/powerpoint/2010/main" val="341165147"/>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9791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840567"/>
            <a:ext cx="10363200" cy="1960033"/>
          </a:xfrm>
        </p:spPr>
        <p:txBody>
          <a:bodyPr/>
          <a:lstStyle/>
          <a:p>
            <a:r>
              <a:rPr lang="en-US"/>
              <a:t>Click to edit Master title style</a:t>
            </a:r>
          </a:p>
        </p:txBody>
      </p:sp>
      <p:sp>
        <p:nvSpPr>
          <p:cNvPr id="3" name="Subtitle 2"/>
          <p:cNvSpPr>
            <a:spLocks noGrp="1"/>
          </p:cNvSpPr>
          <p:nvPr>
            <p:ph type="subTitle" idx="1"/>
          </p:nvPr>
        </p:nvSpPr>
        <p:spPr>
          <a:xfrm>
            <a:off x="1828800" y="5181600"/>
            <a:ext cx="8534400" cy="23368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4307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09410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5875867"/>
            <a:ext cx="10363200" cy="1816100"/>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3875618"/>
            <a:ext cx="10363200" cy="2000249"/>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8923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2133601"/>
            <a:ext cx="5384800" cy="6034617"/>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2133601"/>
            <a:ext cx="5384800" cy="6034617"/>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8181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046817"/>
            <a:ext cx="5386917" cy="85301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899833"/>
            <a:ext cx="5386917" cy="5268384"/>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2046817"/>
            <a:ext cx="5389033" cy="85301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8" y="2899833"/>
            <a:ext cx="5389033" cy="5268384"/>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2913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5688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3680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364067"/>
            <a:ext cx="4011084" cy="154940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364067"/>
            <a:ext cx="6815667" cy="7804151"/>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913467"/>
            <a:ext cx="4011084" cy="6254751"/>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84601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6400800"/>
            <a:ext cx="7315200" cy="755651"/>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817033"/>
            <a:ext cx="7315200" cy="54864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p:cNvSpPr>
            <a:spLocks noGrp="1"/>
          </p:cNvSpPr>
          <p:nvPr>
            <p:ph type="body" sz="half" idx="2"/>
          </p:nvPr>
        </p:nvSpPr>
        <p:spPr>
          <a:xfrm>
            <a:off x="2389717" y="7156451"/>
            <a:ext cx="7315200" cy="107314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36794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17793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66185"/>
            <a:ext cx="2743200" cy="78020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66185"/>
            <a:ext cx="8026400" cy="78020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4429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6184"/>
            <a:ext cx="109728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2133601"/>
            <a:ext cx="109728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8475134"/>
            <a:ext cx="28448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5BCAD085-E8A6-8845-BD4E-CB4CCA059FC4}" type="datetimeFigureOut">
              <a:rPr lang="en-US" smtClean="0"/>
              <a:t>6/25/2026</a:t>
            </a:fld>
            <a:endParaRPr lang="en-US"/>
          </a:p>
        </p:txBody>
      </p:sp>
      <p:sp>
        <p:nvSpPr>
          <p:cNvPr id="5" name="Footer Placeholder 4"/>
          <p:cNvSpPr>
            <a:spLocks noGrp="1"/>
          </p:cNvSpPr>
          <p:nvPr>
            <p:ph type="ftr" sz="quarter" idx="3"/>
          </p:nvPr>
        </p:nvSpPr>
        <p:spPr>
          <a:xfrm>
            <a:off x="4165600" y="8475134"/>
            <a:ext cx="3860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8475134"/>
            <a:ext cx="28448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1081121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6.png"/><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5.xml.rels><?xml version="1.0" encoding="UTF-8" standalone="yes"?>
<Relationships xmlns="http://schemas.openxmlformats.org/package/2006/relationships"><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6.png"/><Relationship Id="rId39" Type="http://schemas.openxmlformats.org/officeDocument/2006/relationships/image" Target="../media/image69.png"/><Relationship Id="rId21" Type="http://schemas.openxmlformats.org/officeDocument/2006/relationships/image" Target="../media/image52.png"/><Relationship Id="rId34" Type="http://schemas.openxmlformats.org/officeDocument/2006/relationships/image" Target="../media/image64.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16.png"/><Relationship Id="rId33" Type="http://schemas.openxmlformats.org/officeDocument/2006/relationships/image" Target="../media/image63.png"/><Relationship Id="rId38" Type="http://schemas.openxmlformats.org/officeDocument/2006/relationships/image" Target="../media/image68.png"/><Relationship Id="rId2" Type="http://schemas.openxmlformats.org/officeDocument/2006/relationships/image" Target="../media/image4.png"/><Relationship Id="rId16" Type="http://schemas.openxmlformats.org/officeDocument/2006/relationships/image" Target="../media/image48.png"/><Relationship Id="rId20" Type="http://schemas.openxmlformats.org/officeDocument/2006/relationships/image" Target="../media/image17.png"/><Relationship Id="rId29"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5.png"/><Relationship Id="rId32" Type="http://schemas.openxmlformats.org/officeDocument/2006/relationships/image" Target="../media/image62.png"/><Relationship Id="rId37" Type="http://schemas.openxmlformats.org/officeDocument/2006/relationships/image" Target="../media/image67.png"/><Relationship Id="rId40" Type="http://schemas.openxmlformats.org/officeDocument/2006/relationships/image" Target="../media/image70.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4.png"/><Relationship Id="rId28" Type="http://schemas.openxmlformats.org/officeDocument/2006/relationships/image" Target="../media/image58.png"/><Relationship Id="rId36" Type="http://schemas.openxmlformats.org/officeDocument/2006/relationships/image" Target="../media/image66.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3.png"/><Relationship Id="rId27" Type="http://schemas.openxmlformats.org/officeDocument/2006/relationships/image" Target="../media/image57.png"/><Relationship Id="rId30" Type="http://schemas.openxmlformats.org/officeDocument/2006/relationships/image" Target="../media/image60.png"/><Relationship Id="rId35" Type="http://schemas.openxmlformats.org/officeDocument/2006/relationships/image" Target="../media/image65.png"/><Relationship Id="rId8" Type="http://schemas.openxmlformats.org/officeDocument/2006/relationships/image" Target="../media/image40.png"/><Relationship Id="rId3"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6.svg"/><Relationship Id="rId13" Type="http://schemas.openxmlformats.org/officeDocument/2006/relationships/image" Target="../media/image81.png"/><Relationship Id="rId18" Type="http://schemas.openxmlformats.org/officeDocument/2006/relationships/image" Target="../media/image84.png"/><Relationship Id="rId3" Type="http://schemas.openxmlformats.org/officeDocument/2006/relationships/image" Target="../media/image71.svg"/><Relationship Id="rId21" Type="http://schemas.openxmlformats.org/officeDocument/2006/relationships/image" Target="../media/image87.svg"/><Relationship Id="rId7" Type="http://schemas.openxmlformats.org/officeDocument/2006/relationships/image" Target="../media/image75.svg"/><Relationship Id="rId12" Type="http://schemas.openxmlformats.org/officeDocument/2006/relationships/image" Target="../media/image80.png"/><Relationship Id="rId17" Type="http://schemas.openxmlformats.org/officeDocument/2006/relationships/hyperlink" Target="https://logospng.org/logo-whatsapp/" TargetMode="External"/><Relationship Id="rId2" Type="http://schemas.openxmlformats.org/officeDocument/2006/relationships/image" Target="../media/image4.png"/><Relationship Id="rId16" Type="http://schemas.openxmlformats.org/officeDocument/2006/relationships/image" Target="../media/image83.png"/><Relationship Id="rId20"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74.svg"/><Relationship Id="rId11" Type="http://schemas.openxmlformats.org/officeDocument/2006/relationships/image" Target="../media/image79.svg"/><Relationship Id="rId24" Type="http://schemas.openxmlformats.org/officeDocument/2006/relationships/image" Target="../media/image90.svg"/><Relationship Id="rId5" Type="http://schemas.openxmlformats.org/officeDocument/2006/relationships/image" Target="../media/image73.svg"/><Relationship Id="rId15" Type="http://schemas.openxmlformats.org/officeDocument/2006/relationships/hyperlink" Target="https://wsparrow.blogspot.com/2021/01/microsoft-teams-history.html" TargetMode="External"/><Relationship Id="rId23" Type="http://schemas.openxmlformats.org/officeDocument/2006/relationships/image" Target="../media/image89.svg"/><Relationship Id="rId10" Type="http://schemas.openxmlformats.org/officeDocument/2006/relationships/image" Target="../media/image78.svg"/><Relationship Id="rId19" Type="http://schemas.openxmlformats.org/officeDocument/2006/relationships/image" Target="../media/image85.png"/><Relationship Id="rId4" Type="http://schemas.openxmlformats.org/officeDocument/2006/relationships/image" Target="../media/image72.svg"/><Relationship Id="rId9" Type="http://schemas.openxmlformats.org/officeDocument/2006/relationships/image" Target="../media/image77.svg"/><Relationship Id="rId14" Type="http://schemas.openxmlformats.org/officeDocument/2006/relationships/image" Target="../media/image82.png"/><Relationship Id="rId22" Type="http://schemas.openxmlformats.org/officeDocument/2006/relationships/image" Target="../media/image88.svg"/></Relationships>
</file>

<file path=ppt/slides/_rels/slide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3" Type="http://schemas.openxmlformats.org/officeDocument/2006/relationships/image" Target="../media/image102.png"/><Relationship Id="rId18" Type="http://schemas.openxmlformats.org/officeDocument/2006/relationships/image" Target="../media/image107.png"/><Relationship Id="rId26" Type="http://schemas.openxmlformats.org/officeDocument/2006/relationships/image" Target="../media/image115.png"/><Relationship Id="rId3" Type="http://schemas.openxmlformats.org/officeDocument/2006/relationships/image" Target="../media/image92.png"/><Relationship Id="rId21" Type="http://schemas.openxmlformats.org/officeDocument/2006/relationships/image" Target="../media/image110.png"/><Relationship Id="rId34" Type="http://schemas.openxmlformats.org/officeDocument/2006/relationships/image" Target="../media/image123.png"/><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106.png"/><Relationship Id="rId25" Type="http://schemas.openxmlformats.org/officeDocument/2006/relationships/image" Target="../media/image114.png"/><Relationship Id="rId33" Type="http://schemas.openxmlformats.org/officeDocument/2006/relationships/image" Target="../media/image122.png"/><Relationship Id="rId2" Type="http://schemas.openxmlformats.org/officeDocument/2006/relationships/image" Target="../media/image4.png"/><Relationship Id="rId16" Type="http://schemas.openxmlformats.org/officeDocument/2006/relationships/image" Target="../media/image105.png"/><Relationship Id="rId20" Type="http://schemas.openxmlformats.org/officeDocument/2006/relationships/image" Target="../media/image109.png"/><Relationship Id="rId29"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95.png"/><Relationship Id="rId11" Type="http://schemas.openxmlformats.org/officeDocument/2006/relationships/image" Target="../media/image100.png"/><Relationship Id="rId24" Type="http://schemas.openxmlformats.org/officeDocument/2006/relationships/image" Target="../media/image113.png"/><Relationship Id="rId32" Type="http://schemas.openxmlformats.org/officeDocument/2006/relationships/image" Target="../media/image121.png"/><Relationship Id="rId5" Type="http://schemas.openxmlformats.org/officeDocument/2006/relationships/image" Target="../media/image94.png"/><Relationship Id="rId15" Type="http://schemas.openxmlformats.org/officeDocument/2006/relationships/image" Target="../media/image104.png"/><Relationship Id="rId23" Type="http://schemas.openxmlformats.org/officeDocument/2006/relationships/image" Target="../media/image112.png"/><Relationship Id="rId28" Type="http://schemas.openxmlformats.org/officeDocument/2006/relationships/image" Target="../media/image117.png"/><Relationship Id="rId36" Type="http://schemas.openxmlformats.org/officeDocument/2006/relationships/image" Target="../media/image125.png"/><Relationship Id="rId10" Type="http://schemas.openxmlformats.org/officeDocument/2006/relationships/image" Target="../media/image99.png"/><Relationship Id="rId19" Type="http://schemas.openxmlformats.org/officeDocument/2006/relationships/image" Target="../media/image108.png"/><Relationship Id="rId31" Type="http://schemas.openxmlformats.org/officeDocument/2006/relationships/image" Target="../media/image120.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03.png"/><Relationship Id="rId22" Type="http://schemas.openxmlformats.org/officeDocument/2006/relationships/image" Target="../media/image111.png"/><Relationship Id="rId27" Type="http://schemas.openxmlformats.org/officeDocument/2006/relationships/image" Target="../media/image116.png"/><Relationship Id="rId30" Type="http://schemas.openxmlformats.org/officeDocument/2006/relationships/image" Target="../media/image119.png"/><Relationship Id="rId35" Type="http://schemas.openxmlformats.org/officeDocument/2006/relationships/image" Target="../media/image124.png"/><Relationship Id="rId8" Type="http://schemas.openxmlformats.org/officeDocument/2006/relationships/image" Target="../media/image9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7.png"/><Relationship Id="rId39" Type="http://schemas.openxmlformats.org/officeDocument/2006/relationships/image" Target="../media/image70.png"/><Relationship Id="rId21" Type="http://schemas.openxmlformats.org/officeDocument/2006/relationships/image" Target="../media/image53.png"/><Relationship Id="rId34" Type="http://schemas.openxmlformats.org/officeDocument/2006/relationships/image" Target="../media/image65.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6.png"/><Relationship Id="rId33" Type="http://schemas.openxmlformats.org/officeDocument/2006/relationships/image" Target="../media/image64.png"/><Relationship Id="rId38" Type="http://schemas.openxmlformats.org/officeDocument/2006/relationships/image" Target="../media/image69.png"/><Relationship Id="rId2" Type="http://schemas.openxmlformats.org/officeDocument/2006/relationships/image" Target="../media/image35.png"/><Relationship Id="rId16" Type="http://schemas.openxmlformats.org/officeDocument/2006/relationships/image" Target="../media/image49.png"/><Relationship Id="rId20" Type="http://schemas.openxmlformats.org/officeDocument/2006/relationships/image" Target="../media/image52.png"/><Relationship Id="rId29"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16.png"/><Relationship Id="rId32" Type="http://schemas.openxmlformats.org/officeDocument/2006/relationships/image" Target="../media/image63.png"/><Relationship Id="rId37" Type="http://schemas.openxmlformats.org/officeDocument/2006/relationships/image" Target="../media/image68.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5.png"/><Relationship Id="rId28" Type="http://schemas.openxmlformats.org/officeDocument/2006/relationships/image" Target="../media/image59.png"/><Relationship Id="rId36" Type="http://schemas.openxmlformats.org/officeDocument/2006/relationships/image" Target="../media/image67.png"/><Relationship Id="rId10" Type="http://schemas.openxmlformats.org/officeDocument/2006/relationships/image" Target="../media/image43.png"/><Relationship Id="rId19" Type="http://schemas.openxmlformats.org/officeDocument/2006/relationships/image" Target="../media/image17.png"/><Relationship Id="rId31" Type="http://schemas.openxmlformats.org/officeDocument/2006/relationships/image" Target="../media/image62.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4.png"/><Relationship Id="rId27" Type="http://schemas.openxmlformats.org/officeDocument/2006/relationships/image" Target="../media/image58.png"/><Relationship Id="rId30" Type="http://schemas.openxmlformats.org/officeDocument/2006/relationships/image" Target="../media/image61.png"/><Relationship Id="rId35" Type="http://schemas.openxmlformats.org/officeDocument/2006/relationships/image" Target="../media/image66.png"/><Relationship Id="rId8" Type="http://schemas.openxmlformats.org/officeDocument/2006/relationships/image" Target="../media/image41.png"/><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6C2C37DD-4185-4CF1-EE62-AFE33E632831}"/>
              </a:ext>
            </a:extLst>
          </p:cNvPr>
          <p:cNvSpPr txBox="1">
            <a:spLocks/>
          </p:cNvSpPr>
          <p:nvPr/>
        </p:nvSpPr>
        <p:spPr>
          <a:xfrm>
            <a:off x="530207" y="5783729"/>
            <a:ext cx="4446269" cy="219456"/>
          </a:xfrm>
          <a:prstGeom prst="rect">
            <a:avLst/>
          </a:prstGeom>
        </p:spPr>
        <p:txBody>
          <a:bodyPr vert="horz" lIns="0" tIns="0" rIns="0" bIns="0" rtlCol="0" anchor="ctr" anchorCtr="0">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b="0">
                <a:solidFill>
                  <a:schemeClr val="bg1"/>
                </a:solidFill>
                <a:latin typeface="+mj-lt"/>
              </a:rPr>
              <a:t>July 2026</a:t>
            </a:r>
          </a:p>
        </p:txBody>
      </p:sp>
      <p:sp>
        <p:nvSpPr>
          <p:cNvPr id="10" name="Text Placeholder 2">
            <a:extLst>
              <a:ext uri="{FF2B5EF4-FFF2-40B4-BE49-F238E27FC236}">
                <a16:creationId xmlns:a16="http://schemas.microsoft.com/office/drawing/2014/main" id="{A260EB78-1122-2289-1AD9-63452917C4EC}"/>
              </a:ext>
            </a:extLst>
          </p:cNvPr>
          <p:cNvSpPr txBox="1">
            <a:spLocks/>
          </p:cNvSpPr>
          <p:nvPr/>
        </p:nvSpPr>
        <p:spPr>
          <a:xfrm>
            <a:off x="530207" y="6052154"/>
            <a:ext cx="5399087" cy="219456"/>
          </a:xfrm>
          <a:prstGeom prst="rect">
            <a:avLst/>
          </a:prstGeom>
        </p:spPr>
        <p:txBody>
          <a:bodyPr vert="horz" lIns="0" tIns="0" rIns="0" bIns="0" rtlCol="0" anchor="ctr" anchorCtr="0">
            <a:noAutofit/>
          </a:bodyPr>
          <a:lstStyle>
            <a:lvl1pPr marL="0" indent="0" algn="l" defTabSz="685800" rtl="0" eaLnBrk="1" latinLnBrk="0" hangingPunct="1">
              <a:lnSpc>
                <a:spcPct val="100000"/>
              </a:lnSpc>
              <a:spcBef>
                <a:spcPts val="200"/>
              </a:spcBef>
              <a:spcAft>
                <a:spcPts val="200"/>
              </a:spcAft>
              <a:buSzPct val="100000"/>
              <a:buFontTx/>
              <a:buNone/>
              <a:defRPr lang="en-US" sz="1400" b="1" kern="1200" smtClean="0">
                <a:solidFill>
                  <a:schemeClr val="tx1"/>
                </a:solidFill>
                <a:latin typeface="Calibri" panose="020F0502020204030204" pitchFamily="34" charset="0"/>
                <a:ea typeface="+mn-ea"/>
                <a:cs typeface="Calibri" panose="020F0502020204030204" pitchFamily="34" charset="0"/>
              </a:defRPr>
            </a:lvl1pPr>
            <a:lvl2pPr marL="0" indent="0" algn="l" defTabSz="685800" rtl="0" eaLnBrk="1" latinLnBrk="0" hangingPunct="1">
              <a:lnSpc>
                <a:spcPct val="100000"/>
              </a:lnSpc>
              <a:spcBef>
                <a:spcPts val="200"/>
              </a:spcBef>
              <a:spcAft>
                <a:spcPts val="200"/>
              </a:spcAft>
              <a:buClrTx/>
              <a:buSzPct val="100000"/>
              <a:buFont typeface="Arial" panose="020B0604020202020204" pitchFamily="34" charset="0"/>
              <a:buNone/>
              <a:defRPr lang="en-US" sz="1200" b="0" kern="1200" smtClean="0">
                <a:solidFill>
                  <a:schemeClr val="bg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smtClean="0">
                <a:solidFill>
                  <a:schemeClr val="bg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smtClean="0">
                <a:solidFill>
                  <a:schemeClr val="bg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IN" sz="1200" b="0" kern="1200" baseline="0">
                <a:solidFill>
                  <a:schemeClr val="bg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IN" b="0">
                <a:solidFill>
                  <a:schemeClr val="bg1"/>
                </a:solidFill>
                <a:latin typeface="+mj-lt"/>
              </a:rPr>
              <a:t>Private and confidential</a:t>
            </a:r>
          </a:p>
        </p:txBody>
      </p:sp>
      <p:sp>
        <p:nvSpPr>
          <p:cNvPr id="11" name="Text Placeholder 9">
            <a:extLst>
              <a:ext uri="{FF2B5EF4-FFF2-40B4-BE49-F238E27FC236}">
                <a16:creationId xmlns:a16="http://schemas.microsoft.com/office/drawing/2014/main" id="{AD899505-AF7A-F0EE-77C1-DEEAFDDF55C0}"/>
              </a:ext>
            </a:extLst>
          </p:cNvPr>
          <p:cNvSpPr txBox="1">
            <a:spLocks/>
          </p:cNvSpPr>
          <p:nvPr/>
        </p:nvSpPr>
        <p:spPr>
          <a:xfrm>
            <a:off x="478449" y="3421773"/>
            <a:ext cx="5258118" cy="382477"/>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200"/>
              </a:spcAft>
              <a:buSzPct val="100000"/>
              <a:buFontTx/>
              <a:buNone/>
              <a:defRPr sz="21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2000">
                <a:solidFill>
                  <a:schemeClr val="bg1">
                    <a:lumMod val="75000"/>
                  </a:schemeClr>
                </a:solidFill>
                <a:latin typeface="+mj-lt"/>
              </a:rPr>
              <a:t>Enabling Intelligent Lending Journeys</a:t>
            </a:r>
          </a:p>
        </p:txBody>
      </p:sp>
      <p:pic>
        <p:nvPicPr>
          <p:cNvPr id="12" name="Picture 11" descr="Deloitte logo lockup with Together makes progress tagline">
            <a:extLst>
              <a:ext uri="{FF2B5EF4-FFF2-40B4-BE49-F238E27FC236}">
                <a16:creationId xmlns:a16="http://schemas.microsoft.com/office/drawing/2014/main" id="{02BF1A15-0601-D701-1142-EC40ED029CEE}"/>
              </a:ext>
            </a:extLst>
          </p:cNvPr>
          <p:cNvPicPr>
            <a:picLocks noChangeAspect="1"/>
          </p:cNvPicPr>
          <p:nvPr/>
        </p:nvPicPr>
        <p:blipFill>
          <a:blip r:embed="rId3">
            <a:extLst>
              <a:ext uri="{28A0092B-C50C-407E-A947-70E740481C1C}">
                <a14:useLocalDpi xmlns:a14="http://schemas.microsoft.com/office/drawing/2010/main" val="0"/>
              </a:ext>
            </a:extLst>
          </a:blip>
          <a:srcRect l="7335" t="16745" r="8719" b="40445"/>
          <a:stretch>
            <a:fillRect/>
          </a:stretch>
        </p:blipFill>
        <p:spPr>
          <a:xfrm>
            <a:off x="384559" y="295572"/>
            <a:ext cx="2264434" cy="543464"/>
          </a:xfrm>
          <a:prstGeom prst="rect">
            <a:avLst/>
          </a:prstGeom>
        </p:spPr>
      </p:pic>
      <p:sp>
        <p:nvSpPr>
          <p:cNvPr id="13" name="Title 1">
            <a:extLst>
              <a:ext uri="{FF2B5EF4-FFF2-40B4-BE49-F238E27FC236}">
                <a16:creationId xmlns:a16="http://schemas.microsoft.com/office/drawing/2014/main" id="{7536B5C6-E0B1-927E-E1C4-750E2C40FCBE}"/>
              </a:ext>
            </a:extLst>
          </p:cNvPr>
          <p:cNvSpPr txBox="1">
            <a:spLocks/>
          </p:cNvSpPr>
          <p:nvPr/>
        </p:nvSpPr>
        <p:spPr bwMode="gray">
          <a:xfrm>
            <a:off x="478449" y="2812211"/>
            <a:ext cx="6388178" cy="605298"/>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pPr>
              <a:lnSpc>
                <a:spcPts val="6400"/>
              </a:lnSpc>
            </a:pPr>
            <a:r>
              <a:rPr lang="en-US" sz="4000" b="1">
                <a:solidFill>
                  <a:schemeClr val="bg1"/>
                </a:solidFill>
                <a:latin typeface="+mj-lt"/>
              </a:rPr>
              <a:t>AWS Agentic AI for Lending</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77800" ty="-133350" sx="100000" sy="100000" flip="none" algn="tl"/>
        </a:blipFill>
        <a:effectLst/>
      </p:bgPr>
    </p:bg>
    <p:spTree>
      <p:nvGrpSpPr>
        <p:cNvPr id="1" name="">
          <a:extLst>
            <a:ext uri="{FF2B5EF4-FFF2-40B4-BE49-F238E27FC236}">
              <a16:creationId xmlns:a16="http://schemas.microsoft.com/office/drawing/2014/main" id="{BD97932F-56A8-B933-7269-9949C6A9B4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E956A15-2634-9FC1-49FE-D45EE8E4ACE3}"/>
              </a:ext>
            </a:extLst>
          </p:cNvPr>
          <p:cNvSpPr txBox="1">
            <a:spLocks/>
          </p:cNvSpPr>
          <p:nvPr/>
        </p:nvSpPr>
        <p:spPr>
          <a:xfrm>
            <a:off x="292149" y="854042"/>
            <a:ext cx="8075474" cy="319151"/>
          </a:xfrm>
          <a:prstGeom prst="rect">
            <a:avLst/>
          </a:prstGeom>
        </p:spPr>
        <p:txBody>
          <a:bodyPr vert="horz" lIns="0" tIns="0" rIns="0" bIns="0" rtlCol="0" anchor="t">
            <a:noAutofit/>
          </a:bodyPr>
          <a:lst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600">
                <a:solidFill>
                  <a:schemeClr val="bg1">
                    <a:lumMod val="85000"/>
                  </a:schemeClr>
                </a:solidFill>
                <a:latin typeface="Aptos Light" panose="020B0004020202020204" pitchFamily="34" charset="0"/>
                <a:cs typeface="Calibri Light"/>
              </a:rPr>
              <a:t>The market is moving from process-centric origination to AI-first, headless, intelligence-driven lending.</a:t>
            </a:r>
          </a:p>
        </p:txBody>
      </p:sp>
      <p:sp>
        <p:nvSpPr>
          <p:cNvPr id="3" name="Title 2">
            <a:extLst>
              <a:ext uri="{FF2B5EF4-FFF2-40B4-BE49-F238E27FC236}">
                <a16:creationId xmlns:a16="http://schemas.microsoft.com/office/drawing/2014/main" id="{75567D0D-9601-409E-4E25-400F98A6DF3D}"/>
              </a:ext>
            </a:extLst>
          </p:cNvPr>
          <p:cNvSpPr txBox="1">
            <a:spLocks/>
          </p:cNvSpPr>
          <p:nvPr/>
        </p:nvSpPr>
        <p:spPr>
          <a:xfrm>
            <a:off x="177078" y="197929"/>
            <a:ext cx="8639118" cy="561196"/>
          </a:xfrm>
          <a:prstGeom prst="rect">
            <a:avLst/>
          </a:prstGeom>
        </p:spPr>
        <p:txBody>
          <a:bodyPr/>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r>
              <a:rPr lang="en-US" sz="3600">
                <a:solidFill>
                  <a:schemeClr val="bg1"/>
                </a:solidFill>
                <a:latin typeface="Aptos Light" panose="020B0004020202020204" pitchFamily="34" charset="0"/>
                <a:ea typeface="+mj-lt"/>
                <a:cs typeface="+mj-lt"/>
              </a:rPr>
              <a:t>The System of Engagement Is Changing</a:t>
            </a:r>
          </a:p>
        </p:txBody>
      </p:sp>
      <p:sp>
        <p:nvSpPr>
          <p:cNvPr id="6" name="Rectangle 5">
            <a:extLst>
              <a:ext uri="{FF2B5EF4-FFF2-40B4-BE49-F238E27FC236}">
                <a16:creationId xmlns:a16="http://schemas.microsoft.com/office/drawing/2014/main" id="{65BAED3F-0F1D-D672-866D-6A9D60358687}"/>
              </a:ext>
            </a:extLst>
          </p:cNvPr>
          <p:cNvSpPr/>
          <p:nvPr/>
        </p:nvSpPr>
        <p:spPr>
          <a:xfrm>
            <a:off x="238539" y="2001079"/>
            <a:ext cx="11460480" cy="9753"/>
          </a:xfrm>
          <a:prstGeom prst="rect">
            <a:avLst/>
          </a:prstGeom>
          <a:solidFill>
            <a:srgbClr val="254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33D781A7-3918-4A50-6C0F-B86F2E519CA0}"/>
              </a:ext>
            </a:extLst>
          </p:cNvPr>
          <p:cNvSpPr/>
          <p:nvPr/>
        </p:nvSpPr>
        <p:spPr>
          <a:xfrm>
            <a:off x="238539" y="2086422"/>
            <a:ext cx="2834640" cy="914400"/>
          </a:xfrm>
          <a:prstGeom prst="rect">
            <a:avLst/>
          </a:prstGeom>
          <a:solidFill>
            <a:srgbClr val="13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AADB0AAE-390C-7E31-10C3-E993F8F4557E}"/>
              </a:ext>
            </a:extLst>
          </p:cNvPr>
          <p:cNvSpPr txBox="1"/>
          <p:nvPr/>
        </p:nvSpPr>
        <p:spPr>
          <a:xfrm>
            <a:off x="409227" y="2147382"/>
            <a:ext cx="2615184" cy="235898"/>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933" b="1" i="0" u="none" strike="noStrike" kern="1200" cap="none" spc="0" normalizeH="0" baseline="0" noProof="0">
                <a:ln>
                  <a:noFill/>
                </a:ln>
                <a:solidFill>
                  <a:srgbClr val="476898"/>
                </a:solidFill>
                <a:effectLst/>
                <a:uLnTx/>
                <a:uFillTx/>
                <a:latin typeface="Calibri"/>
                <a:ea typeface="+mn-ea"/>
                <a:cs typeface="+mn-cs"/>
              </a:rPr>
              <a:t>01</a:t>
            </a:r>
          </a:p>
        </p:txBody>
      </p:sp>
      <p:sp>
        <p:nvSpPr>
          <p:cNvPr id="9" name="TextBox 8">
            <a:extLst>
              <a:ext uri="{FF2B5EF4-FFF2-40B4-BE49-F238E27FC236}">
                <a16:creationId xmlns:a16="http://schemas.microsoft.com/office/drawing/2014/main" id="{308A5246-6BAC-D1E8-0CA3-967001E987CE}"/>
              </a:ext>
            </a:extLst>
          </p:cNvPr>
          <p:cNvSpPr txBox="1"/>
          <p:nvPr/>
        </p:nvSpPr>
        <p:spPr>
          <a:xfrm>
            <a:off x="409227" y="2354647"/>
            <a:ext cx="2615184" cy="32823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533" b="1" i="0" u="none" strike="noStrike" kern="1200" cap="none" spc="0" normalizeH="0" baseline="0" noProof="0">
                <a:ln>
                  <a:noFill/>
                </a:ln>
                <a:solidFill>
                  <a:srgbClr val="FFFFFF"/>
                </a:solidFill>
                <a:effectLst/>
                <a:uLnTx/>
                <a:uFillTx/>
                <a:latin typeface="Calibri"/>
                <a:ea typeface="+mn-ea"/>
                <a:cs typeface="+mn-cs"/>
              </a:rPr>
              <a:t>Traditional LOS</a:t>
            </a:r>
          </a:p>
        </p:txBody>
      </p:sp>
      <p:sp>
        <p:nvSpPr>
          <p:cNvPr id="10" name="TextBox 9">
            <a:extLst>
              <a:ext uri="{FF2B5EF4-FFF2-40B4-BE49-F238E27FC236}">
                <a16:creationId xmlns:a16="http://schemas.microsoft.com/office/drawing/2014/main" id="{364AA611-2A19-C560-468E-6EA45E803FE1}"/>
              </a:ext>
            </a:extLst>
          </p:cNvPr>
          <p:cNvSpPr txBox="1"/>
          <p:nvPr/>
        </p:nvSpPr>
        <p:spPr>
          <a:xfrm>
            <a:off x="409227" y="2671639"/>
            <a:ext cx="2615184" cy="256545"/>
          </a:xfrm>
          <a:prstGeom prst="rect">
            <a:avLst/>
          </a:prstGeom>
          <a:noFill/>
        </p:spPr>
        <p:txBody>
          <a:bodyPr wrap="square" lIns="91440" tIns="45720" rIns="91440" bIns="45720" anchor="t">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7AACCF"/>
                </a:solidFill>
                <a:effectLst/>
                <a:uLnTx/>
                <a:uFillTx/>
                <a:latin typeface="Calibri"/>
                <a:ea typeface="+mn-ea"/>
                <a:cs typeface="+mn-cs"/>
              </a:rPr>
              <a:t>Rigid, </a:t>
            </a:r>
            <a:r>
              <a:rPr kumimoji="0" lang="en-US" sz="1050" b="0" i="0" u="none" strike="noStrike" kern="1200" cap="none" spc="0" normalizeH="0" baseline="0" noProof="0">
                <a:ln>
                  <a:noFill/>
                </a:ln>
                <a:solidFill>
                  <a:srgbClr val="7AACCF"/>
                </a:solidFill>
                <a:effectLst/>
                <a:uLnTx/>
                <a:uFillTx/>
                <a:latin typeface="Calibri"/>
                <a:ea typeface="+mn-ea"/>
                <a:cs typeface="+mn-cs"/>
              </a:rPr>
              <a:t>platform-driven</a:t>
            </a:r>
            <a:endParaRPr kumimoji="0" sz="1067" b="0" i="0" u="none" strike="noStrike" kern="1200" cap="none" spc="0" normalizeH="0" baseline="0" noProof="0">
              <a:ln>
                <a:noFill/>
              </a:ln>
              <a:solidFill>
                <a:srgbClr val="7AACCF"/>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ECAE6557-E359-E955-7445-F896DD4DD597}"/>
              </a:ext>
            </a:extLst>
          </p:cNvPr>
          <p:cNvSpPr/>
          <p:nvPr/>
        </p:nvSpPr>
        <p:spPr>
          <a:xfrm>
            <a:off x="3103659" y="2086422"/>
            <a:ext cx="2834640" cy="914400"/>
          </a:xfrm>
          <a:prstGeom prst="rect">
            <a:avLst/>
          </a:prstGeom>
          <a:solidFill>
            <a:srgbClr val="183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53C9DFAE-DE2A-5863-2C45-0FD1F396FF57}"/>
              </a:ext>
            </a:extLst>
          </p:cNvPr>
          <p:cNvSpPr txBox="1"/>
          <p:nvPr/>
        </p:nvSpPr>
        <p:spPr>
          <a:xfrm>
            <a:off x="3274347" y="2147382"/>
            <a:ext cx="2615184" cy="235898"/>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933" b="1" i="0" u="none" strike="noStrike" kern="1200" cap="none" spc="0" normalizeH="0" baseline="0" noProof="0">
                <a:ln>
                  <a:noFill/>
                </a:ln>
                <a:solidFill>
                  <a:srgbClr val="5A7FB0"/>
                </a:solidFill>
                <a:effectLst/>
                <a:uLnTx/>
                <a:uFillTx/>
                <a:latin typeface="Calibri"/>
                <a:ea typeface="+mn-ea"/>
                <a:cs typeface="+mn-cs"/>
              </a:rPr>
              <a:t>02</a:t>
            </a:r>
          </a:p>
        </p:txBody>
      </p:sp>
      <p:sp>
        <p:nvSpPr>
          <p:cNvPr id="13" name="TextBox 12">
            <a:extLst>
              <a:ext uri="{FF2B5EF4-FFF2-40B4-BE49-F238E27FC236}">
                <a16:creationId xmlns:a16="http://schemas.microsoft.com/office/drawing/2014/main" id="{97725495-5930-8BAC-A004-41C759C119D2}"/>
              </a:ext>
            </a:extLst>
          </p:cNvPr>
          <p:cNvSpPr txBox="1"/>
          <p:nvPr/>
        </p:nvSpPr>
        <p:spPr>
          <a:xfrm>
            <a:off x="3274347" y="2354647"/>
            <a:ext cx="2615184" cy="32823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533" b="1" i="0" u="none" strike="noStrike" kern="1200" cap="none" spc="0" normalizeH="0" baseline="0" noProof="0">
                <a:ln>
                  <a:noFill/>
                </a:ln>
                <a:solidFill>
                  <a:srgbClr val="FFFFFF"/>
                </a:solidFill>
                <a:effectLst/>
                <a:uLnTx/>
                <a:uFillTx/>
                <a:latin typeface="Calibri"/>
                <a:ea typeface="+mn-ea"/>
                <a:cs typeface="+mn-cs"/>
              </a:rPr>
              <a:t>Digitized LOS</a:t>
            </a:r>
          </a:p>
        </p:txBody>
      </p:sp>
      <p:sp>
        <p:nvSpPr>
          <p:cNvPr id="14" name="TextBox 13">
            <a:extLst>
              <a:ext uri="{FF2B5EF4-FFF2-40B4-BE49-F238E27FC236}">
                <a16:creationId xmlns:a16="http://schemas.microsoft.com/office/drawing/2014/main" id="{7E233274-21FC-7736-F071-D2A5791686FD}"/>
              </a:ext>
            </a:extLst>
          </p:cNvPr>
          <p:cNvSpPr txBox="1"/>
          <p:nvPr/>
        </p:nvSpPr>
        <p:spPr>
          <a:xfrm>
            <a:off x="3274347" y="2671639"/>
            <a:ext cx="2615184" cy="256545"/>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8ABCD8"/>
                </a:solidFill>
                <a:effectLst/>
                <a:uLnTx/>
                <a:uFillTx/>
                <a:latin typeface="Calibri"/>
                <a:ea typeface="+mn-ea"/>
                <a:cs typeface="+mn-cs"/>
              </a:rPr>
              <a:t>Portal-based, human-led</a:t>
            </a:r>
          </a:p>
        </p:txBody>
      </p:sp>
      <p:sp>
        <p:nvSpPr>
          <p:cNvPr id="15" name="Rectangle 14">
            <a:extLst>
              <a:ext uri="{FF2B5EF4-FFF2-40B4-BE49-F238E27FC236}">
                <a16:creationId xmlns:a16="http://schemas.microsoft.com/office/drawing/2014/main" id="{27BE57C7-096B-EBE2-AB93-CB820AEC8FA0}"/>
              </a:ext>
            </a:extLst>
          </p:cNvPr>
          <p:cNvSpPr/>
          <p:nvPr/>
        </p:nvSpPr>
        <p:spPr>
          <a:xfrm>
            <a:off x="5968779" y="2086422"/>
            <a:ext cx="2834640" cy="914400"/>
          </a:xfrm>
          <a:prstGeom prst="rect">
            <a:avLst/>
          </a:prstGeom>
          <a:solidFill>
            <a:srgbClr val="1A4E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089CE0BF-80C4-3F4B-2257-AE0731528234}"/>
              </a:ext>
            </a:extLst>
          </p:cNvPr>
          <p:cNvSpPr txBox="1"/>
          <p:nvPr/>
        </p:nvSpPr>
        <p:spPr>
          <a:xfrm>
            <a:off x="6139467" y="2147382"/>
            <a:ext cx="2615184" cy="235898"/>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933" b="1" i="0" u="none" strike="noStrike" kern="1200" cap="none" spc="0" normalizeH="0" baseline="0" noProof="0">
                <a:ln>
                  <a:noFill/>
                </a:ln>
                <a:solidFill>
                  <a:srgbClr val="6A95C8"/>
                </a:solidFill>
                <a:effectLst/>
                <a:uLnTx/>
                <a:uFillTx/>
                <a:latin typeface="Calibri"/>
                <a:ea typeface="+mn-ea"/>
                <a:cs typeface="+mn-cs"/>
              </a:rPr>
              <a:t>03</a:t>
            </a:r>
          </a:p>
        </p:txBody>
      </p:sp>
      <p:sp>
        <p:nvSpPr>
          <p:cNvPr id="17" name="TextBox 16">
            <a:extLst>
              <a:ext uri="{FF2B5EF4-FFF2-40B4-BE49-F238E27FC236}">
                <a16:creationId xmlns:a16="http://schemas.microsoft.com/office/drawing/2014/main" id="{2A8B03D7-76D8-ECCF-3785-98C54BC69BED}"/>
              </a:ext>
            </a:extLst>
          </p:cNvPr>
          <p:cNvSpPr txBox="1"/>
          <p:nvPr/>
        </p:nvSpPr>
        <p:spPr>
          <a:xfrm>
            <a:off x="6139467" y="2354647"/>
            <a:ext cx="2615184" cy="32823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533" b="1" i="0" u="none" strike="noStrike" kern="1200" cap="none" spc="0" normalizeH="0" baseline="0" noProof="0">
                <a:ln>
                  <a:noFill/>
                </a:ln>
                <a:solidFill>
                  <a:srgbClr val="FFFFFF"/>
                </a:solidFill>
                <a:effectLst/>
                <a:uLnTx/>
                <a:uFillTx/>
                <a:latin typeface="Calibri"/>
                <a:ea typeface="+mn-ea"/>
                <a:cs typeface="+mn-cs"/>
              </a:rPr>
              <a:t>AI-Enhanced LOS</a:t>
            </a:r>
          </a:p>
        </p:txBody>
      </p:sp>
      <p:sp>
        <p:nvSpPr>
          <p:cNvPr id="18" name="TextBox 17">
            <a:extLst>
              <a:ext uri="{FF2B5EF4-FFF2-40B4-BE49-F238E27FC236}">
                <a16:creationId xmlns:a16="http://schemas.microsoft.com/office/drawing/2014/main" id="{698AD50E-FFA0-F1AB-DF2F-4AAD4DD95E57}"/>
              </a:ext>
            </a:extLst>
          </p:cNvPr>
          <p:cNvSpPr txBox="1"/>
          <p:nvPr/>
        </p:nvSpPr>
        <p:spPr>
          <a:xfrm>
            <a:off x="6139467" y="2671639"/>
            <a:ext cx="2615184" cy="256545"/>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9ACCE0"/>
                </a:solidFill>
                <a:effectLst/>
                <a:uLnTx/>
                <a:uFillTx/>
                <a:latin typeface="Calibri"/>
                <a:ea typeface="+mn-ea"/>
                <a:cs typeface="+mn-cs"/>
              </a:rPr>
              <a:t>Intelligent automation</a:t>
            </a:r>
          </a:p>
        </p:txBody>
      </p:sp>
      <p:sp>
        <p:nvSpPr>
          <p:cNvPr id="19" name="Rectangle 18">
            <a:extLst>
              <a:ext uri="{FF2B5EF4-FFF2-40B4-BE49-F238E27FC236}">
                <a16:creationId xmlns:a16="http://schemas.microsoft.com/office/drawing/2014/main" id="{C37D12B0-2140-B7B7-97F0-9F735D08893E}"/>
              </a:ext>
            </a:extLst>
          </p:cNvPr>
          <p:cNvSpPr/>
          <p:nvPr/>
        </p:nvSpPr>
        <p:spPr>
          <a:xfrm>
            <a:off x="8833899" y="2086422"/>
            <a:ext cx="2834640" cy="9144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a:extLst>
              <a:ext uri="{FF2B5EF4-FFF2-40B4-BE49-F238E27FC236}">
                <a16:creationId xmlns:a16="http://schemas.microsoft.com/office/drawing/2014/main" id="{7142314A-F61E-7E37-9BDE-059743300B53}"/>
              </a:ext>
            </a:extLst>
          </p:cNvPr>
          <p:cNvSpPr txBox="1"/>
          <p:nvPr/>
        </p:nvSpPr>
        <p:spPr>
          <a:xfrm>
            <a:off x="9004587" y="2147382"/>
            <a:ext cx="2615184" cy="235898"/>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933" b="1" i="0" u="none" strike="noStrike" kern="1200" cap="none" spc="0" normalizeH="0" baseline="0" noProof="0">
                <a:ln>
                  <a:noFill/>
                </a:ln>
                <a:solidFill>
                  <a:srgbClr val="1A4810"/>
                </a:solidFill>
                <a:effectLst/>
                <a:uLnTx/>
                <a:uFillTx/>
                <a:latin typeface="Calibri"/>
                <a:ea typeface="+mn-ea"/>
                <a:cs typeface="+mn-cs"/>
              </a:rPr>
              <a:t>04</a:t>
            </a:r>
          </a:p>
        </p:txBody>
      </p:sp>
      <p:sp>
        <p:nvSpPr>
          <p:cNvPr id="21" name="TextBox 20">
            <a:extLst>
              <a:ext uri="{FF2B5EF4-FFF2-40B4-BE49-F238E27FC236}">
                <a16:creationId xmlns:a16="http://schemas.microsoft.com/office/drawing/2014/main" id="{BC3C4CC4-FA29-75C9-BC15-9C583B5C35CE}"/>
              </a:ext>
            </a:extLst>
          </p:cNvPr>
          <p:cNvSpPr txBox="1"/>
          <p:nvPr/>
        </p:nvSpPr>
        <p:spPr>
          <a:xfrm>
            <a:off x="9004587" y="2354647"/>
            <a:ext cx="2615184" cy="32823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533" b="1" i="0" u="none" strike="noStrike" kern="1200" cap="none" spc="0" normalizeH="0" baseline="0" noProof="0">
                <a:ln>
                  <a:noFill/>
                </a:ln>
                <a:solidFill>
                  <a:srgbClr val="0A2744"/>
                </a:solidFill>
                <a:effectLst/>
                <a:uLnTx/>
                <a:uFillTx/>
                <a:latin typeface="Calibri"/>
                <a:ea typeface="+mn-ea"/>
                <a:cs typeface="+mn-cs"/>
              </a:rPr>
              <a:t>AI-First Platform</a:t>
            </a:r>
          </a:p>
        </p:txBody>
      </p:sp>
      <p:sp>
        <p:nvSpPr>
          <p:cNvPr id="22" name="TextBox 21">
            <a:extLst>
              <a:ext uri="{FF2B5EF4-FFF2-40B4-BE49-F238E27FC236}">
                <a16:creationId xmlns:a16="http://schemas.microsoft.com/office/drawing/2014/main" id="{C68DD0DD-2C1A-C024-4CCB-455906C4AD06}"/>
              </a:ext>
            </a:extLst>
          </p:cNvPr>
          <p:cNvSpPr txBox="1"/>
          <p:nvPr/>
        </p:nvSpPr>
        <p:spPr>
          <a:xfrm>
            <a:off x="9004587" y="2671639"/>
            <a:ext cx="2615184" cy="256545"/>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1A5010"/>
                </a:solidFill>
                <a:effectLst/>
                <a:uLnTx/>
                <a:uFillTx/>
                <a:latin typeface="Calibri"/>
                <a:ea typeface="+mn-ea"/>
                <a:cs typeface="+mn-cs"/>
              </a:rPr>
              <a:t>Headless + scalable</a:t>
            </a:r>
          </a:p>
        </p:txBody>
      </p:sp>
      <p:sp>
        <p:nvSpPr>
          <p:cNvPr id="23" name="Rectangle 22">
            <a:extLst>
              <a:ext uri="{FF2B5EF4-FFF2-40B4-BE49-F238E27FC236}">
                <a16:creationId xmlns:a16="http://schemas.microsoft.com/office/drawing/2014/main" id="{9AB97776-97DC-D16A-3D87-84054C50A87C}"/>
              </a:ext>
            </a:extLst>
          </p:cNvPr>
          <p:cNvSpPr/>
          <p:nvPr/>
        </p:nvSpPr>
        <p:spPr>
          <a:xfrm>
            <a:off x="238539" y="3122742"/>
            <a:ext cx="5681472" cy="365760"/>
          </a:xfrm>
          <a:prstGeom prst="rect">
            <a:avLst/>
          </a:prstGeom>
          <a:solidFill>
            <a:srgbClr val="12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31D40025-2E43-8776-F609-12002423949F}"/>
              </a:ext>
            </a:extLst>
          </p:cNvPr>
          <p:cNvSpPr txBox="1"/>
          <p:nvPr/>
        </p:nvSpPr>
        <p:spPr>
          <a:xfrm>
            <a:off x="482379" y="3183703"/>
            <a:ext cx="5388864" cy="276999"/>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C5D9F1"/>
                </a:solidFill>
                <a:effectLst/>
                <a:uLnTx/>
                <a:uFillTx/>
                <a:latin typeface="Calibri"/>
                <a:ea typeface="+mn-ea"/>
                <a:cs typeface="+mn-cs"/>
              </a:rPr>
              <a:t>FROM</a:t>
            </a:r>
          </a:p>
        </p:txBody>
      </p:sp>
      <p:sp>
        <p:nvSpPr>
          <p:cNvPr id="25" name="Rectangle 24">
            <a:extLst>
              <a:ext uri="{FF2B5EF4-FFF2-40B4-BE49-F238E27FC236}">
                <a16:creationId xmlns:a16="http://schemas.microsoft.com/office/drawing/2014/main" id="{EFA172B7-41A9-1DF1-F063-E11AFE5CE494}"/>
              </a:ext>
            </a:extLst>
          </p:cNvPr>
          <p:cNvSpPr/>
          <p:nvPr/>
        </p:nvSpPr>
        <p:spPr>
          <a:xfrm>
            <a:off x="6017547" y="3122742"/>
            <a:ext cx="5681472" cy="365760"/>
          </a:xfrm>
          <a:prstGeom prst="rect">
            <a:avLst/>
          </a:prstGeom>
          <a:solidFill>
            <a:srgbClr val="122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D96BDF15-D282-82CC-DF8D-47F7A20D02D9}"/>
              </a:ext>
            </a:extLst>
          </p:cNvPr>
          <p:cNvSpPr txBox="1"/>
          <p:nvPr/>
        </p:nvSpPr>
        <p:spPr>
          <a:xfrm>
            <a:off x="6237003" y="3183703"/>
            <a:ext cx="5388864" cy="276999"/>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86BC25"/>
                </a:solidFill>
                <a:effectLst/>
                <a:uLnTx/>
                <a:uFillTx/>
                <a:latin typeface="Calibri"/>
                <a:ea typeface="+mn-ea"/>
                <a:cs typeface="+mn-cs"/>
              </a:rPr>
              <a:t>TO</a:t>
            </a:r>
          </a:p>
        </p:txBody>
      </p:sp>
      <p:sp>
        <p:nvSpPr>
          <p:cNvPr id="28" name="Rectangle 27">
            <a:extLst>
              <a:ext uri="{FF2B5EF4-FFF2-40B4-BE49-F238E27FC236}">
                <a16:creationId xmlns:a16="http://schemas.microsoft.com/office/drawing/2014/main" id="{A274DB70-4704-A798-CAEB-21FD338A5ED5}"/>
              </a:ext>
            </a:extLst>
          </p:cNvPr>
          <p:cNvSpPr/>
          <p:nvPr/>
        </p:nvSpPr>
        <p:spPr>
          <a:xfrm>
            <a:off x="238539" y="3488502"/>
            <a:ext cx="11460480" cy="481584"/>
          </a:xfrm>
          <a:prstGeom prst="rect">
            <a:avLst/>
          </a:prstGeom>
          <a:solidFill>
            <a:srgbClr val="0D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a:extLst>
              <a:ext uri="{FF2B5EF4-FFF2-40B4-BE49-F238E27FC236}">
                <a16:creationId xmlns:a16="http://schemas.microsoft.com/office/drawing/2014/main" id="{9AA7BFD5-7983-1912-AF41-10EF26CF0F84}"/>
              </a:ext>
            </a:extLst>
          </p:cNvPr>
          <p:cNvSpPr txBox="1"/>
          <p:nvPr/>
        </p:nvSpPr>
        <p:spPr>
          <a:xfrm>
            <a:off x="482379" y="3573847"/>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9DC2E2"/>
                </a:solidFill>
                <a:effectLst/>
                <a:uLnTx/>
                <a:uFillTx/>
                <a:latin typeface="Calibri"/>
                <a:ea typeface="+mn-ea"/>
                <a:cs typeface="+mn-cs"/>
              </a:rPr>
              <a:t>Rigid, LOS platform</a:t>
            </a:r>
          </a:p>
        </p:txBody>
      </p:sp>
      <p:sp>
        <p:nvSpPr>
          <p:cNvPr id="30" name="TextBox 29">
            <a:extLst>
              <a:ext uri="{FF2B5EF4-FFF2-40B4-BE49-F238E27FC236}">
                <a16:creationId xmlns:a16="http://schemas.microsoft.com/office/drawing/2014/main" id="{509097E5-7F44-87FC-289B-E12275AA3A5C}"/>
              </a:ext>
            </a:extLst>
          </p:cNvPr>
          <p:cNvSpPr txBox="1"/>
          <p:nvPr/>
        </p:nvSpPr>
        <p:spPr>
          <a:xfrm>
            <a:off x="6237003" y="3573847"/>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FFFFFF"/>
                </a:solidFill>
                <a:effectLst/>
                <a:uLnTx/>
                <a:uFillTx/>
                <a:latin typeface="Calibri"/>
                <a:ea typeface="+mn-ea"/>
                <a:cs typeface="+mn-cs"/>
              </a:rPr>
              <a:t>Custom, headless LOS owned by the business</a:t>
            </a:r>
          </a:p>
        </p:txBody>
      </p:sp>
      <p:sp>
        <p:nvSpPr>
          <p:cNvPr id="31" name="Rectangle 30">
            <a:extLst>
              <a:ext uri="{FF2B5EF4-FFF2-40B4-BE49-F238E27FC236}">
                <a16:creationId xmlns:a16="http://schemas.microsoft.com/office/drawing/2014/main" id="{F8886D0C-8ED0-DFDE-4146-4D11E1E88859}"/>
              </a:ext>
            </a:extLst>
          </p:cNvPr>
          <p:cNvSpPr/>
          <p:nvPr/>
        </p:nvSpPr>
        <p:spPr>
          <a:xfrm>
            <a:off x="238539" y="3970086"/>
            <a:ext cx="11460480" cy="481584"/>
          </a:xfrm>
          <a:prstGeom prst="rect">
            <a:avLst/>
          </a:prstGeom>
          <a:solidFill>
            <a:srgbClr val="0B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8AE753A9-48DF-F703-7ADB-EB3D5568DF30}"/>
              </a:ext>
            </a:extLst>
          </p:cNvPr>
          <p:cNvSpPr txBox="1"/>
          <p:nvPr/>
        </p:nvSpPr>
        <p:spPr>
          <a:xfrm>
            <a:off x="482379" y="4055431"/>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9DC2E2"/>
                </a:solidFill>
                <a:effectLst/>
                <a:uLnTx/>
                <a:uFillTx/>
                <a:latin typeface="Calibri"/>
                <a:ea typeface="+mn-ea"/>
                <a:cs typeface="+mn-cs"/>
              </a:rPr>
              <a:t>Manual, rules-based approval workflows</a:t>
            </a:r>
          </a:p>
        </p:txBody>
      </p:sp>
      <p:sp>
        <p:nvSpPr>
          <p:cNvPr id="33" name="TextBox 32">
            <a:extLst>
              <a:ext uri="{FF2B5EF4-FFF2-40B4-BE49-F238E27FC236}">
                <a16:creationId xmlns:a16="http://schemas.microsoft.com/office/drawing/2014/main" id="{69819F08-F95C-CA6B-13A7-4F7D6591CED2}"/>
              </a:ext>
            </a:extLst>
          </p:cNvPr>
          <p:cNvSpPr txBox="1"/>
          <p:nvPr/>
        </p:nvSpPr>
        <p:spPr>
          <a:xfrm>
            <a:off x="6237003" y="4055431"/>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FFFFFF"/>
                </a:solidFill>
                <a:effectLst/>
                <a:uLnTx/>
                <a:uFillTx/>
                <a:latin typeface="Calibri"/>
                <a:ea typeface="+mn-ea"/>
                <a:cs typeface="+mn-cs"/>
              </a:rPr>
              <a:t>AI-first automated decisioning and journeys</a:t>
            </a:r>
          </a:p>
        </p:txBody>
      </p:sp>
      <p:sp>
        <p:nvSpPr>
          <p:cNvPr id="34" name="Rectangle 33">
            <a:extLst>
              <a:ext uri="{FF2B5EF4-FFF2-40B4-BE49-F238E27FC236}">
                <a16:creationId xmlns:a16="http://schemas.microsoft.com/office/drawing/2014/main" id="{77F06A4E-E011-4C3B-5547-82E909D14E1C}"/>
              </a:ext>
            </a:extLst>
          </p:cNvPr>
          <p:cNvSpPr/>
          <p:nvPr/>
        </p:nvSpPr>
        <p:spPr>
          <a:xfrm>
            <a:off x="238539" y="4451670"/>
            <a:ext cx="11460480" cy="481584"/>
          </a:xfrm>
          <a:prstGeom prst="rect">
            <a:avLst/>
          </a:prstGeom>
          <a:solidFill>
            <a:srgbClr val="0D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4">
            <a:extLst>
              <a:ext uri="{FF2B5EF4-FFF2-40B4-BE49-F238E27FC236}">
                <a16:creationId xmlns:a16="http://schemas.microsoft.com/office/drawing/2014/main" id="{9099BE50-C901-5507-8ED4-5BEAEB8A95F5}"/>
              </a:ext>
            </a:extLst>
          </p:cNvPr>
          <p:cNvSpPr txBox="1"/>
          <p:nvPr/>
        </p:nvSpPr>
        <p:spPr>
          <a:xfrm>
            <a:off x="482379" y="4537015"/>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9DC2E2"/>
                </a:solidFill>
                <a:effectLst/>
                <a:uLnTx/>
                <a:uFillTx/>
                <a:latin typeface="Calibri"/>
                <a:ea typeface="+mn-ea"/>
                <a:cs typeface="+mn-cs"/>
              </a:rPr>
              <a:t>AI added as afterthought or bolt-on</a:t>
            </a:r>
          </a:p>
        </p:txBody>
      </p:sp>
      <p:sp>
        <p:nvSpPr>
          <p:cNvPr id="36" name="TextBox 35">
            <a:extLst>
              <a:ext uri="{FF2B5EF4-FFF2-40B4-BE49-F238E27FC236}">
                <a16:creationId xmlns:a16="http://schemas.microsoft.com/office/drawing/2014/main" id="{EC454DEB-65AA-909D-6141-F4F6181CEE25}"/>
              </a:ext>
            </a:extLst>
          </p:cNvPr>
          <p:cNvSpPr txBox="1"/>
          <p:nvPr/>
        </p:nvSpPr>
        <p:spPr>
          <a:xfrm>
            <a:off x="6237003" y="4537015"/>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FFFFFF"/>
                </a:solidFill>
                <a:effectLst/>
                <a:uLnTx/>
                <a:uFillTx/>
                <a:latin typeface="Calibri"/>
                <a:ea typeface="+mn-ea"/>
                <a:cs typeface="+mn-cs"/>
              </a:rPr>
              <a:t>Intelligence embedded at every touchpoint</a:t>
            </a:r>
          </a:p>
        </p:txBody>
      </p:sp>
      <p:sp>
        <p:nvSpPr>
          <p:cNvPr id="37" name="Rectangle 36">
            <a:extLst>
              <a:ext uri="{FF2B5EF4-FFF2-40B4-BE49-F238E27FC236}">
                <a16:creationId xmlns:a16="http://schemas.microsoft.com/office/drawing/2014/main" id="{DCE4951A-8C3F-1A14-B28D-103A110C5945}"/>
              </a:ext>
            </a:extLst>
          </p:cNvPr>
          <p:cNvSpPr/>
          <p:nvPr/>
        </p:nvSpPr>
        <p:spPr>
          <a:xfrm>
            <a:off x="238539" y="4933253"/>
            <a:ext cx="11460480" cy="481584"/>
          </a:xfrm>
          <a:prstGeom prst="rect">
            <a:avLst/>
          </a:prstGeom>
          <a:solidFill>
            <a:srgbClr val="0B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8" name="TextBox 37">
            <a:extLst>
              <a:ext uri="{FF2B5EF4-FFF2-40B4-BE49-F238E27FC236}">
                <a16:creationId xmlns:a16="http://schemas.microsoft.com/office/drawing/2014/main" id="{EB6838F5-B0A0-FD2B-F250-6B3A769551AD}"/>
              </a:ext>
            </a:extLst>
          </p:cNvPr>
          <p:cNvSpPr txBox="1"/>
          <p:nvPr/>
        </p:nvSpPr>
        <p:spPr>
          <a:xfrm>
            <a:off x="482379" y="5018599"/>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9DC2E2"/>
                </a:solidFill>
                <a:effectLst/>
                <a:uLnTx/>
                <a:uFillTx/>
                <a:latin typeface="Calibri"/>
                <a:ea typeface="+mn-ea"/>
                <a:cs typeface="+mn-cs"/>
              </a:rPr>
              <a:t>Siloed data across branches and systems</a:t>
            </a:r>
          </a:p>
        </p:txBody>
      </p:sp>
      <p:sp>
        <p:nvSpPr>
          <p:cNvPr id="39" name="TextBox 38">
            <a:extLst>
              <a:ext uri="{FF2B5EF4-FFF2-40B4-BE49-F238E27FC236}">
                <a16:creationId xmlns:a16="http://schemas.microsoft.com/office/drawing/2014/main" id="{BE04DB0C-090E-03AA-C8D3-C9CCC4892DF0}"/>
              </a:ext>
            </a:extLst>
          </p:cNvPr>
          <p:cNvSpPr txBox="1"/>
          <p:nvPr/>
        </p:nvSpPr>
        <p:spPr>
          <a:xfrm>
            <a:off x="6237003" y="5018599"/>
            <a:ext cx="5364480" cy="287323"/>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0" i="0" u="none" strike="noStrike" kern="1200" cap="none" spc="0" normalizeH="0" baseline="0" noProof="0">
                <a:ln>
                  <a:noFill/>
                </a:ln>
                <a:solidFill>
                  <a:srgbClr val="FFFFFF"/>
                </a:solidFill>
                <a:effectLst/>
                <a:uLnTx/>
                <a:uFillTx/>
                <a:latin typeface="Calibri"/>
                <a:ea typeface="+mn-ea"/>
                <a:cs typeface="+mn-cs"/>
              </a:rPr>
              <a:t>Unified, real-time data across the enterprise</a:t>
            </a:r>
          </a:p>
        </p:txBody>
      </p:sp>
      <p:sp>
        <p:nvSpPr>
          <p:cNvPr id="40" name="Rectangle 39">
            <a:extLst>
              <a:ext uri="{FF2B5EF4-FFF2-40B4-BE49-F238E27FC236}">
                <a16:creationId xmlns:a16="http://schemas.microsoft.com/office/drawing/2014/main" id="{64A198CB-404C-C27E-3E07-EBF60906F0E2}"/>
              </a:ext>
            </a:extLst>
          </p:cNvPr>
          <p:cNvSpPr/>
          <p:nvPr/>
        </p:nvSpPr>
        <p:spPr>
          <a:xfrm>
            <a:off x="5946832" y="3122743"/>
            <a:ext cx="43891" cy="2292095"/>
          </a:xfrm>
          <a:prstGeom prst="rect">
            <a:avLst/>
          </a:prstGeom>
          <a:solidFill>
            <a:srgbClr val="0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41" name="TextBox 40">
            <a:extLst>
              <a:ext uri="{FF2B5EF4-FFF2-40B4-BE49-F238E27FC236}">
                <a16:creationId xmlns:a16="http://schemas.microsoft.com/office/drawing/2014/main" id="{A81C2189-9B2F-3C08-54A2-A13722D2ABEA}"/>
              </a:ext>
            </a:extLst>
          </p:cNvPr>
          <p:cNvSpPr txBox="1"/>
          <p:nvPr/>
        </p:nvSpPr>
        <p:spPr>
          <a:xfrm>
            <a:off x="302149" y="5698965"/>
            <a:ext cx="11460480" cy="276999"/>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00" b="0" i="1" u="none" strike="noStrike" kern="1200" cap="none" spc="0" normalizeH="0" baseline="0" noProof="0">
                <a:ln>
                  <a:noFill/>
                </a:ln>
                <a:solidFill>
                  <a:srgbClr val="86BC25"/>
                </a:solidFill>
                <a:effectLst/>
                <a:uLnTx/>
                <a:uFillTx/>
                <a:latin typeface="Calibri"/>
                <a:ea typeface="+mn-ea"/>
                <a:cs typeface="+mn-cs"/>
              </a:rPr>
              <a:t>The next-generation LOS is not just a workflow tool </a:t>
            </a:r>
            <a:r>
              <a:rPr kumimoji="0" lang="en-US" sz="1200" b="0" i="1" u="none" strike="noStrike" kern="1200" cap="none" spc="0" normalizeH="0" baseline="0" noProof="0">
                <a:ln>
                  <a:noFill/>
                </a:ln>
                <a:solidFill>
                  <a:srgbClr val="86BC25"/>
                </a:solidFill>
                <a:effectLst/>
                <a:uLnTx/>
                <a:uFillTx/>
                <a:latin typeface="Calibri"/>
                <a:ea typeface="+mn-ea"/>
                <a:cs typeface="+mn-cs"/>
              </a:rPr>
              <a:t>-</a:t>
            </a:r>
            <a:r>
              <a:rPr kumimoji="0" sz="1200" b="0" i="1" u="none" strike="noStrike" kern="1200" cap="none" spc="0" normalizeH="0" baseline="0" noProof="0">
                <a:ln>
                  <a:noFill/>
                </a:ln>
                <a:solidFill>
                  <a:srgbClr val="86BC25"/>
                </a:solidFill>
                <a:effectLst/>
                <a:uLnTx/>
                <a:uFillTx/>
                <a:latin typeface="Calibri"/>
                <a:ea typeface="+mn-ea"/>
                <a:cs typeface="+mn-cs"/>
              </a:rPr>
              <a:t> it is an AI-first system of engagement.</a:t>
            </a:r>
          </a:p>
        </p:txBody>
      </p:sp>
      <p:sp>
        <p:nvSpPr>
          <p:cNvPr id="27" name="TextBox 26">
            <a:extLst>
              <a:ext uri="{FF2B5EF4-FFF2-40B4-BE49-F238E27FC236}">
                <a16:creationId xmlns:a16="http://schemas.microsoft.com/office/drawing/2014/main" id="{DEE88860-4A73-BD10-7A0A-44C22EDA3C6B}"/>
              </a:ext>
            </a:extLst>
          </p:cNvPr>
          <p:cNvSpPr txBox="1"/>
          <p:nvPr/>
        </p:nvSpPr>
        <p:spPr>
          <a:xfrm>
            <a:off x="5749323" y="3171510"/>
            <a:ext cx="438912" cy="318100"/>
          </a:xfrm>
          <a:prstGeom prst="rect">
            <a:avLst/>
          </a:prstGeom>
          <a:noFill/>
        </p:spPr>
        <p:txBody>
          <a:bodyPr wrap="square">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sz="1467" b="1" i="0" u="none" strike="noStrike" kern="1200" cap="none" spc="0" normalizeH="0" baseline="0" noProof="0">
                <a:ln>
                  <a:noFill/>
                </a:ln>
                <a:solidFill>
                  <a:srgbClr val="86BC25"/>
                </a:solidFill>
                <a:effectLst/>
                <a:uLnTx/>
                <a:uFillTx/>
                <a:latin typeface="Calibri"/>
                <a:ea typeface="+mn-ea"/>
                <a:cs typeface="+mn-cs"/>
              </a:rPr>
              <a:t>→</a:t>
            </a:r>
          </a:p>
        </p:txBody>
      </p:sp>
    </p:spTree>
    <p:extLst>
      <p:ext uri="{BB962C8B-B14F-4D97-AF65-F5344CB8AC3E}">
        <p14:creationId xmlns:p14="http://schemas.microsoft.com/office/powerpoint/2010/main" val="2793165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93198EE8-63A1-38EF-9EA9-CAF9A3E05BFF}"/>
              </a:ext>
            </a:extLst>
          </p:cNvPr>
          <p:cNvSpPr txBox="1">
            <a:spLocks/>
          </p:cNvSpPr>
          <p:nvPr/>
        </p:nvSpPr>
        <p:spPr>
          <a:xfrm>
            <a:off x="292149" y="854042"/>
            <a:ext cx="8075474" cy="319151"/>
          </a:xfrm>
          <a:prstGeom prst="rect">
            <a:avLst/>
          </a:prstGeom>
        </p:spPr>
        <p:txBody>
          <a:bodyPr vert="horz" lIns="0" tIns="0" rIns="0" bIns="0" rtlCol="0" anchor="t">
            <a:noAutofit/>
          </a:bodyPr>
          <a:lst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600">
                <a:solidFill>
                  <a:schemeClr val="tx1">
                    <a:lumMod val="65000"/>
                    <a:lumOff val="35000"/>
                  </a:schemeClr>
                </a:solidFill>
                <a:latin typeface="Aptos Light" panose="020B0004020202020204" pitchFamily="34" charset="0"/>
                <a:cs typeface="Calibri Light"/>
              </a:rPr>
              <a:t>A scalable AWS-powered solution to accelerate lead engagement, customer verification, application progression, and operational follow-up.</a:t>
            </a:r>
          </a:p>
        </p:txBody>
      </p:sp>
      <p:sp>
        <p:nvSpPr>
          <p:cNvPr id="5" name="Title 2">
            <a:extLst>
              <a:ext uri="{FF2B5EF4-FFF2-40B4-BE49-F238E27FC236}">
                <a16:creationId xmlns:a16="http://schemas.microsoft.com/office/drawing/2014/main" id="{FA5F9A1E-0D78-C2AB-4387-938415E779A7}"/>
              </a:ext>
            </a:extLst>
          </p:cNvPr>
          <p:cNvSpPr txBox="1">
            <a:spLocks/>
          </p:cNvSpPr>
          <p:nvPr/>
        </p:nvSpPr>
        <p:spPr>
          <a:xfrm>
            <a:off x="177078" y="197929"/>
            <a:ext cx="8639118" cy="561196"/>
          </a:xfrm>
          <a:prstGeom prst="rect">
            <a:avLst/>
          </a:prstGeom>
        </p:spPr>
        <p:txBody>
          <a:bodyPr/>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r>
              <a:rPr lang="en-US" sz="3600">
                <a:solidFill>
                  <a:srgbClr val="002060"/>
                </a:solidFill>
                <a:latin typeface="Aptos Light" panose="020B0004020202020204" pitchFamily="34" charset="0"/>
                <a:ea typeface="+mj-lt"/>
                <a:cs typeface="+mj-lt"/>
              </a:rPr>
              <a:t>Lending Automation with Agentic AI</a:t>
            </a:r>
            <a:endParaRPr lang="en-US" sz="3600">
              <a:solidFill>
                <a:srgbClr val="002060"/>
              </a:solidFill>
              <a:latin typeface="Aptos Light" panose="020B0004020202020204" pitchFamily="34" charset="0"/>
            </a:endParaRPr>
          </a:p>
        </p:txBody>
      </p:sp>
      <p:sp>
        <p:nvSpPr>
          <p:cNvPr id="2" name="Shape 4">
            <a:extLst>
              <a:ext uri="{FF2B5EF4-FFF2-40B4-BE49-F238E27FC236}">
                <a16:creationId xmlns:a16="http://schemas.microsoft.com/office/drawing/2014/main" id="{015CB796-C855-20ED-D9AD-99355912BBBE}"/>
              </a:ext>
            </a:extLst>
          </p:cNvPr>
          <p:cNvSpPr/>
          <p:nvPr/>
        </p:nvSpPr>
        <p:spPr>
          <a:xfrm>
            <a:off x="343765" y="1887784"/>
            <a:ext cx="292608" cy="287006"/>
          </a:xfrm>
          <a:prstGeom prst="ellipse">
            <a:avLst/>
          </a:prstGeom>
          <a:solidFill>
            <a:srgbClr val="1C7A17"/>
          </a:solidFill>
          <a:ln w="6350">
            <a:solidFill>
              <a:srgbClr val="1C7A17">
                <a:alpha val="0"/>
              </a:srgbClr>
            </a:solidFill>
            <a:prstDash val="solid"/>
          </a:ln>
          <a:effectLst>
            <a:outerShdw blurRad="12700" dist="50800" dir="2700000" algn="bl" rotWithShape="0">
              <a:srgbClr val="9AA5B1">
                <a:alpha val="14000"/>
              </a:srgbClr>
            </a:outerShdw>
          </a:effectLst>
        </p:spPr>
        <p:txBody>
          <a:bodyPr/>
          <a:lstStyle/>
          <a:p>
            <a:endParaRPr lang="en-IN" sz="1600"/>
          </a:p>
        </p:txBody>
      </p:sp>
      <p:sp>
        <p:nvSpPr>
          <p:cNvPr id="3" name="Text 5">
            <a:extLst>
              <a:ext uri="{FF2B5EF4-FFF2-40B4-BE49-F238E27FC236}">
                <a16:creationId xmlns:a16="http://schemas.microsoft.com/office/drawing/2014/main" id="{5884485F-0F61-763A-2929-DD160D87A12C}"/>
              </a:ext>
            </a:extLst>
          </p:cNvPr>
          <p:cNvSpPr txBox="1"/>
          <p:nvPr/>
        </p:nvSpPr>
        <p:spPr>
          <a:xfrm>
            <a:off x="384953" y="1977082"/>
            <a:ext cx="199934" cy="131805"/>
          </a:xfrm>
          <a:prstGeom prst="rect">
            <a:avLst/>
          </a:prstGeom>
          <a:noFill/>
          <a:ln/>
        </p:spPr>
        <p:txBody>
          <a:bodyPr wrap="square" lIns="0" tIns="0" rIns="0" bIns="0" rtlCol="0" anchor="ctr">
            <a:normAutofit fontScale="55000" lnSpcReduction="20000"/>
          </a:bodyPr>
          <a:lstStyle/>
          <a:p>
            <a:pPr marL="0" indent="0" algn="ctr">
              <a:lnSpc>
                <a:spcPct val="90000"/>
              </a:lnSpc>
              <a:buNone/>
            </a:pPr>
            <a:r>
              <a:rPr lang="en-US" sz="2000" b="1">
                <a:solidFill>
                  <a:srgbClr val="FFFFFF"/>
                </a:solidFill>
                <a:ea typeface="Aptos Display" pitchFamily="34" charset="-122"/>
                <a:cs typeface="Aptos Display" pitchFamily="34" charset="-120"/>
              </a:rPr>
              <a:t>♜</a:t>
            </a:r>
            <a:endParaRPr lang="en-US" sz="2000"/>
          </a:p>
        </p:txBody>
      </p:sp>
      <p:sp>
        <p:nvSpPr>
          <p:cNvPr id="6" name="Text 6">
            <a:extLst>
              <a:ext uri="{FF2B5EF4-FFF2-40B4-BE49-F238E27FC236}">
                <a16:creationId xmlns:a16="http://schemas.microsoft.com/office/drawing/2014/main" id="{ADB949B5-74B9-037F-ED0E-699C244B1F74}"/>
              </a:ext>
            </a:extLst>
          </p:cNvPr>
          <p:cNvSpPr txBox="1"/>
          <p:nvPr/>
        </p:nvSpPr>
        <p:spPr>
          <a:xfrm>
            <a:off x="793551" y="1943553"/>
            <a:ext cx="1776654" cy="283464"/>
          </a:xfrm>
          <a:prstGeom prst="rect">
            <a:avLst/>
          </a:prstGeom>
          <a:noFill/>
          <a:ln/>
        </p:spPr>
        <p:txBody>
          <a:bodyPr wrap="square" lIns="0" tIns="0" rIns="0" bIns="0" rtlCol="0" anchor="t">
            <a:normAutofit/>
          </a:bodyPr>
          <a:lstStyle/>
          <a:p>
            <a:pPr marL="0" indent="0" algn="l">
              <a:lnSpc>
                <a:spcPct val="90000"/>
              </a:lnSpc>
              <a:buNone/>
            </a:pPr>
            <a:r>
              <a:rPr lang="en-US" sz="1200" b="1">
                <a:solidFill>
                  <a:srgbClr val="11600F"/>
                </a:solidFill>
                <a:ea typeface="Aptos Display" pitchFamily="34" charset="-122"/>
                <a:cs typeface="Aptos Display" pitchFamily="34" charset="-120"/>
              </a:rPr>
              <a:t>How the Solution Works</a:t>
            </a:r>
            <a:endParaRPr lang="en-US" sz="1200"/>
          </a:p>
        </p:txBody>
      </p:sp>
      <p:sp>
        <p:nvSpPr>
          <p:cNvPr id="7" name="Shape 7">
            <a:extLst>
              <a:ext uri="{FF2B5EF4-FFF2-40B4-BE49-F238E27FC236}">
                <a16:creationId xmlns:a16="http://schemas.microsoft.com/office/drawing/2014/main" id="{924BED63-1518-98D2-157A-F70FA2DE63B0}"/>
              </a:ext>
            </a:extLst>
          </p:cNvPr>
          <p:cNvSpPr/>
          <p:nvPr/>
        </p:nvSpPr>
        <p:spPr>
          <a:xfrm flipV="1">
            <a:off x="2586680" y="2034746"/>
            <a:ext cx="1861751" cy="0"/>
          </a:xfrm>
          <a:prstGeom prst="line">
            <a:avLst/>
          </a:prstGeom>
          <a:noFill/>
          <a:ln w="13970">
            <a:solidFill>
              <a:srgbClr val="1C7A17"/>
            </a:solidFill>
            <a:prstDash val="solid"/>
          </a:ln>
        </p:spPr>
        <p:txBody>
          <a:bodyPr/>
          <a:lstStyle/>
          <a:p>
            <a:endParaRPr lang="en-IN" sz="1200"/>
          </a:p>
        </p:txBody>
      </p:sp>
      <p:sp>
        <p:nvSpPr>
          <p:cNvPr id="8" name="Shape 8">
            <a:extLst>
              <a:ext uri="{FF2B5EF4-FFF2-40B4-BE49-F238E27FC236}">
                <a16:creationId xmlns:a16="http://schemas.microsoft.com/office/drawing/2014/main" id="{8520296E-45A8-E58F-2ED5-DC92FAE74EB4}"/>
              </a:ext>
            </a:extLst>
          </p:cNvPr>
          <p:cNvSpPr/>
          <p:nvPr/>
        </p:nvSpPr>
        <p:spPr>
          <a:xfrm flipH="1">
            <a:off x="4735521" y="1779373"/>
            <a:ext cx="1236" cy="3975004"/>
          </a:xfrm>
          <a:prstGeom prst="line">
            <a:avLst/>
          </a:prstGeom>
          <a:noFill/>
          <a:ln w="12700">
            <a:solidFill>
              <a:srgbClr val="D7DCE2"/>
            </a:solidFill>
            <a:prstDash val="solid"/>
          </a:ln>
        </p:spPr>
        <p:txBody>
          <a:bodyPr/>
          <a:lstStyle/>
          <a:p>
            <a:endParaRPr lang="en-IN" sz="1600"/>
          </a:p>
        </p:txBody>
      </p:sp>
      <p:sp>
        <p:nvSpPr>
          <p:cNvPr id="9" name="Shape 9">
            <a:extLst>
              <a:ext uri="{FF2B5EF4-FFF2-40B4-BE49-F238E27FC236}">
                <a16:creationId xmlns:a16="http://schemas.microsoft.com/office/drawing/2014/main" id="{E76B0B06-DF78-D013-95AF-5671BA303CAB}"/>
              </a:ext>
            </a:extLst>
          </p:cNvPr>
          <p:cNvSpPr/>
          <p:nvPr/>
        </p:nvSpPr>
        <p:spPr>
          <a:xfrm>
            <a:off x="5103176" y="1838356"/>
            <a:ext cx="292608" cy="287006"/>
          </a:xfrm>
          <a:prstGeom prst="ellipse">
            <a:avLst/>
          </a:prstGeom>
          <a:solidFill>
            <a:srgbClr val="00A3E0"/>
          </a:solidFill>
          <a:ln w="6350">
            <a:solidFill>
              <a:srgbClr val="00A3E0">
                <a:alpha val="0"/>
              </a:srgbClr>
            </a:solidFill>
            <a:prstDash val="solid"/>
          </a:ln>
          <a:effectLst>
            <a:outerShdw blurRad="12700" dist="50800" dir="2700000" algn="bl" rotWithShape="0">
              <a:srgbClr val="9AA5B1">
                <a:alpha val="14000"/>
              </a:srgbClr>
            </a:outerShdw>
          </a:effectLst>
        </p:spPr>
        <p:txBody>
          <a:bodyPr/>
          <a:lstStyle/>
          <a:p>
            <a:endParaRPr lang="en-IN" sz="1600"/>
          </a:p>
        </p:txBody>
      </p:sp>
      <p:sp>
        <p:nvSpPr>
          <p:cNvPr id="10" name="Text 10">
            <a:extLst>
              <a:ext uri="{FF2B5EF4-FFF2-40B4-BE49-F238E27FC236}">
                <a16:creationId xmlns:a16="http://schemas.microsoft.com/office/drawing/2014/main" id="{339EF72D-E53E-A56F-B588-CFD0836DF7DC}"/>
              </a:ext>
            </a:extLst>
          </p:cNvPr>
          <p:cNvSpPr txBox="1"/>
          <p:nvPr/>
        </p:nvSpPr>
        <p:spPr>
          <a:xfrm>
            <a:off x="5160840" y="1913464"/>
            <a:ext cx="160803" cy="15423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2000" b="1">
                <a:solidFill>
                  <a:srgbClr val="FFFFFF"/>
                </a:solidFill>
                <a:ea typeface="Aptos Display" pitchFamily="34" charset="-122"/>
                <a:cs typeface="Aptos Display" pitchFamily="34" charset="-120"/>
              </a:rPr>
              <a:t>★</a:t>
            </a:r>
            <a:endParaRPr lang="en-US" sz="2000"/>
          </a:p>
        </p:txBody>
      </p:sp>
      <p:sp>
        <p:nvSpPr>
          <p:cNvPr id="11" name="Text 11">
            <a:extLst>
              <a:ext uri="{FF2B5EF4-FFF2-40B4-BE49-F238E27FC236}">
                <a16:creationId xmlns:a16="http://schemas.microsoft.com/office/drawing/2014/main" id="{5D16B103-D2DF-632F-48B3-32993930ED92}"/>
              </a:ext>
            </a:extLst>
          </p:cNvPr>
          <p:cNvSpPr txBox="1"/>
          <p:nvPr/>
        </p:nvSpPr>
        <p:spPr>
          <a:xfrm>
            <a:off x="5516386" y="1884981"/>
            <a:ext cx="1874520" cy="292608"/>
          </a:xfrm>
          <a:prstGeom prst="rect">
            <a:avLst/>
          </a:prstGeom>
          <a:noFill/>
          <a:ln/>
        </p:spPr>
        <p:txBody>
          <a:bodyPr wrap="square" lIns="0" tIns="0" rIns="0" bIns="0" rtlCol="0" anchor="t">
            <a:normAutofit/>
          </a:bodyPr>
          <a:lstStyle/>
          <a:p>
            <a:pPr marL="0" indent="0" algn="l">
              <a:lnSpc>
                <a:spcPct val="90000"/>
              </a:lnSpc>
              <a:buNone/>
            </a:pPr>
            <a:r>
              <a:rPr lang="en-US" sz="1200" b="1">
                <a:solidFill>
                  <a:srgbClr val="00A3E0"/>
                </a:solidFill>
                <a:ea typeface="Aptos Display" pitchFamily="34" charset="-122"/>
                <a:cs typeface="Aptos Display" pitchFamily="34" charset="-120"/>
              </a:rPr>
              <a:t>What It Enables</a:t>
            </a:r>
            <a:endParaRPr lang="en-US" sz="1200"/>
          </a:p>
        </p:txBody>
      </p:sp>
      <p:sp>
        <p:nvSpPr>
          <p:cNvPr id="12" name="Shape 12">
            <a:extLst>
              <a:ext uri="{FF2B5EF4-FFF2-40B4-BE49-F238E27FC236}">
                <a16:creationId xmlns:a16="http://schemas.microsoft.com/office/drawing/2014/main" id="{9D27BC7B-449E-894F-B330-E6C63DF012E1}"/>
              </a:ext>
            </a:extLst>
          </p:cNvPr>
          <p:cNvSpPr/>
          <p:nvPr/>
        </p:nvSpPr>
        <p:spPr>
          <a:xfrm flipV="1">
            <a:off x="6754616" y="1944130"/>
            <a:ext cx="4811308" cy="13015"/>
          </a:xfrm>
          <a:prstGeom prst="line">
            <a:avLst/>
          </a:prstGeom>
          <a:noFill/>
          <a:ln w="13970">
            <a:solidFill>
              <a:srgbClr val="00A3E0"/>
            </a:solidFill>
            <a:prstDash val="solid"/>
          </a:ln>
        </p:spPr>
        <p:txBody>
          <a:bodyPr/>
          <a:lstStyle/>
          <a:p>
            <a:endParaRPr lang="en-IN" sz="1200"/>
          </a:p>
        </p:txBody>
      </p:sp>
      <p:sp>
        <p:nvSpPr>
          <p:cNvPr id="13" name="Shape 13">
            <a:extLst>
              <a:ext uri="{FF2B5EF4-FFF2-40B4-BE49-F238E27FC236}">
                <a16:creationId xmlns:a16="http://schemas.microsoft.com/office/drawing/2014/main" id="{CF6A4951-C482-1B60-CD95-26D09C32B7EC}"/>
              </a:ext>
            </a:extLst>
          </p:cNvPr>
          <p:cNvSpPr/>
          <p:nvPr/>
        </p:nvSpPr>
        <p:spPr>
          <a:xfrm>
            <a:off x="252244" y="2383371"/>
            <a:ext cx="4270248" cy="943727"/>
          </a:xfrm>
          <a:prstGeom prst="roundRect">
            <a:avLst/>
          </a:prstGeom>
          <a:solidFill>
            <a:srgbClr val="FFFFFF"/>
          </a:solidFill>
          <a:ln w="10160">
            <a:solidFill>
              <a:srgbClr val="DDE3EA"/>
            </a:solidFill>
            <a:prstDash val="solid"/>
          </a:ln>
          <a:effectLst>
            <a:outerShdw blurRad="25400" dist="50800" dir="2700000" algn="bl" rotWithShape="0">
              <a:srgbClr val="9AA5B1">
                <a:alpha val="18000"/>
              </a:srgbClr>
            </a:outerShdw>
          </a:effectLst>
        </p:spPr>
        <p:txBody>
          <a:bodyPr/>
          <a:lstStyle/>
          <a:p>
            <a:endParaRPr lang="en-IN" sz="1600"/>
          </a:p>
        </p:txBody>
      </p:sp>
      <p:grpSp>
        <p:nvGrpSpPr>
          <p:cNvPr id="75" name="Group 74">
            <a:extLst>
              <a:ext uri="{FF2B5EF4-FFF2-40B4-BE49-F238E27FC236}">
                <a16:creationId xmlns:a16="http://schemas.microsoft.com/office/drawing/2014/main" id="{A37E88E5-9741-08B6-D6CE-A14516994946}"/>
              </a:ext>
            </a:extLst>
          </p:cNvPr>
          <p:cNvGrpSpPr/>
          <p:nvPr/>
        </p:nvGrpSpPr>
        <p:grpSpPr>
          <a:xfrm>
            <a:off x="505639" y="2531488"/>
            <a:ext cx="655897" cy="622616"/>
            <a:chOff x="373833" y="2160785"/>
            <a:chExt cx="655897" cy="622616"/>
          </a:xfrm>
        </p:grpSpPr>
        <p:sp>
          <p:nvSpPr>
            <p:cNvPr id="14" name="Shape 14">
              <a:extLst>
                <a:ext uri="{FF2B5EF4-FFF2-40B4-BE49-F238E27FC236}">
                  <a16:creationId xmlns:a16="http://schemas.microsoft.com/office/drawing/2014/main" id="{C863ADE1-53A4-1EFD-3282-69B1A451EAE6}"/>
                </a:ext>
              </a:extLst>
            </p:cNvPr>
            <p:cNvSpPr/>
            <p:nvPr/>
          </p:nvSpPr>
          <p:spPr>
            <a:xfrm>
              <a:off x="373833" y="2160785"/>
              <a:ext cx="655897" cy="622616"/>
            </a:xfrm>
            <a:prstGeom prst="ellipse">
              <a:avLst/>
            </a:prstGeom>
            <a:solidFill>
              <a:srgbClr val="EAF5E6"/>
            </a:solidFill>
            <a:ln w="6350">
              <a:solidFill>
                <a:srgbClr val="EAF5E6">
                  <a:alpha val="0"/>
                </a:srgbClr>
              </a:solidFill>
              <a:prstDash val="solid"/>
            </a:ln>
          </p:spPr>
          <p:txBody>
            <a:bodyPr/>
            <a:lstStyle/>
            <a:p>
              <a:endParaRPr lang="en-IN" sz="1600"/>
            </a:p>
          </p:txBody>
        </p:sp>
        <p:pic>
          <p:nvPicPr>
            <p:cNvPr id="15" name="Image 0" descr="preencoded.png">
              <a:extLst>
                <a:ext uri="{FF2B5EF4-FFF2-40B4-BE49-F238E27FC236}">
                  <a16:creationId xmlns:a16="http://schemas.microsoft.com/office/drawing/2014/main" id="{6E2DAB1A-D24D-AA02-E237-4B072797FC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2805" y="2286617"/>
              <a:ext cx="376881" cy="376881"/>
            </a:xfrm>
            <a:prstGeom prst="rect">
              <a:avLst/>
            </a:prstGeom>
          </p:spPr>
        </p:pic>
      </p:grpSp>
      <p:sp>
        <p:nvSpPr>
          <p:cNvPr id="16" name="Shape 15">
            <a:extLst>
              <a:ext uri="{FF2B5EF4-FFF2-40B4-BE49-F238E27FC236}">
                <a16:creationId xmlns:a16="http://schemas.microsoft.com/office/drawing/2014/main" id="{5460FF32-A7D6-FEA2-6647-AB32CD532083}"/>
              </a:ext>
            </a:extLst>
          </p:cNvPr>
          <p:cNvSpPr/>
          <p:nvPr/>
        </p:nvSpPr>
        <p:spPr>
          <a:xfrm>
            <a:off x="1433385" y="2529015"/>
            <a:ext cx="0" cy="634315"/>
          </a:xfrm>
          <a:prstGeom prst="line">
            <a:avLst/>
          </a:prstGeom>
          <a:noFill/>
          <a:ln w="13970">
            <a:solidFill>
              <a:srgbClr val="1C7A17"/>
            </a:solidFill>
            <a:prstDash val="solid"/>
          </a:ln>
        </p:spPr>
        <p:txBody>
          <a:bodyPr/>
          <a:lstStyle/>
          <a:p>
            <a:endParaRPr lang="en-IN" sz="1600"/>
          </a:p>
        </p:txBody>
      </p:sp>
      <p:sp>
        <p:nvSpPr>
          <p:cNvPr id="17" name="Text 16">
            <a:extLst>
              <a:ext uri="{FF2B5EF4-FFF2-40B4-BE49-F238E27FC236}">
                <a16:creationId xmlns:a16="http://schemas.microsoft.com/office/drawing/2014/main" id="{53CA9E5C-A2A1-6824-C0B2-6E8E4C32C847}"/>
              </a:ext>
            </a:extLst>
          </p:cNvPr>
          <p:cNvSpPr txBox="1"/>
          <p:nvPr/>
        </p:nvSpPr>
        <p:spPr>
          <a:xfrm>
            <a:off x="1745434" y="2560732"/>
            <a:ext cx="2377440" cy="256032"/>
          </a:xfrm>
          <a:prstGeom prst="rect">
            <a:avLst/>
          </a:prstGeom>
          <a:noFill/>
          <a:ln/>
        </p:spPr>
        <p:txBody>
          <a:bodyPr wrap="square" lIns="0" tIns="0" rIns="0" bIns="0" rtlCol="0" anchor="t">
            <a:normAutofit/>
          </a:bodyPr>
          <a:lstStyle/>
          <a:p>
            <a:pPr marL="0" indent="0" algn="l">
              <a:lnSpc>
                <a:spcPct val="90000"/>
              </a:lnSpc>
              <a:buNone/>
            </a:pPr>
            <a:r>
              <a:rPr lang="en-US" sz="1000" b="1">
                <a:solidFill>
                  <a:srgbClr val="11600F"/>
                </a:solidFill>
                <a:ea typeface="Aptos Display" pitchFamily="34" charset="-122"/>
                <a:cs typeface="Aptos Display" pitchFamily="34" charset="-120"/>
              </a:rPr>
              <a:t>Engage</a:t>
            </a:r>
            <a:endParaRPr lang="en-US" sz="1000"/>
          </a:p>
        </p:txBody>
      </p:sp>
      <p:sp>
        <p:nvSpPr>
          <p:cNvPr id="18" name="Text 17">
            <a:extLst>
              <a:ext uri="{FF2B5EF4-FFF2-40B4-BE49-F238E27FC236}">
                <a16:creationId xmlns:a16="http://schemas.microsoft.com/office/drawing/2014/main" id="{EB6154CF-714A-3EB9-6A9C-4EA71A36413A}"/>
              </a:ext>
            </a:extLst>
          </p:cNvPr>
          <p:cNvSpPr txBox="1"/>
          <p:nvPr/>
        </p:nvSpPr>
        <p:spPr>
          <a:xfrm>
            <a:off x="1753672" y="2732491"/>
            <a:ext cx="2377440" cy="493776"/>
          </a:xfrm>
          <a:prstGeom prst="rect">
            <a:avLst/>
          </a:prstGeom>
          <a:noFill/>
          <a:ln/>
        </p:spPr>
        <p:txBody>
          <a:bodyPr wrap="square" lIns="0" tIns="0" rIns="0" bIns="0" rtlCol="0" anchor="t">
            <a:noAutofit/>
          </a:bodyPr>
          <a:lstStyle/>
          <a:p>
            <a:pPr marL="0" indent="0" algn="l">
              <a:lnSpc>
                <a:spcPct val="102000"/>
              </a:lnSpc>
              <a:buNone/>
            </a:pPr>
            <a:r>
              <a:rPr lang="en-US" sz="1000">
                <a:solidFill>
                  <a:srgbClr val="101820"/>
                </a:solidFill>
                <a:ea typeface="Aptos" pitchFamily="34" charset="-122"/>
                <a:cs typeface="Aptos" pitchFamily="34" charset="-120"/>
              </a:rPr>
              <a:t>Connect RMs and customers through</a:t>
            </a:r>
            <a:endParaRPr lang="en-US" sz="1000"/>
          </a:p>
          <a:p>
            <a:pPr marL="0" indent="0" algn="l">
              <a:lnSpc>
                <a:spcPct val="102000"/>
              </a:lnSpc>
              <a:buNone/>
            </a:pPr>
            <a:r>
              <a:rPr lang="en-US" sz="1000">
                <a:solidFill>
                  <a:srgbClr val="101820"/>
                </a:solidFill>
                <a:ea typeface="Aptos" pitchFamily="34" charset="-122"/>
                <a:cs typeface="Aptos" pitchFamily="34" charset="-120"/>
              </a:rPr>
              <a:t>Teams, LOS, WhatsApp, and customer</a:t>
            </a:r>
            <a:endParaRPr lang="en-US" sz="1000"/>
          </a:p>
          <a:p>
            <a:pPr marL="0" indent="0" algn="l">
              <a:lnSpc>
                <a:spcPct val="102000"/>
              </a:lnSpc>
              <a:buNone/>
            </a:pPr>
            <a:r>
              <a:rPr lang="en-US" sz="1000">
                <a:solidFill>
                  <a:srgbClr val="101820"/>
                </a:solidFill>
                <a:ea typeface="Aptos" pitchFamily="34" charset="-122"/>
                <a:cs typeface="Aptos" pitchFamily="34" charset="-120"/>
              </a:rPr>
              <a:t>portals.</a:t>
            </a:r>
            <a:endParaRPr lang="en-US" sz="1000"/>
          </a:p>
        </p:txBody>
      </p:sp>
      <p:sp>
        <p:nvSpPr>
          <p:cNvPr id="19" name="Shape 18">
            <a:extLst>
              <a:ext uri="{FF2B5EF4-FFF2-40B4-BE49-F238E27FC236}">
                <a16:creationId xmlns:a16="http://schemas.microsoft.com/office/drawing/2014/main" id="{8474267F-7BF0-9BEE-1D16-8074E7E277E6}"/>
              </a:ext>
            </a:extLst>
          </p:cNvPr>
          <p:cNvSpPr/>
          <p:nvPr/>
        </p:nvSpPr>
        <p:spPr>
          <a:xfrm>
            <a:off x="244006" y="3520687"/>
            <a:ext cx="4270248" cy="943727"/>
          </a:xfrm>
          <a:prstGeom prst="roundRect">
            <a:avLst/>
          </a:prstGeom>
          <a:solidFill>
            <a:srgbClr val="FFFFFF"/>
          </a:solidFill>
          <a:ln w="10160">
            <a:solidFill>
              <a:srgbClr val="DDE3EA"/>
            </a:solidFill>
            <a:prstDash val="solid"/>
          </a:ln>
          <a:effectLst>
            <a:outerShdw blurRad="25400" dist="50800" dir="2700000" algn="bl" rotWithShape="0">
              <a:srgbClr val="9AA5B1">
                <a:alpha val="18000"/>
              </a:srgbClr>
            </a:outerShdw>
          </a:effectLst>
        </p:spPr>
        <p:txBody>
          <a:bodyPr/>
          <a:lstStyle/>
          <a:p>
            <a:endParaRPr lang="en-IN" sz="1600"/>
          </a:p>
        </p:txBody>
      </p:sp>
      <p:grpSp>
        <p:nvGrpSpPr>
          <p:cNvPr id="77" name="Group 76">
            <a:extLst>
              <a:ext uri="{FF2B5EF4-FFF2-40B4-BE49-F238E27FC236}">
                <a16:creationId xmlns:a16="http://schemas.microsoft.com/office/drawing/2014/main" id="{6EA4B88C-C451-E78C-F8F5-FCFD71AE064C}"/>
              </a:ext>
            </a:extLst>
          </p:cNvPr>
          <p:cNvGrpSpPr/>
          <p:nvPr/>
        </p:nvGrpSpPr>
        <p:grpSpPr>
          <a:xfrm>
            <a:off x="497401" y="3668804"/>
            <a:ext cx="655897" cy="622616"/>
            <a:chOff x="373833" y="3495809"/>
            <a:chExt cx="655897" cy="622616"/>
          </a:xfrm>
        </p:grpSpPr>
        <p:sp>
          <p:nvSpPr>
            <p:cNvPr id="20" name="Shape 19">
              <a:extLst>
                <a:ext uri="{FF2B5EF4-FFF2-40B4-BE49-F238E27FC236}">
                  <a16:creationId xmlns:a16="http://schemas.microsoft.com/office/drawing/2014/main" id="{F73BDD9F-28BC-D559-B9E8-05B7E38F85A2}"/>
                </a:ext>
              </a:extLst>
            </p:cNvPr>
            <p:cNvSpPr/>
            <p:nvPr/>
          </p:nvSpPr>
          <p:spPr>
            <a:xfrm>
              <a:off x="373833" y="3495809"/>
              <a:ext cx="655897" cy="622616"/>
            </a:xfrm>
            <a:prstGeom prst="ellipse">
              <a:avLst/>
            </a:prstGeom>
            <a:solidFill>
              <a:srgbClr val="EAF5E6"/>
            </a:solidFill>
            <a:ln w="6350">
              <a:solidFill>
                <a:srgbClr val="EAF5E6">
                  <a:alpha val="0"/>
                </a:srgbClr>
              </a:solidFill>
              <a:prstDash val="solid"/>
            </a:ln>
          </p:spPr>
          <p:txBody>
            <a:bodyPr/>
            <a:lstStyle/>
            <a:p>
              <a:endParaRPr lang="en-IN" sz="1600"/>
            </a:p>
          </p:txBody>
        </p:sp>
        <p:pic>
          <p:nvPicPr>
            <p:cNvPr id="21" name="Image 1" descr="preencoded.png">
              <a:extLst>
                <a:ext uri="{FF2B5EF4-FFF2-40B4-BE49-F238E27FC236}">
                  <a16:creationId xmlns:a16="http://schemas.microsoft.com/office/drawing/2014/main" id="{3C05DEC0-E3F8-0190-947A-715005FC45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062" y="3614384"/>
              <a:ext cx="376881" cy="376881"/>
            </a:xfrm>
            <a:prstGeom prst="rect">
              <a:avLst/>
            </a:prstGeom>
          </p:spPr>
        </p:pic>
      </p:grpSp>
      <p:sp>
        <p:nvSpPr>
          <p:cNvPr id="23" name="Text 21">
            <a:extLst>
              <a:ext uri="{FF2B5EF4-FFF2-40B4-BE49-F238E27FC236}">
                <a16:creationId xmlns:a16="http://schemas.microsoft.com/office/drawing/2014/main" id="{14D83452-4694-46C9-BE4B-52E48EF3E829}"/>
              </a:ext>
            </a:extLst>
          </p:cNvPr>
          <p:cNvSpPr txBox="1"/>
          <p:nvPr/>
        </p:nvSpPr>
        <p:spPr>
          <a:xfrm>
            <a:off x="1728958" y="3656859"/>
            <a:ext cx="2377440" cy="256032"/>
          </a:xfrm>
          <a:prstGeom prst="rect">
            <a:avLst/>
          </a:prstGeom>
          <a:noFill/>
          <a:ln/>
        </p:spPr>
        <p:txBody>
          <a:bodyPr wrap="square" lIns="0" tIns="0" rIns="0" bIns="0" rtlCol="0" anchor="t">
            <a:normAutofit/>
          </a:bodyPr>
          <a:lstStyle/>
          <a:p>
            <a:pPr marL="0" indent="0" algn="l">
              <a:lnSpc>
                <a:spcPct val="90000"/>
              </a:lnSpc>
              <a:buNone/>
            </a:pPr>
            <a:r>
              <a:rPr lang="en-US" sz="1000" b="1">
                <a:solidFill>
                  <a:srgbClr val="11600F"/>
                </a:solidFill>
                <a:ea typeface="Aptos Display" pitchFamily="34" charset="-122"/>
                <a:cs typeface="Aptos Display" pitchFamily="34" charset="-120"/>
              </a:rPr>
              <a:t>Orchestrate</a:t>
            </a:r>
            <a:endParaRPr lang="en-US" sz="1000"/>
          </a:p>
        </p:txBody>
      </p:sp>
      <p:sp>
        <p:nvSpPr>
          <p:cNvPr id="24" name="Text 22">
            <a:extLst>
              <a:ext uri="{FF2B5EF4-FFF2-40B4-BE49-F238E27FC236}">
                <a16:creationId xmlns:a16="http://schemas.microsoft.com/office/drawing/2014/main" id="{8C34B314-2C55-D303-D4C7-43A93849703D}"/>
              </a:ext>
            </a:extLst>
          </p:cNvPr>
          <p:cNvSpPr txBox="1"/>
          <p:nvPr/>
        </p:nvSpPr>
        <p:spPr>
          <a:xfrm>
            <a:off x="1737196" y="3828618"/>
            <a:ext cx="2562956" cy="493776"/>
          </a:xfrm>
          <a:prstGeom prst="rect">
            <a:avLst/>
          </a:prstGeom>
          <a:noFill/>
          <a:ln/>
        </p:spPr>
        <p:txBody>
          <a:bodyPr wrap="square" lIns="0" tIns="0" rIns="0" bIns="0" rtlCol="0" anchor="t">
            <a:noAutofit/>
          </a:bodyPr>
          <a:lstStyle/>
          <a:p>
            <a:pPr marL="0" indent="0" algn="l">
              <a:lnSpc>
                <a:spcPct val="102000"/>
              </a:lnSpc>
              <a:buNone/>
            </a:pPr>
            <a:r>
              <a:rPr lang="en-US" sz="1000">
                <a:solidFill>
                  <a:srgbClr val="101820"/>
                </a:solidFill>
                <a:ea typeface="Aptos" pitchFamily="34" charset="-122"/>
                <a:cs typeface="Aptos" pitchFamily="34" charset="-120"/>
              </a:rPr>
              <a:t>Use Amazon Bedrock-powered agents to</a:t>
            </a:r>
            <a:endParaRPr lang="en-US" sz="1000"/>
          </a:p>
          <a:p>
            <a:pPr marL="0" indent="0" algn="l">
              <a:lnSpc>
                <a:spcPct val="102000"/>
              </a:lnSpc>
              <a:buNone/>
            </a:pPr>
            <a:r>
              <a:rPr lang="en-US" sz="1000">
                <a:solidFill>
                  <a:srgbClr val="101820"/>
                </a:solidFill>
                <a:ea typeface="Aptos" pitchFamily="34" charset="-122"/>
                <a:cs typeface="Aptos" pitchFamily="34" charset="-120"/>
              </a:rPr>
              <a:t>understand intent, retain context, trigger</a:t>
            </a:r>
            <a:endParaRPr lang="en-US" sz="1000"/>
          </a:p>
          <a:p>
            <a:pPr marL="0" indent="0" algn="l">
              <a:lnSpc>
                <a:spcPct val="102000"/>
              </a:lnSpc>
              <a:buNone/>
            </a:pPr>
            <a:r>
              <a:rPr lang="en-US" sz="1000">
                <a:solidFill>
                  <a:srgbClr val="101820"/>
                </a:solidFill>
                <a:ea typeface="Aptos" pitchFamily="34" charset="-122"/>
                <a:cs typeface="Aptos" pitchFamily="34" charset="-120"/>
              </a:rPr>
              <a:t>actions, and coordinate specialist capabilities.</a:t>
            </a:r>
            <a:endParaRPr lang="en-US" sz="1000"/>
          </a:p>
        </p:txBody>
      </p:sp>
      <p:sp>
        <p:nvSpPr>
          <p:cNvPr id="25" name="Shape 23">
            <a:extLst>
              <a:ext uri="{FF2B5EF4-FFF2-40B4-BE49-F238E27FC236}">
                <a16:creationId xmlns:a16="http://schemas.microsoft.com/office/drawing/2014/main" id="{718E0451-A5F3-AC68-8FD1-C40D0076C6F0}"/>
              </a:ext>
            </a:extLst>
          </p:cNvPr>
          <p:cNvSpPr/>
          <p:nvPr/>
        </p:nvSpPr>
        <p:spPr>
          <a:xfrm>
            <a:off x="252243" y="4641527"/>
            <a:ext cx="4270248" cy="943727"/>
          </a:xfrm>
          <a:prstGeom prst="roundRect">
            <a:avLst/>
          </a:prstGeom>
          <a:solidFill>
            <a:srgbClr val="FFFFFF"/>
          </a:solidFill>
          <a:ln w="10160">
            <a:solidFill>
              <a:srgbClr val="DDE3EA"/>
            </a:solidFill>
            <a:prstDash val="solid"/>
          </a:ln>
          <a:effectLst>
            <a:outerShdw blurRad="25400" dist="50800" dir="2700000" algn="bl" rotWithShape="0">
              <a:srgbClr val="9AA5B1">
                <a:alpha val="18000"/>
              </a:srgbClr>
            </a:outerShdw>
          </a:effectLst>
        </p:spPr>
        <p:txBody>
          <a:bodyPr/>
          <a:lstStyle/>
          <a:p>
            <a:endParaRPr lang="en-IN" sz="1600"/>
          </a:p>
        </p:txBody>
      </p:sp>
      <p:grpSp>
        <p:nvGrpSpPr>
          <p:cNvPr id="78" name="Group 77">
            <a:extLst>
              <a:ext uri="{FF2B5EF4-FFF2-40B4-BE49-F238E27FC236}">
                <a16:creationId xmlns:a16="http://schemas.microsoft.com/office/drawing/2014/main" id="{B1EFD973-03D3-00C5-1698-69F4B29185F7}"/>
              </a:ext>
            </a:extLst>
          </p:cNvPr>
          <p:cNvGrpSpPr/>
          <p:nvPr/>
        </p:nvGrpSpPr>
        <p:grpSpPr>
          <a:xfrm>
            <a:off x="505638" y="4789644"/>
            <a:ext cx="655897" cy="622616"/>
            <a:chOff x="373833" y="4830833"/>
            <a:chExt cx="655897" cy="622616"/>
          </a:xfrm>
        </p:grpSpPr>
        <p:sp>
          <p:nvSpPr>
            <p:cNvPr id="26" name="Shape 24">
              <a:extLst>
                <a:ext uri="{FF2B5EF4-FFF2-40B4-BE49-F238E27FC236}">
                  <a16:creationId xmlns:a16="http://schemas.microsoft.com/office/drawing/2014/main" id="{B4AF5F81-3B32-3CFA-35B1-340CF1A9E84E}"/>
                </a:ext>
              </a:extLst>
            </p:cNvPr>
            <p:cNvSpPr/>
            <p:nvPr/>
          </p:nvSpPr>
          <p:spPr>
            <a:xfrm>
              <a:off x="373833" y="4830833"/>
              <a:ext cx="655897" cy="622616"/>
            </a:xfrm>
            <a:prstGeom prst="ellipse">
              <a:avLst/>
            </a:prstGeom>
            <a:solidFill>
              <a:srgbClr val="EAF5E6"/>
            </a:solidFill>
            <a:ln w="6350">
              <a:solidFill>
                <a:srgbClr val="EAF5E6">
                  <a:alpha val="0"/>
                </a:srgbClr>
              </a:solidFill>
              <a:prstDash val="solid"/>
            </a:ln>
          </p:spPr>
          <p:txBody>
            <a:bodyPr/>
            <a:lstStyle/>
            <a:p>
              <a:endParaRPr lang="en-IN" sz="1600"/>
            </a:p>
          </p:txBody>
        </p:sp>
        <p:pic>
          <p:nvPicPr>
            <p:cNvPr id="27" name="Image 2" descr="preencoded.png">
              <a:extLst>
                <a:ext uri="{FF2B5EF4-FFF2-40B4-BE49-F238E27FC236}">
                  <a16:creationId xmlns:a16="http://schemas.microsoft.com/office/drawing/2014/main" id="{A7BBB56F-EB19-E3D8-7FA5-AB46CC9FFD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2805" y="4949408"/>
              <a:ext cx="376881" cy="376881"/>
            </a:xfrm>
            <a:prstGeom prst="rect">
              <a:avLst/>
            </a:prstGeom>
          </p:spPr>
        </p:pic>
      </p:grpSp>
      <p:sp>
        <p:nvSpPr>
          <p:cNvPr id="29" name="Text 26">
            <a:extLst>
              <a:ext uri="{FF2B5EF4-FFF2-40B4-BE49-F238E27FC236}">
                <a16:creationId xmlns:a16="http://schemas.microsoft.com/office/drawing/2014/main" id="{A1917A59-3620-F4CC-1A2F-2D9AE1F2B787}"/>
              </a:ext>
            </a:extLst>
          </p:cNvPr>
          <p:cNvSpPr txBox="1"/>
          <p:nvPr/>
        </p:nvSpPr>
        <p:spPr>
          <a:xfrm>
            <a:off x="1745432" y="4777699"/>
            <a:ext cx="2377440" cy="256032"/>
          </a:xfrm>
          <a:prstGeom prst="rect">
            <a:avLst/>
          </a:prstGeom>
          <a:noFill/>
          <a:ln/>
        </p:spPr>
        <p:txBody>
          <a:bodyPr wrap="square" lIns="0" tIns="0" rIns="0" bIns="0" rtlCol="0" anchor="t">
            <a:normAutofit/>
          </a:bodyPr>
          <a:lstStyle/>
          <a:p>
            <a:pPr marL="0" indent="0" algn="l">
              <a:lnSpc>
                <a:spcPct val="90000"/>
              </a:lnSpc>
              <a:buNone/>
            </a:pPr>
            <a:r>
              <a:rPr lang="en-US" sz="1000" b="1">
                <a:solidFill>
                  <a:srgbClr val="11600F"/>
                </a:solidFill>
                <a:ea typeface="Aptos Display" pitchFamily="34" charset="-122"/>
                <a:cs typeface="Aptos Display" pitchFamily="34" charset="-120"/>
              </a:rPr>
              <a:t>Execute</a:t>
            </a:r>
            <a:endParaRPr lang="en-US" sz="1000"/>
          </a:p>
        </p:txBody>
      </p:sp>
      <p:sp>
        <p:nvSpPr>
          <p:cNvPr id="30" name="Text 27">
            <a:extLst>
              <a:ext uri="{FF2B5EF4-FFF2-40B4-BE49-F238E27FC236}">
                <a16:creationId xmlns:a16="http://schemas.microsoft.com/office/drawing/2014/main" id="{CFAC510A-E989-9A89-B163-B5D84C99CEF7}"/>
              </a:ext>
            </a:extLst>
          </p:cNvPr>
          <p:cNvSpPr txBox="1"/>
          <p:nvPr/>
        </p:nvSpPr>
        <p:spPr>
          <a:xfrm>
            <a:off x="1753670" y="4941220"/>
            <a:ext cx="2735951" cy="493776"/>
          </a:xfrm>
          <a:prstGeom prst="rect">
            <a:avLst/>
          </a:prstGeom>
          <a:noFill/>
          <a:ln/>
        </p:spPr>
        <p:txBody>
          <a:bodyPr wrap="square" lIns="0" tIns="0" rIns="0" bIns="0" rtlCol="0" anchor="t">
            <a:noAutofit/>
          </a:bodyPr>
          <a:lstStyle/>
          <a:p>
            <a:pPr marL="0" indent="0" algn="l">
              <a:lnSpc>
                <a:spcPct val="102000"/>
              </a:lnSpc>
              <a:buNone/>
            </a:pPr>
            <a:r>
              <a:rPr lang="en-US" sz="1000">
                <a:solidFill>
                  <a:srgbClr val="101820"/>
                </a:solidFill>
                <a:ea typeface="Aptos" pitchFamily="34" charset="-122"/>
                <a:cs typeface="Aptos" pitchFamily="34" charset="-120"/>
              </a:rPr>
              <a:t>Automate lead creation, verification,</a:t>
            </a:r>
            <a:endParaRPr lang="en-US" sz="1000"/>
          </a:p>
          <a:p>
            <a:pPr marL="0" indent="0" algn="l">
              <a:lnSpc>
                <a:spcPct val="102000"/>
              </a:lnSpc>
              <a:buNone/>
            </a:pPr>
            <a:r>
              <a:rPr lang="en-US" sz="1000">
                <a:solidFill>
                  <a:srgbClr val="101820"/>
                </a:solidFill>
                <a:ea typeface="Aptos" pitchFamily="34" charset="-122"/>
                <a:cs typeface="Aptos" pitchFamily="34" charset="-120"/>
              </a:rPr>
              <a:t>information capture, document handling,</a:t>
            </a:r>
            <a:endParaRPr lang="en-US" sz="1000"/>
          </a:p>
          <a:p>
            <a:pPr marL="0" indent="0" algn="l">
              <a:lnSpc>
                <a:spcPct val="102000"/>
              </a:lnSpc>
              <a:buNone/>
            </a:pPr>
            <a:r>
              <a:rPr lang="en-US" sz="1000">
                <a:solidFill>
                  <a:srgbClr val="101820"/>
                </a:solidFill>
                <a:ea typeface="Aptos" pitchFamily="34" charset="-122"/>
                <a:cs typeface="Aptos" pitchFamily="34" charset="-120"/>
              </a:rPr>
              <a:t>consent, application conversion,</a:t>
            </a:r>
            <a:endParaRPr lang="en-US" sz="1000"/>
          </a:p>
          <a:p>
            <a:pPr marL="0" indent="0" algn="l">
              <a:lnSpc>
                <a:spcPct val="102000"/>
              </a:lnSpc>
              <a:buNone/>
            </a:pPr>
            <a:r>
              <a:rPr lang="en-US" sz="1000">
                <a:solidFill>
                  <a:srgbClr val="101820"/>
                </a:solidFill>
                <a:ea typeface="Aptos" pitchFamily="34" charset="-122"/>
                <a:cs typeface="Aptos" pitchFamily="34" charset="-120"/>
              </a:rPr>
              <a:t>and activity tracking.</a:t>
            </a:r>
            <a:endParaRPr lang="en-US" sz="1000"/>
          </a:p>
        </p:txBody>
      </p:sp>
      <p:sp>
        <p:nvSpPr>
          <p:cNvPr id="31" name="Shape 28">
            <a:extLst>
              <a:ext uri="{FF2B5EF4-FFF2-40B4-BE49-F238E27FC236}">
                <a16:creationId xmlns:a16="http://schemas.microsoft.com/office/drawing/2014/main" id="{95B5276C-9395-92C0-32F4-34A7B5373CF3}"/>
              </a:ext>
            </a:extLst>
          </p:cNvPr>
          <p:cNvSpPr/>
          <p:nvPr/>
        </p:nvSpPr>
        <p:spPr>
          <a:xfrm>
            <a:off x="4942127" y="2388972"/>
            <a:ext cx="3273552" cy="1505714"/>
          </a:xfrm>
          <a:prstGeom prst="roundRect">
            <a:avLst/>
          </a:prstGeom>
          <a:solidFill>
            <a:srgbClr val="FFFFFF"/>
          </a:solidFill>
          <a:ln w="10160">
            <a:solidFill>
              <a:srgbClr val="DDE3EA"/>
            </a:solidFill>
            <a:prstDash val="solid"/>
          </a:ln>
          <a:effectLst>
            <a:outerShdw blurRad="25400" dist="50800" dir="2700000" algn="bl" rotWithShape="0">
              <a:srgbClr val="9AA5B1">
                <a:alpha val="18000"/>
              </a:srgbClr>
            </a:outerShdw>
          </a:effectLst>
        </p:spPr>
        <p:txBody>
          <a:bodyPr/>
          <a:lstStyle/>
          <a:p>
            <a:endParaRPr lang="en-IN" sz="1600"/>
          </a:p>
        </p:txBody>
      </p:sp>
      <p:sp>
        <p:nvSpPr>
          <p:cNvPr id="32" name="Shape 29">
            <a:extLst>
              <a:ext uri="{FF2B5EF4-FFF2-40B4-BE49-F238E27FC236}">
                <a16:creationId xmlns:a16="http://schemas.microsoft.com/office/drawing/2014/main" id="{FBDEBA0D-0EAC-5C24-68A4-6B30040D7B78}"/>
              </a:ext>
            </a:extLst>
          </p:cNvPr>
          <p:cNvSpPr/>
          <p:nvPr/>
        </p:nvSpPr>
        <p:spPr>
          <a:xfrm>
            <a:off x="5165371" y="2678698"/>
            <a:ext cx="881202" cy="896524"/>
          </a:xfrm>
          <a:prstGeom prst="ellipse">
            <a:avLst/>
          </a:prstGeom>
          <a:solidFill>
            <a:srgbClr val="EAF6FF"/>
          </a:solidFill>
          <a:ln w="6350">
            <a:solidFill>
              <a:srgbClr val="EAF6FF">
                <a:alpha val="0"/>
              </a:srgbClr>
            </a:solidFill>
            <a:prstDash val="solid"/>
          </a:ln>
        </p:spPr>
        <p:txBody>
          <a:bodyPr/>
          <a:lstStyle/>
          <a:p>
            <a:endParaRPr lang="en-IN" sz="1600"/>
          </a:p>
        </p:txBody>
      </p:sp>
      <p:pic>
        <p:nvPicPr>
          <p:cNvPr id="33" name="Image 3" descr="preencoded.png">
            <a:extLst>
              <a:ext uri="{FF2B5EF4-FFF2-40B4-BE49-F238E27FC236}">
                <a16:creationId xmlns:a16="http://schemas.microsoft.com/office/drawing/2014/main" id="{5AE46827-6AC4-559B-CF1F-497DD31029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84827" y="2907298"/>
            <a:ext cx="451928" cy="451928"/>
          </a:xfrm>
          <a:prstGeom prst="rect">
            <a:avLst/>
          </a:prstGeom>
        </p:spPr>
      </p:pic>
      <p:sp>
        <p:nvSpPr>
          <p:cNvPr id="34" name="Shape 30">
            <a:extLst>
              <a:ext uri="{FF2B5EF4-FFF2-40B4-BE49-F238E27FC236}">
                <a16:creationId xmlns:a16="http://schemas.microsoft.com/office/drawing/2014/main" id="{31E0CE9D-EB6B-517E-3115-D2C795C55B49}"/>
              </a:ext>
            </a:extLst>
          </p:cNvPr>
          <p:cNvSpPr/>
          <p:nvPr/>
        </p:nvSpPr>
        <p:spPr>
          <a:xfrm flipH="1">
            <a:off x="6242384" y="2636109"/>
            <a:ext cx="1896" cy="932852"/>
          </a:xfrm>
          <a:prstGeom prst="line">
            <a:avLst/>
          </a:prstGeom>
          <a:noFill/>
          <a:ln w="13970">
            <a:solidFill>
              <a:srgbClr val="00A3E0"/>
            </a:solidFill>
            <a:prstDash val="solid"/>
          </a:ln>
        </p:spPr>
        <p:txBody>
          <a:bodyPr/>
          <a:lstStyle/>
          <a:p>
            <a:endParaRPr lang="en-IN" sz="1600"/>
          </a:p>
        </p:txBody>
      </p:sp>
      <p:sp>
        <p:nvSpPr>
          <p:cNvPr id="35" name="Text 31">
            <a:extLst>
              <a:ext uri="{FF2B5EF4-FFF2-40B4-BE49-F238E27FC236}">
                <a16:creationId xmlns:a16="http://schemas.microsoft.com/office/drawing/2014/main" id="{68E925A2-B325-95E9-6F8A-3C58FE0AC2F2}"/>
              </a:ext>
            </a:extLst>
          </p:cNvPr>
          <p:cNvSpPr txBox="1"/>
          <p:nvPr/>
        </p:nvSpPr>
        <p:spPr>
          <a:xfrm>
            <a:off x="6526839" y="2611065"/>
            <a:ext cx="1572768" cy="393192"/>
          </a:xfrm>
          <a:prstGeom prst="rect">
            <a:avLst/>
          </a:prstGeom>
          <a:noFill/>
          <a:ln/>
        </p:spPr>
        <p:txBody>
          <a:bodyPr wrap="square" lIns="0" tIns="0" rIns="0" bIns="0" rtlCol="0" anchor="t">
            <a:normAutofit/>
          </a:bodyPr>
          <a:lstStyle/>
          <a:p>
            <a:pPr marL="0" indent="0" algn="l">
              <a:lnSpc>
                <a:spcPct val="90000"/>
              </a:lnSpc>
              <a:buNone/>
            </a:pPr>
            <a:r>
              <a:rPr lang="en-US" sz="1000" b="1">
                <a:solidFill>
                  <a:srgbClr val="00A3E0"/>
                </a:solidFill>
                <a:ea typeface="Aptos Display" pitchFamily="34" charset="-122"/>
                <a:cs typeface="Aptos Display" pitchFamily="34" charset="-120"/>
              </a:rPr>
              <a:t>Unified Channel</a:t>
            </a:r>
            <a:endParaRPr lang="en-US" sz="1000"/>
          </a:p>
          <a:p>
            <a:pPr marL="0" indent="0" algn="l">
              <a:lnSpc>
                <a:spcPct val="90000"/>
              </a:lnSpc>
              <a:buNone/>
            </a:pPr>
            <a:r>
              <a:rPr lang="en-US" sz="1000" b="1">
                <a:solidFill>
                  <a:srgbClr val="00A3E0"/>
                </a:solidFill>
                <a:ea typeface="Aptos Display" pitchFamily="34" charset="-122"/>
                <a:cs typeface="Aptos Display" pitchFamily="34" charset="-120"/>
              </a:rPr>
              <a:t>Experience</a:t>
            </a:r>
            <a:endParaRPr lang="en-US" sz="1000"/>
          </a:p>
        </p:txBody>
      </p:sp>
      <p:sp>
        <p:nvSpPr>
          <p:cNvPr id="36" name="Text 32">
            <a:extLst>
              <a:ext uri="{FF2B5EF4-FFF2-40B4-BE49-F238E27FC236}">
                <a16:creationId xmlns:a16="http://schemas.microsoft.com/office/drawing/2014/main" id="{58137534-0129-45CA-CE7E-391A14742C64}"/>
              </a:ext>
            </a:extLst>
          </p:cNvPr>
          <p:cNvSpPr txBox="1"/>
          <p:nvPr/>
        </p:nvSpPr>
        <p:spPr>
          <a:xfrm>
            <a:off x="6510363" y="2936377"/>
            <a:ext cx="1536192" cy="804672"/>
          </a:xfrm>
          <a:prstGeom prst="rect">
            <a:avLst/>
          </a:prstGeom>
          <a:noFill/>
          <a:ln/>
        </p:spPr>
        <p:txBody>
          <a:bodyPr wrap="square" lIns="0" tIns="0" rIns="0" bIns="0" rtlCol="0" anchor="t">
            <a:normAutofit/>
          </a:bodyPr>
          <a:lstStyle/>
          <a:p>
            <a:pPr marL="0" indent="0" algn="l">
              <a:lnSpc>
                <a:spcPct val="100000"/>
              </a:lnSpc>
              <a:buNone/>
            </a:pPr>
            <a:r>
              <a:rPr lang="en-US" sz="1000">
                <a:solidFill>
                  <a:srgbClr val="101820"/>
                </a:solidFill>
                <a:ea typeface="Aptos" pitchFamily="34" charset="-122"/>
                <a:cs typeface="Aptos" pitchFamily="34" charset="-120"/>
              </a:rPr>
              <a:t>RMs and customers</a:t>
            </a:r>
            <a:endParaRPr lang="en-US" sz="1000"/>
          </a:p>
          <a:p>
            <a:pPr marL="0" indent="0" algn="l">
              <a:lnSpc>
                <a:spcPct val="100000"/>
              </a:lnSpc>
              <a:buNone/>
            </a:pPr>
            <a:r>
              <a:rPr lang="en-US" sz="1000">
                <a:solidFill>
                  <a:srgbClr val="101820"/>
                </a:solidFill>
                <a:ea typeface="Aptos" pitchFamily="34" charset="-122"/>
                <a:cs typeface="Aptos" pitchFamily="34" charset="-120"/>
              </a:rPr>
              <a:t>continue the journey</a:t>
            </a:r>
            <a:endParaRPr lang="en-US" sz="1000"/>
          </a:p>
          <a:p>
            <a:pPr marL="0" indent="0" algn="l">
              <a:lnSpc>
                <a:spcPct val="100000"/>
              </a:lnSpc>
              <a:buNone/>
            </a:pPr>
            <a:r>
              <a:rPr lang="en-US" sz="1000">
                <a:solidFill>
                  <a:srgbClr val="101820"/>
                </a:solidFill>
                <a:ea typeface="Aptos" pitchFamily="34" charset="-122"/>
                <a:cs typeface="Aptos" pitchFamily="34" charset="-120"/>
              </a:rPr>
              <a:t>through their preferred</a:t>
            </a:r>
            <a:endParaRPr lang="en-US" sz="1000"/>
          </a:p>
          <a:p>
            <a:pPr marL="0" indent="0" algn="l">
              <a:lnSpc>
                <a:spcPct val="100000"/>
              </a:lnSpc>
              <a:buNone/>
            </a:pPr>
            <a:r>
              <a:rPr lang="en-US" sz="1000">
                <a:solidFill>
                  <a:srgbClr val="101820"/>
                </a:solidFill>
                <a:ea typeface="Aptos" pitchFamily="34" charset="-122"/>
                <a:cs typeface="Aptos" pitchFamily="34" charset="-120"/>
              </a:rPr>
              <a:t>digital channels.</a:t>
            </a:r>
            <a:endParaRPr lang="en-US" sz="1000"/>
          </a:p>
        </p:txBody>
      </p:sp>
      <p:sp>
        <p:nvSpPr>
          <p:cNvPr id="37" name="Shape 33">
            <a:extLst>
              <a:ext uri="{FF2B5EF4-FFF2-40B4-BE49-F238E27FC236}">
                <a16:creationId xmlns:a16="http://schemas.microsoft.com/office/drawing/2014/main" id="{4BA38380-5957-AF3E-A390-7A5DBD52D92A}"/>
              </a:ext>
            </a:extLst>
          </p:cNvPr>
          <p:cNvSpPr/>
          <p:nvPr/>
        </p:nvSpPr>
        <p:spPr>
          <a:xfrm>
            <a:off x="8398559" y="2388972"/>
            <a:ext cx="3273552" cy="1505714"/>
          </a:xfrm>
          <a:prstGeom prst="roundRect">
            <a:avLst/>
          </a:prstGeom>
          <a:solidFill>
            <a:srgbClr val="FFFFFF"/>
          </a:solidFill>
          <a:ln w="10160">
            <a:solidFill>
              <a:srgbClr val="DDE3EA"/>
            </a:solidFill>
            <a:prstDash val="solid"/>
          </a:ln>
          <a:effectLst>
            <a:outerShdw blurRad="25400" dist="50800" dir="2700000" algn="bl" rotWithShape="0">
              <a:srgbClr val="9AA5B1">
                <a:alpha val="18000"/>
              </a:srgbClr>
            </a:outerShdw>
          </a:effectLst>
        </p:spPr>
        <p:txBody>
          <a:bodyPr/>
          <a:lstStyle/>
          <a:p>
            <a:endParaRPr lang="en-IN" sz="1600"/>
          </a:p>
        </p:txBody>
      </p:sp>
      <p:sp>
        <p:nvSpPr>
          <p:cNvPr id="38" name="Shape 34">
            <a:extLst>
              <a:ext uri="{FF2B5EF4-FFF2-40B4-BE49-F238E27FC236}">
                <a16:creationId xmlns:a16="http://schemas.microsoft.com/office/drawing/2014/main" id="{090570B4-E628-C389-9EE1-7505E095F849}"/>
              </a:ext>
            </a:extLst>
          </p:cNvPr>
          <p:cNvSpPr/>
          <p:nvPr/>
        </p:nvSpPr>
        <p:spPr>
          <a:xfrm>
            <a:off x="8613565" y="2686936"/>
            <a:ext cx="881202" cy="896524"/>
          </a:xfrm>
          <a:prstGeom prst="ellipse">
            <a:avLst/>
          </a:prstGeom>
          <a:solidFill>
            <a:srgbClr val="EAF6FF"/>
          </a:solidFill>
          <a:ln w="6350">
            <a:solidFill>
              <a:srgbClr val="EAF6FF">
                <a:alpha val="0"/>
              </a:srgbClr>
            </a:solidFill>
            <a:prstDash val="solid"/>
          </a:ln>
        </p:spPr>
        <p:txBody>
          <a:bodyPr/>
          <a:lstStyle/>
          <a:p>
            <a:endParaRPr lang="en-IN" sz="1600"/>
          </a:p>
        </p:txBody>
      </p:sp>
      <p:pic>
        <p:nvPicPr>
          <p:cNvPr id="39" name="Image 4" descr="preencoded.png">
            <a:extLst>
              <a:ext uri="{FF2B5EF4-FFF2-40B4-BE49-F238E27FC236}">
                <a16:creationId xmlns:a16="http://schemas.microsoft.com/office/drawing/2014/main" id="{0D0C32BE-6797-2DC3-AA10-9D97EEE010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33021" y="2915536"/>
            <a:ext cx="451928" cy="451928"/>
          </a:xfrm>
          <a:prstGeom prst="rect">
            <a:avLst/>
          </a:prstGeom>
        </p:spPr>
      </p:pic>
      <p:sp>
        <p:nvSpPr>
          <p:cNvPr id="40" name="Shape 35">
            <a:extLst>
              <a:ext uri="{FF2B5EF4-FFF2-40B4-BE49-F238E27FC236}">
                <a16:creationId xmlns:a16="http://schemas.microsoft.com/office/drawing/2014/main" id="{116AAE50-429B-BEB0-1914-02B21A60D486}"/>
              </a:ext>
            </a:extLst>
          </p:cNvPr>
          <p:cNvSpPr/>
          <p:nvPr/>
        </p:nvSpPr>
        <p:spPr>
          <a:xfrm>
            <a:off x="9761838" y="2710249"/>
            <a:ext cx="2883" cy="858712"/>
          </a:xfrm>
          <a:prstGeom prst="line">
            <a:avLst/>
          </a:prstGeom>
          <a:noFill/>
          <a:ln w="13970">
            <a:solidFill>
              <a:srgbClr val="00A3E0"/>
            </a:solidFill>
            <a:prstDash val="solid"/>
          </a:ln>
        </p:spPr>
        <p:txBody>
          <a:bodyPr/>
          <a:lstStyle/>
          <a:p>
            <a:endParaRPr lang="en-IN" sz="1600"/>
          </a:p>
        </p:txBody>
      </p:sp>
      <p:sp>
        <p:nvSpPr>
          <p:cNvPr id="41" name="Text 36">
            <a:extLst>
              <a:ext uri="{FF2B5EF4-FFF2-40B4-BE49-F238E27FC236}">
                <a16:creationId xmlns:a16="http://schemas.microsoft.com/office/drawing/2014/main" id="{E68383FB-60AF-260B-9EFD-F953CB4A7078}"/>
              </a:ext>
            </a:extLst>
          </p:cNvPr>
          <p:cNvSpPr txBox="1"/>
          <p:nvPr/>
        </p:nvSpPr>
        <p:spPr>
          <a:xfrm>
            <a:off x="9975033" y="2578114"/>
            <a:ext cx="1572768" cy="393192"/>
          </a:xfrm>
          <a:prstGeom prst="rect">
            <a:avLst/>
          </a:prstGeom>
          <a:noFill/>
          <a:ln/>
        </p:spPr>
        <p:txBody>
          <a:bodyPr wrap="square" lIns="0" tIns="0" rIns="0" bIns="0" rtlCol="0" anchor="t">
            <a:normAutofit/>
          </a:bodyPr>
          <a:lstStyle/>
          <a:p>
            <a:pPr marL="0" indent="0" algn="l">
              <a:lnSpc>
                <a:spcPct val="90000"/>
              </a:lnSpc>
              <a:buNone/>
            </a:pPr>
            <a:r>
              <a:rPr lang="en-US" sz="1000" b="1">
                <a:solidFill>
                  <a:srgbClr val="00A3E0"/>
                </a:solidFill>
                <a:ea typeface="Aptos Display" pitchFamily="34" charset="-122"/>
                <a:cs typeface="Aptos Display" pitchFamily="34" charset="-120"/>
              </a:rPr>
              <a:t>Agentic Workflow</a:t>
            </a:r>
            <a:endParaRPr lang="en-US" sz="1000"/>
          </a:p>
          <a:p>
            <a:pPr marL="0" indent="0" algn="l">
              <a:lnSpc>
                <a:spcPct val="90000"/>
              </a:lnSpc>
              <a:buNone/>
            </a:pPr>
            <a:r>
              <a:rPr lang="en-US" sz="1000" b="1">
                <a:solidFill>
                  <a:srgbClr val="00A3E0"/>
                </a:solidFill>
                <a:ea typeface="Aptos Display" pitchFamily="34" charset="-122"/>
                <a:cs typeface="Aptos Display" pitchFamily="34" charset="-120"/>
              </a:rPr>
              <a:t>Automation</a:t>
            </a:r>
            <a:endParaRPr lang="en-US" sz="1000"/>
          </a:p>
        </p:txBody>
      </p:sp>
      <p:sp>
        <p:nvSpPr>
          <p:cNvPr id="42" name="Text 37">
            <a:extLst>
              <a:ext uri="{FF2B5EF4-FFF2-40B4-BE49-F238E27FC236}">
                <a16:creationId xmlns:a16="http://schemas.microsoft.com/office/drawing/2014/main" id="{611B6AED-D8A5-261F-22E2-E0FBD1033E36}"/>
              </a:ext>
            </a:extLst>
          </p:cNvPr>
          <p:cNvSpPr txBox="1"/>
          <p:nvPr/>
        </p:nvSpPr>
        <p:spPr>
          <a:xfrm>
            <a:off x="9966795" y="2936378"/>
            <a:ext cx="1536192" cy="804672"/>
          </a:xfrm>
          <a:prstGeom prst="rect">
            <a:avLst/>
          </a:prstGeom>
          <a:noFill/>
          <a:ln/>
        </p:spPr>
        <p:txBody>
          <a:bodyPr wrap="square" lIns="0" tIns="0" rIns="0" bIns="0" rtlCol="0" anchor="t">
            <a:normAutofit/>
          </a:bodyPr>
          <a:lstStyle/>
          <a:p>
            <a:pPr marL="0" indent="0" algn="l">
              <a:lnSpc>
                <a:spcPct val="100000"/>
              </a:lnSpc>
              <a:buNone/>
            </a:pPr>
            <a:r>
              <a:rPr lang="en-US" sz="1000">
                <a:solidFill>
                  <a:srgbClr val="101820"/>
                </a:solidFill>
                <a:ea typeface="Aptos" pitchFamily="34" charset="-122"/>
                <a:cs typeface="Aptos" pitchFamily="34" charset="-120"/>
              </a:rPr>
              <a:t>Agents coordinate</a:t>
            </a:r>
            <a:endParaRPr lang="en-US" sz="1000"/>
          </a:p>
          <a:p>
            <a:pPr marL="0" indent="0" algn="l">
              <a:lnSpc>
                <a:spcPct val="100000"/>
              </a:lnSpc>
              <a:buNone/>
            </a:pPr>
            <a:r>
              <a:rPr lang="en-US" sz="1000">
                <a:solidFill>
                  <a:srgbClr val="101820"/>
                </a:solidFill>
                <a:ea typeface="Aptos" pitchFamily="34" charset="-122"/>
                <a:cs typeface="Aptos" pitchFamily="34" charset="-120"/>
              </a:rPr>
              <a:t>conversations, decisions,</a:t>
            </a:r>
            <a:endParaRPr lang="en-US" sz="1000"/>
          </a:p>
          <a:p>
            <a:pPr marL="0" indent="0" algn="l">
              <a:lnSpc>
                <a:spcPct val="100000"/>
              </a:lnSpc>
              <a:buNone/>
            </a:pPr>
            <a:r>
              <a:rPr lang="en-US" sz="1000">
                <a:solidFill>
                  <a:srgbClr val="101820"/>
                </a:solidFill>
                <a:ea typeface="Aptos" pitchFamily="34" charset="-122"/>
                <a:cs typeface="Aptos" pitchFamily="34" charset="-120"/>
              </a:rPr>
              <a:t>tools, and specialist</a:t>
            </a:r>
            <a:endParaRPr lang="en-US" sz="1000"/>
          </a:p>
          <a:p>
            <a:pPr marL="0" indent="0" algn="l">
              <a:lnSpc>
                <a:spcPct val="100000"/>
              </a:lnSpc>
              <a:buNone/>
            </a:pPr>
            <a:r>
              <a:rPr lang="en-US" sz="1000">
                <a:solidFill>
                  <a:srgbClr val="101820"/>
                </a:solidFill>
                <a:ea typeface="Aptos" pitchFamily="34" charset="-122"/>
                <a:cs typeface="Aptos" pitchFamily="34" charset="-120"/>
              </a:rPr>
              <a:t>actions across the</a:t>
            </a:r>
            <a:endParaRPr lang="en-US" sz="1000"/>
          </a:p>
          <a:p>
            <a:pPr marL="0" indent="0" algn="l">
              <a:lnSpc>
                <a:spcPct val="100000"/>
              </a:lnSpc>
              <a:buNone/>
            </a:pPr>
            <a:r>
              <a:rPr lang="en-US" sz="1000">
                <a:solidFill>
                  <a:srgbClr val="101820"/>
                </a:solidFill>
                <a:ea typeface="Aptos" pitchFamily="34" charset="-122"/>
                <a:cs typeface="Aptos" pitchFamily="34" charset="-120"/>
              </a:rPr>
              <a:t>lending journey.</a:t>
            </a:r>
            <a:endParaRPr lang="en-US" sz="1000"/>
          </a:p>
        </p:txBody>
      </p:sp>
      <p:sp>
        <p:nvSpPr>
          <p:cNvPr id="43" name="Shape 38">
            <a:extLst>
              <a:ext uri="{FF2B5EF4-FFF2-40B4-BE49-F238E27FC236}">
                <a16:creationId xmlns:a16="http://schemas.microsoft.com/office/drawing/2014/main" id="{E9849E7B-048C-2327-C2F1-9E30D159E14C}"/>
              </a:ext>
            </a:extLst>
          </p:cNvPr>
          <p:cNvSpPr/>
          <p:nvPr/>
        </p:nvSpPr>
        <p:spPr>
          <a:xfrm>
            <a:off x="4942127" y="4236060"/>
            <a:ext cx="3273552" cy="1505714"/>
          </a:xfrm>
          <a:prstGeom prst="roundRect">
            <a:avLst/>
          </a:prstGeom>
          <a:solidFill>
            <a:srgbClr val="FFFFFF"/>
          </a:solidFill>
          <a:ln w="10160">
            <a:solidFill>
              <a:srgbClr val="DDE3EA"/>
            </a:solidFill>
            <a:prstDash val="solid"/>
          </a:ln>
          <a:effectLst>
            <a:outerShdw blurRad="25400" dist="50800" dir="2700000" algn="bl" rotWithShape="0">
              <a:srgbClr val="9AA5B1">
                <a:alpha val="18000"/>
              </a:srgbClr>
            </a:outerShdw>
          </a:effectLst>
        </p:spPr>
        <p:txBody>
          <a:bodyPr/>
          <a:lstStyle/>
          <a:p>
            <a:endParaRPr lang="en-IN" sz="1600"/>
          </a:p>
        </p:txBody>
      </p:sp>
      <p:sp>
        <p:nvSpPr>
          <p:cNvPr id="44" name="Shape 39">
            <a:extLst>
              <a:ext uri="{FF2B5EF4-FFF2-40B4-BE49-F238E27FC236}">
                <a16:creationId xmlns:a16="http://schemas.microsoft.com/office/drawing/2014/main" id="{DED1CD16-9DDA-C2A1-55D0-A8AEA6D13A84}"/>
              </a:ext>
            </a:extLst>
          </p:cNvPr>
          <p:cNvSpPr/>
          <p:nvPr/>
        </p:nvSpPr>
        <p:spPr>
          <a:xfrm>
            <a:off x="5181847" y="4525786"/>
            <a:ext cx="881202" cy="896524"/>
          </a:xfrm>
          <a:prstGeom prst="ellipse">
            <a:avLst/>
          </a:prstGeom>
          <a:solidFill>
            <a:srgbClr val="EAF6FF"/>
          </a:solidFill>
          <a:ln w="6350">
            <a:solidFill>
              <a:srgbClr val="EAF6FF">
                <a:alpha val="0"/>
              </a:srgbClr>
            </a:solidFill>
            <a:prstDash val="solid"/>
          </a:ln>
        </p:spPr>
        <p:txBody>
          <a:bodyPr/>
          <a:lstStyle/>
          <a:p>
            <a:endParaRPr lang="en-IN" sz="1600"/>
          </a:p>
        </p:txBody>
      </p:sp>
      <p:pic>
        <p:nvPicPr>
          <p:cNvPr id="45" name="Image 5" descr="preencoded.png">
            <a:extLst>
              <a:ext uri="{FF2B5EF4-FFF2-40B4-BE49-F238E27FC236}">
                <a16:creationId xmlns:a16="http://schemas.microsoft.com/office/drawing/2014/main" id="{1E66D62F-7025-6250-3BF7-78500D8DBED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401303" y="4754386"/>
            <a:ext cx="451928" cy="451928"/>
          </a:xfrm>
          <a:prstGeom prst="rect">
            <a:avLst/>
          </a:prstGeom>
        </p:spPr>
      </p:pic>
      <p:sp>
        <p:nvSpPr>
          <p:cNvPr id="47" name="Text 41">
            <a:extLst>
              <a:ext uri="{FF2B5EF4-FFF2-40B4-BE49-F238E27FC236}">
                <a16:creationId xmlns:a16="http://schemas.microsoft.com/office/drawing/2014/main" id="{0DADE09C-3350-F971-7B05-269C54E714E9}"/>
              </a:ext>
            </a:extLst>
          </p:cNvPr>
          <p:cNvSpPr txBox="1"/>
          <p:nvPr/>
        </p:nvSpPr>
        <p:spPr>
          <a:xfrm>
            <a:off x="6452698" y="4416964"/>
            <a:ext cx="1572768" cy="393192"/>
          </a:xfrm>
          <a:prstGeom prst="rect">
            <a:avLst/>
          </a:prstGeom>
          <a:noFill/>
          <a:ln/>
        </p:spPr>
        <p:txBody>
          <a:bodyPr wrap="square" lIns="0" tIns="0" rIns="0" bIns="0" rtlCol="0" anchor="t">
            <a:normAutofit/>
          </a:bodyPr>
          <a:lstStyle/>
          <a:p>
            <a:pPr marL="0" indent="0" algn="l">
              <a:lnSpc>
                <a:spcPct val="90000"/>
              </a:lnSpc>
              <a:buNone/>
            </a:pPr>
            <a:r>
              <a:rPr lang="en-US" sz="1000" b="1">
                <a:solidFill>
                  <a:srgbClr val="00A3E0"/>
                </a:solidFill>
                <a:ea typeface="Aptos Display" pitchFamily="34" charset="-122"/>
                <a:cs typeface="Aptos Display" pitchFamily="34" charset="-120"/>
              </a:rPr>
              <a:t>Faster Lending</a:t>
            </a:r>
            <a:endParaRPr lang="en-US" sz="1000"/>
          </a:p>
          <a:p>
            <a:pPr marL="0" indent="0" algn="l">
              <a:lnSpc>
                <a:spcPct val="90000"/>
              </a:lnSpc>
              <a:buNone/>
            </a:pPr>
            <a:r>
              <a:rPr lang="en-US" sz="1000" b="1">
                <a:solidFill>
                  <a:srgbClr val="00A3E0"/>
                </a:solidFill>
                <a:ea typeface="Aptos Display" pitchFamily="34" charset="-122"/>
                <a:cs typeface="Aptos Display" pitchFamily="34" charset="-120"/>
              </a:rPr>
              <a:t>Progression</a:t>
            </a:r>
            <a:endParaRPr lang="en-US" sz="1000"/>
          </a:p>
        </p:txBody>
      </p:sp>
      <p:sp>
        <p:nvSpPr>
          <p:cNvPr id="48" name="Text 42">
            <a:extLst>
              <a:ext uri="{FF2B5EF4-FFF2-40B4-BE49-F238E27FC236}">
                <a16:creationId xmlns:a16="http://schemas.microsoft.com/office/drawing/2014/main" id="{FBA93C37-9A2B-CC08-9367-C85BDF2E5557}"/>
              </a:ext>
            </a:extLst>
          </p:cNvPr>
          <p:cNvSpPr txBox="1"/>
          <p:nvPr/>
        </p:nvSpPr>
        <p:spPr>
          <a:xfrm>
            <a:off x="6485650" y="4783465"/>
            <a:ext cx="1536192" cy="804672"/>
          </a:xfrm>
          <a:prstGeom prst="rect">
            <a:avLst/>
          </a:prstGeom>
          <a:noFill/>
          <a:ln/>
        </p:spPr>
        <p:txBody>
          <a:bodyPr wrap="square" lIns="0" tIns="0" rIns="0" bIns="0" rtlCol="0" anchor="t">
            <a:normAutofit/>
          </a:bodyPr>
          <a:lstStyle/>
          <a:p>
            <a:pPr marL="0" indent="0" algn="l">
              <a:lnSpc>
                <a:spcPct val="100000"/>
              </a:lnSpc>
              <a:buNone/>
            </a:pPr>
            <a:r>
              <a:rPr lang="en-US" sz="1000">
                <a:solidFill>
                  <a:srgbClr val="101820"/>
                </a:solidFill>
                <a:ea typeface="Aptos" pitchFamily="34" charset="-122"/>
                <a:cs typeface="Aptos" pitchFamily="34" charset="-120"/>
              </a:rPr>
              <a:t>Key lending steps</a:t>
            </a:r>
            <a:endParaRPr lang="en-US" sz="1000"/>
          </a:p>
          <a:p>
            <a:pPr marL="0" indent="0" algn="l">
              <a:lnSpc>
                <a:spcPct val="100000"/>
              </a:lnSpc>
              <a:buNone/>
            </a:pPr>
            <a:r>
              <a:rPr lang="en-US" sz="1000">
                <a:solidFill>
                  <a:srgbClr val="101820"/>
                </a:solidFill>
                <a:ea typeface="Aptos" pitchFamily="34" charset="-122"/>
                <a:cs typeface="Aptos" pitchFamily="34" charset="-120"/>
              </a:rPr>
              <a:t>move forward</a:t>
            </a:r>
            <a:endParaRPr lang="en-US" sz="1000"/>
          </a:p>
          <a:p>
            <a:pPr marL="0" indent="0" algn="l">
              <a:lnSpc>
                <a:spcPct val="100000"/>
              </a:lnSpc>
              <a:buNone/>
            </a:pPr>
            <a:r>
              <a:rPr lang="en-US" sz="1000">
                <a:solidFill>
                  <a:srgbClr val="101820"/>
                </a:solidFill>
                <a:ea typeface="Aptos" pitchFamily="34" charset="-122"/>
                <a:cs typeface="Aptos" pitchFamily="34" charset="-120"/>
              </a:rPr>
              <a:t>automatically with</a:t>
            </a:r>
            <a:endParaRPr lang="en-US" sz="1000"/>
          </a:p>
          <a:p>
            <a:pPr marL="0" indent="0" algn="l">
              <a:lnSpc>
                <a:spcPct val="100000"/>
              </a:lnSpc>
              <a:buNone/>
            </a:pPr>
            <a:r>
              <a:rPr lang="en-US" sz="1000">
                <a:solidFill>
                  <a:srgbClr val="101820"/>
                </a:solidFill>
                <a:ea typeface="Aptos" pitchFamily="34" charset="-122"/>
                <a:cs typeface="Aptos" pitchFamily="34" charset="-120"/>
              </a:rPr>
              <a:t>fewer manual handoffs.</a:t>
            </a:r>
            <a:endParaRPr lang="en-US" sz="1000"/>
          </a:p>
        </p:txBody>
      </p:sp>
      <p:sp>
        <p:nvSpPr>
          <p:cNvPr id="49" name="Shape 43">
            <a:extLst>
              <a:ext uri="{FF2B5EF4-FFF2-40B4-BE49-F238E27FC236}">
                <a16:creationId xmlns:a16="http://schemas.microsoft.com/office/drawing/2014/main" id="{7BAF33B1-16E7-7291-C434-68EC0E34574C}"/>
              </a:ext>
            </a:extLst>
          </p:cNvPr>
          <p:cNvSpPr/>
          <p:nvPr/>
        </p:nvSpPr>
        <p:spPr>
          <a:xfrm>
            <a:off x="8398559" y="4236060"/>
            <a:ext cx="3273552" cy="1505714"/>
          </a:xfrm>
          <a:prstGeom prst="roundRect">
            <a:avLst/>
          </a:prstGeom>
          <a:solidFill>
            <a:srgbClr val="FFFFFF"/>
          </a:solidFill>
          <a:ln w="10160">
            <a:solidFill>
              <a:srgbClr val="DDE3EA"/>
            </a:solidFill>
            <a:prstDash val="solid"/>
          </a:ln>
          <a:effectLst>
            <a:outerShdw blurRad="25400" dist="50800" dir="2700000" algn="bl" rotWithShape="0">
              <a:srgbClr val="9AA5B1">
                <a:alpha val="18000"/>
              </a:srgbClr>
            </a:outerShdw>
          </a:effectLst>
        </p:spPr>
        <p:txBody>
          <a:bodyPr/>
          <a:lstStyle/>
          <a:p>
            <a:endParaRPr lang="en-IN" sz="1600"/>
          </a:p>
        </p:txBody>
      </p:sp>
      <p:sp>
        <p:nvSpPr>
          <p:cNvPr id="50" name="Shape 44">
            <a:extLst>
              <a:ext uri="{FF2B5EF4-FFF2-40B4-BE49-F238E27FC236}">
                <a16:creationId xmlns:a16="http://schemas.microsoft.com/office/drawing/2014/main" id="{4EFA42A5-10AB-770E-7413-E7CEF9CF0A29}"/>
              </a:ext>
            </a:extLst>
          </p:cNvPr>
          <p:cNvSpPr/>
          <p:nvPr/>
        </p:nvSpPr>
        <p:spPr>
          <a:xfrm>
            <a:off x="8646517" y="4517548"/>
            <a:ext cx="881202" cy="896524"/>
          </a:xfrm>
          <a:prstGeom prst="ellipse">
            <a:avLst/>
          </a:prstGeom>
          <a:solidFill>
            <a:srgbClr val="EAF6FF"/>
          </a:solidFill>
          <a:ln w="6350">
            <a:solidFill>
              <a:srgbClr val="EAF6FF">
                <a:alpha val="0"/>
              </a:srgbClr>
            </a:solidFill>
            <a:prstDash val="solid"/>
          </a:ln>
        </p:spPr>
        <p:txBody>
          <a:bodyPr/>
          <a:lstStyle/>
          <a:p>
            <a:endParaRPr lang="en-IN" sz="1600"/>
          </a:p>
        </p:txBody>
      </p:sp>
      <p:pic>
        <p:nvPicPr>
          <p:cNvPr id="51" name="Image 6" descr="preencoded.png">
            <a:extLst>
              <a:ext uri="{FF2B5EF4-FFF2-40B4-BE49-F238E27FC236}">
                <a16:creationId xmlns:a16="http://schemas.microsoft.com/office/drawing/2014/main" id="{F7C6D915-CE2B-A3D5-99B9-3431CC7C99E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65973" y="4746148"/>
            <a:ext cx="451928" cy="451928"/>
          </a:xfrm>
          <a:prstGeom prst="rect">
            <a:avLst/>
          </a:prstGeom>
        </p:spPr>
      </p:pic>
      <p:sp>
        <p:nvSpPr>
          <p:cNvPr id="53" name="Text 46">
            <a:extLst>
              <a:ext uri="{FF2B5EF4-FFF2-40B4-BE49-F238E27FC236}">
                <a16:creationId xmlns:a16="http://schemas.microsoft.com/office/drawing/2014/main" id="{44DEA758-19D3-8A11-5DBD-1D8B55A3158B}"/>
              </a:ext>
            </a:extLst>
          </p:cNvPr>
          <p:cNvSpPr txBox="1"/>
          <p:nvPr/>
        </p:nvSpPr>
        <p:spPr>
          <a:xfrm>
            <a:off x="9950319" y="4351062"/>
            <a:ext cx="1572768" cy="393192"/>
          </a:xfrm>
          <a:prstGeom prst="rect">
            <a:avLst/>
          </a:prstGeom>
          <a:noFill/>
          <a:ln/>
        </p:spPr>
        <p:txBody>
          <a:bodyPr wrap="square" lIns="0" tIns="0" rIns="0" bIns="0" rtlCol="0" anchor="t">
            <a:normAutofit/>
          </a:bodyPr>
          <a:lstStyle/>
          <a:p>
            <a:pPr marL="0" indent="0" algn="l">
              <a:lnSpc>
                <a:spcPct val="90000"/>
              </a:lnSpc>
              <a:buNone/>
            </a:pPr>
            <a:r>
              <a:rPr lang="en-US" sz="1000" b="1">
                <a:solidFill>
                  <a:srgbClr val="00A3E0"/>
                </a:solidFill>
                <a:ea typeface="Aptos Display" pitchFamily="34" charset="-122"/>
                <a:cs typeface="Aptos Display" pitchFamily="34" charset="-120"/>
              </a:rPr>
              <a:t>Scalable AWS</a:t>
            </a:r>
            <a:endParaRPr lang="en-US" sz="1000"/>
          </a:p>
          <a:p>
            <a:pPr marL="0" indent="0" algn="l">
              <a:lnSpc>
                <a:spcPct val="90000"/>
              </a:lnSpc>
              <a:buNone/>
            </a:pPr>
            <a:r>
              <a:rPr lang="en-US" sz="1000" b="1">
                <a:solidFill>
                  <a:srgbClr val="00A3E0"/>
                </a:solidFill>
                <a:ea typeface="Aptos Display" pitchFamily="34" charset="-122"/>
                <a:cs typeface="Aptos Display" pitchFamily="34" charset="-120"/>
              </a:rPr>
              <a:t>Foundation</a:t>
            </a:r>
            <a:endParaRPr lang="en-US" sz="1000"/>
          </a:p>
        </p:txBody>
      </p:sp>
      <p:sp>
        <p:nvSpPr>
          <p:cNvPr id="54" name="Text 47">
            <a:extLst>
              <a:ext uri="{FF2B5EF4-FFF2-40B4-BE49-F238E27FC236}">
                <a16:creationId xmlns:a16="http://schemas.microsoft.com/office/drawing/2014/main" id="{57DF9F50-D4F8-1678-CE0B-7DCE43F46E58}"/>
              </a:ext>
            </a:extLst>
          </p:cNvPr>
          <p:cNvSpPr txBox="1"/>
          <p:nvPr/>
        </p:nvSpPr>
        <p:spPr>
          <a:xfrm>
            <a:off x="9933844" y="4717563"/>
            <a:ext cx="1536192" cy="804672"/>
          </a:xfrm>
          <a:prstGeom prst="rect">
            <a:avLst/>
          </a:prstGeom>
          <a:noFill/>
          <a:ln/>
        </p:spPr>
        <p:txBody>
          <a:bodyPr wrap="square" lIns="0" tIns="0" rIns="0" bIns="0" rtlCol="0" anchor="t">
            <a:noAutofit/>
          </a:bodyPr>
          <a:lstStyle/>
          <a:p>
            <a:pPr marL="0" indent="0" algn="l">
              <a:lnSpc>
                <a:spcPct val="100000"/>
              </a:lnSpc>
              <a:buNone/>
            </a:pPr>
            <a:r>
              <a:rPr lang="en-US" sz="1000">
                <a:solidFill>
                  <a:srgbClr val="101820"/>
                </a:solidFill>
                <a:ea typeface="Aptos" pitchFamily="34" charset="-122"/>
                <a:cs typeface="Aptos" pitchFamily="34" charset="-120"/>
              </a:rPr>
              <a:t>AWS services provide</a:t>
            </a:r>
            <a:endParaRPr lang="en-US" sz="1000"/>
          </a:p>
          <a:p>
            <a:pPr marL="0" indent="0" algn="l">
              <a:lnSpc>
                <a:spcPct val="100000"/>
              </a:lnSpc>
              <a:buNone/>
            </a:pPr>
            <a:r>
              <a:rPr lang="en-US" sz="1000">
                <a:solidFill>
                  <a:srgbClr val="101820"/>
                </a:solidFill>
                <a:ea typeface="Aptos" pitchFamily="34" charset="-122"/>
                <a:cs typeface="Aptos" pitchFamily="34" charset="-120"/>
              </a:rPr>
              <a:t>a secure, modular, and</a:t>
            </a:r>
            <a:endParaRPr lang="en-US" sz="1000"/>
          </a:p>
          <a:p>
            <a:pPr marL="0" indent="0" algn="l">
              <a:lnSpc>
                <a:spcPct val="100000"/>
              </a:lnSpc>
              <a:buNone/>
            </a:pPr>
            <a:r>
              <a:rPr lang="en-US" sz="1000">
                <a:solidFill>
                  <a:srgbClr val="101820"/>
                </a:solidFill>
                <a:ea typeface="Aptos" pitchFamily="34" charset="-122"/>
                <a:cs typeface="Aptos" pitchFamily="34" charset="-120"/>
              </a:rPr>
              <a:t>reusable architecture for</a:t>
            </a:r>
            <a:endParaRPr lang="en-US" sz="1000"/>
          </a:p>
          <a:p>
            <a:pPr marL="0" indent="0" algn="l">
              <a:lnSpc>
                <a:spcPct val="100000"/>
              </a:lnSpc>
              <a:buNone/>
            </a:pPr>
            <a:r>
              <a:rPr lang="en-US" sz="1000">
                <a:solidFill>
                  <a:srgbClr val="101820"/>
                </a:solidFill>
                <a:ea typeface="Aptos" pitchFamily="34" charset="-122"/>
                <a:cs typeface="Aptos" pitchFamily="34" charset="-120"/>
              </a:rPr>
              <a:t>future lending and</a:t>
            </a:r>
            <a:endParaRPr lang="en-US" sz="1000"/>
          </a:p>
          <a:p>
            <a:pPr marL="0" indent="0" algn="l">
              <a:lnSpc>
                <a:spcPct val="100000"/>
              </a:lnSpc>
              <a:buNone/>
            </a:pPr>
            <a:r>
              <a:rPr lang="en-US" sz="1000">
                <a:solidFill>
                  <a:srgbClr val="101820"/>
                </a:solidFill>
                <a:ea typeface="Aptos" pitchFamily="34" charset="-122"/>
                <a:cs typeface="Aptos" pitchFamily="34" charset="-120"/>
              </a:rPr>
              <a:t>servicing use cases.</a:t>
            </a:r>
            <a:endParaRPr lang="en-US" sz="1000"/>
          </a:p>
        </p:txBody>
      </p:sp>
      <p:sp>
        <p:nvSpPr>
          <p:cNvPr id="55" name="Shape 48">
            <a:extLst>
              <a:ext uri="{FF2B5EF4-FFF2-40B4-BE49-F238E27FC236}">
                <a16:creationId xmlns:a16="http://schemas.microsoft.com/office/drawing/2014/main" id="{205AD3EF-4F58-B213-843F-9116A481786D}"/>
              </a:ext>
            </a:extLst>
          </p:cNvPr>
          <p:cNvSpPr/>
          <p:nvPr/>
        </p:nvSpPr>
        <p:spPr>
          <a:xfrm>
            <a:off x="242043" y="5937257"/>
            <a:ext cx="11329707" cy="715990"/>
          </a:xfrm>
          <a:prstGeom prst="roundRect">
            <a:avLst/>
          </a:prstGeom>
          <a:solidFill>
            <a:srgbClr val="F5FAFE"/>
          </a:solidFill>
          <a:ln w="10160">
            <a:solidFill>
              <a:srgbClr val="CFE7FA"/>
            </a:solidFill>
            <a:prstDash val="solid"/>
          </a:ln>
          <a:effectLst>
            <a:outerShdw blurRad="25400" dist="50800" dir="2700000" algn="bl" rotWithShape="0">
              <a:srgbClr val="9AA5B1">
                <a:alpha val="18000"/>
              </a:srgbClr>
            </a:outerShdw>
          </a:effectLst>
        </p:spPr>
        <p:txBody>
          <a:bodyPr/>
          <a:lstStyle/>
          <a:p>
            <a:endParaRPr lang="en-IN" sz="1600"/>
          </a:p>
        </p:txBody>
      </p:sp>
      <p:sp>
        <p:nvSpPr>
          <p:cNvPr id="60" name="Shape 52">
            <a:extLst>
              <a:ext uri="{FF2B5EF4-FFF2-40B4-BE49-F238E27FC236}">
                <a16:creationId xmlns:a16="http://schemas.microsoft.com/office/drawing/2014/main" id="{BB68CC00-55D1-9793-0C49-703A42E93D09}"/>
              </a:ext>
            </a:extLst>
          </p:cNvPr>
          <p:cNvSpPr/>
          <p:nvPr/>
        </p:nvSpPr>
        <p:spPr>
          <a:xfrm>
            <a:off x="1548137" y="6156713"/>
            <a:ext cx="384048" cy="384048"/>
          </a:xfrm>
          <a:prstGeom prst="ellipse">
            <a:avLst/>
          </a:prstGeom>
          <a:solidFill>
            <a:srgbClr val="EAF5E6"/>
          </a:solidFill>
          <a:ln w="6350">
            <a:solidFill>
              <a:srgbClr val="EAF5E6">
                <a:alpha val="0"/>
              </a:srgbClr>
            </a:solidFill>
            <a:prstDash val="solid"/>
          </a:ln>
        </p:spPr>
        <p:txBody>
          <a:bodyPr/>
          <a:lstStyle/>
          <a:p>
            <a:endParaRPr lang="en-IN" sz="1600"/>
          </a:p>
        </p:txBody>
      </p:sp>
      <p:pic>
        <p:nvPicPr>
          <p:cNvPr id="61" name="Image 8" descr="preencoded.png">
            <a:extLst>
              <a:ext uri="{FF2B5EF4-FFF2-40B4-BE49-F238E27FC236}">
                <a16:creationId xmlns:a16="http://schemas.microsoft.com/office/drawing/2014/main" id="{6D8EAED8-00C8-A244-9A1A-0ADF564DCC6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639577" y="6248153"/>
            <a:ext cx="201168" cy="201168"/>
          </a:xfrm>
          <a:prstGeom prst="rect">
            <a:avLst/>
          </a:prstGeom>
        </p:spPr>
      </p:pic>
      <p:sp>
        <p:nvSpPr>
          <p:cNvPr id="62" name="Text 53">
            <a:extLst>
              <a:ext uri="{FF2B5EF4-FFF2-40B4-BE49-F238E27FC236}">
                <a16:creationId xmlns:a16="http://schemas.microsoft.com/office/drawing/2014/main" id="{400D3762-93DD-AD6E-0289-9F800025BAAE}"/>
              </a:ext>
            </a:extLst>
          </p:cNvPr>
          <p:cNvSpPr txBox="1"/>
          <p:nvPr/>
        </p:nvSpPr>
        <p:spPr>
          <a:xfrm>
            <a:off x="2078489" y="6239009"/>
            <a:ext cx="1261872" cy="164592"/>
          </a:xfrm>
          <a:prstGeom prst="rect">
            <a:avLst/>
          </a:prstGeom>
          <a:noFill/>
          <a:ln/>
        </p:spPr>
        <p:txBody>
          <a:bodyPr wrap="square" lIns="0" tIns="0" rIns="0" bIns="0" rtlCol="0" anchor="t">
            <a:normAutofit/>
          </a:bodyPr>
          <a:lstStyle/>
          <a:p>
            <a:pPr marL="0" indent="0" algn="l">
              <a:lnSpc>
                <a:spcPct val="90000"/>
              </a:lnSpc>
              <a:buNone/>
            </a:pPr>
            <a:r>
              <a:rPr lang="en-US" sz="1050">
                <a:solidFill>
                  <a:srgbClr val="101820"/>
                </a:solidFill>
                <a:ea typeface="Aptos" pitchFamily="34" charset="-122"/>
                <a:cs typeface="Aptos" pitchFamily="34" charset="-120"/>
              </a:rPr>
              <a:t>Faster conversion</a:t>
            </a:r>
            <a:endParaRPr lang="en-US" sz="1050"/>
          </a:p>
        </p:txBody>
      </p:sp>
      <p:sp>
        <p:nvSpPr>
          <p:cNvPr id="63" name="Shape 54">
            <a:extLst>
              <a:ext uri="{FF2B5EF4-FFF2-40B4-BE49-F238E27FC236}">
                <a16:creationId xmlns:a16="http://schemas.microsoft.com/office/drawing/2014/main" id="{002C67C8-498C-DB11-6193-67F9870B229B}"/>
              </a:ext>
            </a:extLst>
          </p:cNvPr>
          <p:cNvSpPr/>
          <p:nvPr/>
        </p:nvSpPr>
        <p:spPr>
          <a:xfrm>
            <a:off x="3248921" y="6284729"/>
            <a:ext cx="64008" cy="64008"/>
          </a:xfrm>
          <a:prstGeom prst="ellipse">
            <a:avLst/>
          </a:prstGeom>
          <a:solidFill>
            <a:srgbClr val="005AA9"/>
          </a:solidFill>
          <a:ln w="6350">
            <a:solidFill>
              <a:srgbClr val="005AA9">
                <a:alpha val="0"/>
              </a:srgbClr>
            </a:solidFill>
            <a:prstDash val="solid"/>
          </a:ln>
        </p:spPr>
        <p:txBody>
          <a:bodyPr/>
          <a:lstStyle/>
          <a:p>
            <a:endParaRPr lang="en-IN" sz="1600"/>
          </a:p>
        </p:txBody>
      </p:sp>
      <p:sp>
        <p:nvSpPr>
          <p:cNvPr id="64" name="Shape 55">
            <a:extLst>
              <a:ext uri="{FF2B5EF4-FFF2-40B4-BE49-F238E27FC236}">
                <a16:creationId xmlns:a16="http://schemas.microsoft.com/office/drawing/2014/main" id="{C07C1238-E9E9-55F9-FF57-3131849DB54D}"/>
              </a:ext>
            </a:extLst>
          </p:cNvPr>
          <p:cNvSpPr/>
          <p:nvPr/>
        </p:nvSpPr>
        <p:spPr>
          <a:xfrm>
            <a:off x="3486665" y="6156713"/>
            <a:ext cx="384048" cy="384048"/>
          </a:xfrm>
          <a:prstGeom prst="ellipse">
            <a:avLst/>
          </a:prstGeom>
          <a:solidFill>
            <a:srgbClr val="EAF5E6"/>
          </a:solidFill>
          <a:ln w="6350">
            <a:solidFill>
              <a:srgbClr val="EAF5E6">
                <a:alpha val="0"/>
              </a:srgbClr>
            </a:solidFill>
            <a:prstDash val="solid"/>
          </a:ln>
        </p:spPr>
        <p:txBody>
          <a:bodyPr/>
          <a:lstStyle/>
          <a:p>
            <a:endParaRPr lang="en-IN" sz="1600"/>
          </a:p>
        </p:txBody>
      </p:sp>
      <p:pic>
        <p:nvPicPr>
          <p:cNvPr id="65" name="Image 9" descr="preencoded.png">
            <a:extLst>
              <a:ext uri="{FF2B5EF4-FFF2-40B4-BE49-F238E27FC236}">
                <a16:creationId xmlns:a16="http://schemas.microsoft.com/office/drawing/2014/main" id="{3BBAB38A-0B41-DCDF-82D6-394BD616CDF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78105" y="6248153"/>
            <a:ext cx="201168" cy="201168"/>
          </a:xfrm>
          <a:prstGeom prst="rect">
            <a:avLst/>
          </a:prstGeom>
        </p:spPr>
      </p:pic>
      <p:sp>
        <p:nvSpPr>
          <p:cNvPr id="66" name="Text 56">
            <a:extLst>
              <a:ext uri="{FF2B5EF4-FFF2-40B4-BE49-F238E27FC236}">
                <a16:creationId xmlns:a16="http://schemas.microsoft.com/office/drawing/2014/main" id="{95411DDC-722B-854C-5EFA-2C2987EB6395}"/>
              </a:ext>
            </a:extLst>
          </p:cNvPr>
          <p:cNvSpPr txBox="1"/>
          <p:nvPr/>
        </p:nvSpPr>
        <p:spPr>
          <a:xfrm>
            <a:off x="4017017" y="6239009"/>
            <a:ext cx="1508760" cy="164592"/>
          </a:xfrm>
          <a:prstGeom prst="rect">
            <a:avLst/>
          </a:prstGeom>
          <a:noFill/>
          <a:ln/>
        </p:spPr>
        <p:txBody>
          <a:bodyPr wrap="square" lIns="0" tIns="0" rIns="0" bIns="0" rtlCol="0" anchor="t">
            <a:normAutofit/>
          </a:bodyPr>
          <a:lstStyle/>
          <a:p>
            <a:pPr marL="0" indent="0" algn="l">
              <a:lnSpc>
                <a:spcPct val="90000"/>
              </a:lnSpc>
              <a:buNone/>
            </a:pPr>
            <a:r>
              <a:rPr lang="en-US" sz="1050">
                <a:solidFill>
                  <a:srgbClr val="101820"/>
                </a:solidFill>
                <a:ea typeface="Aptos" pitchFamily="34" charset="-122"/>
                <a:cs typeface="Aptos" pitchFamily="34" charset="-120"/>
              </a:rPr>
              <a:t>Reduced manual effort</a:t>
            </a:r>
            <a:endParaRPr lang="en-US" sz="1050"/>
          </a:p>
        </p:txBody>
      </p:sp>
      <p:sp>
        <p:nvSpPr>
          <p:cNvPr id="67" name="Shape 57">
            <a:extLst>
              <a:ext uri="{FF2B5EF4-FFF2-40B4-BE49-F238E27FC236}">
                <a16:creationId xmlns:a16="http://schemas.microsoft.com/office/drawing/2014/main" id="{4DAD2316-9D61-14BB-5C64-504C69CF9E82}"/>
              </a:ext>
            </a:extLst>
          </p:cNvPr>
          <p:cNvSpPr/>
          <p:nvPr/>
        </p:nvSpPr>
        <p:spPr>
          <a:xfrm>
            <a:off x="5498345" y="6284729"/>
            <a:ext cx="64008" cy="64008"/>
          </a:xfrm>
          <a:prstGeom prst="ellipse">
            <a:avLst/>
          </a:prstGeom>
          <a:solidFill>
            <a:srgbClr val="005AA9"/>
          </a:solidFill>
          <a:ln w="6350">
            <a:solidFill>
              <a:srgbClr val="005AA9">
                <a:alpha val="0"/>
              </a:srgbClr>
            </a:solidFill>
            <a:prstDash val="solid"/>
          </a:ln>
        </p:spPr>
        <p:txBody>
          <a:bodyPr/>
          <a:lstStyle/>
          <a:p>
            <a:endParaRPr lang="en-IN" sz="1600"/>
          </a:p>
        </p:txBody>
      </p:sp>
      <p:sp>
        <p:nvSpPr>
          <p:cNvPr id="68" name="Shape 58">
            <a:extLst>
              <a:ext uri="{FF2B5EF4-FFF2-40B4-BE49-F238E27FC236}">
                <a16:creationId xmlns:a16="http://schemas.microsoft.com/office/drawing/2014/main" id="{67215E11-2943-1DC9-1D43-24943933794E}"/>
              </a:ext>
            </a:extLst>
          </p:cNvPr>
          <p:cNvSpPr/>
          <p:nvPr/>
        </p:nvSpPr>
        <p:spPr>
          <a:xfrm>
            <a:off x="5772665" y="6156713"/>
            <a:ext cx="384048" cy="384048"/>
          </a:xfrm>
          <a:prstGeom prst="ellipse">
            <a:avLst/>
          </a:prstGeom>
          <a:solidFill>
            <a:srgbClr val="EAF5E6"/>
          </a:solidFill>
          <a:ln w="6350">
            <a:solidFill>
              <a:srgbClr val="EAF5E6">
                <a:alpha val="0"/>
              </a:srgbClr>
            </a:solidFill>
            <a:prstDash val="solid"/>
          </a:ln>
        </p:spPr>
        <p:txBody>
          <a:bodyPr/>
          <a:lstStyle/>
          <a:p>
            <a:endParaRPr lang="en-IN" sz="1600"/>
          </a:p>
        </p:txBody>
      </p:sp>
      <p:pic>
        <p:nvPicPr>
          <p:cNvPr id="69" name="Image 10" descr="preencoded.png">
            <a:extLst>
              <a:ext uri="{FF2B5EF4-FFF2-40B4-BE49-F238E27FC236}">
                <a16:creationId xmlns:a16="http://schemas.microsoft.com/office/drawing/2014/main" id="{684F4563-EC75-86A1-B65F-A8A5C504005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64105" y="6248153"/>
            <a:ext cx="201168" cy="201168"/>
          </a:xfrm>
          <a:prstGeom prst="rect">
            <a:avLst/>
          </a:prstGeom>
        </p:spPr>
      </p:pic>
      <p:sp>
        <p:nvSpPr>
          <p:cNvPr id="70" name="Text 59">
            <a:extLst>
              <a:ext uri="{FF2B5EF4-FFF2-40B4-BE49-F238E27FC236}">
                <a16:creationId xmlns:a16="http://schemas.microsoft.com/office/drawing/2014/main" id="{BE727B89-B2C9-3367-3B0A-242E941A40F6}"/>
              </a:ext>
            </a:extLst>
          </p:cNvPr>
          <p:cNvSpPr txBox="1"/>
          <p:nvPr/>
        </p:nvSpPr>
        <p:spPr>
          <a:xfrm>
            <a:off x="6303017" y="6239009"/>
            <a:ext cx="1609344" cy="164592"/>
          </a:xfrm>
          <a:prstGeom prst="rect">
            <a:avLst/>
          </a:prstGeom>
          <a:noFill/>
          <a:ln/>
        </p:spPr>
        <p:txBody>
          <a:bodyPr wrap="square" lIns="0" tIns="0" rIns="0" bIns="0" rtlCol="0" anchor="t">
            <a:normAutofit/>
          </a:bodyPr>
          <a:lstStyle/>
          <a:p>
            <a:pPr marL="0" indent="0" algn="l">
              <a:lnSpc>
                <a:spcPct val="90000"/>
              </a:lnSpc>
              <a:buNone/>
            </a:pPr>
            <a:r>
              <a:rPr lang="en-US" sz="1050">
                <a:solidFill>
                  <a:srgbClr val="101820"/>
                </a:solidFill>
                <a:ea typeface="Aptos" pitchFamily="34" charset="-122"/>
                <a:cs typeface="Aptos" pitchFamily="34" charset="-120"/>
              </a:rPr>
              <a:t>Better responsiveness</a:t>
            </a:r>
            <a:endParaRPr lang="en-US" sz="1050"/>
          </a:p>
        </p:txBody>
      </p:sp>
      <p:sp>
        <p:nvSpPr>
          <p:cNvPr id="71" name="Shape 60">
            <a:extLst>
              <a:ext uri="{FF2B5EF4-FFF2-40B4-BE49-F238E27FC236}">
                <a16:creationId xmlns:a16="http://schemas.microsoft.com/office/drawing/2014/main" id="{B3CA473A-4CDE-7690-18ED-007157724506}"/>
              </a:ext>
            </a:extLst>
          </p:cNvPr>
          <p:cNvSpPr/>
          <p:nvPr/>
        </p:nvSpPr>
        <p:spPr>
          <a:xfrm>
            <a:off x="7875785" y="6284729"/>
            <a:ext cx="64008" cy="64008"/>
          </a:xfrm>
          <a:prstGeom prst="ellipse">
            <a:avLst/>
          </a:prstGeom>
          <a:solidFill>
            <a:srgbClr val="005AA9"/>
          </a:solidFill>
          <a:ln w="6350">
            <a:solidFill>
              <a:srgbClr val="005AA9">
                <a:alpha val="0"/>
              </a:srgbClr>
            </a:solidFill>
            <a:prstDash val="solid"/>
          </a:ln>
        </p:spPr>
        <p:txBody>
          <a:bodyPr/>
          <a:lstStyle/>
          <a:p>
            <a:endParaRPr lang="en-IN" sz="1600"/>
          </a:p>
        </p:txBody>
      </p:sp>
      <p:sp>
        <p:nvSpPr>
          <p:cNvPr id="72" name="Shape 61">
            <a:extLst>
              <a:ext uri="{FF2B5EF4-FFF2-40B4-BE49-F238E27FC236}">
                <a16:creationId xmlns:a16="http://schemas.microsoft.com/office/drawing/2014/main" id="{5E676C72-AED6-8B84-B0A9-188B6D6ED346}"/>
              </a:ext>
            </a:extLst>
          </p:cNvPr>
          <p:cNvSpPr/>
          <p:nvPr/>
        </p:nvSpPr>
        <p:spPr>
          <a:xfrm>
            <a:off x="8159249" y="6156713"/>
            <a:ext cx="384048" cy="384048"/>
          </a:xfrm>
          <a:prstGeom prst="ellipse">
            <a:avLst/>
          </a:prstGeom>
          <a:solidFill>
            <a:srgbClr val="EAF5E6"/>
          </a:solidFill>
          <a:ln w="6350">
            <a:solidFill>
              <a:srgbClr val="EAF5E6">
                <a:alpha val="0"/>
              </a:srgbClr>
            </a:solidFill>
            <a:prstDash val="solid"/>
          </a:ln>
        </p:spPr>
        <p:txBody>
          <a:bodyPr/>
          <a:lstStyle/>
          <a:p>
            <a:endParaRPr lang="en-IN" sz="1600"/>
          </a:p>
        </p:txBody>
      </p:sp>
      <p:pic>
        <p:nvPicPr>
          <p:cNvPr id="73" name="Image 11" descr="preencoded.png">
            <a:extLst>
              <a:ext uri="{FF2B5EF4-FFF2-40B4-BE49-F238E27FC236}">
                <a16:creationId xmlns:a16="http://schemas.microsoft.com/office/drawing/2014/main" id="{1AF641C3-59C0-9872-1A4C-EAD036704F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250689" y="6248153"/>
            <a:ext cx="201168" cy="201168"/>
          </a:xfrm>
          <a:prstGeom prst="rect">
            <a:avLst/>
          </a:prstGeom>
        </p:spPr>
      </p:pic>
      <p:sp>
        <p:nvSpPr>
          <p:cNvPr id="74" name="Text 62">
            <a:extLst>
              <a:ext uri="{FF2B5EF4-FFF2-40B4-BE49-F238E27FC236}">
                <a16:creationId xmlns:a16="http://schemas.microsoft.com/office/drawing/2014/main" id="{D33D8539-CA56-92EB-A582-E1F8BD3EE030}"/>
              </a:ext>
            </a:extLst>
          </p:cNvPr>
          <p:cNvSpPr txBox="1"/>
          <p:nvPr/>
        </p:nvSpPr>
        <p:spPr>
          <a:xfrm>
            <a:off x="8689601" y="6239009"/>
            <a:ext cx="1353312" cy="164592"/>
          </a:xfrm>
          <a:prstGeom prst="rect">
            <a:avLst/>
          </a:prstGeom>
          <a:noFill/>
          <a:ln/>
        </p:spPr>
        <p:txBody>
          <a:bodyPr wrap="square" lIns="0" tIns="0" rIns="0" bIns="0" rtlCol="0" anchor="t">
            <a:normAutofit/>
          </a:bodyPr>
          <a:lstStyle/>
          <a:p>
            <a:pPr marL="0" indent="0" algn="l">
              <a:lnSpc>
                <a:spcPct val="90000"/>
              </a:lnSpc>
              <a:buNone/>
            </a:pPr>
            <a:r>
              <a:rPr lang="en-US" sz="1050">
                <a:solidFill>
                  <a:srgbClr val="101820"/>
                </a:solidFill>
                <a:ea typeface="Aptos" pitchFamily="34" charset="-122"/>
                <a:cs typeface="Aptos" pitchFamily="34" charset="-120"/>
              </a:rPr>
              <a:t>Reusable platform</a:t>
            </a:r>
            <a:endParaRPr lang="en-US" sz="1050"/>
          </a:p>
        </p:txBody>
      </p:sp>
      <p:sp>
        <p:nvSpPr>
          <p:cNvPr id="81" name="Shape 30">
            <a:extLst>
              <a:ext uri="{FF2B5EF4-FFF2-40B4-BE49-F238E27FC236}">
                <a16:creationId xmlns:a16="http://schemas.microsoft.com/office/drawing/2014/main" id="{1BB3945E-3331-1812-ABD8-19EFC661D276}"/>
              </a:ext>
            </a:extLst>
          </p:cNvPr>
          <p:cNvSpPr/>
          <p:nvPr/>
        </p:nvSpPr>
        <p:spPr>
          <a:xfrm flipH="1">
            <a:off x="6221790" y="4534929"/>
            <a:ext cx="1895" cy="916377"/>
          </a:xfrm>
          <a:prstGeom prst="line">
            <a:avLst/>
          </a:prstGeom>
          <a:noFill/>
          <a:ln w="13970">
            <a:solidFill>
              <a:srgbClr val="00A3E0"/>
            </a:solidFill>
            <a:prstDash val="solid"/>
          </a:ln>
        </p:spPr>
        <p:txBody>
          <a:bodyPr/>
          <a:lstStyle/>
          <a:p>
            <a:endParaRPr lang="en-IN" sz="1600"/>
          </a:p>
        </p:txBody>
      </p:sp>
      <p:sp>
        <p:nvSpPr>
          <p:cNvPr id="82" name="Shape 35">
            <a:extLst>
              <a:ext uri="{FF2B5EF4-FFF2-40B4-BE49-F238E27FC236}">
                <a16:creationId xmlns:a16="http://schemas.microsoft.com/office/drawing/2014/main" id="{C4F451D5-9986-E982-386C-D58D869DF9CE}"/>
              </a:ext>
            </a:extLst>
          </p:cNvPr>
          <p:cNvSpPr/>
          <p:nvPr/>
        </p:nvSpPr>
        <p:spPr>
          <a:xfrm>
            <a:off x="9675340" y="4592595"/>
            <a:ext cx="2883" cy="858712"/>
          </a:xfrm>
          <a:prstGeom prst="line">
            <a:avLst/>
          </a:prstGeom>
          <a:noFill/>
          <a:ln w="13970">
            <a:solidFill>
              <a:srgbClr val="00A3E0"/>
            </a:solidFill>
            <a:prstDash val="solid"/>
          </a:ln>
        </p:spPr>
        <p:txBody>
          <a:bodyPr/>
          <a:lstStyle/>
          <a:p>
            <a:endParaRPr lang="en-IN" sz="1600"/>
          </a:p>
        </p:txBody>
      </p:sp>
      <p:sp>
        <p:nvSpPr>
          <p:cNvPr id="83" name="Shape 15">
            <a:extLst>
              <a:ext uri="{FF2B5EF4-FFF2-40B4-BE49-F238E27FC236}">
                <a16:creationId xmlns:a16="http://schemas.microsoft.com/office/drawing/2014/main" id="{C96BE090-3313-2147-A54C-0CA5C50C06FC}"/>
              </a:ext>
            </a:extLst>
          </p:cNvPr>
          <p:cNvSpPr/>
          <p:nvPr/>
        </p:nvSpPr>
        <p:spPr>
          <a:xfrm>
            <a:off x="1421028" y="3686432"/>
            <a:ext cx="0" cy="634315"/>
          </a:xfrm>
          <a:prstGeom prst="line">
            <a:avLst/>
          </a:prstGeom>
          <a:noFill/>
          <a:ln w="13970">
            <a:solidFill>
              <a:srgbClr val="1C7A17"/>
            </a:solidFill>
            <a:prstDash val="solid"/>
          </a:ln>
        </p:spPr>
        <p:txBody>
          <a:bodyPr/>
          <a:lstStyle/>
          <a:p>
            <a:endParaRPr lang="en-IN" sz="1600"/>
          </a:p>
        </p:txBody>
      </p:sp>
      <p:sp>
        <p:nvSpPr>
          <p:cNvPr id="84" name="Shape 15">
            <a:extLst>
              <a:ext uri="{FF2B5EF4-FFF2-40B4-BE49-F238E27FC236}">
                <a16:creationId xmlns:a16="http://schemas.microsoft.com/office/drawing/2014/main" id="{0EA947E7-9790-E9AB-A0C8-CED320568992}"/>
              </a:ext>
            </a:extLst>
          </p:cNvPr>
          <p:cNvSpPr/>
          <p:nvPr/>
        </p:nvSpPr>
        <p:spPr>
          <a:xfrm>
            <a:off x="1412790" y="4823253"/>
            <a:ext cx="0" cy="634315"/>
          </a:xfrm>
          <a:prstGeom prst="line">
            <a:avLst/>
          </a:prstGeom>
          <a:noFill/>
          <a:ln w="13970">
            <a:solidFill>
              <a:srgbClr val="1C7A17"/>
            </a:solidFill>
            <a:prstDash val="solid"/>
          </a:ln>
        </p:spPr>
        <p:txBody>
          <a:bodyPr/>
          <a:lstStyle/>
          <a:p>
            <a:endParaRPr lang="en-IN" sz="1600"/>
          </a:p>
        </p:txBody>
      </p:sp>
    </p:spTree>
    <p:extLst>
      <p:ext uri="{BB962C8B-B14F-4D97-AF65-F5344CB8AC3E}">
        <p14:creationId xmlns:p14="http://schemas.microsoft.com/office/powerpoint/2010/main" val="3704357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032" y="135374"/>
            <a:ext cx="10607040" cy="369332"/>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F4B8F"/>
                </a:solidFill>
                <a:effectLst/>
                <a:uLnTx/>
                <a:uFillTx/>
                <a:latin typeface="Aptos"/>
                <a:ea typeface="+mn-ea"/>
                <a:cs typeface="+mn-cs"/>
              </a:rPr>
              <a:t>Typical </a:t>
            </a:r>
            <a:r>
              <a:rPr kumimoji="0" sz="2400" b="1" i="0" u="none" strike="noStrike" kern="1200" cap="none" spc="0" normalizeH="0" baseline="0" noProof="0">
                <a:ln>
                  <a:noFill/>
                </a:ln>
                <a:solidFill>
                  <a:srgbClr val="0F4B8F"/>
                </a:solidFill>
                <a:effectLst/>
                <a:uLnTx/>
                <a:uFillTx/>
                <a:latin typeface="Aptos"/>
                <a:ea typeface="+mn-ea"/>
                <a:cs typeface="+mn-cs"/>
              </a:rPr>
              <a:t>LOS </a:t>
            </a:r>
            <a:r>
              <a:rPr kumimoji="0" lang="en-US" sz="2400" b="1" i="0" u="none" strike="noStrike" kern="1200" cap="none" spc="0" normalizeH="0" baseline="0" noProof="0">
                <a:ln>
                  <a:noFill/>
                </a:ln>
                <a:solidFill>
                  <a:srgbClr val="0F4B8F"/>
                </a:solidFill>
                <a:effectLst/>
                <a:uLnTx/>
                <a:uFillTx/>
                <a:latin typeface="Aptos"/>
                <a:ea typeface="+mn-ea"/>
                <a:cs typeface="+mn-cs"/>
              </a:rPr>
              <a:t>Ecosystem</a:t>
            </a:r>
            <a:endParaRPr kumimoji="0" sz="2400" b="1" i="0" u="none" strike="noStrike" kern="1200" cap="none" spc="0" normalizeH="0" baseline="0" noProof="0">
              <a:ln>
                <a:noFill/>
              </a:ln>
              <a:solidFill>
                <a:srgbClr val="0F4B8F"/>
              </a:solidFill>
              <a:effectLst/>
              <a:uLnTx/>
              <a:uFillTx/>
              <a:latin typeface="Aptos"/>
              <a:ea typeface="+mn-ea"/>
              <a:cs typeface="+mn-cs"/>
            </a:endParaRPr>
          </a:p>
        </p:txBody>
      </p:sp>
      <p:sp>
        <p:nvSpPr>
          <p:cNvPr id="3" name="TextBox 2"/>
          <p:cNvSpPr txBox="1"/>
          <p:nvPr/>
        </p:nvSpPr>
        <p:spPr>
          <a:xfrm>
            <a:off x="256032" y="512064"/>
            <a:ext cx="10698480" cy="256032"/>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5A6470"/>
                </a:solidFill>
                <a:effectLst/>
                <a:uLnTx/>
                <a:uFillTx/>
                <a:latin typeface="Aptos"/>
                <a:ea typeface="+mn-ea"/>
                <a:cs typeface="+mn-cs"/>
              </a:rPr>
              <a:t>A unified view of business capabilities, enterprise integrations, and the platform scope to be modernized on AWS.</a:t>
            </a:r>
          </a:p>
        </p:txBody>
      </p:sp>
      <p:sp>
        <p:nvSpPr>
          <p:cNvPr id="4" name="Rectangle 3"/>
          <p:cNvSpPr/>
          <p:nvPr/>
        </p:nvSpPr>
        <p:spPr>
          <a:xfrm>
            <a:off x="228600" y="932688"/>
            <a:ext cx="2176272" cy="5138928"/>
          </a:xfrm>
          <a:prstGeom prst="rect">
            <a:avLst/>
          </a:prstGeom>
          <a:solidFill>
            <a:srgbClr val="FFFFFF"/>
          </a:solidFill>
          <a:ln w="10160">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Rectangle 4"/>
          <p:cNvSpPr/>
          <p:nvPr/>
        </p:nvSpPr>
        <p:spPr>
          <a:xfrm>
            <a:off x="228600" y="932688"/>
            <a:ext cx="2176272" cy="502920"/>
          </a:xfrm>
          <a:prstGeom prst="rect">
            <a:avLst/>
          </a:prstGeom>
          <a:solidFill>
            <a:srgbClr val="0F4B8F"/>
          </a:solidFill>
          <a:ln w="10160">
            <a:solidFill>
              <a:srgbClr val="0F4B8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p:cNvSpPr txBox="1"/>
          <p:nvPr/>
        </p:nvSpPr>
        <p:spPr>
          <a:xfrm>
            <a:off x="274320" y="1026733"/>
            <a:ext cx="2084832" cy="314830"/>
          </a:xfrm>
          <a:prstGeom prst="rect">
            <a:avLst/>
          </a:prstGeom>
          <a:noFill/>
        </p:spPr>
        <p:txBody>
          <a:bodyPr wrap="square" lIns="36576" tIns="18288" rIns="36576" bIns="18288"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ptos"/>
                <a:ea typeface="+mn-ea"/>
                <a:cs typeface="+mn-cs"/>
              </a:rPr>
              <a:t>Enterprise / Internal
Systems</a:t>
            </a:r>
          </a:p>
        </p:txBody>
      </p:sp>
      <p:sp>
        <p:nvSpPr>
          <p:cNvPr id="7" name="Rectangle 6"/>
          <p:cNvSpPr/>
          <p:nvPr/>
        </p:nvSpPr>
        <p:spPr>
          <a:xfrm>
            <a:off x="283464" y="1545336"/>
            <a:ext cx="2066544" cy="833932"/>
          </a:xfrm>
          <a:prstGeom prst="rect">
            <a:avLst/>
          </a:prstGeom>
          <a:solidFill>
            <a:srgbClr val="FFFFFF"/>
          </a:solidFill>
          <a:ln w="8890">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8" name="Picture 7" descr="database.png"/>
          <p:cNvPicPr>
            <a:picLocks noChangeAspect="1"/>
          </p:cNvPicPr>
          <p:nvPr/>
        </p:nvPicPr>
        <p:blipFill>
          <a:blip r:embed="rId2"/>
          <a:stretch>
            <a:fillRect/>
          </a:stretch>
        </p:blipFill>
        <p:spPr>
          <a:xfrm>
            <a:off x="374904" y="1788566"/>
            <a:ext cx="347472" cy="347472"/>
          </a:xfrm>
          <a:prstGeom prst="rect">
            <a:avLst/>
          </a:prstGeom>
        </p:spPr>
      </p:pic>
      <p:sp>
        <p:nvSpPr>
          <p:cNvPr id="9" name="TextBox 8"/>
          <p:cNvSpPr txBox="1"/>
          <p:nvPr/>
        </p:nvSpPr>
        <p:spPr>
          <a:xfrm>
            <a:off x="832104" y="1763420"/>
            <a:ext cx="1463040" cy="237744"/>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1150" b="1" i="0" u="none" strike="noStrike" kern="1200" cap="none" spc="0" normalizeH="0" baseline="0" noProof="0">
                <a:ln>
                  <a:noFill/>
                </a:ln>
                <a:solidFill>
                  <a:srgbClr val="1F1F1F"/>
                </a:solidFill>
                <a:effectLst/>
                <a:uLnTx/>
                <a:uFillTx/>
                <a:latin typeface="Aptos"/>
                <a:ea typeface="+mn-ea"/>
                <a:cs typeface="+mn-cs"/>
              </a:rPr>
              <a:t>Data Warehouse</a:t>
            </a:r>
          </a:p>
        </p:txBody>
      </p:sp>
      <p:sp>
        <p:nvSpPr>
          <p:cNvPr id="10" name="TextBox 9"/>
          <p:cNvSpPr txBox="1"/>
          <p:nvPr/>
        </p:nvSpPr>
        <p:spPr>
          <a:xfrm>
            <a:off x="832104" y="1833372"/>
            <a:ext cx="1463040" cy="422452"/>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90" b="0" i="0" u="none" strike="noStrike" kern="1200" cap="none" spc="0" normalizeH="0" baseline="0" noProof="0">
                <a:ln>
                  <a:noFill/>
                </a:ln>
                <a:solidFill>
                  <a:srgbClr val="1F1F1F"/>
                </a:solidFill>
                <a:effectLst/>
                <a:uLnTx/>
                <a:uFillTx/>
                <a:latin typeface="Aptos"/>
                <a:ea typeface="+mn-ea"/>
                <a:cs typeface="+mn-cs"/>
              </a:rPr>
              <a:t>Insights &amp; reporting</a:t>
            </a:r>
          </a:p>
        </p:txBody>
      </p:sp>
      <p:sp>
        <p:nvSpPr>
          <p:cNvPr id="11" name="Rectangle 10"/>
          <p:cNvSpPr/>
          <p:nvPr/>
        </p:nvSpPr>
        <p:spPr>
          <a:xfrm>
            <a:off x="283464" y="2443276"/>
            <a:ext cx="2066544" cy="833932"/>
          </a:xfrm>
          <a:prstGeom prst="rect">
            <a:avLst/>
          </a:prstGeom>
          <a:solidFill>
            <a:srgbClr val="FFFFFF"/>
          </a:solidFill>
          <a:ln w="8890">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2" name="Picture 11" descr="shield_user.png"/>
          <p:cNvPicPr>
            <a:picLocks noChangeAspect="1"/>
          </p:cNvPicPr>
          <p:nvPr/>
        </p:nvPicPr>
        <p:blipFill>
          <a:blip r:embed="rId3"/>
          <a:stretch>
            <a:fillRect/>
          </a:stretch>
        </p:blipFill>
        <p:spPr>
          <a:xfrm>
            <a:off x="374904" y="2686507"/>
            <a:ext cx="347472" cy="347472"/>
          </a:xfrm>
          <a:prstGeom prst="rect">
            <a:avLst/>
          </a:prstGeom>
        </p:spPr>
      </p:pic>
      <p:sp>
        <p:nvSpPr>
          <p:cNvPr id="13" name="TextBox 12"/>
          <p:cNvSpPr txBox="1"/>
          <p:nvPr/>
        </p:nvSpPr>
        <p:spPr>
          <a:xfrm>
            <a:off x="832104" y="2601924"/>
            <a:ext cx="1463040" cy="237744"/>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1150" b="1" i="0" u="none" strike="noStrike" kern="1200" cap="none" spc="0" normalizeH="0" baseline="0" noProof="0">
                <a:ln>
                  <a:noFill/>
                </a:ln>
                <a:solidFill>
                  <a:srgbClr val="1F1F1F"/>
                </a:solidFill>
                <a:effectLst/>
                <a:uLnTx/>
                <a:uFillTx/>
                <a:latin typeface="Aptos"/>
                <a:ea typeface="+mn-ea"/>
                <a:cs typeface="+mn-cs"/>
              </a:rPr>
              <a:t>SSO / IAM</a:t>
            </a:r>
          </a:p>
        </p:txBody>
      </p:sp>
      <p:sp>
        <p:nvSpPr>
          <p:cNvPr id="14" name="TextBox 13"/>
          <p:cNvSpPr txBox="1"/>
          <p:nvPr/>
        </p:nvSpPr>
        <p:spPr>
          <a:xfrm>
            <a:off x="832104" y="2745486"/>
            <a:ext cx="1463040" cy="422452"/>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90" b="0" i="0" u="none" strike="noStrike" kern="1200" cap="none" spc="0" normalizeH="0" baseline="0" noProof="0">
                <a:ln>
                  <a:noFill/>
                </a:ln>
                <a:solidFill>
                  <a:srgbClr val="1F1F1F"/>
                </a:solidFill>
                <a:effectLst/>
                <a:uLnTx/>
                <a:uFillTx/>
                <a:latin typeface="Aptos"/>
                <a:ea typeface="+mn-ea"/>
                <a:cs typeface="+mn-cs"/>
              </a:rPr>
              <a:t>Authentication &amp;
access management</a:t>
            </a:r>
          </a:p>
        </p:txBody>
      </p:sp>
      <p:sp>
        <p:nvSpPr>
          <p:cNvPr id="15" name="Rectangle 14"/>
          <p:cNvSpPr/>
          <p:nvPr/>
        </p:nvSpPr>
        <p:spPr>
          <a:xfrm>
            <a:off x="283464" y="3341217"/>
            <a:ext cx="2066544" cy="833932"/>
          </a:xfrm>
          <a:prstGeom prst="rect">
            <a:avLst/>
          </a:prstGeom>
          <a:solidFill>
            <a:srgbClr val="FFFFFF"/>
          </a:solidFill>
          <a:ln w="8890">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6" name="Picture 15" descr="document.png"/>
          <p:cNvPicPr>
            <a:picLocks noChangeAspect="1"/>
          </p:cNvPicPr>
          <p:nvPr/>
        </p:nvPicPr>
        <p:blipFill>
          <a:blip r:embed="rId4"/>
          <a:stretch>
            <a:fillRect/>
          </a:stretch>
        </p:blipFill>
        <p:spPr>
          <a:xfrm>
            <a:off x="374904" y="3584448"/>
            <a:ext cx="347472" cy="347472"/>
          </a:xfrm>
          <a:prstGeom prst="rect">
            <a:avLst/>
          </a:prstGeom>
        </p:spPr>
      </p:pic>
      <p:sp>
        <p:nvSpPr>
          <p:cNvPr id="17" name="TextBox 16"/>
          <p:cNvSpPr txBox="1"/>
          <p:nvPr/>
        </p:nvSpPr>
        <p:spPr>
          <a:xfrm>
            <a:off x="832104" y="3504437"/>
            <a:ext cx="1463040" cy="237744"/>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1150" b="1" i="0" u="none" strike="noStrike" kern="1200" cap="none" spc="0" normalizeH="0" baseline="0" noProof="0">
                <a:ln>
                  <a:noFill/>
                </a:ln>
                <a:solidFill>
                  <a:srgbClr val="1F1F1F"/>
                </a:solidFill>
                <a:effectLst/>
                <a:uLnTx/>
                <a:uFillTx/>
                <a:latin typeface="Aptos"/>
                <a:ea typeface="+mn-ea"/>
                <a:cs typeface="+mn-cs"/>
              </a:rPr>
              <a:t>DMS</a:t>
            </a:r>
          </a:p>
        </p:txBody>
      </p:sp>
      <p:sp>
        <p:nvSpPr>
          <p:cNvPr id="18" name="TextBox 17"/>
          <p:cNvSpPr txBox="1"/>
          <p:nvPr/>
        </p:nvSpPr>
        <p:spPr>
          <a:xfrm>
            <a:off x="832104" y="3634740"/>
            <a:ext cx="1463040" cy="422452"/>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90" b="0" i="0" u="none" strike="noStrike" kern="1200" cap="none" spc="0" normalizeH="0" baseline="0" noProof="0">
                <a:ln>
                  <a:noFill/>
                </a:ln>
                <a:solidFill>
                  <a:srgbClr val="1F1F1F"/>
                </a:solidFill>
                <a:effectLst/>
                <a:uLnTx/>
                <a:uFillTx/>
                <a:latin typeface="Aptos"/>
                <a:ea typeface="+mn-ea"/>
                <a:cs typeface="+mn-cs"/>
              </a:rPr>
              <a:t>Document repository &amp;
management</a:t>
            </a:r>
          </a:p>
        </p:txBody>
      </p:sp>
      <p:sp>
        <p:nvSpPr>
          <p:cNvPr id="19" name="Rectangle 18"/>
          <p:cNvSpPr/>
          <p:nvPr/>
        </p:nvSpPr>
        <p:spPr>
          <a:xfrm>
            <a:off x="283464" y="4239158"/>
            <a:ext cx="2066544" cy="833932"/>
          </a:xfrm>
          <a:prstGeom prst="rect">
            <a:avLst/>
          </a:prstGeom>
          <a:solidFill>
            <a:srgbClr val="FFFFFF"/>
          </a:solidFill>
          <a:ln w="8890">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0" name="Picture 19" descr="gear.png"/>
          <p:cNvPicPr>
            <a:picLocks noChangeAspect="1"/>
          </p:cNvPicPr>
          <p:nvPr/>
        </p:nvPicPr>
        <p:blipFill>
          <a:blip r:embed="rId5"/>
          <a:stretch>
            <a:fillRect/>
          </a:stretch>
        </p:blipFill>
        <p:spPr>
          <a:xfrm>
            <a:off x="374904" y="4482388"/>
            <a:ext cx="347472" cy="347472"/>
          </a:xfrm>
          <a:prstGeom prst="rect">
            <a:avLst/>
          </a:prstGeom>
        </p:spPr>
      </p:pic>
      <p:sp>
        <p:nvSpPr>
          <p:cNvPr id="21" name="TextBox 20"/>
          <p:cNvSpPr txBox="1"/>
          <p:nvPr/>
        </p:nvSpPr>
        <p:spPr>
          <a:xfrm>
            <a:off x="832104" y="4397806"/>
            <a:ext cx="1463040" cy="237744"/>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1150" b="1" i="0" u="none" strike="noStrike" kern="1200" cap="none" spc="0" normalizeH="0" baseline="0" noProof="0">
                <a:ln>
                  <a:noFill/>
                </a:ln>
                <a:solidFill>
                  <a:srgbClr val="1F1F1F"/>
                </a:solidFill>
                <a:effectLst/>
                <a:uLnTx/>
                <a:uFillTx/>
                <a:latin typeface="Aptos"/>
                <a:ea typeface="+mn-ea"/>
                <a:cs typeface="+mn-cs"/>
              </a:rPr>
              <a:t>BRE / Rules
Engine</a:t>
            </a:r>
          </a:p>
        </p:txBody>
      </p:sp>
      <p:sp>
        <p:nvSpPr>
          <p:cNvPr id="22" name="TextBox 21"/>
          <p:cNvSpPr txBox="1"/>
          <p:nvPr/>
        </p:nvSpPr>
        <p:spPr>
          <a:xfrm>
            <a:off x="832104" y="4621088"/>
            <a:ext cx="1463040" cy="422452"/>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90" b="0" i="0" u="none" strike="noStrike" kern="1200" cap="none" spc="0" normalizeH="0" baseline="0" noProof="0">
                <a:ln>
                  <a:noFill/>
                </a:ln>
                <a:solidFill>
                  <a:srgbClr val="1F1F1F"/>
                </a:solidFill>
                <a:effectLst/>
                <a:uLnTx/>
                <a:uFillTx/>
                <a:latin typeface="Aptos"/>
                <a:ea typeface="+mn-ea"/>
                <a:cs typeface="+mn-cs"/>
              </a:rPr>
              <a:t>Business rules &amp;
decision engine</a:t>
            </a:r>
          </a:p>
        </p:txBody>
      </p:sp>
      <p:sp>
        <p:nvSpPr>
          <p:cNvPr id="23" name="Rectangle 22"/>
          <p:cNvSpPr/>
          <p:nvPr/>
        </p:nvSpPr>
        <p:spPr>
          <a:xfrm>
            <a:off x="283464" y="5137099"/>
            <a:ext cx="2066544" cy="833932"/>
          </a:xfrm>
          <a:prstGeom prst="rect">
            <a:avLst/>
          </a:prstGeom>
          <a:solidFill>
            <a:srgbClr val="FFFFFF"/>
          </a:solidFill>
          <a:ln w="8890">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4" name="Picture 23" descr="monitor.png"/>
          <p:cNvPicPr>
            <a:picLocks noChangeAspect="1"/>
          </p:cNvPicPr>
          <p:nvPr/>
        </p:nvPicPr>
        <p:blipFill>
          <a:blip r:embed="rId6"/>
          <a:stretch>
            <a:fillRect/>
          </a:stretch>
        </p:blipFill>
        <p:spPr>
          <a:xfrm>
            <a:off x="374904" y="5380329"/>
            <a:ext cx="347472" cy="347472"/>
          </a:xfrm>
          <a:prstGeom prst="rect">
            <a:avLst/>
          </a:prstGeom>
        </p:spPr>
      </p:pic>
      <p:sp>
        <p:nvSpPr>
          <p:cNvPr id="25" name="TextBox 24"/>
          <p:cNvSpPr txBox="1"/>
          <p:nvPr/>
        </p:nvSpPr>
        <p:spPr>
          <a:xfrm>
            <a:off x="832104" y="5298272"/>
            <a:ext cx="1463040" cy="237744"/>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1150" b="1" i="0" u="none" strike="noStrike" kern="1200" cap="none" spc="0" normalizeH="0" baseline="0" noProof="0">
                <a:ln>
                  <a:noFill/>
                </a:ln>
                <a:solidFill>
                  <a:srgbClr val="1F1F1F"/>
                </a:solidFill>
                <a:effectLst/>
                <a:uLnTx/>
                <a:uFillTx/>
                <a:latin typeface="Aptos"/>
                <a:ea typeface="+mn-ea"/>
                <a:cs typeface="+mn-cs"/>
              </a:rPr>
              <a:t>LMS / Core
Systems</a:t>
            </a:r>
          </a:p>
        </p:txBody>
      </p:sp>
      <p:sp>
        <p:nvSpPr>
          <p:cNvPr id="26" name="TextBox 25"/>
          <p:cNvSpPr txBox="1"/>
          <p:nvPr/>
        </p:nvSpPr>
        <p:spPr>
          <a:xfrm>
            <a:off x="832104" y="5508585"/>
            <a:ext cx="1463040" cy="422452"/>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90" b="0" i="0" u="none" strike="noStrike" kern="1200" cap="none" spc="0" normalizeH="0" baseline="0" noProof="0">
                <a:ln>
                  <a:noFill/>
                </a:ln>
                <a:solidFill>
                  <a:srgbClr val="1F1F1F"/>
                </a:solidFill>
                <a:effectLst/>
                <a:uLnTx/>
                <a:uFillTx/>
                <a:latin typeface="Aptos"/>
                <a:ea typeface="+mn-ea"/>
                <a:cs typeface="+mn-cs"/>
              </a:rPr>
              <a:t>Loan management &amp;
servicing systems</a:t>
            </a:r>
          </a:p>
        </p:txBody>
      </p:sp>
      <p:sp>
        <p:nvSpPr>
          <p:cNvPr id="27" name="Rectangle 26"/>
          <p:cNvSpPr/>
          <p:nvPr/>
        </p:nvSpPr>
        <p:spPr>
          <a:xfrm>
            <a:off x="2761488" y="932688"/>
            <a:ext cx="6291072" cy="5138928"/>
          </a:xfrm>
          <a:prstGeom prst="rect">
            <a:avLst/>
          </a:prstGeom>
          <a:solidFill>
            <a:srgbClr val="FFFFFF"/>
          </a:solidFill>
          <a:ln w="20320">
            <a:solidFill>
              <a:srgbClr val="0F4B8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8" name="Rectangle 27"/>
          <p:cNvSpPr/>
          <p:nvPr/>
        </p:nvSpPr>
        <p:spPr>
          <a:xfrm>
            <a:off x="2761488" y="932688"/>
            <a:ext cx="6291072" cy="457200"/>
          </a:xfrm>
          <a:prstGeom prst="rect">
            <a:avLst/>
          </a:prstGeom>
          <a:solidFill>
            <a:srgbClr val="0F4B8F"/>
          </a:solidFill>
          <a:ln w="10160">
            <a:solidFill>
              <a:srgbClr val="0F4B8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9" name="TextBox 28"/>
          <p:cNvSpPr txBox="1"/>
          <p:nvPr/>
        </p:nvSpPr>
        <p:spPr>
          <a:xfrm>
            <a:off x="3218688" y="1059811"/>
            <a:ext cx="4892040" cy="184666"/>
          </a:xfrm>
          <a:prstGeom prst="rect">
            <a:avLst/>
          </a:prstGeom>
          <a:noFill/>
        </p:spPr>
        <p:txBody>
          <a:bodyPr wrap="square" lIns="36576" tIns="0" rIns="36576"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ptos"/>
                <a:ea typeface="+mn-ea"/>
                <a:cs typeface="+mn-cs"/>
              </a:rPr>
              <a:t>Loan Origination System (LOS)</a:t>
            </a:r>
          </a:p>
        </p:txBody>
      </p:sp>
      <p:sp>
        <p:nvSpPr>
          <p:cNvPr id="32" name="Rectangle 31"/>
          <p:cNvSpPr/>
          <p:nvPr/>
        </p:nvSpPr>
        <p:spPr>
          <a:xfrm>
            <a:off x="2852928" y="1499616"/>
            <a:ext cx="6108192" cy="621792"/>
          </a:xfrm>
          <a:prstGeom prst="rect">
            <a:avLst/>
          </a:prstGeom>
          <a:solidFill>
            <a:srgbClr val="FFFFFF"/>
          </a:solidFill>
          <a:ln w="8890">
            <a:solidFill>
              <a:srgbClr val="2A69A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3" name="Rectangle 32"/>
          <p:cNvSpPr/>
          <p:nvPr/>
        </p:nvSpPr>
        <p:spPr>
          <a:xfrm>
            <a:off x="2852928" y="1499616"/>
            <a:ext cx="393192" cy="621792"/>
          </a:xfrm>
          <a:prstGeom prst="rect">
            <a:avLst/>
          </a:prstGeom>
          <a:solidFill>
            <a:srgbClr val="1E5FA5"/>
          </a:solidFill>
          <a:ln w="8890">
            <a:solidFill>
              <a:srgbClr val="1E5FA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4" name="TextBox 33"/>
          <p:cNvSpPr txBox="1"/>
          <p:nvPr/>
        </p:nvSpPr>
        <p:spPr>
          <a:xfrm>
            <a:off x="2880360" y="1691640"/>
            <a:ext cx="329184" cy="2377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FFFFFF"/>
                </a:solidFill>
                <a:effectLst/>
                <a:uLnTx/>
                <a:uFillTx/>
                <a:latin typeface="Aptos"/>
                <a:ea typeface="+mn-ea"/>
                <a:cs typeface="+mn-cs"/>
              </a:rPr>
              <a:t>01</a:t>
            </a:r>
          </a:p>
        </p:txBody>
      </p:sp>
      <p:pic>
        <p:nvPicPr>
          <p:cNvPr id="35" name="Picture 34" descr="app_form.png"/>
          <p:cNvPicPr>
            <a:picLocks noChangeAspect="1"/>
          </p:cNvPicPr>
          <p:nvPr/>
        </p:nvPicPr>
        <p:blipFill>
          <a:blip r:embed="rId7"/>
          <a:stretch>
            <a:fillRect/>
          </a:stretch>
        </p:blipFill>
        <p:spPr>
          <a:xfrm>
            <a:off x="3374136" y="1655064"/>
            <a:ext cx="310896" cy="310896"/>
          </a:xfrm>
          <a:prstGeom prst="rect">
            <a:avLst/>
          </a:prstGeom>
        </p:spPr>
      </p:pic>
      <p:sp>
        <p:nvSpPr>
          <p:cNvPr id="36" name="TextBox 35"/>
          <p:cNvSpPr txBox="1"/>
          <p:nvPr/>
        </p:nvSpPr>
        <p:spPr>
          <a:xfrm>
            <a:off x="3776472" y="1572768"/>
            <a:ext cx="1170432" cy="475488"/>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2000"/>
              </a:lnSpc>
              <a:spcBef>
                <a:spcPts val="0"/>
              </a:spcBef>
              <a:spcAft>
                <a:spcPts val="0"/>
              </a:spcAft>
              <a:buClrTx/>
              <a:buSzTx/>
              <a:buFontTx/>
              <a:buNone/>
              <a:tabLst/>
              <a:defRPr/>
            </a:pPr>
            <a:r>
              <a:rPr kumimoji="0" sz="1019" b="1" i="0" u="none" strike="noStrike" kern="1200" cap="none" spc="0" normalizeH="0" baseline="0" noProof="0">
                <a:ln>
                  <a:noFill/>
                </a:ln>
                <a:solidFill>
                  <a:srgbClr val="1E5FA5"/>
                </a:solidFill>
                <a:effectLst/>
                <a:uLnTx/>
                <a:uFillTx/>
                <a:latin typeface="Aptos"/>
                <a:ea typeface="+mn-ea"/>
                <a:cs typeface="+mn-cs"/>
              </a:rPr>
              <a:t>Loan
Application
Entry</a:t>
            </a:r>
          </a:p>
        </p:txBody>
      </p:sp>
      <p:cxnSp>
        <p:nvCxnSpPr>
          <p:cNvPr id="37" name="Connector 36"/>
          <p:cNvCxnSpPr/>
          <p:nvPr/>
        </p:nvCxnSpPr>
        <p:spPr>
          <a:xfrm>
            <a:off x="5093208" y="1536192"/>
            <a:ext cx="0" cy="548640"/>
          </a:xfrm>
          <a:prstGeom prst="line">
            <a:avLst/>
          </a:prstGeom>
          <a:ln w="8890">
            <a:solidFill>
              <a:srgbClr val="CFD6D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230368" y="1572768"/>
            <a:ext cx="3593592" cy="47548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900" b="0" i="0" u="none" strike="noStrike" kern="1200" cap="none" spc="0" normalizeH="0" baseline="0" noProof="0">
                <a:ln>
                  <a:noFill/>
                </a:ln>
                <a:solidFill>
                  <a:srgbClr val="1F1F1F"/>
                </a:solidFill>
                <a:effectLst/>
                <a:uLnTx/>
                <a:uFillTx/>
                <a:latin typeface="Aptos"/>
                <a:ea typeface="+mn-ea"/>
                <a:cs typeface="+mn-cs"/>
              </a:rPr>
              <a:t>Digital loan application  •  Customer details
KYC / income / business details  •  Consent
Fee collection  •  Receipt</a:t>
            </a:r>
          </a:p>
        </p:txBody>
      </p:sp>
      <p:sp>
        <p:nvSpPr>
          <p:cNvPr id="39" name="Rectangle 38"/>
          <p:cNvSpPr/>
          <p:nvPr/>
        </p:nvSpPr>
        <p:spPr>
          <a:xfrm>
            <a:off x="2852928" y="2167128"/>
            <a:ext cx="6108192" cy="603504"/>
          </a:xfrm>
          <a:prstGeom prst="rect">
            <a:avLst/>
          </a:prstGeom>
          <a:solidFill>
            <a:srgbClr val="FFFFFF"/>
          </a:solidFill>
          <a:ln w="8890">
            <a:solidFill>
              <a:srgbClr val="2A69A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0" name="Rectangle 39"/>
          <p:cNvSpPr/>
          <p:nvPr/>
        </p:nvSpPr>
        <p:spPr>
          <a:xfrm>
            <a:off x="2852928" y="2167128"/>
            <a:ext cx="393192" cy="603504"/>
          </a:xfrm>
          <a:prstGeom prst="rect">
            <a:avLst/>
          </a:prstGeom>
          <a:solidFill>
            <a:srgbClr val="1E5FA5"/>
          </a:solidFill>
          <a:ln w="8890">
            <a:solidFill>
              <a:srgbClr val="1E5FA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1" name="TextBox 40"/>
          <p:cNvSpPr txBox="1"/>
          <p:nvPr/>
        </p:nvSpPr>
        <p:spPr>
          <a:xfrm>
            <a:off x="2880360" y="2350008"/>
            <a:ext cx="329184" cy="2377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FFFFFF"/>
                </a:solidFill>
                <a:effectLst/>
                <a:uLnTx/>
                <a:uFillTx/>
                <a:latin typeface="Aptos"/>
                <a:ea typeface="+mn-ea"/>
                <a:cs typeface="+mn-cs"/>
              </a:rPr>
              <a:t>02</a:t>
            </a:r>
          </a:p>
        </p:txBody>
      </p:sp>
      <p:pic>
        <p:nvPicPr>
          <p:cNvPr id="42" name="Picture 41" descr="checklist.png"/>
          <p:cNvPicPr>
            <a:picLocks noChangeAspect="1"/>
          </p:cNvPicPr>
          <p:nvPr/>
        </p:nvPicPr>
        <p:blipFill>
          <a:blip r:embed="rId8"/>
          <a:stretch>
            <a:fillRect/>
          </a:stretch>
        </p:blipFill>
        <p:spPr>
          <a:xfrm>
            <a:off x="3374136" y="2313432"/>
            <a:ext cx="310896" cy="310896"/>
          </a:xfrm>
          <a:prstGeom prst="rect">
            <a:avLst/>
          </a:prstGeom>
        </p:spPr>
      </p:pic>
      <p:sp>
        <p:nvSpPr>
          <p:cNvPr id="43" name="TextBox 42"/>
          <p:cNvSpPr txBox="1"/>
          <p:nvPr/>
        </p:nvSpPr>
        <p:spPr>
          <a:xfrm>
            <a:off x="3776472" y="2240280"/>
            <a:ext cx="1170432" cy="457200"/>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2000"/>
              </a:lnSpc>
              <a:spcBef>
                <a:spcPts val="0"/>
              </a:spcBef>
              <a:spcAft>
                <a:spcPts val="0"/>
              </a:spcAft>
              <a:buClrTx/>
              <a:buSzTx/>
              <a:buFontTx/>
              <a:buNone/>
              <a:tabLst/>
              <a:defRPr/>
            </a:pPr>
            <a:r>
              <a:rPr kumimoji="0" sz="1019" b="1" i="0" u="none" strike="noStrike" kern="1200" cap="none" spc="0" normalizeH="0" baseline="0" noProof="0">
                <a:ln>
                  <a:noFill/>
                </a:ln>
                <a:solidFill>
                  <a:srgbClr val="1E5FA5"/>
                </a:solidFill>
                <a:effectLst/>
                <a:uLnTx/>
                <a:uFillTx/>
                <a:latin typeface="Aptos"/>
                <a:ea typeface="+mn-ea"/>
                <a:cs typeface="+mn-cs"/>
              </a:rPr>
              <a:t>Document &amp;
Verification</a:t>
            </a:r>
          </a:p>
        </p:txBody>
      </p:sp>
      <p:cxnSp>
        <p:nvCxnSpPr>
          <p:cNvPr id="44" name="Connector 43"/>
          <p:cNvCxnSpPr/>
          <p:nvPr/>
        </p:nvCxnSpPr>
        <p:spPr>
          <a:xfrm>
            <a:off x="5093208" y="2203704"/>
            <a:ext cx="0" cy="530352"/>
          </a:xfrm>
          <a:prstGeom prst="line">
            <a:avLst/>
          </a:prstGeom>
          <a:ln w="8890">
            <a:solidFill>
              <a:srgbClr val="CFD6DF"/>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230368" y="2240280"/>
            <a:ext cx="3593592" cy="457200"/>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900" b="0" i="0" u="none" strike="noStrike" kern="1200" cap="none" spc="0" normalizeH="0" baseline="0" noProof="0">
                <a:ln>
                  <a:noFill/>
                </a:ln>
                <a:solidFill>
                  <a:srgbClr val="1F1F1F"/>
                </a:solidFill>
                <a:effectLst/>
                <a:uLnTx/>
                <a:uFillTx/>
                <a:latin typeface="Aptos"/>
                <a:ea typeface="+mn-ea"/>
                <a:cs typeface="+mn-cs"/>
              </a:rPr>
              <a:t>OCR-based data fetching  •  Document checklist
KYC documents  •  Collateral documents</a:t>
            </a:r>
          </a:p>
        </p:txBody>
      </p:sp>
      <p:sp>
        <p:nvSpPr>
          <p:cNvPr id="46" name="Rectangle 45"/>
          <p:cNvSpPr/>
          <p:nvPr/>
        </p:nvSpPr>
        <p:spPr>
          <a:xfrm>
            <a:off x="2852928" y="2816352"/>
            <a:ext cx="6108192" cy="621792"/>
          </a:xfrm>
          <a:prstGeom prst="rect">
            <a:avLst/>
          </a:prstGeom>
          <a:solidFill>
            <a:srgbClr val="FFFFFF"/>
          </a:solidFill>
          <a:ln w="8890">
            <a:solidFill>
              <a:srgbClr val="2A69A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7" name="Rectangle 46"/>
          <p:cNvSpPr/>
          <p:nvPr/>
        </p:nvSpPr>
        <p:spPr>
          <a:xfrm>
            <a:off x="2852928" y="2816352"/>
            <a:ext cx="393192" cy="621792"/>
          </a:xfrm>
          <a:prstGeom prst="rect">
            <a:avLst/>
          </a:prstGeom>
          <a:solidFill>
            <a:srgbClr val="1E5FA5"/>
          </a:solidFill>
          <a:ln w="8890">
            <a:solidFill>
              <a:srgbClr val="1E5FA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8" name="TextBox 47"/>
          <p:cNvSpPr txBox="1"/>
          <p:nvPr/>
        </p:nvSpPr>
        <p:spPr>
          <a:xfrm>
            <a:off x="2880360" y="3008376"/>
            <a:ext cx="329184" cy="2377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FFFFFF"/>
                </a:solidFill>
                <a:effectLst/>
                <a:uLnTx/>
                <a:uFillTx/>
                <a:latin typeface="Aptos"/>
                <a:ea typeface="+mn-ea"/>
                <a:cs typeface="+mn-cs"/>
              </a:rPr>
              <a:t>03</a:t>
            </a:r>
          </a:p>
        </p:txBody>
      </p:sp>
      <p:pic>
        <p:nvPicPr>
          <p:cNvPr id="49" name="Picture 48" descr="person_check.png"/>
          <p:cNvPicPr>
            <a:picLocks noChangeAspect="1"/>
          </p:cNvPicPr>
          <p:nvPr/>
        </p:nvPicPr>
        <p:blipFill>
          <a:blip r:embed="rId9"/>
          <a:stretch>
            <a:fillRect/>
          </a:stretch>
        </p:blipFill>
        <p:spPr>
          <a:xfrm>
            <a:off x="3374136" y="2971800"/>
            <a:ext cx="310896" cy="310896"/>
          </a:xfrm>
          <a:prstGeom prst="rect">
            <a:avLst/>
          </a:prstGeom>
        </p:spPr>
      </p:pic>
      <p:sp>
        <p:nvSpPr>
          <p:cNvPr id="50" name="TextBox 49"/>
          <p:cNvSpPr txBox="1"/>
          <p:nvPr/>
        </p:nvSpPr>
        <p:spPr>
          <a:xfrm>
            <a:off x="3776472" y="2889504"/>
            <a:ext cx="1170432" cy="475488"/>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2000"/>
              </a:lnSpc>
              <a:spcBef>
                <a:spcPts val="0"/>
              </a:spcBef>
              <a:spcAft>
                <a:spcPts val="0"/>
              </a:spcAft>
              <a:buClrTx/>
              <a:buSzTx/>
              <a:buFontTx/>
              <a:buNone/>
              <a:tabLst/>
              <a:defRPr/>
            </a:pPr>
            <a:r>
              <a:rPr kumimoji="0" sz="1019" b="1" i="0" u="none" strike="noStrike" kern="1200" cap="none" spc="0" normalizeH="0" baseline="0" noProof="0">
                <a:ln>
                  <a:noFill/>
                </a:ln>
                <a:solidFill>
                  <a:srgbClr val="1E5FA5"/>
                </a:solidFill>
                <a:effectLst/>
                <a:uLnTx/>
                <a:uFillTx/>
                <a:latin typeface="Aptos"/>
                <a:ea typeface="+mn-ea"/>
                <a:cs typeface="+mn-cs"/>
              </a:rPr>
              <a:t>Onboarding &amp;
Eligibility
Assessment</a:t>
            </a:r>
          </a:p>
        </p:txBody>
      </p:sp>
      <p:cxnSp>
        <p:nvCxnSpPr>
          <p:cNvPr id="51" name="Connector 50"/>
          <p:cNvCxnSpPr/>
          <p:nvPr/>
        </p:nvCxnSpPr>
        <p:spPr>
          <a:xfrm>
            <a:off x="5093208" y="2852928"/>
            <a:ext cx="0" cy="548640"/>
          </a:xfrm>
          <a:prstGeom prst="line">
            <a:avLst/>
          </a:prstGeom>
          <a:ln w="8890">
            <a:solidFill>
              <a:srgbClr val="CFD6DF"/>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230368" y="2889504"/>
            <a:ext cx="3593592" cy="47548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900" b="0" i="0" u="none" strike="noStrike" kern="1200" cap="none" spc="0" normalizeH="0" baseline="0" noProof="0">
                <a:ln>
                  <a:noFill/>
                </a:ln>
                <a:solidFill>
                  <a:srgbClr val="1F1F1F"/>
                </a:solidFill>
                <a:effectLst/>
                <a:uLnTx/>
                <a:uFillTx/>
                <a:latin typeface="Aptos"/>
                <a:ea typeface="+mn-ea"/>
                <a:cs typeface="+mn-cs"/>
              </a:rPr>
              <a:t>Digital KYC verification  •  GSTIN verification
Bureau report generation  •  Business PAN verification</a:t>
            </a:r>
          </a:p>
        </p:txBody>
      </p:sp>
      <p:sp>
        <p:nvSpPr>
          <p:cNvPr id="53" name="Rectangle 52"/>
          <p:cNvSpPr/>
          <p:nvPr/>
        </p:nvSpPr>
        <p:spPr>
          <a:xfrm>
            <a:off x="2852928" y="3483864"/>
            <a:ext cx="6108192" cy="877824"/>
          </a:xfrm>
          <a:prstGeom prst="rect">
            <a:avLst/>
          </a:prstGeom>
          <a:solidFill>
            <a:srgbClr val="FFFFFF"/>
          </a:solidFill>
          <a:ln w="8890">
            <a:solidFill>
              <a:srgbClr val="2A69A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4" name="Rectangle 53"/>
          <p:cNvSpPr/>
          <p:nvPr/>
        </p:nvSpPr>
        <p:spPr>
          <a:xfrm>
            <a:off x="2852928" y="3483864"/>
            <a:ext cx="393192" cy="877824"/>
          </a:xfrm>
          <a:prstGeom prst="rect">
            <a:avLst/>
          </a:prstGeom>
          <a:solidFill>
            <a:srgbClr val="1E5FA5"/>
          </a:solidFill>
          <a:ln w="8890">
            <a:solidFill>
              <a:srgbClr val="1E5FA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5" name="TextBox 54"/>
          <p:cNvSpPr txBox="1"/>
          <p:nvPr/>
        </p:nvSpPr>
        <p:spPr>
          <a:xfrm>
            <a:off x="2880360" y="3803904"/>
            <a:ext cx="329184" cy="2377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FFFFFF"/>
                </a:solidFill>
                <a:effectLst/>
                <a:uLnTx/>
                <a:uFillTx/>
                <a:latin typeface="Aptos"/>
                <a:ea typeface="+mn-ea"/>
                <a:cs typeface="+mn-cs"/>
              </a:rPr>
              <a:t>04</a:t>
            </a:r>
          </a:p>
        </p:txBody>
      </p:sp>
      <p:pic>
        <p:nvPicPr>
          <p:cNvPr id="56" name="Picture 55" descr="magnifier_chart.png"/>
          <p:cNvPicPr>
            <a:picLocks noChangeAspect="1"/>
          </p:cNvPicPr>
          <p:nvPr/>
        </p:nvPicPr>
        <p:blipFill>
          <a:blip r:embed="rId10"/>
          <a:stretch>
            <a:fillRect/>
          </a:stretch>
        </p:blipFill>
        <p:spPr>
          <a:xfrm>
            <a:off x="3374136" y="3767328"/>
            <a:ext cx="310896" cy="310896"/>
          </a:xfrm>
          <a:prstGeom prst="rect">
            <a:avLst/>
          </a:prstGeom>
        </p:spPr>
      </p:pic>
      <p:sp>
        <p:nvSpPr>
          <p:cNvPr id="57" name="TextBox 56"/>
          <p:cNvSpPr txBox="1"/>
          <p:nvPr/>
        </p:nvSpPr>
        <p:spPr>
          <a:xfrm>
            <a:off x="3776472" y="3557016"/>
            <a:ext cx="1170432" cy="731520"/>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2000"/>
              </a:lnSpc>
              <a:spcBef>
                <a:spcPts val="0"/>
              </a:spcBef>
              <a:spcAft>
                <a:spcPts val="0"/>
              </a:spcAft>
              <a:buClrTx/>
              <a:buSzTx/>
              <a:buFontTx/>
              <a:buNone/>
              <a:tabLst/>
              <a:defRPr/>
            </a:pPr>
            <a:r>
              <a:rPr kumimoji="0" sz="1019" b="1" i="0" u="none" strike="noStrike" kern="1200" cap="none" spc="0" normalizeH="0" baseline="0" noProof="0">
                <a:ln>
                  <a:noFill/>
                </a:ln>
                <a:solidFill>
                  <a:srgbClr val="1E5FA5"/>
                </a:solidFill>
                <a:effectLst/>
                <a:uLnTx/>
                <a:uFillTx/>
                <a:latin typeface="Aptos"/>
                <a:ea typeface="+mn-ea"/>
                <a:cs typeface="+mn-cs"/>
              </a:rPr>
              <a:t>Credit
Underwriting</a:t>
            </a:r>
          </a:p>
        </p:txBody>
      </p:sp>
      <p:cxnSp>
        <p:nvCxnSpPr>
          <p:cNvPr id="58" name="Connector 57"/>
          <p:cNvCxnSpPr/>
          <p:nvPr/>
        </p:nvCxnSpPr>
        <p:spPr>
          <a:xfrm>
            <a:off x="5093208" y="3520440"/>
            <a:ext cx="0" cy="804672"/>
          </a:xfrm>
          <a:prstGeom prst="line">
            <a:avLst/>
          </a:prstGeom>
          <a:ln w="8890">
            <a:solidFill>
              <a:srgbClr val="CFD6DF"/>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230368" y="3557016"/>
            <a:ext cx="3593592" cy="731520"/>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819" b="0" i="0" u="none" strike="noStrike" kern="1200" cap="none" spc="0" normalizeH="0" baseline="0" noProof="0">
                <a:ln>
                  <a:noFill/>
                </a:ln>
                <a:solidFill>
                  <a:srgbClr val="1F1F1F"/>
                </a:solidFill>
                <a:effectLst/>
                <a:uLnTx/>
                <a:uFillTx/>
                <a:latin typeface="Aptos"/>
                <a:ea typeface="+mn-ea"/>
                <a:cs typeface="+mn-cs"/>
              </a:rPr>
              <a:t>Automated CAM preparation  •  Fraud check  •  Legal verification
Personal discussion  •  Bank statement fetch &amp; analysis  •  Collateral tagging
ROI &amp; term recommendation  •  Technical decisioning  •  CAM assessment report
Approval details  •  Deviation management  •  Credit scoring via BRE</a:t>
            </a:r>
          </a:p>
        </p:txBody>
      </p:sp>
      <p:sp>
        <p:nvSpPr>
          <p:cNvPr id="60" name="Rectangle 59"/>
          <p:cNvSpPr/>
          <p:nvPr/>
        </p:nvSpPr>
        <p:spPr>
          <a:xfrm>
            <a:off x="2852928" y="4407408"/>
            <a:ext cx="6108192" cy="694944"/>
          </a:xfrm>
          <a:prstGeom prst="rect">
            <a:avLst/>
          </a:prstGeom>
          <a:solidFill>
            <a:srgbClr val="FFFFFF"/>
          </a:solidFill>
          <a:ln w="8890">
            <a:solidFill>
              <a:srgbClr val="2A69A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1" name="Rectangle 60"/>
          <p:cNvSpPr/>
          <p:nvPr/>
        </p:nvSpPr>
        <p:spPr>
          <a:xfrm>
            <a:off x="2852928" y="4407408"/>
            <a:ext cx="393192" cy="694944"/>
          </a:xfrm>
          <a:prstGeom prst="rect">
            <a:avLst/>
          </a:prstGeom>
          <a:solidFill>
            <a:srgbClr val="1E5FA5"/>
          </a:solidFill>
          <a:ln w="8890">
            <a:solidFill>
              <a:srgbClr val="1E5FA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2" name="TextBox 61"/>
          <p:cNvSpPr txBox="1"/>
          <p:nvPr/>
        </p:nvSpPr>
        <p:spPr>
          <a:xfrm>
            <a:off x="2880360" y="4636008"/>
            <a:ext cx="329184" cy="2377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FFFFFF"/>
                </a:solidFill>
                <a:effectLst/>
                <a:uLnTx/>
                <a:uFillTx/>
                <a:latin typeface="Aptos"/>
                <a:ea typeface="+mn-ea"/>
                <a:cs typeface="+mn-cs"/>
              </a:rPr>
              <a:t>05</a:t>
            </a:r>
          </a:p>
        </p:txBody>
      </p:sp>
      <p:pic>
        <p:nvPicPr>
          <p:cNvPr id="63" name="Picture 62" descr="scale.png"/>
          <p:cNvPicPr>
            <a:picLocks noChangeAspect="1"/>
          </p:cNvPicPr>
          <p:nvPr/>
        </p:nvPicPr>
        <p:blipFill>
          <a:blip r:embed="rId11"/>
          <a:stretch>
            <a:fillRect/>
          </a:stretch>
        </p:blipFill>
        <p:spPr>
          <a:xfrm>
            <a:off x="3374136" y="4599432"/>
            <a:ext cx="310896" cy="310896"/>
          </a:xfrm>
          <a:prstGeom prst="rect">
            <a:avLst/>
          </a:prstGeom>
        </p:spPr>
      </p:pic>
      <p:sp>
        <p:nvSpPr>
          <p:cNvPr id="64" name="TextBox 63"/>
          <p:cNvSpPr txBox="1"/>
          <p:nvPr/>
        </p:nvSpPr>
        <p:spPr>
          <a:xfrm>
            <a:off x="3776472" y="4480560"/>
            <a:ext cx="1170432" cy="548640"/>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2000"/>
              </a:lnSpc>
              <a:spcBef>
                <a:spcPts val="0"/>
              </a:spcBef>
              <a:spcAft>
                <a:spcPts val="0"/>
              </a:spcAft>
              <a:buClrTx/>
              <a:buSzTx/>
              <a:buFontTx/>
              <a:buNone/>
              <a:tabLst/>
              <a:defRPr/>
            </a:pPr>
            <a:r>
              <a:rPr kumimoji="0" sz="1019" b="1" i="0" u="none" strike="noStrike" kern="1200" cap="none" spc="0" normalizeH="0" baseline="0" noProof="0">
                <a:ln>
                  <a:noFill/>
                </a:ln>
                <a:solidFill>
                  <a:srgbClr val="1E5FA5"/>
                </a:solidFill>
                <a:effectLst/>
                <a:uLnTx/>
                <a:uFillTx/>
                <a:latin typeface="Aptos"/>
                <a:ea typeface="+mn-ea"/>
                <a:cs typeface="+mn-cs"/>
              </a:rPr>
              <a:t>Credit
Decisioning</a:t>
            </a:r>
          </a:p>
        </p:txBody>
      </p:sp>
      <p:cxnSp>
        <p:nvCxnSpPr>
          <p:cNvPr id="65" name="Connector 64"/>
          <p:cNvCxnSpPr/>
          <p:nvPr/>
        </p:nvCxnSpPr>
        <p:spPr>
          <a:xfrm>
            <a:off x="5093208" y="4443984"/>
            <a:ext cx="0" cy="621792"/>
          </a:xfrm>
          <a:prstGeom prst="line">
            <a:avLst/>
          </a:prstGeom>
          <a:ln w="8890">
            <a:solidFill>
              <a:srgbClr val="CFD6DF"/>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230368" y="4480560"/>
            <a:ext cx="3593592" cy="548640"/>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900" b="0" i="0" u="none" strike="noStrike" kern="1200" cap="none" spc="0" normalizeH="0" baseline="0" noProof="0">
                <a:ln>
                  <a:noFill/>
                </a:ln>
                <a:solidFill>
                  <a:srgbClr val="1F1F1F"/>
                </a:solidFill>
                <a:effectLst/>
                <a:uLnTx/>
                <a:uFillTx/>
                <a:latin typeface="Aptos"/>
                <a:ea typeface="+mn-ea"/>
                <a:cs typeface="+mn-cs"/>
              </a:rPr>
              <a:t>Policy-based validation  •  Approvals  •  Insurance
Covenants, T&amp;C  •  Re-sanction  •  Outstanding charge collection
SMS / Email / WhatsApp communication</a:t>
            </a:r>
          </a:p>
        </p:txBody>
      </p:sp>
      <p:sp>
        <p:nvSpPr>
          <p:cNvPr id="67" name="Rectangle 66"/>
          <p:cNvSpPr/>
          <p:nvPr/>
        </p:nvSpPr>
        <p:spPr>
          <a:xfrm>
            <a:off x="2852928" y="5148072"/>
            <a:ext cx="6108192" cy="786384"/>
          </a:xfrm>
          <a:prstGeom prst="rect">
            <a:avLst/>
          </a:prstGeom>
          <a:solidFill>
            <a:srgbClr val="FFFFFF"/>
          </a:solidFill>
          <a:ln w="8890">
            <a:solidFill>
              <a:srgbClr val="2A69A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8" name="Rectangle 67"/>
          <p:cNvSpPr/>
          <p:nvPr/>
        </p:nvSpPr>
        <p:spPr>
          <a:xfrm>
            <a:off x="2852928" y="5148072"/>
            <a:ext cx="393192" cy="786384"/>
          </a:xfrm>
          <a:prstGeom prst="rect">
            <a:avLst/>
          </a:prstGeom>
          <a:solidFill>
            <a:srgbClr val="1E5FA5"/>
          </a:solidFill>
          <a:ln w="8890">
            <a:solidFill>
              <a:srgbClr val="1E5FA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9" name="TextBox 68"/>
          <p:cNvSpPr txBox="1"/>
          <p:nvPr/>
        </p:nvSpPr>
        <p:spPr>
          <a:xfrm>
            <a:off x="2880360" y="5422392"/>
            <a:ext cx="329184" cy="2377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FFFFFF"/>
                </a:solidFill>
                <a:effectLst/>
                <a:uLnTx/>
                <a:uFillTx/>
                <a:latin typeface="Aptos"/>
                <a:ea typeface="+mn-ea"/>
                <a:cs typeface="+mn-cs"/>
              </a:rPr>
              <a:t>06</a:t>
            </a:r>
          </a:p>
        </p:txBody>
      </p:sp>
      <p:pic>
        <p:nvPicPr>
          <p:cNvPr id="70" name="Picture 69" descr="bank.png"/>
          <p:cNvPicPr>
            <a:picLocks noChangeAspect="1"/>
          </p:cNvPicPr>
          <p:nvPr/>
        </p:nvPicPr>
        <p:blipFill>
          <a:blip r:embed="rId12"/>
          <a:stretch>
            <a:fillRect/>
          </a:stretch>
        </p:blipFill>
        <p:spPr>
          <a:xfrm>
            <a:off x="3374136" y="5385816"/>
            <a:ext cx="310896" cy="310896"/>
          </a:xfrm>
          <a:prstGeom prst="rect">
            <a:avLst/>
          </a:prstGeom>
        </p:spPr>
      </p:pic>
      <p:sp>
        <p:nvSpPr>
          <p:cNvPr id="71" name="TextBox 70"/>
          <p:cNvSpPr txBox="1"/>
          <p:nvPr/>
        </p:nvSpPr>
        <p:spPr>
          <a:xfrm>
            <a:off x="3776472" y="5221224"/>
            <a:ext cx="1170432" cy="640080"/>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2000"/>
              </a:lnSpc>
              <a:spcBef>
                <a:spcPts val="0"/>
              </a:spcBef>
              <a:spcAft>
                <a:spcPts val="0"/>
              </a:spcAft>
              <a:buClrTx/>
              <a:buSzTx/>
              <a:buFontTx/>
              <a:buNone/>
              <a:tabLst/>
              <a:defRPr/>
            </a:pPr>
            <a:r>
              <a:rPr kumimoji="0" sz="1019" b="1" i="0" u="none" strike="noStrike" kern="1200" cap="none" spc="0" normalizeH="0" baseline="0" noProof="0">
                <a:ln>
                  <a:noFill/>
                </a:ln>
                <a:solidFill>
                  <a:srgbClr val="1E5FA5"/>
                </a:solidFill>
                <a:effectLst/>
                <a:uLnTx/>
                <a:uFillTx/>
                <a:latin typeface="Aptos"/>
                <a:ea typeface="+mn-ea"/>
                <a:cs typeface="+mn-cs"/>
              </a:rPr>
              <a:t>Post Sales /
Servicing /
Disbursement</a:t>
            </a:r>
          </a:p>
        </p:txBody>
      </p:sp>
      <p:cxnSp>
        <p:nvCxnSpPr>
          <p:cNvPr id="72" name="Connector 71"/>
          <p:cNvCxnSpPr/>
          <p:nvPr/>
        </p:nvCxnSpPr>
        <p:spPr>
          <a:xfrm>
            <a:off x="5093208" y="5184648"/>
            <a:ext cx="0" cy="713232"/>
          </a:xfrm>
          <a:prstGeom prst="line">
            <a:avLst/>
          </a:prstGeom>
          <a:ln w="8890">
            <a:solidFill>
              <a:srgbClr val="CFD6DF"/>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230368" y="5221224"/>
            <a:ext cx="3593592" cy="640080"/>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819" b="0" i="0" u="none" strike="noStrike" kern="1200" cap="none" spc="0" normalizeH="0" baseline="0" noProof="0">
                <a:ln>
                  <a:noFill/>
                </a:ln>
                <a:solidFill>
                  <a:srgbClr val="1F1F1F"/>
                </a:solidFill>
                <a:effectLst/>
                <a:uLnTx/>
                <a:uFillTx/>
                <a:latin typeface="Aptos"/>
                <a:ea typeface="+mn-ea"/>
                <a:cs typeface="+mn-cs"/>
              </a:rPr>
              <a:t>Sanction letter generation  •  Loan agreement generation
E-mandate capture &amp; registration  •  OTC / PDD marking  •  Instrument capturing  •  Bank
Digital signature  •  Integration with LMS
Tranche &amp; payment creation  •  PDD maintenance</a:t>
            </a:r>
          </a:p>
        </p:txBody>
      </p:sp>
      <p:sp>
        <p:nvSpPr>
          <p:cNvPr id="74" name="Rectangle 73"/>
          <p:cNvSpPr/>
          <p:nvPr/>
        </p:nvSpPr>
        <p:spPr>
          <a:xfrm>
            <a:off x="9454896" y="932688"/>
            <a:ext cx="2240280" cy="5138928"/>
          </a:xfrm>
          <a:prstGeom prst="rect">
            <a:avLst/>
          </a:prstGeom>
          <a:solidFill>
            <a:srgbClr val="FFFFFF"/>
          </a:solidFill>
          <a:ln w="10160">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5" name="Rectangle 74"/>
          <p:cNvSpPr/>
          <p:nvPr/>
        </p:nvSpPr>
        <p:spPr>
          <a:xfrm>
            <a:off x="9454896" y="932688"/>
            <a:ext cx="2240280" cy="502920"/>
          </a:xfrm>
          <a:prstGeom prst="rect">
            <a:avLst/>
          </a:prstGeom>
          <a:solidFill>
            <a:srgbClr val="0F4B8F"/>
          </a:solidFill>
          <a:ln w="10160">
            <a:solidFill>
              <a:srgbClr val="0F4B8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6" name="TextBox 75"/>
          <p:cNvSpPr txBox="1"/>
          <p:nvPr/>
        </p:nvSpPr>
        <p:spPr>
          <a:xfrm>
            <a:off x="9500616" y="1026733"/>
            <a:ext cx="1519892" cy="314830"/>
          </a:xfrm>
          <a:prstGeom prst="rect">
            <a:avLst/>
          </a:prstGeom>
          <a:noFill/>
        </p:spPr>
        <p:txBody>
          <a:bodyPr wrap="square" lIns="36576" tIns="18288" rIns="36576" bIns="18288"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ptos"/>
                <a:ea typeface="+mn-ea"/>
                <a:cs typeface="+mn-cs"/>
              </a:rPr>
              <a:t>External /
Fintech Ecosystem</a:t>
            </a:r>
          </a:p>
        </p:txBody>
      </p:sp>
      <p:sp>
        <p:nvSpPr>
          <p:cNvPr id="77" name="Rectangle 76"/>
          <p:cNvSpPr/>
          <p:nvPr/>
        </p:nvSpPr>
        <p:spPr>
          <a:xfrm>
            <a:off x="9482328" y="1517904"/>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78" name="Picture 77" descr="id_card.png"/>
          <p:cNvPicPr>
            <a:picLocks noChangeAspect="1"/>
          </p:cNvPicPr>
          <p:nvPr/>
        </p:nvPicPr>
        <p:blipFill>
          <a:blip r:embed="rId13"/>
          <a:stretch>
            <a:fillRect/>
          </a:stretch>
        </p:blipFill>
        <p:spPr>
          <a:xfrm>
            <a:off x="9537192" y="1608658"/>
            <a:ext cx="237744" cy="237744"/>
          </a:xfrm>
          <a:prstGeom prst="rect">
            <a:avLst/>
          </a:prstGeom>
        </p:spPr>
      </p:pic>
      <p:sp>
        <p:nvSpPr>
          <p:cNvPr id="79" name="TextBox 78"/>
          <p:cNvSpPr txBox="1"/>
          <p:nvPr/>
        </p:nvSpPr>
        <p:spPr>
          <a:xfrm>
            <a:off x="9820656" y="1549908"/>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Identity &amp; KYC</a:t>
            </a:r>
          </a:p>
        </p:txBody>
      </p:sp>
      <p:sp>
        <p:nvSpPr>
          <p:cNvPr id="80" name="TextBox 79"/>
          <p:cNvSpPr txBox="1"/>
          <p:nvPr/>
        </p:nvSpPr>
        <p:spPr>
          <a:xfrm>
            <a:off x="9820656" y="1664208"/>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PAN/Aadhaar OCR, DigiLocker, CKYC,
Aadhaar vault/masking, OTP/Consent</a:t>
            </a:r>
          </a:p>
        </p:txBody>
      </p:sp>
      <p:sp>
        <p:nvSpPr>
          <p:cNvPr id="81" name="Rectangle 80"/>
          <p:cNvSpPr/>
          <p:nvPr/>
        </p:nvSpPr>
        <p:spPr>
          <a:xfrm>
            <a:off x="9482328" y="1969160"/>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82" name="Picture 81" descr="document.png"/>
          <p:cNvPicPr>
            <a:picLocks noChangeAspect="1"/>
          </p:cNvPicPr>
          <p:nvPr/>
        </p:nvPicPr>
        <p:blipFill>
          <a:blip r:embed="rId4"/>
          <a:stretch>
            <a:fillRect/>
          </a:stretch>
        </p:blipFill>
        <p:spPr>
          <a:xfrm>
            <a:off x="9537192" y="2059914"/>
            <a:ext cx="237744" cy="237744"/>
          </a:xfrm>
          <a:prstGeom prst="rect">
            <a:avLst/>
          </a:prstGeom>
        </p:spPr>
      </p:pic>
      <p:sp>
        <p:nvSpPr>
          <p:cNvPr id="83" name="TextBox 82"/>
          <p:cNvSpPr txBox="1"/>
          <p:nvPr/>
        </p:nvSpPr>
        <p:spPr>
          <a:xfrm>
            <a:off x="9820656" y="2001164"/>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Documents &amp; Mandates</a:t>
            </a:r>
          </a:p>
        </p:txBody>
      </p:sp>
      <p:sp>
        <p:nvSpPr>
          <p:cNvPr id="84" name="TextBox 83"/>
          <p:cNvSpPr txBox="1"/>
          <p:nvPr/>
        </p:nvSpPr>
        <p:spPr>
          <a:xfrm>
            <a:off x="9820656" y="2115464"/>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OCR extraction, eSign, NAC/NPCI
callbacks, DMS / PDD agreements</a:t>
            </a:r>
          </a:p>
        </p:txBody>
      </p:sp>
      <p:sp>
        <p:nvSpPr>
          <p:cNvPr id="85" name="Rectangle 84"/>
          <p:cNvSpPr/>
          <p:nvPr/>
        </p:nvSpPr>
        <p:spPr>
          <a:xfrm>
            <a:off x="9482328" y="2420416"/>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86" name="Picture 85" descr="risk.png"/>
          <p:cNvPicPr>
            <a:picLocks noChangeAspect="1"/>
          </p:cNvPicPr>
          <p:nvPr/>
        </p:nvPicPr>
        <p:blipFill>
          <a:blip r:embed="rId14"/>
          <a:stretch>
            <a:fillRect/>
          </a:stretch>
        </p:blipFill>
        <p:spPr>
          <a:xfrm>
            <a:off x="9537192" y="2511171"/>
            <a:ext cx="237744" cy="237744"/>
          </a:xfrm>
          <a:prstGeom prst="rect">
            <a:avLst/>
          </a:prstGeom>
        </p:spPr>
      </p:pic>
      <p:sp>
        <p:nvSpPr>
          <p:cNvPr id="87" name="TextBox 86"/>
          <p:cNvSpPr txBox="1"/>
          <p:nvPr/>
        </p:nvSpPr>
        <p:spPr>
          <a:xfrm>
            <a:off x="9820656" y="2452420"/>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Credit &amp; Risk</a:t>
            </a:r>
          </a:p>
        </p:txBody>
      </p:sp>
      <p:sp>
        <p:nvSpPr>
          <p:cNvPr id="88" name="TextBox 87"/>
          <p:cNvSpPr txBox="1"/>
          <p:nvPr/>
        </p:nvSpPr>
        <p:spPr>
          <a:xfrm>
            <a:off x="9820656" y="2566720"/>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CIBIL, bureau, Hunter / DEDU / UCI</a:t>
            </a:r>
          </a:p>
        </p:txBody>
      </p:sp>
      <p:sp>
        <p:nvSpPr>
          <p:cNvPr id="89" name="Rectangle 88"/>
          <p:cNvSpPr/>
          <p:nvPr/>
        </p:nvSpPr>
        <p:spPr>
          <a:xfrm>
            <a:off x="9482328" y="2871673"/>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90" name="Picture 89" descr="bank.png"/>
          <p:cNvPicPr>
            <a:picLocks noChangeAspect="1"/>
          </p:cNvPicPr>
          <p:nvPr/>
        </p:nvPicPr>
        <p:blipFill>
          <a:blip r:embed="rId12"/>
          <a:stretch>
            <a:fillRect/>
          </a:stretch>
        </p:blipFill>
        <p:spPr>
          <a:xfrm>
            <a:off x="9537192" y="2962427"/>
            <a:ext cx="237744" cy="237744"/>
          </a:xfrm>
          <a:prstGeom prst="rect">
            <a:avLst/>
          </a:prstGeom>
        </p:spPr>
      </p:pic>
      <p:sp>
        <p:nvSpPr>
          <p:cNvPr id="91" name="TextBox 90"/>
          <p:cNvSpPr txBox="1"/>
          <p:nvPr/>
        </p:nvSpPr>
        <p:spPr>
          <a:xfrm>
            <a:off x="9820656" y="2903677"/>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Financial &amp; Income</a:t>
            </a:r>
          </a:p>
        </p:txBody>
      </p:sp>
      <p:sp>
        <p:nvSpPr>
          <p:cNvPr id="92" name="TextBox 91"/>
          <p:cNvSpPr txBox="1"/>
          <p:nvPr/>
        </p:nvSpPr>
        <p:spPr>
          <a:xfrm>
            <a:off x="9820656" y="3017977"/>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Account aggregator, bank
statement analysis, GST fetch</a:t>
            </a:r>
          </a:p>
        </p:txBody>
      </p:sp>
      <p:sp>
        <p:nvSpPr>
          <p:cNvPr id="93" name="Rectangle 92"/>
          <p:cNvSpPr/>
          <p:nvPr/>
        </p:nvSpPr>
        <p:spPr>
          <a:xfrm>
            <a:off x="9482328" y="3322929"/>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94" name="Picture 93" descr="group.png"/>
          <p:cNvPicPr>
            <a:picLocks noChangeAspect="1"/>
          </p:cNvPicPr>
          <p:nvPr/>
        </p:nvPicPr>
        <p:blipFill>
          <a:blip r:embed="rId15"/>
          <a:stretch>
            <a:fillRect/>
          </a:stretch>
        </p:blipFill>
        <p:spPr>
          <a:xfrm>
            <a:off x="9537192" y="3413683"/>
            <a:ext cx="237744" cy="237744"/>
          </a:xfrm>
          <a:prstGeom prst="rect">
            <a:avLst/>
          </a:prstGeom>
        </p:spPr>
      </p:pic>
      <p:sp>
        <p:nvSpPr>
          <p:cNvPr id="95" name="TextBox 94"/>
          <p:cNvSpPr txBox="1"/>
          <p:nvPr/>
        </p:nvSpPr>
        <p:spPr>
          <a:xfrm>
            <a:off x="9820656" y="3354933"/>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Field / Partner Ops</a:t>
            </a:r>
          </a:p>
        </p:txBody>
      </p:sp>
      <p:sp>
        <p:nvSpPr>
          <p:cNvPr id="96" name="TextBox 95"/>
          <p:cNvSpPr txBox="1"/>
          <p:nvPr/>
        </p:nvSpPr>
        <p:spPr>
          <a:xfrm>
            <a:off x="9820656" y="3469233"/>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FI / Legal / Technical portals,
Vendor mgmt &amp; case updates</a:t>
            </a:r>
          </a:p>
        </p:txBody>
      </p:sp>
      <p:sp>
        <p:nvSpPr>
          <p:cNvPr id="97" name="Rectangle 96"/>
          <p:cNvSpPr/>
          <p:nvPr/>
        </p:nvSpPr>
        <p:spPr>
          <a:xfrm>
            <a:off x="9482328" y="3774186"/>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98" name="Picture 97" descr="pen.png"/>
          <p:cNvPicPr>
            <a:picLocks noChangeAspect="1"/>
          </p:cNvPicPr>
          <p:nvPr/>
        </p:nvPicPr>
        <p:blipFill>
          <a:blip r:embed="rId16"/>
          <a:stretch>
            <a:fillRect/>
          </a:stretch>
        </p:blipFill>
        <p:spPr>
          <a:xfrm>
            <a:off x="9537192" y="3864940"/>
            <a:ext cx="237744" cy="237744"/>
          </a:xfrm>
          <a:prstGeom prst="rect">
            <a:avLst/>
          </a:prstGeom>
        </p:spPr>
      </p:pic>
      <p:sp>
        <p:nvSpPr>
          <p:cNvPr id="99" name="TextBox 98"/>
          <p:cNvSpPr txBox="1"/>
          <p:nvPr/>
        </p:nvSpPr>
        <p:spPr>
          <a:xfrm>
            <a:off x="9820656" y="3806190"/>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Digital Signature</a:t>
            </a:r>
          </a:p>
        </p:txBody>
      </p:sp>
      <p:sp>
        <p:nvSpPr>
          <p:cNvPr id="100" name="TextBox 99"/>
          <p:cNvSpPr txBox="1"/>
          <p:nvPr/>
        </p:nvSpPr>
        <p:spPr>
          <a:xfrm>
            <a:off x="9820656" y="3920490"/>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eSign providers &amp; DSC services</a:t>
            </a:r>
          </a:p>
        </p:txBody>
      </p:sp>
      <p:sp>
        <p:nvSpPr>
          <p:cNvPr id="101" name="Rectangle 100"/>
          <p:cNvSpPr/>
          <p:nvPr/>
        </p:nvSpPr>
        <p:spPr>
          <a:xfrm>
            <a:off x="9482328" y="4225442"/>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02" name="Picture 101" descr="payment.png"/>
          <p:cNvPicPr>
            <a:picLocks noChangeAspect="1"/>
          </p:cNvPicPr>
          <p:nvPr/>
        </p:nvPicPr>
        <p:blipFill>
          <a:blip r:embed="rId17"/>
          <a:stretch>
            <a:fillRect/>
          </a:stretch>
        </p:blipFill>
        <p:spPr>
          <a:xfrm>
            <a:off x="9537192" y="4316196"/>
            <a:ext cx="237744" cy="237744"/>
          </a:xfrm>
          <a:prstGeom prst="rect">
            <a:avLst/>
          </a:prstGeom>
        </p:spPr>
      </p:pic>
      <p:sp>
        <p:nvSpPr>
          <p:cNvPr id="103" name="TextBox 102"/>
          <p:cNvSpPr txBox="1"/>
          <p:nvPr/>
        </p:nvSpPr>
        <p:spPr>
          <a:xfrm>
            <a:off x="9820656" y="4257446"/>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Payment Gateway / eStamp</a:t>
            </a:r>
          </a:p>
        </p:txBody>
      </p:sp>
      <p:sp>
        <p:nvSpPr>
          <p:cNvPr id="104" name="TextBox 103"/>
          <p:cNvSpPr txBox="1"/>
          <p:nvPr/>
        </p:nvSpPr>
        <p:spPr>
          <a:xfrm>
            <a:off x="9820656" y="4371746"/>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Payments, eStamping, challans</a:t>
            </a:r>
          </a:p>
        </p:txBody>
      </p:sp>
      <p:sp>
        <p:nvSpPr>
          <p:cNvPr id="105" name="Rectangle 104"/>
          <p:cNvSpPr/>
          <p:nvPr/>
        </p:nvSpPr>
        <p:spPr>
          <a:xfrm>
            <a:off x="9482328" y="4676698"/>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06" name="Picture 105" descr="shield_money.png"/>
          <p:cNvPicPr>
            <a:picLocks noChangeAspect="1"/>
          </p:cNvPicPr>
          <p:nvPr/>
        </p:nvPicPr>
        <p:blipFill>
          <a:blip r:embed="rId18"/>
          <a:stretch>
            <a:fillRect/>
          </a:stretch>
        </p:blipFill>
        <p:spPr>
          <a:xfrm>
            <a:off x="9537192" y="4767453"/>
            <a:ext cx="237744" cy="237744"/>
          </a:xfrm>
          <a:prstGeom prst="rect">
            <a:avLst/>
          </a:prstGeom>
        </p:spPr>
      </p:pic>
      <p:sp>
        <p:nvSpPr>
          <p:cNvPr id="107" name="TextBox 106"/>
          <p:cNvSpPr txBox="1"/>
          <p:nvPr/>
        </p:nvSpPr>
        <p:spPr>
          <a:xfrm>
            <a:off x="9820656" y="4708702"/>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Anti-Money Laundering</a:t>
            </a:r>
          </a:p>
        </p:txBody>
      </p:sp>
      <p:sp>
        <p:nvSpPr>
          <p:cNvPr id="108" name="TextBox 107"/>
          <p:cNvSpPr txBox="1"/>
          <p:nvPr/>
        </p:nvSpPr>
        <p:spPr>
          <a:xfrm>
            <a:off x="9820656" y="4823002"/>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AML screening &amp; monitoring</a:t>
            </a:r>
          </a:p>
        </p:txBody>
      </p:sp>
      <p:sp>
        <p:nvSpPr>
          <p:cNvPr id="109" name="Rectangle 108"/>
          <p:cNvSpPr/>
          <p:nvPr/>
        </p:nvSpPr>
        <p:spPr>
          <a:xfrm>
            <a:off x="9482328" y="5127955"/>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10" name="Picture 109" descr="building.png"/>
          <p:cNvPicPr>
            <a:picLocks noChangeAspect="1"/>
          </p:cNvPicPr>
          <p:nvPr/>
        </p:nvPicPr>
        <p:blipFill>
          <a:blip r:embed="rId19"/>
          <a:stretch>
            <a:fillRect/>
          </a:stretch>
        </p:blipFill>
        <p:spPr>
          <a:xfrm>
            <a:off x="9537192" y="5218709"/>
            <a:ext cx="237744" cy="237744"/>
          </a:xfrm>
          <a:prstGeom prst="rect">
            <a:avLst/>
          </a:prstGeom>
        </p:spPr>
      </p:pic>
      <p:sp>
        <p:nvSpPr>
          <p:cNvPr id="111" name="TextBox 110"/>
          <p:cNvSpPr txBox="1"/>
          <p:nvPr/>
        </p:nvSpPr>
        <p:spPr>
          <a:xfrm>
            <a:off x="9820656" y="5159959"/>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Multi Bureau</a:t>
            </a:r>
          </a:p>
        </p:txBody>
      </p:sp>
      <p:sp>
        <p:nvSpPr>
          <p:cNvPr id="112" name="TextBox 111"/>
          <p:cNvSpPr txBox="1"/>
          <p:nvPr/>
        </p:nvSpPr>
        <p:spPr>
          <a:xfrm>
            <a:off x="9820656" y="5274259"/>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Bureau connectivity &amp; data</a:t>
            </a:r>
          </a:p>
        </p:txBody>
      </p:sp>
      <p:sp>
        <p:nvSpPr>
          <p:cNvPr id="113" name="Rectangle 112"/>
          <p:cNvSpPr/>
          <p:nvPr/>
        </p:nvSpPr>
        <p:spPr>
          <a:xfrm>
            <a:off x="9482328" y="5579211"/>
            <a:ext cx="2185416" cy="419252"/>
          </a:xfrm>
          <a:prstGeom prst="rect">
            <a:avLst/>
          </a:prstGeom>
          <a:solidFill>
            <a:srgbClr val="FFFFFF"/>
          </a:solidFill>
          <a:ln w="8255">
            <a:solidFill>
              <a:srgbClr val="CFD6D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14" name="Picture 113" descr="chat.png"/>
          <p:cNvPicPr>
            <a:picLocks noChangeAspect="1"/>
          </p:cNvPicPr>
          <p:nvPr/>
        </p:nvPicPr>
        <p:blipFill>
          <a:blip r:embed="rId20"/>
          <a:stretch>
            <a:fillRect/>
          </a:stretch>
        </p:blipFill>
        <p:spPr>
          <a:xfrm>
            <a:off x="9537192" y="5669965"/>
            <a:ext cx="237744" cy="237744"/>
          </a:xfrm>
          <a:prstGeom prst="rect">
            <a:avLst/>
          </a:prstGeom>
        </p:spPr>
      </p:pic>
      <p:sp>
        <p:nvSpPr>
          <p:cNvPr id="115" name="TextBox 114"/>
          <p:cNvSpPr txBox="1"/>
          <p:nvPr/>
        </p:nvSpPr>
        <p:spPr>
          <a:xfrm>
            <a:off x="9820656" y="5611215"/>
            <a:ext cx="1828800" cy="109728"/>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80" b="1" i="0" u="none" strike="noStrike" kern="1200" cap="none" spc="0" normalizeH="0" baseline="0" noProof="0">
                <a:ln>
                  <a:noFill/>
                </a:ln>
                <a:solidFill>
                  <a:srgbClr val="1F1F1F"/>
                </a:solidFill>
                <a:effectLst/>
                <a:uLnTx/>
                <a:uFillTx/>
                <a:latin typeface="Aptos"/>
                <a:ea typeface="+mn-ea"/>
                <a:cs typeface="+mn-cs"/>
              </a:rPr>
              <a:t>SMS / Email / CTI</a:t>
            </a:r>
          </a:p>
        </p:txBody>
      </p:sp>
      <p:sp>
        <p:nvSpPr>
          <p:cNvPr id="116" name="TextBox 115"/>
          <p:cNvSpPr txBox="1"/>
          <p:nvPr/>
        </p:nvSpPr>
        <p:spPr>
          <a:xfrm>
            <a:off x="9820656" y="5725515"/>
            <a:ext cx="1828800" cy="263804"/>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645" b="0" i="0" u="none" strike="noStrike" kern="1200" cap="none" spc="0" normalizeH="0" baseline="0" noProof="0">
                <a:ln>
                  <a:noFill/>
                </a:ln>
                <a:solidFill>
                  <a:srgbClr val="1F1F1F"/>
                </a:solidFill>
                <a:effectLst/>
                <a:uLnTx/>
                <a:uFillTx/>
                <a:latin typeface="Aptos"/>
                <a:ea typeface="+mn-ea"/>
                <a:cs typeface="+mn-cs"/>
              </a:rPr>
              <a:t>Communications &amp; notifications</a:t>
            </a:r>
          </a:p>
        </p:txBody>
      </p:sp>
      <p:sp>
        <p:nvSpPr>
          <p:cNvPr id="117" name="TextBox 116"/>
          <p:cNvSpPr txBox="1"/>
          <p:nvPr/>
        </p:nvSpPr>
        <p:spPr>
          <a:xfrm>
            <a:off x="2542032" y="1889150"/>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18" name="TextBox 117"/>
          <p:cNvSpPr txBox="1"/>
          <p:nvPr/>
        </p:nvSpPr>
        <p:spPr>
          <a:xfrm>
            <a:off x="2542032" y="2787091"/>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19" name="TextBox 118"/>
          <p:cNvSpPr txBox="1"/>
          <p:nvPr/>
        </p:nvSpPr>
        <p:spPr>
          <a:xfrm>
            <a:off x="2542032" y="3685032"/>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0" name="TextBox 119"/>
          <p:cNvSpPr txBox="1"/>
          <p:nvPr/>
        </p:nvSpPr>
        <p:spPr>
          <a:xfrm>
            <a:off x="2542032" y="4582972"/>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1" name="TextBox 120"/>
          <p:cNvSpPr txBox="1"/>
          <p:nvPr/>
        </p:nvSpPr>
        <p:spPr>
          <a:xfrm>
            <a:off x="2542032" y="5480913"/>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2" name="TextBox 121"/>
          <p:cNvSpPr txBox="1"/>
          <p:nvPr/>
        </p:nvSpPr>
        <p:spPr>
          <a:xfrm>
            <a:off x="9198864" y="1737360"/>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3" name="TextBox 122"/>
          <p:cNvSpPr txBox="1"/>
          <p:nvPr/>
        </p:nvSpPr>
        <p:spPr>
          <a:xfrm>
            <a:off x="9198864" y="2395728"/>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4" name="TextBox 123"/>
          <p:cNvSpPr txBox="1"/>
          <p:nvPr/>
        </p:nvSpPr>
        <p:spPr>
          <a:xfrm>
            <a:off x="9198864" y="3054096"/>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5" name="TextBox 124"/>
          <p:cNvSpPr txBox="1"/>
          <p:nvPr/>
        </p:nvSpPr>
        <p:spPr>
          <a:xfrm>
            <a:off x="9198864" y="3849624"/>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6" name="TextBox 125"/>
          <p:cNvSpPr txBox="1"/>
          <p:nvPr/>
        </p:nvSpPr>
        <p:spPr>
          <a:xfrm>
            <a:off x="9198864" y="4681728"/>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7" name="TextBox 126"/>
          <p:cNvSpPr txBox="1"/>
          <p:nvPr/>
        </p:nvSpPr>
        <p:spPr>
          <a:xfrm>
            <a:off x="9198864" y="5468112"/>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8" name="TextBox 127"/>
          <p:cNvSpPr txBox="1"/>
          <p:nvPr/>
        </p:nvSpPr>
        <p:spPr>
          <a:xfrm>
            <a:off x="9198864" y="5264429"/>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sp>
        <p:nvSpPr>
          <p:cNvPr id="129" name="TextBox 128"/>
          <p:cNvSpPr txBox="1"/>
          <p:nvPr/>
        </p:nvSpPr>
        <p:spPr>
          <a:xfrm>
            <a:off x="9198864" y="5715685"/>
            <a:ext cx="25603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787C82"/>
                </a:solidFill>
                <a:effectLst/>
                <a:uLnTx/>
                <a:uFillTx/>
                <a:latin typeface="Aptos"/>
                <a:ea typeface="+mn-ea"/>
                <a:cs typeface="+mn-cs"/>
              </a:rPr>
              <a:t>↔</a:t>
            </a:r>
          </a:p>
        </p:txBody>
      </p:sp>
      <p:cxnSp>
        <p:nvCxnSpPr>
          <p:cNvPr id="130" name="Connector 129"/>
          <p:cNvCxnSpPr/>
          <p:nvPr/>
        </p:nvCxnSpPr>
        <p:spPr>
          <a:xfrm>
            <a:off x="256032" y="6327648"/>
            <a:ext cx="11430000" cy="0"/>
          </a:xfrm>
          <a:prstGeom prst="line">
            <a:avLst/>
          </a:prstGeom>
          <a:ln w="15240">
            <a:solidFill>
              <a:srgbClr val="2A69AC"/>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256032" y="6428232"/>
            <a:ext cx="2377440" cy="182880"/>
          </a:xfrm>
          <a:prstGeom prst="rect">
            <a:avLst/>
          </a:prstGeom>
          <a:noFill/>
        </p:spPr>
        <p:txBody>
          <a:bodyPr wrap="square" lIns="36576" tIns="0" rIns="36576"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5A6470"/>
                </a:solidFill>
                <a:effectLst/>
                <a:uLnTx/>
                <a:uFillTx/>
                <a:latin typeface="Aptos"/>
                <a:ea typeface="+mn-ea"/>
                <a:cs typeface="+mn-cs"/>
              </a:rPr>
              <a:t>Confidential – For Discussion Purposes Only</a:t>
            </a:r>
          </a:p>
        </p:txBody>
      </p:sp>
      <p:sp>
        <p:nvSpPr>
          <p:cNvPr id="132" name="TextBox 131"/>
          <p:cNvSpPr txBox="1"/>
          <p:nvPr/>
        </p:nvSpPr>
        <p:spPr>
          <a:xfrm>
            <a:off x="2953512" y="6419088"/>
            <a:ext cx="5669280" cy="201168"/>
          </a:xfrm>
          <a:prstGeom prst="rect">
            <a:avLst/>
          </a:prstGeom>
          <a:noFill/>
        </p:spPr>
        <p:txBody>
          <a:bodyPr wrap="square" lIns="36576" tIns="0" rIns="36576"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19" b="0" i="0" u="none" strike="noStrike" kern="1200" cap="none" spc="0" normalizeH="0" baseline="0" noProof="0">
                <a:ln>
                  <a:noFill/>
                </a:ln>
                <a:solidFill>
                  <a:srgbClr val="5A6470"/>
                </a:solidFill>
                <a:effectLst/>
                <a:uLnTx/>
                <a:uFillTx/>
                <a:latin typeface="Aptos"/>
                <a:ea typeface="+mn-ea"/>
                <a:cs typeface="+mn-cs"/>
              </a:rPr>
              <a:t>Note: This is a high-level reference architecture. Detailed flows and components will be elaborated in subsequent slides.</a:t>
            </a:r>
          </a:p>
        </p:txBody>
      </p:sp>
      <p:cxnSp>
        <p:nvCxnSpPr>
          <p:cNvPr id="133" name="Connector 132"/>
          <p:cNvCxnSpPr/>
          <p:nvPr/>
        </p:nvCxnSpPr>
        <p:spPr>
          <a:xfrm>
            <a:off x="11082528" y="6419088"/>
            <a:ext cx="0" cy="210312"/>
          </a:xfrm>
          <a:prstGeom prst="line">
            <a:avLst/>
          </a:prstGeom>
          <a:ln w="11430">
            <a:solidFill>
              <a:srgbClr val="787C82"/>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1210544" y="6428232"/>
            <a:ext cx="164592"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F1F1F"/>
                </a:solidFill>
                <a:effectLst/>
                <a:uLnTx/>
                <a:uFillTx/>
                <a:latin typeface="Aptos"/>
                <a:ea typeface="+mn-ea"/>
                <a:cs typeface="+mn-cs"/>
              </a:rPr>
              <a:t>1</a:t>
            </a:r>
          </a:p>
        </p:txBody>
      </p:sp>
      <p:sp>
        <p:nvSpPr>
          <p:cNvPr id="31" name="TextBox 30">
            <a:extLst>
              <a:ext uri="{FF2B5EF4-FFF2-40B4-BE49-F238E27FC236}">
                <a16:creationId xmlns:a16="http://schemas.microsoft.com/office/drawing/2014/main" id="{34D5DDB3-C96C-7E11-4E84-70336EF3F571}"/>
              </a:ext>
            </a:extLst>
          </p:cNvPr>
          <p:cNvSpPr txBox="1"/>
          <p:nvPr/>
        </p:nvSpPr>
        <p:spPr>
          <a:xfrm>
            <a:off x="10805823" y="1036010"/>
            <a:ext cx="842838" cy="314830"/>
          </a:xfrm>
          <a:prstGeom prst="rect">
            <a:avLst/>
          </a:prstGeom>
          <a:noFill/>
        </p:spPr>
        <p:txBody>
          <a:bodyPr wrap="square" lIns="36576" tIns="18288" rIns="36576" bIns="18288" anchor="ctr">
            <a:sp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1000" b="1" i="1" u="none" strike="noStrike" kern="1200" cap="none" spc="0" normalizeH="0" baseline="0" noProof="0">
                <a:ln>
                  <a:noFill/>
                </a:ln>
                <a:solidFill>
                  <a:prstClr val="white"/>
                </a:solidFill>
                <a:effectLst/>
                <a:uLnTx/>
                <a:uFillTx/>
                <a:latin typeface="Aptos"/>
                <a:ea typeface="+mn-ea"/>
                <a:cs typeface="+mn-cs"/>
              </a:rPr>
              <a:t>40+</a:t>
            </a:r>
            <a:br>
              <a:rPr kumimoji="0" lang="en-US" sz="1000" b="1" i="1" u="none" strike="noStrike" kern="1200" cap="none" spc="0" normalizeH="0" baseline="0" noProof="0">
                <a:ln>
                  <a:noFill/>
                </a:ln>
                <a:solidFill>
                  <a:prstClr val="white"/>
                </a:solidFill>
                <a:effectLst/>
                <a:uLnTx/>
                <a:uFillTx/>
                <a:latin typeface="Aptos"/>
                <a:ea typeface="+mn-ea"/>
                <a:cs typeface="+mn-cs"/>
              </a:rPr>
            </a:br>
            <a:r>
              <a:rPr kumimoji="0" lang="en-US" sz="1000" b="1" i="1" u="none" strike="noStrike" kern="1200" cap="none" spc="0" normalizeH="0" baseline="0" noProof="0">
                <a:ln>
                  <a:noFill/>
                </a:ln>
                <a:solidFill>
                  <a:prstClr val="white"/>
                </a:solidFill>
                <a:effectLst/>
                <a:uLnTx/>
                <a:uFillTx/>
                <a:latin typeface="Aptos"/>
                <a:ea typeface="+mn-ea"/>
                <a:cs typeface="+mn-cs"/>
              </a:rPr>
              <a:t>Touchpoints</a:t>
            </a:r>
            <a:endParaRPr kumimoji="0" sz="1000" b="1" i="1" u="none" strike="noStrike" kern="1200" cap="none" spc="0" normalizeH="0" baseline="0" noProof="0">
              <a:ln>
                <a:noFill/>
              </a:ln>
              <a:solidFill>
                <a:prstClr val="white"/>
              </a:solidFill>
              <a:effectLst/>
              <a:uLnTx/>
              <a:uFillTx/>
              <a:latin typeface="Aptos"/>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2CB7A8C-5DF3-09F1-4EA7-D4C7982A7521}"/>
            </a:ext>
          </a:extLst>
        </p:cNvPr>
        <p:cNvGrpSpPr/>
        <p:nvPr/>
      </p:nvGrpSpPr>
      <p:grpSpPr>
        <a:xfrm>
          <a:off x="0" y="0"/>
          <a:ext cx="0" cy="0"/>
          <a:chOff x="0" y="0"/>
          <a:chExt cx="0" cy="0"/>
        </a:xfrm>
      </p:grpSpPr>
      <p:sp>
        <p:nvSpPr>
          <p:cNvPr id="22" name="Text Placeholder 1">
            <a:extLst>
              <a:ext uri="{FF2B5EF4-FFF2-40B4-BE49-F238E27FC236}">
                <a16:creationId xmlns:a16="http://schemas.microsoft.com/office/drawing/2014/main" id="{30F060B7-15F5-BC6B-D220-57CA25B3CE88}"/>
              </a:ext>
            </a:extLst>
          </p:cNvPr>
          <p:cNvSpPr txBox="1">
            <a:spLocks/>
          </p:cNvSpPr>
          <p:nvPr/>
        </p:nvSpPr>
        <p:spPr>
          <a:xfrm>
            <a:off x="268295" y="790431"/>
            <a:ext cx="8075474" cy="319151"/>
          </a:xfrm>
          <a:prstGeom prst="rect">
            <a:avLst/>
          </a:prstGeom>
        </p:spPr>
        <p:txBody>
          <a:bodyPr vert="horz" lIns="0" tIns="0" rIns="0" bIns="0" rtlCol="0" anchor="t">
            <a:noAutofit/>
          </a:bodyPr>
          <a:lst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600">
                <a:solidFill>
                  <a:schemeClr val="tx1">
                    <a:lumMod val="65000"/>
                    <a:lumOff val="35000"/>
                  </a:schemeClr>
                </a:solidFill>
                <a:latin typeface="Aptos Light" panose="020B0004020202020204" pitchFamily="34" charset="0"/>
                <a:cs typeface="Calibri Light"/>
              </a:rPr>
              <a:t>Core LOS platform on AWS with integrated enterprise systems and AI enablement layer.</a:t>
            </a:r>
          </a:p>
        </p:txBody>
      </p:sp>
      <p:sp>
        <p:nvSpPr>
          <p:cNvPr id="28" name="Title 2">
            <a:extLst>
              <a:ext uri="{FF2B5EF4-FFF2-40B4-BE49-F238E27FC236}">
                <a16:creationId xmlns:a16="http://schemas.microsoft.com/office/drawing/2014/main" id="{01CE3476-7776-6303-6C2B-05CFA2C8AE12}"/>
              </a:ext>
            </a:extLst>
          </p:cNvPr>
          <p:cNvSpPr txBox="1">
            <a:spLocks/>
          </p:cNvSpPr>
          <p:nvPr/>
        </p:nvSpPr>
        <p:spPr>
          <a:xfrm>
            <a:off x="153224" y="134318"/>
            <a:ext cx="9515562" cy="561196"/>
          </a:xfrm>
          <a:prstGeom prst="rect">
            <a:avLst/>
          </a:prstGeom>
        </p:spPr>
        <p:txBody>
          <a:bodyPr/>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r>
              <a:rPr lang="en-US" sz="3600">
                <a:solidFill>
                  <a:srgbClr val="002060"/>
                </a:solidFill>
                <a:latin typeface="Aptos Light" panose="020B0004020202020204" pitchFamily="34" charset="0"/>
                <a:ea typeface="+mj-lt"/>
                <a:cs typeface="+mj-lt"/>
              </a:rPr>
              <a:t>Agentic LOS On AWS - Reference Architecture</a:t>
            </a:r>
          </a:p>
        </p:txBody>
      </p:sp>
      <p:sp>
        <p:nvSpPr>
          <p:cNvPr id="46" name="Rectangle 45">
            <a:extLst>
              <a:ext uri="{FF2B5EF4-FFF2-40B4-BE49-F238E27FC236}">
                <a16:creationId xmlns:a16="http://schemas.microsoft.com/office/drawing/2014/main" id="{30625532-1720-BEE8-F83D-8D82D92E6B7A}"/>
              </a:ext>
            </a:extLst>
          </p:cNvPr>
          <p:cNvSpPr/>
          <p:nvPr/>
        </p:nvSpPr>
        <p:spPr>
          <a:xfrm>
            <a:off x="164989" y="1175997"/>
            <a:ext cx="1783080" cy="4343400"/>
          </a:xfrm>
          <a:prstGeom prst="rect">
            <a:avLst/>
          </a:prstGeom>
          <a:solidFill>
            <a:srgbClr val="FFFFFF"/>
          </a:solidFill>
          <a:ln w="1143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52" name="Rectangle 51">
            <a:extLst>
              <a:ext uri="{FF2B5EF4-FFF2-40B4-BE49-F238E27FC236}">
                <a16:creationId xmlns:a16="http://schemas.microsoft.com/office/drawing/2014/main" id="{339EA1B7-B980-BA78-E5E6-7AD0A39059F2}"/>
              </a:ext>
            </a:extLst>
          </p:cNvPr>
          <p:cNvSpPr/>
          <p:nvPr/>
        </p:nvSpPr>
        <p:spPr>
          <a:xfrm>
            <a:off x="164989" y="1175997"/>
            <a:ext cx="1783080" cy="329184"/>
          </a:xfrm>
          <a:prstGeom prst="rect">
            <a:avLst/>
          </a:prstGeom>
          <a:solidFill>
            <a:srgbClr val="4E5258"/>
          </a:solidFill>
          <a:ln w="10160">
            <a:solidFill>
              <a:srgbClr val="4E52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56" name="TextBox 55">
            <a:extLst>
              <a:ext uri="{FF2B5EF4-FFF2-40B4-BE49-F238E27FC236}">
                <a16:creationId xmlns:a16="http://schemas.microsoft.com/office/drawing/2014/main" id="{8F7539CC-AB2B-05A5-A802-3691579C8E89}"/>
              </a:ext>
            </a:extLst>
          </p:cNvPr>
          <p:cNvSpPr txBox="1"/>
          <p:nvPr/>
        </p:nvSpPr>
        <p:spPr>
          <a:xfrm>
            <a:off x="164989" y="1253776"/>
            <a:ext cx="1783080" cy="14619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ea typeface="+mn-ea"/>
                <a:cs typeface="+mn-cs"/>
              </a:rPr>
              <a:t>Enterprise / Internal Systems</a:t>
            </a:r>
          </a:p>
        </p:txBody>
      </p:sp>
      <p:sp>
        <p:nvSpPr>
          <p:cNvPr id="57" name="Rectangle 56">
            <a:extLst>
              <a:ext uri="{FF2B5EF4-FFF2-40B4-BE49-F238E27FC236}">
                <a16:creationId xmlns:a16="http://schemas.microsoft.com/office/drawing/2014/main" id="{2D9AD597-B01D-C03A-57D2-DF302A5A4E61}"/>
              </a:ext>
            </a:extLst>
          </p:cNvPr>
          <p:cNvSpPr/>
          <p:nvPr/>
        </p:nvSpPr>
        <p:spPr>
          <a:xfrm>
            <a:off x="210709" y="1578333"/>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58" name="Picture 57" descr="database_777777.png">
            <a:extLst>
              <a:ext uri="{FF2B5EF4-FFF2-40B4-BE49-F238E27FC236}">
                <a16:creationId xmlns:a16="http://schemas.microsoft.com/office/drawing/2014/main" id="{3227C8B8-D001-C6CA-D5C1-18483DEECC50}"/>
              </a:ext>
            </a:extLst>
          </p:cNvPr>
          <p:cNvPicPr>
            <a:picLocks noChangeAspect="1"/>
          </p:cNvPicPr>
          <p:nvPr/>
        </p:nvPicPr>
        <p:blipFill>
          <a:blip r:embed="rId3"/>
          <a:stretch>
            <a:fillRect/>
          </a:stretch>
        </p:blipFill>
        <p:spPr>
          <a:xfrm>
            <a:off x="256429" y="1782930"/>
            <a:ext cx="210312" cy="210312"/>
          </a:xfrm>
          <a:prstGeom prst="rect">
            <a:avLst/>
          </a:prstGeom>
        </p:spPr>
      </p:pic>
      <p:sp>
        <p:nvSpPr>
          <p:cNvPr id="59" name="TextBox 58">
            <a:extLst>
              <a:ext uri="{FF2B5EF4-FFF2-40B4-BE49-F238E27FC236}">
                <a16:creationId xmlns:a16="http://schemas.microsoft.com/office/drawing/2014/main" id="{E927D24D-9E5C-E8BE-06BB-B68991AC9B55}"/>
              </a:ext>
            </a:extLst>
          </p:cNvPr>
          <p:cNvSpPr txBox="1"/>
          <p:nvPr/>
        </p:nvSpPr>
        <p:spPr>
          <a:xfrm>
            <a:off x="530749" y="1595048"/>
            <a:ext cx="1353312" cy="16773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ea typeface="+mn-ea"/>
                <a:cs typeface="+mn-cs"/>
              </a:rPr>
              <a:t>Data Warehouse</a:t>
            </a:r>
          </a:p>
        </p:txBody>
      </p:sp>
      <p:sp>
        <p:nvSpPr>
          <p:cNvPr id="76" name="TextBox 75">
            <a:extLst>
              <a:ext uri="{FF2B5EF4-FFF2-40B4-BE49-F238E27FC236}">
                <a16:creationId xmlns:a16="http://schemas.microsoft.com/office/drawing/2014/main" id="{37E3D253-F9B1-D5E2-B581-7A68653E653A}"/>
              </a:ext>
            </a:extLst>
          </p:cNvPr>
          <p:cNvSpPr txBox="1"/>
          <p:nvPr/>
        </p:nvSpPr>
        <p:spPr>
          <a:xfrm>
            <a:off x="530749" y="1898111"/>
            <a:ext cx="1353312" cy="126253"/>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ea typeface="+mn-ea"/>
                <a:cs typeface="+mn-cs"/>
              </a:rPr>
              <a:t>Insights &amp; reporting</a:t>
            </a:r>
          </a:p>
        </p:txBody>
      </p:sp>
      <p:sp>
        <p:nvSpPr>
          <p:cNvPr id="79" name="TextBox 78">
            <a:extLst>
              <a:ext uri="{FF2B5EF4-FFF2-40B4-BE49-F238E27FC236}">
                <a16:creationId xmlns:a16="http://schemas.microsoft.com/office/drawing/2014/main" id="{F8C0692B-933B-FE01-C7B1-C93076DD1350}"/>
              </a:ext>
            </a:extLst>
          </p:cNvPr>
          <p:cNvSpPr txBox="1"/>
          <p:nvPr/>
        </p:nvSpPr>
        <p:spPr>
          <a:xfrm>
            <a:off x="1993789" y="177267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80" name="Rectangle 79">
            <a:extLst>
              <a:ext uri="{FF2B5EF4-FFF2-40B4-BE49-F238E27FC236}">
                <a16:creationId xmlns:a16="http://schemas.microsoft.com/office/drawing/2014/main" id="{2B3ED020-DD2C-13F6-01C4-254448AC9EA4}"/>
              </a:ext>
            </a:extLst>
          </p:cNvPr>
          <p:cNvSpPr/>
          <p:nvPr/>
        </p:nvSpPr>
        <p:spPr>
          <a:xfrm>
            <a:off x="210709" y="2229843"/>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85" name="Picture 84" descr="shield_user_777777.png">
            <a:extLst>
              <a:ext uri="{FF2B5EF4-FFF2-40B4-BE49-F238E27FC236}">
                <a16:creationId xmlns:a16="http://schemas.microsoft.com/office/drawing/2014/main" id="{F9342BD0-368F-1A04-ED66-D85FEA0CB8F4}"/>
              </a:ext>
            </a:extLst>
          </p:cNvPr>
          <p:cNvPicPr>
            <a:picLocks noChangeAspect="1"/>
          </p:cNvPicPr>
          <p:nvPr/>
        </p:nvPicPr>
        <p:blipFill>
          <a:blip r:embed="rId4"/>
          <a:stretch>
            <a:fillRect/>
          </a:stretch>
        </p:blipFill>
        <p:spPr>
          <a:xfrm>
            <a:off x="256429" y="2434440"/>
            <a:ext cx="210312" cy="210312"/>
          </a:xfrm>
          <a:prstGeom prst="rect">
            <a:avLst/>
          </a:prstGeom>
        </p:spPr>
      </p:pic>
      <p:sp>
        <p:nvSpPr>
          <p:cNvPr id="86" name="TextBox 85">
            <a:extLst>
              <a:ext uri="{FF2B5EF4-FFF2-40B4-BE49-F238E27FC236}">
                <a16:creationId xmlns:a16="http://schemas.microsoft.com/office/drawing/2014/main" id="{CF251C96-2AA4-F7B9-6443-29A9C25C1CFE}"/>
              </a:ext>
            </a:extLst>
          </p:cNvPr>
          <p:cNvSpPr txBox="1"/>
          <p:nvPr/>
        </p:nvSpPr>
        <p:spPr>
          <a:xfrm>
            <a:off x="530749" y="2246558"/>
            <a:ext cx="1353312" cy="16773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ea typeface="+mn-ea"/>
                <a:cs typeface="+mn-cs"/>
              </a:rPr>
              <a:t>SSO / IAM</a:t>
            </a:r>
          </a:p>
        </p:txBody>
      </p:sp>
      <p:sp>
        <p:nvSpPr>
          <p:cNvPr id="87" name="TextBox 86">
            <a:extLst>
              <a:ext uri="{FF2B5EF4-FFF2-40B4-BE49-F238E27FC236}">
                <a16:creationId xmlns:a16="http://schemas.microsoft.com/office/drawing/2014/main" id="{E8F6270B-3F35-E89F-2764-5D861F6238FE}"/>
              </a:ext>
            </a:extLst>
          </p:cNvPr>
          <p:cNvSpPr txBox="1"/>
          <p:nvPr/>
        </p:nvSpPr>
        <p:spPr>
          <a:xfrm>
            <a:off x="530749" y="2498389"/>
            <a:ext cx="1353312" cy="228717"/>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ea typeface="+mn-ea"/>
                <a:cs typeface="+mn-cs"/>
              </a:rPr>
              <a:t>Authentication &amp; access management</a:t>
            </a:r>
          </a:p>
        </p:txBody>
      </p:sp>
      <p:sp>
        <p:nvSpPr>
          <p:cNvPr id="88" name="TextBox 87">
            <a:extLst>
              <a:ext uri="{FF2B5EF4-FFF2-40B4-BE49-F238E27FC236}">
                <a16:creationId xmlns:a16="http://schemas.microsoft.com/office/drawing/2014/main" id="{C8E9E576-10ED-6A7C-F08D-2F07DA652493}"/>
              </a:ext>
            </a:extLst>
          </p:cNvPr>
          <p:cNvSpPr txBox="1"/>
          <p:nvPr/>
        </p:nvSpPr>
        <p:spPr>
          <a:xfrm>
            <a:off x="1993789" y="242418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89" name="Rectangle 88">
            <a:extLst>
              <a:ext uri="{FF2B5EF4-FFF2-40B4-BE49-F238E27FC236}">
                <a16:creationId xmlns:a16="http://schemas.microsoft.com/office/drawing/2014/main" id="{5C4E055D-3970-FCAB-A716-5378E2F5AD93}"/>
              </a:ext>
            </a:extLst>
          </p:cNvPr>
          <p:cNvSpPr/>
          <p:nvPr/>
        </p:nvSpPr>
        <p:spPr>
          <a:xfrm>
            <a:off x="210709" y="2881353"/>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90" name="Picture 89" descr="document_777777.png">
            <a:extLst>
              <a:ext uri="{FF2B5EF4-FFF2-40B4-BE49-F238E27FC236}">
                <a16:creationId xmlns:a16="http://schemas.microsoft.com/office/drawing/2014/main" id="{BCA79258-4E38-7F11-A3A3-2693806977CD}"/>
              </a:ext>
            </a:extLst>
          </p:cNvPr>
          <p:cNvPicPr>
            <a:picLocks noChangeAspect="1"/>
          </p:cNvPicPr>
          <p:nvPr/>
        </p:nvPicPr>
        <p:blipFill>
          <a:blip r:embed="rId5"/>
          <a:stretch>
            <a:fillRect/>
          </a:stretch>
        </p:blipFill>
        <p:spPr>
          <a:xfrm>
            <a:off x="256429" y="3085950"/>
            <a:ext cx="210312" cy="210312"/>
          </a:xfrm>
          <a:prstGeom prst="rect">
            <a:avLst/>
          </a:prstGeom>
        </p:spPr>
      </p:pic>
      <p:sp>
        <p:nvSpPr>
          <p:cNvPr id="91" name="TextBox 90">
            <a:extLst>
              <a:ext uri="{FF2B5EF4-FFF2-40B4-BE49-F238E27FC236}">
                <a16:creationId xmlns:a16="http://schemas.microsoft.com/office/drawing/2014/main" id="{0813BC65-A457-4882-799E-3CFDDA1C83F1}"/>
              </a:ext>
            </a:extLst>
          </p:cNvPr>
          <p:cNvSpPr txBox="1"/>
          <p:nvPr/>
        </p:nvSpPr>
        <p:spPr>
          <a:xfrm>
            <a:off x="530749" y="2898068"/>
            <a:ext cx="1353312" cy="16773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ea typeface="+mn-ea"/>
                <a:cs typeface="+mn-cs"/>
              </a:rPr>
              <a:t>DMS</a:t>
            </a:r>
          </a:p>
        </p:txBody>
      </p:sp>
      <p:sp>
        <p:nvSpPr>
          <p:cNvPr id="92" name="TextBox 91">
            <a:extLst>
              <a:ext uri="{FF2B5EF4-FFF2-40B4-BE49-F238E27FC236}">
                <a16:creationId xmlns:a16="http://schemas.microsoft.com/office/drawing/2014/main" id="{5C62F01D-38E2-5953-E069-DB6E1359247C}"/>
              </a:ext>
            </a:extLst>
          </p:cNvPr>
          <p:cNvSpPr txBox="1"/>
          <p:nvPr/>
        </p:nvSpPr>
        <p:spPr>
          <a:xfrm>
            <a:off x="530749" y="3149899"/>
            <a:ext cx="1353312" cy="228717"/>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ea typeface="+mn-ea"/>
                <a:cs typeface="+mn-cs"/>
              </a:rPr>
              <a:t>Document repository &amp; management</a:t>
            </a:r>
          </a:p>
        </p:txBody>
      </p:sp>
      <p:sp>
        <p:nvSpPr>
          <p:cNvPr id="93" name="TextBox 92">
            <a:extLst>
              <a:ext uri="{FF2B5EF4-FFF2-40B4-BE49-F238E27FC236}">
                <a16:creationId xmlns:a16="http://schemas.microsoft.com/office/drawing/2014/main" id="{E53784E6-CA6D-6F18-81B1-E04C1589C613}"/>
              </a:ext>
            </a:extLst>
          </p:cNvPr>
          <p:cNvSpPr txBox="1"/>
          <p:nvPr/>
        </p:nvSpPr>
        <p:spPr>
          <a:xfrm>
            <a:off x="1993789" y="307569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94" name="Rectangle 93">
            <a:extLst>
              <a:ext uri="{FF2B5EF4-FFF2-40B4-BE49-F238E27FC236}">
                <a16:creationId xmlns:a16="http://schemas.microsoft.com/office/drawing/2014/main" id="{99F0D7B9-F6B2-6AD0-E308-E81372313340}"/>
              </a:ext>
            </a:extLst>
          </p:cNvPr>
          <p:cNvSpPr/>
          <p:nvPr/>
        </p:nvSpPr>
        <p:spPr>
          <a:xfrm>
            <a:off x="210709" y="3532863"/>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95" name="Picture 94" descr="gear_777777.png">
            <a:extLst>
              <a:ext uri="{FF2B5EF4-FFF2-40B4-BE49-F238E27FC236}">
                <a16:creationId xmlns:a16="http://schemas.microsoft.com/office/drawing/2014/main" id="{AB127669-29B0-E0CF-0120-E33F5AB72AE4}"/>
              </a:ext>
            </a:extLst>
          </p:cNvPr>
          <p:cNvPicPr>
            <a:picLocks noChangeAspect="1"/>
          </p:cNvPicPr>
          <p:nvPr/>
        </p:nvPicPr>
        <p:blipFill>
          <a:blip r:embed="rId6"/>
          <a:stretch>
            <a:fillRect/>
          </a:stretch>
        </p:blipFill>
        <p:spPr>
          <a:xfrm>
            <a:off x="256429" y="3737460"/>
            <a:ext cx="210312" cy="210312"/>
          </a:xfrm>
          <a:prstGeom prst="rect">
            <a:avLst/>
          </a:prstGeom>
        </p:spPr>
      </p:pic>
      <p:sp>
        <p:nvSpPr>
          <p:cNvPr id="96" name="TextBox 95">
            <a:extLst>
              <a:ext uri="{FF2B5EF4-FFF2-40B4-BE49-F238E27FC236}">
                <a16:creationId xmlns:a16="http://schemas.microsoft.com/office/drawing/2014/main" id="{AACE0C73-BC75-5671-D255-A781D1CACE7E}"/>
              </a:ext>
            </a:extLst>
          </p:cNvPr>
          <p:cNvSpPr txBox="1"/>
          <p:nvPr/>
        </p:nvSpPr>
        <p:spPr>
          <a:xfrm>
            <a:off x="530749" y="3549578"/>
            <a:ext cx="1353312" cy="16773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ea typeface="+mn-ea"/>
                <a:cs typeface="+mn-cs"/>
              </a:rPr>
              <a:t>BRE / Rules Engine</a:t>
            </a:r>
          </a:p>
        </p:txBody>
      </p:sp>
      <p:sp>
        <p:nvSpPr>
          <p:cNvPr id="97" name="TextBox 96">
            <a:extLst>
              <a:ext uri="{FF2B5EF4-FFF2-40B4-BE49-F238E27FC236}">
                <a16:creationId xmlns:a16="http://schemas.microsoft.com/office/drawing/2014/main" id="{32B6E355-B12E-F16D-15F0-6D5EDDC3D664}"/>
              </a:ext>
            </a:extLst>
          </p:cNvPr>
          <p:cNvSpPr txBox="1"/>
          <p:nvPr/>
        </p:nvSpPr>
        <p:spPr>
          <a:xfrm>
            <a:off x="530749" y="3801409"/>
            <a:ext cx="1353312" cy="228717"/>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ea typeface="+mn-ea"/>
                <a:cs typeface="+mn-cs"/>
              </a:rPr>
              <a:t>Business rules &amp; decision engine</a:t>
            </a:r>
          </a:p>
        </p:txBody>
      </p:sp>
      <p:sp>
        <p:nvSpPr>
          <p:cNvPr id="98" name="TextBox 97">
            <a:extLst>
              <a:ext uri="{FF2B5EF4-FFF2-40B4-BE49-F238E27FC236}">
                <a16:creationId xmlns:a16="http://schemas.microsoft.com/office/drawing/2014/main" id="{FCFD62C4-A46E-39CF-BA79-45ED2434A622}"/>
              </a:ext>
            </a:extLst>
          </p:cNvPr>
          <p:cNvSpPr txBox="1"/>
          <p:nvPr/>
        </p:nvSpPr>
        <p:spPr>
          <a:xfrm>
            <a:off x="1993789" y="372720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99" name="Rectangle 98">
            <a:extLst>
              <a:ext uri="{FF2B5EF4-FFF2-40B4-BE49-F238E27FC236}">
                <a16:creationId xmlns:a16="http://schemas.microsoft.com/office/drawing/2014/main" id="{0F04C1F2-28CC-1FFD-D61F-ADE15B5B401E}"/>
              </a:ext>
            </a:extLst>
          </p:cNvPr>
          <p:cNvSpPr/>
          <p:nvPr/>
        </p:nvSpPr>
        <p:spPr>
          <a:xfrm>
            <a:off x="210709" y="4184373"/>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00" name="Picture 99" descr="monitor_777777.png">
            <a:extLst>
              <a:ext uri="{FF2B5EF4-FFF2-40B4-BE49-F238E27FC236}">
                <a16:creationId xmlns:a16="http://schemas.microsoft.com/office/drawing/2014/main" id="{0F4A6B73-24D1-4705-C8D7-E3F1AE97B485}"/>
              </a:ext>
            </a:extLst>
          </p:cNvPr>
          <p:cNvPicPr>
            <a:picLocks noChangeAspect="1"/>
          </p:cNvPicPr>
          <p:nvPr/>
        </p:nvPicPr>
        <p:blipFill>
          <a:blip r:embed="rId7"/>
          <a:stretch>
            <a:fillRect/>
          </a:stretch>
        </p:blipFill>
        <p:spPr>
          <a:xfrm>
            <a:off x="256429" y="4388970"/>
            <a:ext cx="210312" cy="210312"/>
          </a:xfrm>
          <a:prstGeom prst="rect">
            <a:avLst/>
          </a:prstGeom>
        </p:spPr>
      </p:pic>
      <p:sp>
        <p:nvSpPr>
          <p:cNvPr id="101" name="TextBox 100">
            <a:extLst>
              <a:ext uri="{FF2B5EF4-FFF2-40B4-BE49-F238E27FC236}">
                <a16:creationId xmlns:a16="http://schemas.microsoft.com/office/drawing/2014/main" id="{C29EC53B-12B4-7438-878B-A3F9AA6D7BFD}"/>
              </a:ext>
            </a:extLst>
          </p:cNvPr>
          <p:cNvSpPr txBox="1"/>
          <p:nvPr/>
        </p:nvSpPr>
        <p:spPr>
          <a:xfrm>
            <a:off x="530749" y="4201088"/>
            <a:ext cx="1353312" cy="16773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ea typeface="+mn-ea"/>
                <a:cs typeface="+mn-cs"/>
              </a:rPr>
              <a:t>LMS / Core Systems</a:t>
            </a:r>
          </a:p>
        </p:txBody>
      </p:sp>
      <p:sp>
        <p:nvSpPr>
          <p:cNvPr id="102" name="TextBox 101">
            <a:extLst>
              <a:ext uri="{FF2B5EF4-FFF2-40B4-BE49-F238E27FC236}">
                <a16:creationId xmlns:a16="http://schemas.microsoft.com/office/drawing/2014/main" id="{0140BF25-3286-B4FC-6564-0E6B4FD79ECD}"/>
              </a:ext>
            </a:extLst>
          </p:cNvPr>
          <p:cNvSpPr txBox="1"/>
          <p:nvPr/>
        </p:nvSpPr>
        <p:spPr>
          <a:xfrm>
            <a:off x="530749" y="4452919"/>
            <a:ext cx="1353312" cy="228717"/>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ea typeface="+mn-ea"/>
                <a:cs typeface="+mn-cs"/>
              </a:rPr>
              <a:t>Loan management &amp; servicing systems</a:t>
            </a:r>
          </a:p>
        </p:txBody>
      </p:sp>
      <p:sp>
        <p:nvSpPr>
          <p:cNvPr id="103" name="TextBox 102">
            <a:extLst>
              <a:ext uri="{FF2B5EF4-FFF2-40B4-BE49-F238E27FC236}">
                <a16:creationId xmlns:a16="http://schemas.microsoft.com/office/drawing/2014/main" id="{A9C5DBC5-3797-C695-2B42-64F117311F1F}"/>
              </a:ext>
            </a:extLst>
          </p:cNvPr>
          <p:cNvSpPr txBox="1"/>
          <p:nvPr/>
        </p:nvSpPr>
        <p:spPr>
          <a:xfrm>
            <a:off x="1993789" y="437871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04" name="Rectangle 103">
            <a:extLst>
              <a:ext uri="{FF2B5EF4-FFF2-40B4-BE49-F238E27FC236}">
                <a16:creationId xmlns:a16="http://schemas.microsoft.com/office/drawing/2014/main" id="{477ECAB4-FC2D-C411-F093-F389FE18417B}"/>
              </a:ext>
            </a:extLst>
          </p:cNvPr>
          <p:cNvSpPr/>
          <p:nvPr/>
        </p:nvSpPr>
        <p:spPr>
          <a:xfrm>
            <a:off x="210709" y="4835883"/>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05" name="Picture 104" descr="building_777777.png">
            <a:extLst>
              <a:ext uri="{FF2B5EF4-FFF2-40B4-BE49-F238E27FC236}">
                <a16:creationId xmlns:a16="http://schemas.microsoft.com/office/drawing/2014/main" id="{98D66F86-8A9F-FBAF-D8E5-592AB895C7EF}"/>
              </a:ext>
            </a:extLst>
          </p:cNvPr>
          <p:cNvPicPr>
            <a:picLocks noChangeAspect="1"/>
          </p:cNvPicPr>
          <p:nvPr/>
        </p:nvPicPr>
        <p:blipFill>
          <a:blip r:embed="rId8"/>
          <a:stretch>
            <a:fillRect/>
          </a:stretch>
        </p:blipFill>
        <p:spPr>
          <a:xfrm>
            <a:off x="256429" y="5040480"/>
            <a:ext cx="210312" cy="210312"/>
          </a:xfrm>
          <a:prstGeom prst="rect">
            <a:avLst/>
          </a:prstGeom>
        </p:spPr>
      </p:pic>
      <p:sp>
        <p:nvSpPr>
          <p:cNvPr id="106" name="TextBox 105">
            <a:extLst>
              <a:ext uri="{FF2B5EF4-FFF2-40B4-BE49-F238E27FC236}">
                <a16:creationId xmlns:a16="http://schemas.microsoft.com/office/drawing/2014/main" id="{6128FC01-497F-5956-0BA2-1546046A3F8C}"/>
              </a:ext>
            </a:extLst>
          </p:cNvPr>
          <p:cNvSpPr txBox="1"/>
          <p:nvPr/>
        </p:nvSpPr>
        <p:spPr>
          <a:xfrm>
            <a:off x="530749" y="4852598"/>
            <a:ext cx="1353312" cy="16773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ea typeface="+mn-ea"/>
                <a:cs typeface="+mn-cs"/>
              </a:rPr>
              <a:t>Other Enterprise Apps</a:t>
            </a:r>
          </a:p>
        </p:txBody>
      </p:sp>
      <p:sp>
        <p:nvSpPr>
          <p:cNvPr id="107" name="TextBox 106">
            <a:extLst>
              <a:ext uri="{FF2B5EF4-FFF2-40B4-BE49-F238E27FC236}">
                <a16:creationId xmlns:a16="http://schemas.microsoft.com/office/drawing/2014/main" id="{492F8FA8-2AE6-BFB9-5B11-8E3FF5CFA00B}"/>
              </a:ext>
            </a:extLst>
          </p:cNvPr>
          <p:cNvSpPr txBox="1"/>
          <p:nvPr/>
        </p:nvSpPr>
        <p:spPr>
          <a:xfrm>
            <a:off x="530749" y="5155661"/>
            <a:ext cx="1353312" cy="126253"/>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ea typeface="+mn-ea"/>
                <a:cs typeface="+mn-cs"/>
              </a:rPr>
              <a:t>Finance, HR, ERP, CRM, etc.</a:t>
            </a:r>
          </a:p>
        </p:txBody>
      </p:sp>
      <p:sp>
        <p:nvSpPr>
          <p:cNvPr id="108" name="TextBox 107">
            <a:extLst>
              <a:ext uri="{FF2B5EF4-FFF2-40B4-BE49-F238E27FC236}">
                <a16:creationId xmlns:a16="http://schemas.microsoft.com/office/drawing/2014/main" id="{F9AAA5A9-5A8A-D992-B083-8DC7D3AF1E40}"/>
              </a:ext>
            </a:extLst>
          </p:cNvPr>
          <p:cNvSpPr txBox="1"/>
          <p:nvPr/>
        </p:nvSpPr>
        <p:spPr>
          <a:xfrm>
            <a:off x="1993789" y="503022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09" name="Rectangle 108">
            <a:extLst>
              <a:ext uri="{FF2B5EF4-FFF2-40B4-BE49-F238E27FC236}">
                <a16:creationId xmlns:a16="http://schemas.microsoft.com/office/drawing/2014/main" id="{267B01C5-6D6A-8BB4-3170-1ACAB6814B75}"/>
              </a:ext>
            </a:extLst>
          </p:cNvPr>
          <p:cNvSpPr/>
          <p:nvPr/>
        </p:nvSpPr>
        <p:spPr>
          <a:xfrm>
            <a:off x="9519301" y="1175997"/>
            <a:ext cx="2423160" cy="4343400"/>
          </a:xfrm>
          <a:prstGeom prst="rect">
            <a:avLst/>
          </a:prstGeom>
          <a:solidFill>
            <a:srgbClr val="FFFFFF"/>
          </a:solidFill>
          <a:ln w="1143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10" name="Rectangle 109">
            <a:extLst>
              <a:ext uri="{FF2B5EF4-FFF2-40B4-BE49-F238E27FC236}">
                <a16:creationId xmlns:a16="http://schemas.microsoft.com/office/drawing/2014/main" id="{A7B6A9C2-979D-9E1D-AAC4-FB321867ABA2}"/>
              </a:ext>
            </a:extLst>
          </p:cNvPr>
          <p:cNvSpPr/>
          <p:nvPr/>
        </p:nvSpPr>
        <p:spPr>
          <a:xfrm>
            <a:off x="9519301" y="1175997"/>
            <a:ext cx="2423160" cy="329184"/>
          </a:xfrm>
          <a:prstGeom prst="rect">
            <a:avLst/>
          </a:prstGeom>
          <a:solidFill>
            <a:srgbClr val="4E5258"/>
          </a:solidFill>
          <a:ln w="10160">
            <a:solidFill>
              <a:srgbClr val="4E52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11" name="TextBox 110">
            <a:extLst>
              <a:ext uri="{FF2B5EF4-FFF2-40B4-BE49-F238E27FC236}">
                <a16:creationId xmlns:a16="http://schemas.microsoft.com/office/drawing/2014/main" id="{4D47BDD0-4510-2298-D0D1-24D66958380F}"/>
              </a:ext>
            </a:extLst>
          </p:cNvPr>
          <p:cNvSpPr txBox="1"/>
          <p:nvPr/>
        </p:nvSpPr>
        <p:spPr>
          <a:xfrm>
            <a:off x="9519301" y="1202948"/>
            <a:ext cx="2423160" cy="256993"/>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ea typeface="+mn-ea"/>
                <a:cs typeface="+mn-cs"/>
              </a:rPr>
              <a:t>External / Regulatory /
Fintech Ecosystem</a:t>
            </a:r>
          </a:p>
        </p:txBody>
      </p:sp>
      <p:sp>
        <p:nvSpPr>
          <p:cNvPr id="112" name="Rectangle 111">
            <a:extLst>
              <a:ext uri="{FF2B5EF4-FFF2-40B4-BE49-F238E27FC236}">
                <a16:creationId xmlns:a16="http://schemas.microsoft.com/office/drawing/2014/main" id="{E4DA04D7-CD5A-68D3-6944-5BF0D3E3A8A5}"/>
              </a:ext>
            </a:extLst>
          </p:cNvPr>
          <p:cNvSpPr/>
          <p:nvPr/>
        </p:nvSpPr>
        <p:spPr>
          <a:xfrm>
            <a:off x="9555877" y="1560045"/>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13" name="Picture 112" descr="id_card_777777.png">
            <a:extLst>
              <a:ext uri="{FF2B5EF4-FFF2-40B4-BE49-F238E27FC236}">
                <a16:creationId xmlns:a16="http://schemas.microsoft.com/office/drawing/2014/main" id="{B27D5C5B-7DA9-AD2F-C102-725FCEF8822D}"/>
              </a:ext>
            </a:extLst>
          </p:cNvPr>
          <p:cNvPicPr>
            <a:picLocks noChangeAspect="1"/>
          </p:cNvPicPr>
          <p:nvPr/>
        </p:nvPicPr>
        <p:blipFill>
          <a:blip r:embed="rId9"/>
          <a:stretch>
            <a:fillRect/>
          </a:stretch>
        </p:blipFill>
        <p:spPr>
          <a:xfrm>
            <a:off x="9592453" y="1653542"/>
            <a:ext cx="182880" cy="182880"/>
          </a:xfrm>
          <a:prstGeom prst="rect">
            <a:avLst/>
          </a:prstGeom>
        </p:spPr>
      </p:pic>
      <p:sp>
        <p:nvSpPr>
          <p:cNvPr id="114" name="TextBox 113">
            <a:extLst>
              <a:ext uri="{FF2B5EF4-FFF2-40B4-BE49-F238E27FC236}">
                <a16:creationId xmlns:a16="http://schemas.microsoft.com/office/drawing/2014/main" id="{D5D31428-78FC-83E8-A6B3-1599F19B76CD}"/>
              </a:ext>
            </a:extLst>
          </p:cNvPr>
          <p:cNvSpPr txBox="1"/>
          <p:nvPr/>
        </p:nvSpPr>
        <p:spPr>
          <a:xfrm>
            <a:off x="9830197" y="1558895"/>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Identity &amp; KYC</a:t>
            </a:r>
          </a:p>
        </p:txBody>
      </p:sp>
      <p:sp>
        <p:nvSpPr>
          <p:cNvPr id="115" name="TextBox 114">
            <a:extLst>
              <a:ext uri="{FF2B5EF4-FFF2-40B4-BE49-F238E27FC236}">
                <a16:creationId xmlns:a16="http://schemas.microsoft.com/office/drawing/2014/main" id="{1C30941E-38BC-636A-0D23-BD47DFD8F1EF}"/>
              </a:ext>
            </a:extLst>
          </p:cNvPr>
          <p:cNvSpPr txBox="1"/>
          <p:nvPr/>
        </p:nvSpPr>
        <p:spPr>
          <a:xfrm>
            <a:off x="9830197" y="1709501"/>
            <a:ext cx="2057400" cy="18069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PAN/Aadhaar OCR, DigiLocker, CKYC, Aadhaar vault/masking, OTP</a:t>
            </a:r>
          </a:p>
        </p:txBody>
      </p:sp>
      <p:sp>
        <p:nvSpPr>
          <p:cNvPr id="116" name="TextBox 115">
            <a:extLst>
              <a:ext uri="{FF2B5EF4-FFF2-40B4-BE49-F238E27FC236}">
                <a16:creationId xmlns:a16="http://schemas.microsoft.com/office/drawing/2014/main" id="{E9E3126C-21BA-50A0-B188-884696432E43}"/>
              </a:ext>
            </a:extLst>
          </p:cNvPr>
          <p:cNvSpPr txBox="1"/>
          <p:nvPr/>
        </p:nvSpPr>
        <p:spPr>
          <a:xfrm>
            <a:off x="9299845" y="1629566"/>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17" name="Rectangle 116">
            <a:extLst>
              <a:ext uri="{FF2B5EF4-FFF2-40B4-BE49-F238E27FC236}">
                <a16:creationId xmlns:a16="http://schemas.microsoft.com/office/drawing/2014/main" id="{DDC3A981-1E86-8975-AF08-CE4B8EDC34C1}"/>
              </a:ext>
            </a:extLst>
          </p:cNvPr>
          <p:cNvSpPr/>
          <p:nvPr/>
        </p:nvSpPr>
        <p:spPr>
          <a:xfrm>
            <a:off x="9555877" y="1952779"/>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18" name="Picture 117" descr="document_777777.png">
            <a:extLst>
              <a:ext uri="{FF2B5EF4-FFF2-40B4-BE49-F238E27FC236}">
                <a16:creationId xmlns:a16="http://schemas.microsoft.com/office/drawing/2014/main" id="{21644075-D28A-7D23-5D48-E93B31B48E63}"/>
              </a:ext>
            </a:extLst>
          </p:cNvPr>
          <p:cNvPicPr>
            <a:picLocks noChangeAspect="1"/>
          </p:cNvPicPr>
          <p:nvPr/>
        </p:nvPicPr>
        <p:blipFill>
          <a:blip r:embed="rId5"/>
          <a:stretch>
            <a:fillRect/>
          </a:stretch>
        </p:blipFill>
        <p:spPr>
          <a:xfrm>
            <a:off x="9592453" y="2046277"/>
            <a:ext cx="182880" cy="182880"/>
          </a:xfrm>
          <a:prstGeom prst="rect">
            <a:avLst/>
          </a:prstGeom>
        </p:spPr>
      </p:pic>
      <p:sp>
        <p:nvSpPr>
          <p:cNvPr id="119" name="TextBox 118">
            <a:extLst>
              <a:ext uri="{FF2B5EF4-FFF2-40B4-BE49-F238E27FC236}">
                <a16:creationId xmlns:a16="http://schemas.microsoft.com/office/drawing/2014/main" id="{89B6F400-1F84-12EF-3202-3631F4A282DF}"/>
              </a:ext>
            </a:extLst>
          </p:cNvPr>
          <p:cNvSpPr txBox="1"/>
          <p:nvPr/>
        </p:nvSpPr>
        <p:spPr>
          <a:xfrm>
            <a:off x="9830197" y="1951629"/>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Documents &amp; Mandates</a:t>
            </a:r>
          </a:p>
        </p:txBody>
      </p:sp>
      <p:sp>
        <p:nvSpPr>
          <p:cNvPr id="120" name="TextBox 119">
            <a:extLst>
              <a:ext uri="{FF2B5EF4-FFF2-40B4-BE49-F238E27FC236}">
                <a16:creationId xmlns:a16="http://schemas.microsoft.com/office/drawing/2014/main" id="{51F3029C-F58D-4D09-7627-140CB25C05A4}"/>
              </a:ext>
            </a:extLst>
          </p:cNvPr>
          <p:cNvSpPr txBox="1"/>
          <p:nvPr/>
        </p:nvSpPr>
        <p:spPr>
          <a:xfrm>
            <a:off x="9830197" y="2102235"/>
            <a:ext cx="2057400" cy="18069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OCR extraction, eSign, NAC/NPCI callbacks, DMS/PDD agreements</a:t>
            </a:r>
          </a:p>
        </p:txBody>
      </p:sp>
      <p:sp>
        <p:nvSpPr>
          <p:cNvPr id="121" name="TextBox 120">
            <a:extLst>
              <a:ext uri="{FF2B5EF4-FFF2-40B4-BE49-F238E27FC236}">
                <a16:creationId xmlns:a16="http://schemas.microsoft.com/office/drawing/2014/main" id="{61ECD173-C84B-2654-0B9F-1D646FED6CFB}"/>
              </a:ext>
            </a:extLst>
          </p:cNvPr>
          <p:cNvSpPr txBox="1"/>
          <p:nvPr/>
        </p:nvSpPr>
        <p:spPr>
          <a:xfrm>
            <a:off x="9299845" y="2022301"/>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22" name="Rectangle 121">
            <a:extLst>
              <a:ext uri="{FF2B5EF4-FFF2-40B4-BE49-F238E27FC236}">
                <a16:creationId xmlns:a16="http://schemas.microsoft.com/office/drawing/2014/main" id="{E51A31AE-8B8A-6E5A-5B8F-52C88F78DADF}"/>
              </a:ext>
            </a:extLst>
          </p:cNvPr>
          <p:cNvSpPr/>
          <p:nvPr/>
        </p:nvSpPr>
        <p:spPr>
          <a:xfrm>
            <a:off x="9555877" y="2345514"/>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23" name="Picture 122" descr="chart_777777.png">
            <a:extLst>
              <a:ext uri="{FF2B5EF4-FFF2-40B4-BE49-F238E27FC236}">
                <a16:creationId xmlns:a16="http://schemas.microsoft.com/office/drawing/2014/main" id="{5F0B18E0-3FF7-84C4-CBE4-20F33205FBD0}"/>
              </a:ext>
            </a:extLst>
          </p:cNvPr>
          <p:cNvPicPr>
            <a:picLocks noChangeAspect="1"/>
          </p:cNvPicPr>
          <p:nvPr/>
        </p:nvPicPr>
        <p:blipFill>
          <a:blip r:embed="rId10"/>
          <a:stretch>
            <a:fillRect/>
          </a:stretch>
        </p:blipFill>
        <p:spPr>
          <a:xfrm>
            <a:off x="9592453" y="2439012"/>
            <a:ext cx="182880" cy="182880"/>
          </a:xfrm>
          <a:prstGeom prst="rect">
            <a:avLst/>
          </a:prstGeom>
        </p:spPr>
      </p:pic>
      <p:sp>
        <p:nvSpPr>
          <p:cNvPr id="124" name="TextBox 123">
            <a:extLst>
              <a:ext uri="{FF2B5EF4-FFF2-40B4-BE49-F238E27FC236}">
                <a16:creationId xmlns:a16="http://schemas.microsoft.com/office/drawing/2014/main" id="{BDC3EFA7-9C31-F981-2A67-C0155F8E9CD8}"/>
              </a:ext>
            </a:extLst>
          </p:cNvPr>
          <p:cNvSpPr txBox="1"/>
          <p:nvPr/>
        </p:nvSpPr>
        <p:spPr>
          <a:xfrm>
            <a:off x="9830197" y="2344364"/>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Credit &amp; Risk</a:t>
            </a:r>
          </a:p>
        </p:txBody>
      </p:sp>
      <p:sp>
        <p:nvSpPr>
          <p:cNvPr id="125" name="TextBox 124">
            <a:extLst>
              <a:ext uri="{FF2B5EF4-FFF2-40B4-BE49-F238E27FC236}">
                <a16:creationId xmlns:a16="http://schemas.microsoft.com/office/drawing/2014/main" id="{0A2CB405-793C-92E9-BDA3-2F2ECB913623}"/>
              </a:ext>
            </a:extLst>
          </p:cNvPr>
          <p:cNvSpPr txBox="1"/>
          <p:nvPr/>
        </p:nvSpPr>
        <p:spPr>
          <a:xfrm>
            <a:off x="9830197" y="2534019"/>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CIBIL, bureau, Hunter / DEDU / UCI</a:t>
            </a:r>
          </a:p>
        </p:txBody>
      </p:sp>
      <p:sp>
        <p:nvSpPr>
          <p:cNvPr id="126" name="TextBox 125">
            <a:extLst>
              <a:ext uri="{FF2B5EF4-FFF2-40B4-BE49-F238E27FC236}">
                <a16:creationId xmlns:a16="http://schemas.microsoft.com/office/drawing/2014/main" id="{34FD852B-0462-0C40-8A1E-DDCA83F55580}"/>
              </a:ext>
            </a:extLst>
          </p:cNvPr>
          <p:cNvSpPr txBox="1"/>
          <p:nvPr/>
        </p:nvSpPr>
        <p:spPr>
          <a:xfrm>
            <a:off x="9299845" y="2415036"/>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27" name="Rectangle 126">
            <a:extLst>
              <a:ext uri="{FF2B5EF4-FFF2-40B4-BE49-F238E27FC236}">
                <a16:creationId xmlns:a16="http://schemas.microsoft.com/office/drawing/2014/main" id="{A458372C-D9BF-9D8C-7F3B-53BA701495E9}"/>
              </a:ext>
            </a:extLst>
          </p:cNvPr>
          <p:cNvSpPr/>
          <p:nvPr/>
        </p:nvSpPr>
        <p:spPr>
          <a:xfrm>
            <a:off x="9555877" y="2738249"/>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28" name="Picture 127" descr="bank_777777.png">
            <a:extLst>
              <a:ext uri="{FF2B5EF4-FFF2-40B4-BE49-F238E27FC236}">
                <a16:creationId xmlns:a16="http://schemas.microsoft.com/office/drawing/2014/main" id="{D58795F3-0E22-6822-520A-0173FB7C9241}"/>
              </a:ext>
            </a:extLst>
          </p:cNvPr>
          <p:cNvPicPr>
            <a:picLocks noChangeAspect="1"/>
          </p:cNvPicPr>
          <p:nvPr/>
        </p:nvPicPr>
        <p:blipFill>
          <a:blip r:embed="rId11"/>
          <a:stretch>
            <a:fillRect/>
          </a:stretch>
        </p:blipFill>
        <p:spPr>
          <a:xfrm>
            <a:off x="9592453" y="2831746"/>
            <a:ext cx="182880" cy="182880"/>
          </a:xfrm>
          <a:prstGeom prst="rect">
            <a:avLst/>
          </a:prstGeom>
        </p:spPr>
      </p:pic>
      <p:sp>
        <p:nvSpPr>
          <p:cNvPr id="129" name="TextBox 128">
            <a:extLst>
              <a:ext uri="{FF2B5EF4-FFF2-40B4-BE49-F238E27FC236}">
                <a16:creationId xmlns:a16="http://schemas.microsoft.com/office/drawing/2014/main" id="{EE3F15D9-5D05-31FD-9A84-FF5042FE7A55}"/>
              </a:ext>
            </a:extLst>
          </p:cNvPr>
          <p:cNvSpPr txBox="1"/>
          <p:nvPr/>
        </p:nvSpPr>
        <p:spPr>
          <a:xfrm>
            <a:off x="9830197" y="2737099"/>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Financial &amp; Income</a:t>
            </a:r>
          </a:p>
        </p:txBody>
      </p:sp>
      <p:sp>
        <p:nvSpPr>
          <p:cNvPr id="130" name="TextBox 129">
            <a:extLst>
              <a:ext uri="{FF2B5EF4-FFF2-40B4-BE49-F238E27FC236}">
                <a16:creationId xmlns:a16="http://schemas.microsoft.com/office/drawing/2014/main" id="{BB066361-5F30-262A-5B1E-3ACBBFA1A1D2}"/>
              </a:ext>
            </a:extLst>
          </p:cNvPr>
          <p:cNvSpPr txBox="1"/>
          <p:nvPr/>
        </p:nvSpPr>
        <p:spPr>
          <a:xfrm>
            <a:off x="9830197" y="2926754"/>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Account aggregator, bank statement analysis, GST fetch</a:t>
            </a:r>
          </a:p>
        </p:txBody>
      </p:sp>
      <p:sp>
        <p:nvSpPr>
          <p:cNvPr id="131" name="TextBox 130">
            <a:extLst>
              <a:ext uri="{FF2B5EF4-FFF2-40B4-BE49-F238E27FC236}">
                <a16:creationId xmlns:a16="http://schemas.microsoft.com/office/drawing/2014/main" id="{FB8DE357-843A-98BE-8552-8EA707370EF7}"/>
              </a:ext>
            </a:extLst>
          </p:cNvPr>
          <p:cNvSpPr txBox="1"/>
          <p:nvPr/>
        </p:nvSpPr>
        <p:spPr>
          <a:xfrm>
            <a:off x="9299845" y="280777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32" name="Rectangle 131">
            <a:extLst>
              <a:ext uri="{FF2B5EF4-FFF2-40B4-BE49-F238E27FC236}">
                <a16:creationId xmlns:a16="http://schemas.microsoft.com/office/drawing/2014/main" id="{515A1883-2036-E888-9AD0-4AC75047BA14}"/>
              </a:ext>
            </a:extLst>
          </p:cNvPr>
          <p:cNvSpPr/>
          <p:nvPr/>
        </p:nvSpPr>
        <p:spPr>
          <a:xfrm>
            <a:off x="9555877" y="3130984"/>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33" name="Picture 132" descr="group_777777.png">
            <a:extLst>
              <a:ext uri="{FF2B5EF4-FFF2-40B4-BE49-F238E27FC236}">
                <a16:creationId xmlns:a16="http://schemas.microsoft.com/office/drawing/2014/main" id="{7AAD7405-EB56-F5A9-599C-C91E7B8042A6}"/>
              </a:ext>
            </a:extLst>
          </p:cNvPr>
          <p:cNvPicPr>
            <a:picLocks noChangeAspect="1"/>
          </p:cNvPicPr>
          <p:nvPr/>
        </p:nvPicPr>
        <p:blipFill>
          <a:blip r:embed="rId12"/>
          <a:stretch>
            <a:fillRect/>
          </a:stretch>
        </p:blipFill>
        <p:spPr>
          <a:xfrm>
            <a:off x="9592453" y="3224481"/>
            <a:ext cx="182880" cy="182880"/>
          </a:xfrm>
          <a:prstGeom prst="rect">
            <a:avLst/>
          </a:prstGeom>
        </p:spPr>
      </p:pic>
      <p:sp>
        <p:nvSpPr>
          <p:cNvPr id="134" name="TextBox 133">
            <a:extLst>
              <a:ext uri="{FF2B5EF4-FFF2-40B4-BE49-F238E27FC236}">
                <a16:creationId xmlns:a16="http://schemas.microsoft.com/office/drawing/2014/main" id="{9E119BAC-DA84-F9B3-8E57-782AC5D91DE5}"/>
              </a:ext>
            </a:extLst>
          </p:cNvPr>
          <p:cNvSpPr txBox="1"/>
          <p:nvPr/>
        </p:nvSpPr>
        <p:spPr>
          <a:xfrm>
            <a:off x="9830197" y="3129834"/>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Field / Partner Ops</a:t>
            </a:r>
          </a:p>
        </p:txBody>
      </p:sp>
      <p:sp>
        <p:nvSpPr>
          <p:cNvPr id="135" name="TextBox 134">
            <a:extLst>
              <a:ext uri="{FF2B5EF4-FFF2-40B4-BE49-F238E27FC236}">
                <a16:creationId xmlns:a16="http://schemas.microsoft.com/office/drawing/2014/main" id="{7F0A6E57-D177-401D-243B-114021E819AC}"/>
              </a:ext>
            </a:extLst>
          </p:cNvPr>
          <p:cNvSpPr txBox="1"/>
          <p:nvPr/>
        </p:nvSpPr>
        <p:spPr>
          <a:xfrm>
            <a:off x="9830197" y="3319489"/>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FI / Legal / Technical portals, vendor mgmt &amp; case updates</a:t>
            </a:r>
          </a:p>
        </p:txBody>
      </p:sp>
      <p:sp>
        <p:nvSpPr>
          <p:cNvPr id="136" name="TextBox 135">
            <a:extLst>
              <a:ext uri="{FF2B5EF4-FFF2-40B4-BE49-F238E27FC236}">
                <a16:creationId xmlns:a16="http://schemas.microsoft.com/office/drawing/2014/main" id="{10001B74-249B-811D-3A56-9A159AA71406}"/>
              </a:ext>
            </a:extLst>
          </p:cNvPr>
          <p:cNvSpPr txBox="1"/>
          <p:nvPr/>
        </p:nvSpPr>
        <p:spPr>
          <a:xfrm>
            <a:off x="9299845" y="3200505"/>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37" name="Rectangle 136">
            <a:extLst>
              <a:ext uri="{FF2B5EF4-FFF2-40B4-BE49-F238E27FC236}">
                <a16:creationId xmlns:a16="http://schemas.microsoft.com/office/drawing/2014/main" id="{862D257A-4F7B-BA12-63E7-E00038933397}"/>
              </a:ext>
            </a:extLst>
          </p:cNvPr>
          <p:cNvSpPr/>
          <p:nvPr/>
        </p:nvSpPr>
        <p:spPr>
          <a:xfrm>
            <a:off x="9555877" y="3523719"/>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38" name="Picture 137" descr="pen_777777.png">
            <a:extLst>
              <a:ext uri="{FF2B5EF4-FFF2-40B4-BE49-F238E27FC236}">
                <a16:creationId xmlns:a16="http://schemas.microsoft.com/office/drawing/2014/main" id="{CC7CFE56-D6C5-B4C2-1E77-59D01F344296}"/>
              </a:ext>
            </a:extLst>
          </p:cNvPr>
          <p:cNvPicPr>
            <a:picLocks noChangeAspect="1"/>
          </p:cNvPicPr>
          <p:nvPr/>
        </p:nvPicPr>
        <p:blipFill>
          <a:blip r:embed="rId13"/>
          <a:stretch>
            <a:fillRect/>
          </a:stretch>
        </p:blipFill>
        <p:spPr>
          <a:xfrm>
            <a:off x="9592453" y="3617216"/>
            <a:ext cx="182880" cy="182880"/>
          </a:xfrm>
          <a:prstGeom prst="rect">
            <a:avLst/>
          </a:prstGeom>
        </p:spPr>
      </p:pic>
      <p:sp>
        <p:nvSpPr>
          <p:cNvPr id="139" name="TextBox 138">
            <a:extLst>
              <a:ext uri="{FF2B5EF4-FFF2-40B4-BE49-F238E27FC236}">
                <a16:creationId xmlns:a16="http://schemas.microsoft.com/office/drawing/2014/main" id="{6B547DCE-5EFB-55B6-A2FA-C043629C635E}"/>
              </a:ext>
            </a:extLst>
          </p:cNvPr>
          <p:cNvSpPr txBox="1"/>
          <p:nvPr/>
        </p:nvSpPr>
        <p:spPr>
          <a:xfrm>
            <a:off x="9830197" y="3522569"/>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Digital Signature</a:t>
            </a:r>
          </a:p>
        </p:txBody>
      </p:sp>
      <p:sp>
        <p:nvSpPr>
          <p:cNvPr id="140" name="TextBox 139">
            <a:extLst>
              <a:ext uri="{FF2B5EF4-FFF2-40B4-BE49-F238E27FC236}">
                <a16:creationId xmlns:a16="http://schemas.microsoft.com/office/drawing/2014/main" id="{CA7F7872-DAC7-BCC1-8BB6-4985E922CFFF}"/>
              </a:ext>
            </a:extLst>
          </p:cNvPr>
          <p:cNvSpPr txBox="1"/>
          <p:nvPr/>
        </p:nvSpPr>
        <p:spPr>
          <a:xfrm>
            <a:off x="9830197" y="3712224"/>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eSign providers &amp; DSC services</a:t>
            </a:r>
          </a:p>
        </p:txBody>
      </p:sp>
      <p:sp>
        <p:nvSpPr>
          <p:cNvPr id="141" name="TextBox 140">
            <a:extLst>
              <a:ext uri="{FF2B5EF4-FFF2-40B4-BE49-F238E27FC236}">
                <a16:creationId xmlns:a16="http://schemas.microsoft.com/office/drawing/2014/main" id="{31A47187-81A1-376A-7484-653E7C295319}"/>
              </a:ext>
            </a:extLst>
          </p:cNvPr>
          <p:cNvSpPr txBox="1"/>
          <p:nvPr/>
        </p:nvSpPr>
        <p:spPr>
          <a:xfrm>
            <a:off x="9299845" y="359324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42" name="Rectangle 141">
            <a:extLst>
              <a:ext uri="{FF2B5EF4-FFF2-40B4-BE49-F238E27FC236}">
                <a16:creationId xmlns:a16="http://schemas.microsoft.com/office/drawing/2014/main" id="{606DC4DE-72B7-BFFC-D4A6-34F8B6E0138D}"/>
              </a:ext>
            </a:extLst>
          </p:cNvPr>
          <p:cNvSpPr/>
          <p:nvPr/>
        </p:nvSpPr>
        <p:spPr>
          <a:xfrm>
            <a:off x="9555877" y="3916453"/>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43" name="Picture 142" descr="payment_777777.png">
            <a:extLst>
              <a:ext uri="{FF2B5EF4-FFF2-40B4-BE49-F238E27FC236}">
                <a16:creationId xmlns:a16="http://schemas.microsoft.com/office/drawing/2014/main" id="{A3AD5B38-E541-8BB5-2B91-E70DAA51C60F}"/>
              </a:ext>
            </a:extLst>
          </p:cNvPr>
          <p:cNvPicPr>
            <a:picLocks noChangeAspect="1"/>
          </p:cNvPicPr>
          <p:nvPr/>
        </p:nvPicPr>
        <p:blipFill>
          <a:blip r:embed="rId14"/>
          <a:stretch>
            <a:fillRect/>
          </a:stretch>
        </p:blipFill>
        <p:spPr>
          <a:xfrm>
            <a:off x="9592453" y="4009951"/>
            <a:ext cx="182880" cy="182880"/>
          </a:xfrm>
          <a:prstGeom prst="rect">
            <a:avLst/>
          </a:prstGeom>
        </p:spPr>
      </p:pic>
      <p:sp>
        <p:nvSpPr>
          <p:cNvPr id="144" name="TextBox 143">
            <a:extLst>
              <a:ext uri="{FF2B5EF4-FFF2-40B4-BE49-F238E27FC236}">
                <a16:creationId xmlns:a16="http://schemas.microsoft.com/office/drawing/2014/main" id="{5284CD18-0F7D-4688-69A2-FBDA5120924B}"/>
              </a:ext>
            </a:extLst>
          </p:cNvPr>
          <p:cNvSpPr txBox="1"/>
          <p:nvPr/>
        </p:nvSpPr>
        <p:spPr>
          <a:xfrm>
            <a:off x="9830197" y="3915303"/>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Payment Gateway / eStamp</a:t>
            </a:r>
          </a:p>
        </p:txBody>
      </p:sp>
      <p:sp>
        <p:nvSpPr>
          <p:cNvPr id="145" name="TextBox 144">
            <a:extLst>
              <a:ext uri="{FF2B5EF4-FFF2-40B4-BE49-F238E27FC236}">
                <a16:creationId xmlns:a16="http://schemas.microsoft.com/office/drawing/2014/main" id="{07A6C7C3-3249-B640-6E64-B90121982DA8}"/>
              </a:ext>
            </a:extLst>
          </p:cNvPr>
          <p:cNvSpPr txBox="1"/>
          <p:nvPr/>
        </p:nvSpPr>
        <p:spPr>
          <a:xfrm>
            <a:off x="9830197" y="4104958"/>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Payments, eStamping, challans</a:t>
            </a:r>
          </a:p>
        </p:txBody>
      </p:sp>
      <p:sp>
        <p:nvSpPr>
          <p:cNvPr id="146" name="TextBox 145">
            <a:extLst>
              <a:ext uri="{FF2B5EF4-FFF2-40B4-BE49-F238E27FC236}">
                <a16:creationId xmlns:a16="http://schemas.microsoft.com/office/drawing/2014/main" id="{14D60E2B-023E-B864-B7BB-8C276BF505B6}"/>
              </a:ext>
            </a:extLst>
          </p:cNvPr>
          <p:cNvSpPr txBox="1"/>
          <p:nvPr/>
        </p:nvSpPr>
        <p:spPr>
          <a:xfrm>
            <a:off x="9299845" y="3985975"/>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47" name="Rectangle 146">
            <a:extLst>
              <a:ext uri="{FF2B5EF4-FFF2-40B4-BE49-F238E27FC236}">
                <a16:creationId xmlns:a16="http://schemas.microsoft.com/office/drawing/2014/main" id="{86C63456-FEB4-161A-1923-A1C4416FE8F5}"/>
              </a:ext>
            </a:extLst>
          </p:cNvPr>
          <p:cNvSpPr/>
          <p:nvPr/>
        </p:nvSpPr>
        <p:spPr>
          <a:xfrm>
            <a:off x="9555877" y="4309188"/>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48" name="Picture 147" descr="shield_777777.png">
            <a:extLst>
              <a:ext uri="{FF2B5EF4-FFF2-40B4-BE49-F238E27FC236}">
                <a16:creationId xmlns:a16="http://schemas.microsoft.com/office/drawing/2014/main" id="{43D5D287-1348-7285-33E2-A496D56E45E7}"/>
              </a:ext>
            </a:extLst>
          </p:cNvPr>
          <p:cNvPicPr>
            <a:picLocks noChangeAspect="1"/>
          </p:cNvPicPr>
          <p:nvPr/>
        </p:nvPicPr>
        <p:blipFill>
          <a:blip r:embed="rId15"/>
          <a:stretch>
            <a:fillRect/>
          </a:stretch>
        </p:blipFill>
        <p:spPr>
          <a:xfrm>
            <a:off x="9592453" y="4402686"/>
            <a:ext cx="182880" cy="182880"/>
          </a:xfrm>
          <a:prstGeom prst="rect">
            <a:avLst/>
          </a:prstGeom>
        </p:spPr>
      </p:pic>
      <p:sp>
        <p:nvSpPr>
          <p:cNvPr id="149" name="TextBox 148">
            <a:extLst>
              <a:ext uri="{FF2B5EF4-FFF2-40B4-BE49-F238E27FC236}">
                <a16:creationId xmlns:a16="http://schemas.microsoft.com/office/drawing/2014/main" id="{C1828E84-E5C3-7F7D-0775-06E99C9255FE}"/>
              </a:ext>
            </a:extLst>
          </p:cNvPr>
          <p:cNvSpPr txBox="1"/>
          <p:nvPr/>
        </p:nvSpPr>
        <p:spPr>
          <a:xfrm>
            <a:off x="9830197" y="4308038"/>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Anti-Money Laundering</a:t>
            </a:r>
          </a:p>
        </p:txBody>
      </p:sp>
      <p:sp>
        <p:nvSpPr>
          <p:cNvPr id="150" name="TextBox 149">
            <a:extLst>
              <a:ext uri="{FF2B5EF4-FFF2-40B4-BE49-F238E27FC236}">
                <a16:creationId xmlns:a16="http://schemas.microsoft.com/office/drawing/2014/main" id="{7B914460-6D97-8706-D928-0594E7E38154}"/>
              </a:ext>
            </a:extLst>
          </p:cNvPr>
          <p:cNvSpPr txBox="1"/>
          <p:nvPr/>
        </p:nvSpPr>
        <p:spPr>
          <a:xfrm>
            <a:off x="9830197" y="4497693"/>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AML screening &amp; monitoring</a:t>
            </a:r>
          </a:p>
        </p:txBody>
      </p:sp>
      <p:sp>
        <p:nvSpPr>
          <p:cNvPr id="151" name="TextBox 150">
            <a:extLst>
              <a:ext uri="{FF2B5EF4-FFF2-40B4-BE49-F238E27FC236}">
                <a16:creationId xmlns:a16="http://schemas.microsoft.com/office/drawing/2014/main" id="{7250FCFB-F02F-E21A-B970-7EADF8152344}"/>
              </a:ext>
            </a:extLst>
          </p:cNvPr>
          <p:cNvSpPr txBox="1"/>
          <p:nvPr/>
        </p:nvSpPr>
        <p:spPr>
          <a:xfrm>
            <a:off x="9299845" y="4378710"/>
            <a:ext cx="201168" cy="2308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ea typeface="+mn-ea"/>
                <a:cs typeface="+mn-cs"/>
              </a:rPr>
              <a:t>↔</a:t>
            </a:r>
          </a:p>
        </p:txBody>
      </p:sp>
      <p:sp>
        <p:nvSpPr>
          <p:cNvPr id="152" name="Rectangle 151">
            <a:extLst>
              <a:ext uri="{FF2B5EF4-FFF2-40B4-BE49-F238E27FC236}">
                <a16:creationId xmlns:a16="http://schemas.microsoft.com/office/drawing/2014/main" id="{D17B04DF-196B-97B7-FB87-310C7D0B7714}"/>
              </a:ext>
            </a:extLst>
          </p:cNvPr>
          <p:cNvSpPr/>
          <p:nvPr/>
        </p:nvSpPr>
        <p:spPr>
          <a:xfrm>
            <a:off x="9555877" y="4701923"/>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53" name="Picture 152" descr="building_777777.png">
            <a:extLst>
              <a:ext uri="{FF2B5EF4-FFF2-40B4-BE49-F238E27FC236}">
                <a16:creationId xmlns:a16="http://schemas.microsoft.com/office/drawing/2014/main" id="{015C74E2-34E4-E4C9-CD37-E577DC7BA202}"/>
              </a:ext>
            </a:extLst>
          </p:cNvPr>
          <p:cNvPicPr>
            <a:picLocks noChangeAspect="1"/>
          </p:cNvPicPr>
          <p:nvPr/>
        </p:nvPicPr>
        <p:blipFill>
          <a:blip r:embed="rId8"/>
          <a:stretch>
            <a:fillRect/>
          </a:stretch>
        </p:blipFill>
        <p:spPr>
          <a:xfrm>
            <a:off x="9592453" y="4795420"/>
            <a:ext cx="182880" cy="182880"/>
          </a:xfrm>
          <a:prstGeom prst="rect">
            <a:avLst/>
          </a:prstGeom>
        </p:spPr>
      </p:pic>
      <p:sp>
        <p:nvSpPr>
          <p:cNvPr id="154" name="TextBox 153">
            <a:extLst>
              <a:ext uri="{FF2B5EF4-FFF2-40B4-BE49-F238E27FC236}">
                <a16:creationId xmlns:a16="http://schemas.microsoft.com/office/drawing/2014/main" id="{BFBB9200-F642-E51E-AA33-004D2CE57A3A}"/>
              </a:ext>
            </a:extLst>
          </p:cNvPr>
          <p:cNvSpPr txBox="1"/>
          <p:nvPr/>
        </p:nvSpPr>
        <p:spPr>
          <a:xfrm>
            <a:off x="9830197" y="4700773"/>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Multi Bureau</a:t>
            </a:r>
          </a:p>
        </p:txBody>
      </p:sp>
      <p:sp>
        <p:nvSpPr>
          <p:cNvPr id="155" name="TextBox 154">
            <a:extLst>
              <a:ext uri="{FF2B5EF4-FFF2-40B4-BE49-F238E27FC236}">
                <a16:creationId xmlns:a16="http://schemas.microsoft.com/office/drawing/2014/main" id="{75726C87-505E-B555-D7BB-6F62BDF9975B}"/>
              </a:ext>
            </a:extLst>
          </p:cNvPr>
          <p:cNvSpPr txBox="1"/>
          <p:nvPr/>
        </p:nvSpPr>
        <p:spPr>
          <a:xfrm>
            <a:off x="9830197" y="4890428"/>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Bureau connectivity &amp; data</a:t>
            </a:r>
          </a:p>
        </p:txBody>
      </p:sp>
      <p:sp>
        <p:nvSpPr>
          <p:cNvPr id="156" name="Rectangle 155">
            <a:extLst>
              <a:ext uri="{FF2B5EF4-FFF2-40B4-BE49-F238E27FC236}">
                <a16:creationId xmlns:a16="http://schemas.microsoft.com/office/drawing/2014/main" id="{F2CBDC3B-0E87-8470-28E7-4CC1B41654EB}"/>
              </a:ext>
            </a:extLst>
          </p:cNvPr>
          <p:cNvSpPr/>
          <p:nvPr/>
        </p:nvSpPr>
        <p:spPr>
          <a:xfrm>
            <a:off x="9555877" y="5094658"/>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57" name="Picture 156" descr="chat_777777.png">
            <a:extLst>
              <a:ext uri="{FF2B5EF4-FFF2-40B4-BE49-F238E27FC236}">
                <a16:creationId xmlns:a16="http://schemas.microsoft.com/office/drawing/2014/main" id="{6E5B0C7F-7A00-7BFC-8933-C9350DE7AF2D}"/>
              </a:ext>
            </a:extLst>
          </p:cNvPr>
          <p:cNvPicPr>
            <a:picLocks noChangeAspect="1"/>
          </p:cNvPicPr>
          <p:nvPr/>
        </p:nvPicPr>
        <p:blipFill>
          <a:blip r:embed="rId16"/>
          <a:stretch>
            <a:fillRect/>
          </a:stretch>
        </p:blipFill>
        <p:spPr>
          <a:xfrm>
            <a:off x="9592453" y="5188155"/>
            <a:ext cx="182880" cy="182880"/>
          </a:xfrm>
          <a:prstGeom prst="rect">
            <a:avLst/>
          </a:prstGeom>
        </p:spPr>
      </p:pic>
      <p:sp>
        <p:nvSpPr>
          <p:cNvPr id="158" name="TextBox 157">
            <a:extLst>
              <a:ext uri="{FF2B5EF4-FFF2-40B4-BE49-F238E27FC236}">
                <a16:creationId xmlns:a16="http://schemas.microsoft.com/office/drawing/2014/main" id="{7C665227-0D7A-9AAC-F6B9-776B44358A72}"/>
              </a:ext>
            </a:extLst>
          </p:cNvPr>
          <p:cNvSpPr txBox="1"/>
          <p:nvPr/>
        </p:nvSpPr>
        <p:spPr>
          <a:xfrm>
            <a:off x="9830197" y="5093508"/>
            <a:ext cx="2057400" cy="14311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ea typeface="+mn-ea"/>
                <a:cs typeface="+mn-cs"/>
              </a:rPr>
              <a:t>SMS / Email / CTI</a:t>
            </a:r>
          </a:p>
        </p:txBody>
      </p:sp>
      <p:sp>
        <p:nvSpPr>
          <p:cNvPr id="159" name="TextBox 158">
            <a:extLst>
              <a:ext uri="{FF2B5EF4-FFF2-40B4-BE49-F238E27FC236}">
                <a16:creationId xmlns:a16="http://schemas.microsoft.com/office/drawing/2014/main" id="{1FED8BBA-9606-B2C0-AE07-59164C7960B6}"/>
              </a:ext>
            </a:extLst>
          </p:cNvPr>
          <p:cNvSpPr txBox="1"/>
          <p:nvPr/>
        </p:nvSpPr>
        <p:spPr>
          <a:xfrm>
            <a:off x="9830197" y="5283163"/>
            <a:ext cx="2057400" cy="10259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ea typeface="+mn-ea"/>
                <a:cs typeface="+mn-cs"/>
              </a:rPr>
              <a:t>Communications &amp; notifications</a:t>
            </a:r>
          </a:p>
        </p:txBody>
      </p:sp>
      <p:sp>
        <p:nvSpPr>
          <p:cNvPr id="160" name="Rectangle 159">
            <a:extLst>
              <a:ext uri="{FF2B5EF4-FFF2-40B4-BE49-F238E27FC236}">
                <a16:creationId xmlns:a16="http://schemas.microsoft.com/office/drawing/2014/main" id="{DDFF4FC0-5F85-ADCE-2E22-DDB7139CA9D4}"/>
              </a:ext>
            </a:extLst>
          </p:cNvPr>
          <p:cNvSpPr/>
          <p:nvPr/>
        </p:nvSpPr>
        <p:spPr>
          <a:xfrm>
            <a:off x="2222389" y="1175997"/>
            <a:ext cx="7040880" cy="4343400"/>
          </a:xfrm>
          <a:prstGeom prst="rect">
            <a:avLst/>
          </a:prstGeom>
          <a:solidFill>
            <a:srgbClr val="FFFFFF"/>
          </a:solidFill>
          <a:ln w="17780">
            <a:solidFill>
              <a:schemeClr val="tx2">
                <a:lumMod val="50000"/>
                <a:lumOff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61" name="Rectangle 160">
            <a:extLst>
              <a:ext uri="{FF2B5EF4-FFF2-40B4-BE49-F238E27FC236}">
                <a16:creationId xmlns:a16="http://schemas.microsoft.com/office/drawing/2014/main" id="{62AD4927-D4DD-BA2E-076A-D3C44BC0D81A}"/>
              </a:ext>
            </a:extLst>
          </p:cNvPr>
          <p:cNvSpPr/>
          <p:nvPr/>
        </p:nvSpPr>
        <p:spPr>
          <a:xfrm>
            <a:off x="2222389" y="1175997"/>
            <a:ext cx="7040880" cy="329184"/>
          </a:xfrm>
          <a:prstGeom prst="rect">
            <a:avLst/>
          </a:prstGeom>
          <a:solidFill>
            <a:schemeClr val="tx2">
              <a:lumMod val="50000"/>
              <a:lumOff val="50000"/>
            </a:schemeClr>
          </a:solidFill>
          <a:ln w="1016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62" name="TextBox 161">
            <a:extLst>
              <a:ext uri="{FF2B5EF4-FFF2-40B4-BE49-F238E27FC236}">
                <a16:creationId xmlns:a16="http://schemas.microsoft.com/office/drawing/2014/main" id="{15780495-7DEA-16A7-4D74-E3ABC72AE9B7}"/>
              </a:ext>
            </a:extLst>
          </p:cNvPr>
          <p:cNvSpPr txBox="1"/>
          <p:nvPr/>
        </p:nvSpPr>
        <p:spPr>
          <a:xfrm>
            <a:off x="2222389" y="1253776"/>
            <a:ext cx="7040880" cy="14619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ea typeface="+mn-ea"/>
                <a:cs typeface="+mn-cs"/>
              </a:rPr>
              <a:t>Agentic </a:t>
            </a:r>
            <a:r>
              <a:rPr kumimoji="0" sz="800" b="1" i="0" u="none" strike="noStrike" kern="1200" cap="none" spc="0" normalizeH="0" baseline="0" noProof="0">
                <a:ln>
                  <a:noFill/>
                </a:ln>
                <a:solidFill>
                  <a:srgbClr val="FFFFFF"/>
                </a:solidFill>
                <a:effectLst/>
                <a:uLnTx/>
                <a:uFillTx/>
                <a:ea typeface="+mn-ea"/>
                <a:cs typeface="+mn-cs"/>
              </a:rPr>
              <a:t>Loan Origination System (LOS)</a:t>
            </a:r>
          </a:p>
        </p:txBody>
      </p:sp>
      <p:pic>
        <p:nvPicPr>
          <p:cNvPr id="163" name="Picture 162" descr="cloud_1e5fa5.png">
            <a:extLst>
              <a:ext uri="{FF2B5EF4-FFF2-40B4-BE49-F238E27FC236}">
                <a16:creationId xmlns:a16="http://schemas.microsoft.com/office/drawing/2014/main" id="{45912A42-7114-F985-224D-4D3EFE8A7E36}"/>
              </a:ext>
            </a:extLst>
          </p:cNvPr>
          <p:cNvPicPr>
            <a:picLocks noChangeAspect="1"/>
          </p:cNvPicPr>
          <p:nvPr/>
        </p:nvPicPr>
        <p:blipFill>
          <a:blip r:embed="rId17"/>
          <a:stretch>
            <a:fillRect/>
          </a:stretch>
        </p:blipFill>
        <p:spPr>
          <a:xfrm>
            <a:off x="2332117" y="1266045"/>
            <a:ext cx="164592" cy="164592"/>
          </a:xfrm>
          <a:prstGeom prst="rect">
            <a:avLst/>
          </a:prstGeom>
        </p:spPr>
      </p:pic>
      <p:sp>
        <p:nvSpPr>
          <p:cNvPr id="164" name="Rectangle 163">
            <a:extLst>
              <a:ext uri="{FF2B5EF4-FFF2-40B4-BE49-F238E27FC236}">
                <a16:creationId xmlns:a16="http://schemas.microsoft.com/office/drawing/2014/main" id="{C8091E9C-79ED-4AD6-4E27-568EB6F28BCA}"/>
              </a:ext>
            </a:extLst>
          </p:cNvPr>
          <p:cNvSpPr/>
          <p:nvPr/>
        </p:nvSpPr>
        <p:spPr>
          <a:xfrm>
            <a:off x="2313829" y="1587477"/>
            <a:ext cx="6858000" cy="3246120"/>
          </a:xfrm>
          <a:prstGeom prst="rect">
            <a:avLst/>
          </a:prstGeom>
          <a:solidFill>
            <a:srgbClr val="FFFFFF"/>
          </a:solidFill>
          <a:ln w="889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65" name="Rectangle 164">
            <a:extLst>
              <a:ext uri="{FF2B5EF4-FFF2-40B4-BE49-F238E27FC236}">
                <a16:creationId xmlns:a16="http://schemas.microsoft.com/office/drawing/2014/main" id="{748DB984-009B-94D5-BF2A-621BFCA45883}"/>
              </a:ext>
            </a:extLst>
          </p:cNvPr>
          <p:cNvSpPr/>
          <p:nvPr/>
        </p:nvSpPr>
        <p:spPr>
          <a:xfrm>
            <a:off x="2341261" y="1660629"/>
            <a:ext cx="6803136" cy="612648"/>
          </a:xfrm>
          <a:prstGeom prst="rect">
            <a:avLst/>
          </a:prstGeom>
          <a:solidFill>
            <a:srgbClr val="FFFFFF"/>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66" name="TextBox 165">
            <a:extLst>
              <a:ext uri="{FF2B5EF4-FFF2-40B4-BE49-F238E27FC236}">
                <a16:creationId xmlns:a16="http://schemas.microsoft.com/office/drawing/2014/main" id="{5348B6D1-4A3F-55BD-AA17-1A3AE4346D16}"/>
              </a:ext>
            </a:extLst>
          </p:cNvPr>
          <p:cNvSpPr txBox="1"/>
          <p:nvPr/>
        </p:nvSpPr>
        <p:spPr>
          <a:xfrm>
            <a:off x="2368693" y="1783450"/>
            <a:ext cx="896112" cy="367005"/>
          </a:xfrm>
          <a:prstGeom prst="rect">
            <a:avLst/>
          </a:prstGeom>
          <a:solidFill>
            <a:schemeClr val="tx2">
              <a:lumMod val="50000"/>
              <a:lumOff val="50000"/>
            </a:schemeClr>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ea typeface="+mn-ea"/>
                <a:cs typeface="+mn-cs"/>
              </a:rPr>
              <a:t>Channels
&amp; Access</a:t>
            </a:r>
          </a:p>
        </p:txBody>
      </p:sp>
      <p:sp>
        <p:nvSpPr>
          <p:cNvPr id="167" name="Rectangle 166">
            <a:extLst>
              <a:ext uri="{FF2B5EF4-FFF2-40B4-BE49-F238E27FC236}">
                <a16:creationId xmlns:a16="http://schemas.microsoft.com/office/drawing/2014/main" id="{6BCB42EF-EC4A-53BC-C5DB-4A7682559ACC}"/>
              </a:ext>
            </a:extLst>
          </p:cNvPr>
          <p:cNvSpPr/>
          <p:nvPr/>
        </p:nvSpPr>
        <p:spPr>
          <a:xfrm>
            <a:off x="2341261" y="2318997"/>
            <a:ext cx="6803136" cy="804672"/>
          </a:xfrm>
          <a:prstGeom prst="rect">
            <a:avLst/>
          </a:prstGeom>
          <a:solidFill>
            <a:srgbClr val="FFFFFF"/>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68" name="TextBox 167">
            <a:extLst>
              <a:ext uri="{FF2B5EF4-FFF2-40B4-BE49-F238E27FC236}">
                <a16:creationId xmlns:a16="http://schemas.microsoft.com/office/drawing/2014/main" id="{26A133D4-183F-CA95-2DB2-AC02B0387FEF}"/>
              </a:ext>
            </a:extLst>
          </p:cNvPr>
          <p:cNvSpPr txBox="1"/>
          <p:nvPr/>
        </p:nvSpPr>
        <p:spPr>
          <a:xfrm>
            <a:off x="2368693" y="2537830"/>
            <a:ext cx="896112" cy="367005"/>
          </a:xfrm>
          <a:prstGeom prst="rect">
            <a:avLst/>
          </a:prstGeom>
          <a:solidFill>
            <a:schemeClr val="tx2">
              <a:lumMod val="50000"/>
              <a:lumOff val="50000"/>
            </a:schemeClr>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ea typeface="+mn-ea"/>
                <a:cs typeface="+mn-cs"/>
              </a:rPr>
              <a:t>Application &amp;
API Layer</a:t>
            </a:r>
          </a:p>
        </p:txBody>
      </p:sp>
      <p:sp>
        <p:nvSpPr>
          <p:cNvPr id="169" name="Rectangle 168">
            <a:extLst>
              <a:ext uri="{FF2B5EF4-FFF2-40B4-BE49-F238E27FC236}">
                <a16:creationId xmlns:a16="http://schemas.microsoft.com/office/drawing/2014/main" id="{A251F522-9CE6-B594-CBFE-8E64B0A3EFAB}"/>
              </a:ext>
            </a:extLst>
          </p:cNvPr>
          <p:cNvSpPr/>
          <p:nvPr/>
        </p:nvSpPr>
        <p:spPr>
          <a:xfrm>
            <a:off x="2341261" y="3169389"/>
            <a:ext cx="6803136" cy="640080"/>
          </a:xfrm>
          <a:prstGeom prst="rect">
            <a:avLst/>
          </a:prstGeom>
          <a:solidFill>
            <a:srgbClr val="FFFFFF"/>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70" name="TextBox 169">
            <a:extLst>
              <a:ext uri="{FF2B5EF4-FFF2-40B4-BE49-F238E27FC236}">
                <a16:creationId xmlns:a16="http://schemas.microsoft.com/office/drawing/2014/main" id="{8E3CAA30-C137-4081-6A39-A52DE6E4D41D}"/>
              </a:ext>
            </a:extLst>
          </p:cNvPr>
          <p:cNvSpPr txBox="1"/>
          <p:nvPr/>
        </p:nvSpPr>
        <p:spPr>
          <a:xfrm>
            <a:off x="2368693" y="3250527"/>
            <a:ext cx="896112" cy="477805"/>
          </a:xfrm>
          <a:prstGeom prst="rect">
            <a:avLst/>
          </a:prstGeom>
          <a:solidFill>
            <a:schemeClr val="tx2">
              <a:lumMod val="50000"/>
              <a:lumOff val="50000"/>
            </a:schemeClr>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ea typeface="+mn-ea"/>
                <a:cs typeface="+mn-cs"/>
              </a:rPr>
              <a:t>Data, Documents
&amp; Workflow</a:t>
            </a:r>
          </a:p>
        </p:txBody>
      </p:sp>
      <p:sp>
        <p:nvSpPr>
          <p:cNvPr id="171" name="Rectangle 170">
            <a:extLst>
              <a:ext uri="{FF2B5EF4-FFF2-40B4-BE49-F238E27FC236}">
                <a16:creationId xmlns:a16="http://schemas.microsoft.com/office/drawing/2014/main" id="{311CBCF5-26B3-06AA-6588-9556993BAF43}"/>
              </a:ext>
            </a:extLst>
          </p:cNvPr>
          <p:cNvSpPr/>
          <p:nvPr/>
        </p:nvSpPr>
        <p:spPr>
          <a:xfrm>
            <a:off x="2341261" y="3855189"/>
            <a:ext cx="6803136" cy="713232"/>
          </a:xfrm>
          <a:prstGeom prst="rect">
            <a:avLst/>
          </a:prstGeom>
          <a:solidFill>
            <a:srgbClr val="F0F6FC"/>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172" name="TextBox 171">
            <a:extLst>
              <a:ext uri="{FF2B5EF4-FFF2-40B4-BE49-F238E27FC236}">
                <a16:creationId xmlns:a16="http://schemas.microsoft.com/office/drawing/2014/main" id="{5E3776C9-CAFE-568E-F421-A600A130CA62}"/>
              </a:ext>
            </a:extLst>
          </p:cNvPr>
          <p:cNvSpPr txBox="1"/>
          <p:nvPr/>
        </p:nvSpPr>
        <p:spPr>
          <a:xfrm>
            <a:off x="2368693" y="3972903"/>
            <a:ext cx="896112" cy="477805"/>
          </a:xfrm>
          <a:prstGeom prst="rect">
            <a:avLst/>
          </a:prstGeom>
          <a:solidFill>
            <a:schemeClr val="tx2">
              <a:lumMod val="50000"/>
              <a:lumOff val="50000"/>
            </a:schemeClr>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ea typeface="+mn-ea"/>
                <a:cs typeface="+mn-cs"/>
              </a:rPr>
              <a:t>Platform Foundations / Governance</a:t>
            </a:r>
          </a:p>
        </p:txBody>
      </p:sp>
      <p:sp>
        <p:nvSpPr>
          <p:cNvPr id="173" name="Rectangle 172">
            <a:extLst>
              <a:ext uri="{FF2B5EF4-FFF2-40B4-BE49-F238E27FC236}">
                <a16:creationId xmlns:a16="http://schemas.microsoft.com/office/drawing/2014/main" id="{F0556D19-194B-375B-D84C-7B9F63667627}"/>
              </a:ext>
            </a:extLst>
          </p:cNvPr>
          <p:cNvSpPr/>
          <p:nvPr/>
        </p:nvSpPr>
        <p:spPr>
          <a:xfrm>
            <a:off x="3383677" y="1733781"/>
            <a:ext cx="1196274"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74" name="Picture 173" descr="group_1e5fa5.png">
            <a:extLst>
              <a:ext uri="{FF2B5EF4-FFF2-40B4-BE49-F238E27FC236}">
                <a16:creationId xmlns:a16="http://schemas.microsoft.com/office/drawing/2014/main" id="{042AA06A-13E1-9528-C179-228C8E9BDAA3}"/>
              </a:ext>
            </a:extLst>
          </p:cNvPr>
          <p:cNvPicPr>
            <a:picLocks noChangeAspect="1"/>
          </p:cNvPicPr>
          <p:nvPr/>
        </p:nvPicPr>
        <p:blipFill>
          <a:blip r:embed="rId18"/>
          <a:stretch>
            <a:fillRect/>
          </a:stretch>
        </p:blipFill>
        <p:spPr>
          <a:xfrm>
            <a:off x="3432776" y="1733583"/>
            <a:ext cx="137160" cy="137160"/>
          </a:xfrm>
          <a:prstGeom prst="rect">
            <a:avLst/>
          </a:prstGeom>
        </p:spPr>
      </p:pic>
      <p:sp>
        <p:nvSpPr>
          <p:cNvPr id="175" name="TextBox 174">
            <a:extLst>
              <a:ext uri="{FF2B5EF4-FFF2-40B4-BE49-F238E27FC236}">
                <a16:creationId xmlns:a16="http://schemas.microsoft.com/office/drawing/2014/main" id="{C3E0A832-56B6-B862-0080-90495E6C6CB0}"/>
              </a:ext>
            </a:extLst>
          </p:cNvPr>
          <p:cNvSpPr txBox="1"/>
          <p:nvPr/>
        </p:nvSpPr>
        <p:spPr>
          <a:xfrm>
            <a:off x="3606313" y="1736189"/>
            <a:ext cx="667512" cy="13234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ea typeface="+mn-ea"/>
                <a:cs typeface="+mn-cs"/>
              </a:rPr>
              <a:t>LOS Users</a:t>
            </a:r>
          </a:p>
        </p:txBody>
      </p:sp>
      <p:sp>
        <p:nvSpPr>
          <p:cNvPr id="176" name="TextBox 175">
            <a:extLst>
              <a:ext uri="{FF2B5EF4-FFF2-40B4-BE49-F238E27FC236}">
                <a16:creationId xmlns:a16="http://schemas.microsoft.com/office/drawing/2014/main" id="{6F12DC68-1A2F-5AAE-D0D8-8E010410788C}"/>
              </a:ext>
            </a:extLst>
          </p:cNvPr>
          <p:cNvSpPr txBox="1"/>
          <p:nvPr/>
        </p:nvSpPr>
        <p:spPr>
          <a:xfrm>
            <a:off x="3592001" y="1898012"/>
            <a:ext cx="860729" cy="20621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ea typeface="+mn-ea"/>
                <a:cs typeface="+mn-cs"/>
              </a:rPr>
              <a:t>Sales • CC • Credit
Ops • Other</a:t>
            </a:r>
          </a:p>
        </p:txBody>
      </p:sp>
      <p:sp>
        <p:nvSpPr>
          <p:cNvPr id="177" name="TextBox 176">
            <a:extLst>
              <a:ext uri="{FF2B5EF4-FFF2-40B4-BE49-F238E27FC236}">
                <a16:creationId xmlns:a16="http://schemas.microsoft.com/office/drawing/2014/main" id="{60162155-3F58-7703-AB35-025D2D04ECBA}"/>
              </a:ext>
            </a:extLst>
          </p:cNvPr>
          <p:cNvSpPr txBox="1"/>
          <p:nvPr/>
        </p:nvSpPr>
        <p:spPr>
          <a:xfrm>
            <a:off x="4953264" y="1918693"/>
            <a:ext cx="201168" cy="16927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ea typeface="+mn-ea"/>
                <a:cs typeface="+mn-cs"/>
              </a:rPr>
              <a:t>→</a:t>
            </a:r>
          </a:p>
        </p:txBody>
      </p:sp>
      <p:sp>
        <p:nvSpPr>
          <p:cNvPr id="178" name="Rectangle 177">
            <a:extLst>
              <a:ext uri="{FF2B5EF4-FFF2-40B4-BE49-F238E27FC236}">
                <a16:creationId xmlns:a16="http://schemas.microsoft.com/office/drawing/2014/main" id="{976CA70C-EC87-630C-E58A-52D9C6469DA3}"/>
              </a:ext>
            </a:extLst>
          </p:cNvPr>
          <p:cNvSpPr/>
          <p:nvPr/>
        </p:nvSpPr>
        <p:spPr>
          <a:xfrm>
            <a:off x="4721881" y="1733781"/>
            <a:ext cx="1005840"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79" name="Picture 178" descr="globe_1e5fa5.png">
            <a:extLst>
              <a:ext uri="{FF2B5EF4-FFF2-40B4-BE49-F238E27FC236}">
                <a16:creationId xmlns:a16="http://schemas.microsoft.com/office/drawing/2014/main" id="{6435AA1A-FDC4-C400-515C-DA7FFA2BD12A}"/>
              </a:ext>
            </a:extLst>
          </p:cNvPr>
          <p:cNvPicPr>
            <a:picLocks noChangeAspect="1"/>
          </p:cNvPicPr>
          <p:nvPr/>
        </p:nvPicPr>
        <p:blipFill>
          <a:blip r:embed="rId19"/>
          <a:stretch>
            <a:fillRect/>
          </a:stretch>
        </p:blipFill>
        <p:spPr>
          <a:xfrm>
            <a:off x="4763029" y="1924414"/>
            <a:ext cx="137160" cy="137160"/>
          </a:xfrm>
          <a:prstGeom prst="rect">
            <a:avLst/>
          </a:prstGeom>
        </p:spPr>
      </p:pic>
      <p:sp>
        <p:nvSpPr>
          <p:cNvPr id="180" name="TextBox 179">
            <a:extLst>
              <a:ext uri="{FF2B5EF4-FFF2-40B4-BE49-F238E27FC236}">
                <a16:creationId xmlns:a16="http://schemas.microsoft.com/office/drawing/2014/main" id="{1BE395EF-4F3F-857E-C08D-A693B868388B}"/>
              </a:ext>
            </a:extLst>
          </p:cNvPr>
          <p:cNvSpPr txBox="1"/>
          <p:nvPr/>
        </p:nvSpPr>
        <p:spPr>
          <a:xfrm>
            <a:off x="4737784" y="1736189"/>
            <a:ext cx="804672" cy="13234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ea typeface="+mn-ea"/>
                <a:cs typeface="+mn-cs"/>
              </a:rPr>
              <a:t>Web App / Portal</a:t>
            </a:r>
          </a:p>
        </p:txBody>
      </p:sp>
      <p:sp>
        <p:nvSpPr>
          <p:cNvPr id="181" name="TextBox 180">
            <a:extLst>
              <a:ext uri="{FF2B5EF4-FFF2-40B4-BE49-F238E27FC236}">
                <a16:creationId xmlns:a16="http://schemas.microsoft.com/office/drawing/2014/main" id="{287B2782-DEDF-0542-7C90-BEB60ACDD64B}"/>
              </a:ext>
            </a:extLst>
          </p:cNvPr>
          <p:cNvSpPr txBox="1"/>
          <p:nvPr/>
        </p:nvSpPr>
        <p:spPr>
          <a:xfrm>
            <a:off x="4946108" y="1906189"/>
            <a:ext cx="914400" cy="20621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ea typeface="+mn-ea"/>
                <a:cs typeface="+mn-cs"/>
              </a:rPr>
              <a:t>React / Next.js
on Amplify</a:t>
            </a:r>
          </a:p>
        </p:txBody>
      </p:sp>
      <p:sp>
        <p:nvSpPr>
          <p:cNvPr id="182" name="TextBox 181">
            <a:extLst>
              <a:ext uri="{FF2B5EF4-FFF2-40B4-BE49-F238E27FC236}">
                <a16:creationId xmlns:a16="http://schemas.microsoft.com/office/drawing/2014/main" id="{BC33700E-0B9F-F334-8265-C734E97EEBB6}"/>
              </a:ext>
            </a:extLst>
          </p:cNvPr>
          <p:cNvSpPr txBox="1"/>
          <p:nvPr/>
        </p:nvSpPr>
        <p:spPr>
          <a:xfrm>
            <a:off x="6023112" y="1918693"/>
            <a:ext cx="201168" cy="16927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ea typeface="+mn-ea"/>
                <a:cs typeface="+mn-cs"/>
              </a:rPr>
              <a:t>→</a:t>
            </a:r>
          </a:p>
        </p:txBody>
      </p:sp>
      <p:sp>
        <p:nvSpPr>
          <p:cNvPr id="183" name="Rectangle 182">
            <a:extLst>
              <a:ext uri="{FF2B5EF4-FFF2-40B4-BE49-F238E27FC236}">
                <a16:creationId xmlns:a16="http://schemas.microsoft.com/office/drawing/2014/main" id="{141ABE3D-1B1D-7F7A-3CBE-7D6F1B3AE4FB}"/>
              </a:ext>
            </a:extLst>
          </p:cNvPr>
          <p:cNvSpPr/>
          <p:nvPr/>
        </p:nvSpPr>
        <p:spPr>
          <a:xfrm>
            <a:off x="5887144" y="1733782"/>
            <a:ext cx="1030490"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84" name="Picture 183" descr="shield_user_1e5fa5.png">
            <a:extLst>
              <a:ext uri="{FF2B5EF4-FFF2-40B4-BE49-F238E27FC236}">
                <a16:creationId xmlns:a16="http://schemas.microsoft.com/office/drawing/2014/main" id="{A73E6CB4-5309-76A8-3DE8-F874060325FC}"/>
              </a:ext>
            </a:extLst>
          </p:cNvPr>
          <p:cNvPicPr>
            <a:picLocks noChangeAspect="1"/>
          </p:cNvPicPr>
          <p:nvPr/>
        </p:nvPicPr>
        <p:blipFill>
          <a:blip r:embed="rId20"/>
          <a:stretch>
            <a:fillRect/>
          </a:stretch>
        </p:blipFill>
        <p:spPr>
          <a:xfrm>
            <a:off x="5928292" y="1924415"/>
            <a:ext cx="137160" cy="137160"/>
          </a:xfrm>
          <a:prstGeom prst="rect">
            <a:avLst/>
          </a:prstGeom>
        </p:spPr>
      </p:pic>
      <p:sp>
        <p:nvSpPr>
          <p:cNvPr id="185" name="TextBox 184">
            <a:extLst>
              <a:ext uri="{FF2B5EF4-FFF2-40B4-BE49-F238E27FC236}">
                <a16:creationId xmlns:a16="http://schemas.microsoft.com/office/drawing/2014/main" id="{28EE6F90-3AA6-C14A-8E5F-C5A69893267A}"/>
              </a:ext>
            </a:extLst>
          </p:cNvPr>
          <p:cNvSpPr txBox="1"/>
          <p:nvPr/>
        </p:nvSpPr>
        <p:spPr>
          <a:xfrm>
            <a:off x="6173392" y="1760044"/>
            <a:ext cx="621792" cy="13234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ea typeface="+mn-ea"/>
                <a:cs typeface="+mn-cs"/>
              </a:rPr>
              <a:t>Cognito</a:t>
            </a:r>
          </a:p>
        </p:txBody>
      </p:sp>
      <p:sp>
        <p:nvSpPr>
          <p:cNvPr id="186" name="TextBox 185">
            <a:extLst>
              <a:ext uri="{FF2B5EF4-FFF2-40B4-BE49-F238E27FC236}">
                <a16:creationId xmlns:a16="http://schemas.microsoft.com/office/drawing/2014/main" id="{1EB60487-0D42-EE2C-4F83-7DB59D83D6CA}"/>
              </a:ext>
            </a:extLst>
          </p:cNvPr>
          <p:cNvSpPr txBox="1"/>
          <p:nvPr/>
        </p:nvSpPr>
        <p:spPr>
          <a:xfrm>
            <a:off x="6055710" y="1935107"/>
            <a:ext cx="949387" cy="11657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ea typeface="+mn-ea"/>
                <a:cs typeface="+mn-cs"/>
              </a:rPr>
              <a:t>Login • roles • JWT</a:t>
            </a:r>
          </a:p>
        </p:txBody>
      </p:sp>
      <p:sp>
        <p:nvSpPr>
          <p:cNvPr id="187" name="Rectangle 186">
            <a:extLst>
              <a:ext uri="{FF2B5EF4-FFF2-40B4-BE49-F238E27FC236}">
                <a16:creationId xmlns:a16="http://schemas.microsoft.com/office/drawing/2014/main" id="{431DE80B-6D5B-21D1-E502-7185D6B2CDFE}"/>
              </a:ext>
            </a:extLst>
          </p:cNvPr>
          <p:cNvSpPr/>
          <p:nvPr/>
        </p:nvSpPr>
        <p:spPr>
          <a:xfrm>
            <a:off x="7036506" y="1725831"/>
            <a:ext cx="960120"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88" name="Picture 187" descr="globe_1e5fa5.png">
            <a:extLst>
              <a:ext uri="{FF2B5EF4-FFF2-40B4-BE49-F238E27FC236}">
                <a16:creationId xmlns:a16="http://schemas.microsoft.com/office/drawing/2014/main" id="{15ED8333-893E-3A60-025E-191A1FBBC972}"/>
              </a:ext>
            </a:extLst>
          </p:cNvPr>
          <p:cNvPicPr>
            <a:picLocks noChangeAspect="1"/>
          </p:cNvPicPr>
          <p:nvPr/>
        </p:nvPicPr>
        <p:blipFill>
          <a:blip r:embed="rId19"/>
          <a:stretch>
            <a:fillRect/>
          </a:stretch>
        </p:blipFill>
        <p:spPr>
          <a:xfrm>
            <a:off x="7077654" y="1916464"/>
            <a:ext cx="137160" cy="137160"/>
          </a:xfrm>
          <a:prstGeom prst="rect">
            <a:avLst/>
          </a:prstGeom>
        </p:spPr>
      </p:pic>
      <p:sp>
        <p:nvSpPr>
          <p:cNvPr id="189" name="TextBox 188">
            <a:extLst>
              <a:ext uri="{FF2B5EF4-FFF2-40B4-BE49-F238E27FC236}">
                <a16:creationId xmlns:a16="http://schemas.microsoft.com/office/drawing/2014/main" id="{E849737C-18AE-CD2C-4EF1-37F6C19795B1}"/>
              </a:ext>
            </a:extLst>
          </p:cNvPr>
          <p:cNvSpPr txBox="1"/>
          <p:nvPr/>
        </p:nvSpPr>
        <p:spPr>
          <a:xfrm>
            <a:off x="7058573" y="1735196"/>
            <a:ext cx="1091514" cy="13234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ea typeface="+mn-ea"/>
                <a:cs typeface="+mn-cs"/>
              </a:rPr>
              <a:t>CloudFront /</a:t>
            </a:r>
            <a:r>
              <a:rPr kumimoji="0" lang="en-US" sz="710" b="1" i="0" u="none" strike="noStrike" kern="1200" cap="none" spc="0" normalizeH="0" baseline="0" noProof="0">
                <a:ln>
                  <a:noFill/>
                </a:ln>
                <a:solidFill>
                  <a:srgbClr val="1F1F1F"/>
                </a:solidFill>
                <a:effectLst/>
                <a:uLnTx/>
                <a:uFillTx/>
                <a:ea typeface="+mn-ea"/>
                <a:cs typeface="+mn-cs"/>
              </a:rPr>
              <a:t> </a:t>
            </a:r>
            <a:r>
              <a:rPr kumimoji="0" sz="710" b="1" i="0" u="none" strike="noStrike" kern="1200" cap="none" spc="0" normalizeH="0" baseline="0" noProof="0">
                <a:ln>
                  <a:noFill/>
                </a:ln>
                <a:solidFill>
                  <a:srgbClr val="1F1F1F"/>
                </a:solidFill>
                <a:effectLst/>
                <a:uLnTx/>
                <a:uFillTx/>
                <a:ea typeface="+mn-ea"/>
                <a:cs typeface="+mn-cs"/>
              </a:rPr>
              <a:t>CDN</a:t>
            </a:r>
          </a:p>
        </p:txBody>
      </p:sp>
      <p:sp>
        <p:nvSpPr>
          <p:cNvPr id="190" name="TextBox 189">
            <a:extLst>
              <a:ext uri="{FF2B5EF4-FFF2-40B4-BE49-F238E27FC236}">
                <a16:creationId xmlns:a16="http://schemas.microsoft.com/office/drawing/2014/main" id="{62C2A424-15F6-E0FB-AAC9-AAED8D032F9B}"/>
              </a:ext>
            </a:extLst>
          </p:cNvPr>
          <p:cNvSpPr txBox="1"/>
          <p:nvPr/>
        </p:nvSpPr>
        <p:spPr>
          <a:xfrm>
            <a:off x="7236877" y="1919142"/>
            <a:ext cx="868680" cy="16440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540" b="0" i="0" u="none" strike="noStrike" kern="1200" cap="none" spc="0" normalizeH="0" baseline="0" noProof="0">
                <a:ln>
                  <a:noFill/>
                </a:ln>
                <a:solidFill>
                  <a:srgbClr val="1F1F1F"/>
                </a:solidFill>
                <a:effectLst/>
                <a:uLnTx/>
                <a:uFillTx/>
                <a:ea typeface="+mn-ea"/>
                <a:cs typeface="+mn-cs"/>
              </a:rPr>
              <a:t>Caching + edge
security</a:t>
            </a:r>
          </a:p>
        </p:txBody>
      </p:sp>
      <p:sp>
        <p:nvSpPr>
          <p:cNvPr id="191" name="Rectangle 190">
            <a:extLst>
              <a:ext uri="{FF2B5EF4-FFF2-40B4-BE49-F238E27FC236}">
                <a16:creationId xmlns:a16="http://schemas.microsoft.com/office/drawing/2014/main" id="{6A66F247-59EE-6A34-10CC-F7616DB1081E}"/>
              </a:ext>
            </a:extLst>
          </p:cNvPr>
          <p:cNvSpPr/>
          <p:nvPr/>
        </p:nvSpPr>
        <p:spPr>
          <a:xfrm>
            <a:off x="8156049" y="1717879"/>
            <a:ext cx="877824"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92" name="Picture 191" descr="shield_1e5fa5.png">
            <a:extLst>
              <a:ext uri="{FF2B5EF4-FFF2-40B4-BE49-F238E27FC236}">
                <a16:creationId xmlns:a16="http://schemas.microsoft.com/office/drawing/2014/main" id="{D9439DCF-D16B-28ED-E017-438546CCF449}"/>
              </a:ext>
            </a:extLst>
          </p:cNvPr>
          <p:cNvPicPr>
            <a:picLocks noChangeAspect="1"/>
          </p:cNvPicPr>
          <p:nvPr/>
        </p:nvPicPr>
        <p:blipFill>
          <a:blip r:embed="rId21"/>
          <a:stretch>
            <a:fillRect/>
          </a:stretch>
        </p:blipFill>
        <p:spPr>
          <a:xfrm>
            <a:off x="8197197" y="1908512"/>
            <a:ext cx="137160" cy="137160"/>
          </a:xfrm>
          <a:prstGeom prst="rect">
            <a:avLst/>
          </a:prstGeom>
        </p:spPr>
      </p:pic>
      <p:sp>
        <p:nvSpPr>
          <p:cNvPr id="193" name="TextBox 192">
            <a:extLst>
              <a:ext uri="{FF2B5EF4-FFF2-40B4-BE49-F238E27FC236}">
                <a16:creationId xmlns:a16="http://schemas.microsoft.com/office/drawing/2014/main" id="{9A897580-5C15-93E4-476E-CC4B9379D439}"/>
              </a:ext>
            </a:extLst>
          </p:cNvPr>
          <p:cNvSpPr txBox="1"/>
          <p:nvPr/>
        </p:nvSpPr>
        <p:spPr>
          <a:xfrm>
            <a:off x="8156049" y="1728239"/>
            <a:ext cx="676656" cy="13234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ea typeface="+mn-ea"/>
                <a:cs typeface="+mn-cs"/>
              </a:rPr>
              <a:t>WAF + DNS</a:t>
            </a:r>
          </a:p>
        </p:txBody>
      </p:sp>
      <p:sp>
        <p:nvSpPr>
          <p:cNvPr id="194" name="TextBox 193">
            <a:extLst>
              <a:ext uri="{FF2B5EF4-FFF2-40B4-BE49-F238E27FC236}">
                <a16:creationId xmlns:a16="http://schemas.microsoft.com/office/drawing/2014/main" id="{879B4DDF-84C1-CF66-1AB5-4E5049C2BE17}"/>
              </a:ext>
            </a:extLst>
          </p:cNvPr>
          <p:cNvSpPr txBox="1"/>
          <p:nvPr/>
        </p:nvSpPr>
        <p:spPr>
          <a:xfrm>
            <a:off x="8364373" y="1895286"/>
            <a:ext cx="786384" cy="16440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540" b="0" i="0" u="none" strike="noStrike" kern="1200" cap="none" spc="0" normalizeH="0" baseline="0" noProof="0">
                <a:ln>
                  <a:noFill/>
                </a:ln>
                <a:solidFill>
                  <a:srgbClr val="1F1F1F"/>
                </a:solidFill>
                <a:effectLst/>
                <a:uLnTx/>
                <a:uFillTx/>
                <a:ea typeface="+mn-ea"/>
                <a:cs typeface="+mn-cs"/>
              </a:rPr>
              <a:t>Route 53
edge security</a:t>
            </a:r>
          </a:p>
        </p:txBody>
      </p:sp>
      <p:sp>
        <p:nvSpPr>
          <p:cNvPr id="195" name="Rectangle 194">
            <a:extLst>
              <a:ext uri="{FF2B5EF4-FFF2-40B4-BE49-F238E27FC236}">
                <a16:creationId xmlns:a16="http://schemas.microsoft.com/office/drawing/2014/main" id="{A1EE9DBD-EA1D-9115-C4B0-F6E4B69DA658}"/>
              </a:ext>
            </a:extLst>
          </p:cNvPr>
          <p:cNvSpPr/>
          <p:nvPr/>
        </p:nvSpPr>
        <p:spPr>
          <a:xfrm>
            <a:off x="3383677" y="2401293"/>
            <a:ext cx="868680" cy="566928"/>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196" name="Picture 195" descr="api_1e5fa5.png">
            <a:extLst>
              <a:ext uri="{FF2B5EF4-FFF2-40B4-BE49-F238E27FC236}">
                <a16:creationId xmlns:a16="http://schemas.microsoft.com/office/drawing/2014/main" id="{F276992A-D63C-F3A2-A24C-01CC880D025F}"/>
              </a:ext>
            </a:extLst>
          </p:cNvPr>
          <p:cNvPicPr>
            <a:picLocks noChangeAspect="1"/>
          </p:cNvPicPr>
          <p:nvPr/>
        </p:nvPicPr>
        <p:blipFill>
          <a:blip r:embed="rId22"/>
          <a:stretch>
            <a:fillRect/>
          </a:stretch>
        </p:blipFill>
        <p:spPr>
          <a:xfrm>
            <a:off x="3416873" y="2640031"/>
            <a:ext cx="137160" cy="137160"/>
          </a:xfrm>
          <a:prstGeom prst="rect">
            <a:avLst/>
          </a:prstGeom>
        </p:spPr>
      </p:pic>
      <p:sp>
        <p:nvSpPr>
          <p:cNvPr id="197" name="TextBox 196">
            <a:extLst>
              <a:ext uri="{FF2B5EF4-FFF2-40B4-BE49-F238E27FC236}">
                <a16:creationId xmlns:a16="http://schemas.microsoft.com/office/drawing/2014/main" id="{E6E32A08-BF43-5D58-A7CA-89FA9F7D8320}"/>
              </a:ext>
            </a:extLst>
          </p:cNvPr>
          <p:cNvSpPr txBox="1"/>
          <p:nvPr/>
        </p:nvSpPr>
        <p:spPr>
          <a:xfrm>
            <a:off x="3463190" y="2426786"/>
            <a:ext cx="667512" cy="133883"/>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20" b="1" i="0" u="none" strike="noStrike" kern="1200" cap="none" spc="0" normalizeH="0" baseline="0" noProof="0">
                <a:ln>
                  <a:noFill/>
                </a:ln>
                <a:solidFill>
                  <a:srgbClr val="1F1F1F"/>
                </a:solidFill>
                <a:effectLst/>
                <a:uLnTx/>
                <a:uFillTx/>
                <a:ea typeface="+mn-ea"/>
                <a:cs typeface="+mn-cs"/>
              </a:rPr>
              <a:t>API Gateway</a:t>
            </a:r>
          </a:p>
        </p:txBody>
      </p:sp>
      <p:sp>
        <p:nvSpPr>
          <p:cNvPr id="198" name="TextBox 197">
            <a:extLst>
              <a:ext uri="{FF2B5EF4-FFF2-40B4-BE49-F238E27FC236}">
                <a16:creationId xmlns:a16="http://schemas.microsoft.com/office/drawing/2014/main" id="{0AB31BC4-3F2F-A71A-D95F-6A6F3F34C48C}"/>
              </a:ext>
            </a:extLst>
          </p:cNvPr>
          <p:cNvSpPr txBox="1"/>
          <p:nvPr/>
        </p:nvSpPr>
        <p:spPr>
          <a:xfrm>
            <a:off x="3512488" y="2613855"/>
            <a:ext cx="677849" cy="20621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ea typeface="+mn-ea"/>
                <a:cs typeface="+mn-cs"/>
              </a:rPr>
              <a:t>Secured LOS APIs</a:t>
            </a:r>
          </a:p>
        </p:txBody>
      </p:sp>
      <p:sp>
        <p:nvSpPr>
          <p:cNvPr id="199" name="TextBox 198">
            <a:extLst>
              <a:ext uri="{FF2B5EF4-FFF2-40B4-BE49-F238E27FC236}">
                <a16:creationId xmlns:a16="http://schemas.microsoft.com/office/drawing/2014/main" id="{DC3A5314-5945-F3E1-FBA4-896A2F66FC9F}"/>
              </a:ext>
            </a:extLst>
          </p:cNvPr>
          <p:cNvSpPr txBox="1"/>
          <p:nvPr/>
        </p:nvSpPr>
        <p:spPr>
          <a:xfrm>
            <a:off x="4261501" y="2618407"/>
            <a:ext cx="201168" cy="16927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ea typeface="+mn-ea"/>
                <a:cs typeface="+mn-cs"/>
              </a:rPr>
              <a:t>→</a:t>
            </a:r>
          </a:p>
        </p:txBody>
      </p:sp>
      <p:sp>
        <p:nvSpPr>
          <p:cNvPr id="200" name="Rectangle 199">
            <a:extLst>
              <a:ext uri="{FF2B5EF4-FFF2-40B4-BE49-F238E27FC236}">
                <a16:creationId xmlns:a16="http://schemas.microsoft.com/office/drawing/2014/main" id="{02693D00-7A03-936A-7707-D47D8838AE74}"/>
              </a:ext>
            </a:extLst>
          </p:cNvPr>
          <p:cNvSpPr/>
          <p:nvPr/>
        </p:nvSpPr>
        <p:spPr>
          <a:xfrm>
            <a:off x="4358506" y="2401293"/>
            <a:ext cx="2885131" cy="566928"/>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01" name="Picture 200" descr="lambda_1e5fa5.png">
            <a:extLst>
              <a:ext uri="{FF2B5EF4-FFF2-40B4-BE49-F238E27FC236}">
                <a16:creationId xmlns:a16="http://schemas.microsoft.com/office/drawing/2014/main" id="{7EC6012B-A07B-3646-74CB-020CC80DB768}"/>
              </a:ext>
            </a:extLst>
          </p:cNvPr>
          <p:cNvPicPr>
            <a:picLocks noChangeAspect="1"/>
          </p:cNvPicPr>
          <p:nvPr/>
        </p:nvPicPr>
        <p:blipFill>
          <a:blip r:embed="rId23"/>
          <a:stretch>
            <a:fillRect/>
          </a:stretch>
        </p:blipFill>
        <p:spPr>
          <a:xfrm>
            <a:off x="4459886" y="2656928"/>
            <a:ext cx="146304" cy="146304"/>
          </a:xfrm>
          <a:prstGeom prst="rect">
            <a:avLst/>
          </a:prstGeom>
        </p:spPr>
      </p:pic>
      <p:sp>
        <p:nvSpPr>
          <p:cNvPr id="202" name="TextBox 201">
            <a:extLst>
              <a:ext uri="{FF2B5EF4-FFF2-40B4-BE49-F238E27FC236}">
                <a16:creationId xmlns:a16="http://schemas.microsoft.com/office/drawing/2014/main" id="{08FFE4CB-8520-737F-2C75-5871BDAC296F}"/>
              </a:ext>
            </a:extLst>
          </p:cNvPr>
          <p:cNvSpPr txBox="1"/>
          <p:nvPr/>
        </p:nvSpPr>
        <p:spPr>
          <a:xfrm>
            <a:off x="4457501" y="2421868"/>
            <a:ext cx="1709928" cy="136961"/>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40" b="1" i="0" u="none" strike="noStrike" kern="1200" cap="none" spc="0" normalizeH="0" baseline="0" noProof="0">
                <a:ln>
                  <a:noFill/>
                </a:ln>
                <a:solidFill>
                  <a:srgbClr val="1F1F1F"/>
                </a:solidFill>
                <a:effectLst/>
                <a:uLnTx/>
                <a:uFillTx/>
                <a:ea typeface="+mn-ea"/>
                <a:cs typeface="+mn-cs"/>
              </a:rPr>
              <a:t>Lambda Business Services</a:t>
            </a:r>
          </a:p>
        </p:txBody>
      </p:sp>
      <p:sp>
        <p:nvSpPr>
          <p:cNvPr id="203" name="TextBox 202">
            <a:extLst>
              <a:ext uri="{FF2B5EF4-FFF2-40B4-BE49-F238E27FC236}">
                <a16:creationId xmlns:a16="http://schemas.microsoft.com/office/drawing/2014/main" id="{F7B652C5-C8D5-D71D-A875-F4E0AD4445F7}"/>
              </a:ext>
            </a:extLst>
          </p:cNvPr>
          <p:cNvSpPr txBox="1"/>
          <p:nvPr/>
        </p:nvSpPr>
        <p:spPr>
          <a:xfrm>
            <a:off x="4571203" y="2615048"/>
            <a:ext cx="2362333" cy="20621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ea typeface="+mn-ea"/>
                <a:cs typeface="+mn-cs"/>
              </a:rPr>
              <a:t>Lead | Application | Customer | Document
Workflow service | Integration adapters</a:t>
            </a:r>
          </a:p>
        </p:txBody>
      </p:sp>
      <p:sp>
        <p:nvSpPr>
          <p:cNvPr id="204" name="TextBox 203">
            <a:extLst>
              <a:ext uri="{FF2B5EF4-FFF2-40B4-BE49-F238E27FC236}">
                <a16:creationId xmlns:a16="http://schemas.microsoft.com/office/drawing/2014/main" id="{5D0F37E3-04D6-AA99-3F56-2B04FDCA10C9}"/>
              </a:ext>
            </a:extLst>
          </p:cNvPr>
          <p:cNvSpPr txBox="1"/>
          <p:nvPr/>
        </p:nvSpPr>
        <p:spPr>
          <a:xfrm>
            <a:off x="7240060" y="2594553"/>
            <a:ext cx="201168" cy="16927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ea typeface="+mn-ea"/>
                <a:cs typeface="+mn-cs"/>
              </a:rPr>
              <a:t>→</a:t>
            </a:r>
          </a:p>
        </p:txBody>
      </p:sp>
      <p:sp>
        <p:nvSpPr>
          <p:cNvPr id="205" name="Rectangle 204">
            <a:extLst>
              <a:ext uri="{FF2B5EF4-FFF2-40B4-BE49-F238E27FC236}">
                <a16:creationId xmlns:a16="http://schemas.microsoft.com/office/drawing/2014/main" id="{5D1AE1A5-56CF-B25B-4C39-E8626A54B07D}"/>
              </a:ext>
            </a:extLst>
          </p:cNvPr>
          <p:cNvSpPr/>
          <p:nvPr/>
        </p:nvSpPr>
        <p:spPr>
          <a:xfrm>
            <a:off x="7450372" y="2393342"/>
            <a:ext cx="1558453" cy="566928"/>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06" name="Picture 205" descr="network_1e5fa5.png">
            <a:extLst>
              <a:ext uri="{FF2B5EF4-FFF2-40B4-BE49-F238E27FC236}">
                <a16:creationId xmlns:a16="http://schemas.microsoft.com/office/drawing/2014/main" id="{E1CA0658-CFF3-D083-78FE-639216FF246B}"/>
              </a:ext>
            </a:extLst>
          </p:cNvPr>
          <p:cNvPicPr>
            <a:picLocks noChangeAspect="1"/>
          </p:cNvPicPr>
          <p:nvPr/>
        </p:nvPicPr>
        <p:blipFill>
          <a:blip r:embed="rId24"/>
          <a:stretch>
            <a:fillRect/>
          </a:stretch>
        </p:blipFill>
        <p:spPr>
          <a:xfrm>
            <a:off x="7529287" y="2663886"/>
            <a:ext cx="137160" cy="137160"/>
          </a:xfrm>
          <a:prstGeom prst="rect">
            <a:avLst/>
          </a:prstGeom>
        </p:spPr>
      </p:pic>
      <p:sp>
        <p:nvSpPr>
          <p:cNvPr id="207" name="TextBox 206">
            <a:extLst>
              <a:ext uri="{FF2B5EF4-FFF2-40B4-BE49-F238E27FC236}">
                <a16:creationId xmlns:a16="http://schemas.microsoft.com/office/drawing/2014/main" id="{908D619C-5B18-E08D-9FB1-00B6B340D02E}"/>
              </a:ext>
            </a:extLst>
          </p:cNvPr>
          <p:cNvSpPr txBox="1"/>
          <p:nvPr/>
        </p:nvSpPr>
        <p:spPr>
          <a:xfrm>
            <a:off x="7500678" y="2442164"/>
            <a:ext cx="999265" cy="12772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1" i="0" u="none" strike="noStrike" kern="1200" cap="none" spc="0" normalizeH="0" baseline="0" noProof="0" err="1">
                <a:ln>
                  <a:noFill/>
                </a:ln>
                <a:solidFill>
                  <a:srgbClr val="1F1F1F"/>
                </a:solidFill>
                <a:effectLst/>
                <a:uLnTx/>
                <a:uFillTx/>
                <a:ea typeface="+mn-ea"/>
                <a:cs typeface="+mn-cs"/>
              </a:rPr>
              <a:t>EventBridge</a:t>
            </a:r>
            <a:r>
              <a:rPr kumimoji="0" sz="680" b="1" i="0" u="none" strike="noStrike" kern="1200" cap="none" spc="0" normalizeH="0" baseline="0" noProof="0">
                <a:ln>
                  <a:noFill/>
                </a:ln>
                <a:solidFill>
                  <a:srgbClr val="1F1F1F"/>
                </a:solidFill>
                <a:effectLst/>
                <a:uLnTx/>
                <a:uFillTx/>
                <a:ea typeface="+mn-ea"/>
                <a:cs typeface="+mn-cs"/>
              </a:rPr>
              <a:t> / SQS</a:t>
            </a:r>
          </a:p>
        </p:txBody>
      </p:sp>
      <p:sp>
        <p:nvSpPr>
          <p:cNvPr id="208" name="TextBox 207">
            <a:extLst>
              <a:ext uri="{FF2B5EF4-FFF2-40B4-BE49-F238E27FC236}">
                <a16:creationId xmlns:a16="http://schemas.microsoft.com/office/drawing/2014/main" id="{84780B43-C9DB-79D3-E4B2-31529FD624E9}"/>
              </a:ext>
            </a:extLst>
          </p:cNvPr>
          <p:cNvSpPr txBox="1"/>
          <p:nvPr/>
        </p:nvSpPr>
        <p:spPr>
          <a:xfrm>
            <a:off x="7577193" y="2645660"/>
            <a:ext cx="1145385" cy="20621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ea typeface="+mn-ea"/>
                <a:cs typeface="+mn-cs"/>
              </a:rPr>
              <a:t>Async events
retries, callbacks</a:t>
            </a:r>
          </a:p>
        </p:txBody>
      </p:sp>
      <p:sp>
        <p:nvSpPr>
          <p:cNvPr id="209" name="Rectangle 208">
            <a:extLst>
              <a:ext uri="{FF2B5EF4-FFF2-40B4-BE49-F238E27FC236}">
                <a16:creationId xmlns:a16="http://schemas.microsoft.com/office/drawing/2014/main" id="{020751EE-ED57-EE65-C455-C26A07FC9989}"/>
              </a:ext>
            </a:extLst>
          </p:cNvPr>
          <p:cNvSpPr/>
          <p:nvPr/>
        </p:nvSpPr>
        <p:spPr>
          <a:xfrm>
            <a:off x="3383677" y="3242541"/>
            <a:ext cx="1060704"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10" name="Picture 209" descr="database_1e5fa5.png">
            <a:extLst>
              <a:ext uri="{FF2B5EF4-FFF2-40B4-BE49-F238E27FC236}">
                <a16:creationId xmlns:a16="http://schemas.microsoft.com/office/drawing/2014/main" id="{E55497CB-2434-A997-CADD-82D05B79CC15}"/>
              </a:ext>
            </a:extLst>
          </p:cNvPr>
          <p:cNvPicPr>
            <a:picLocks noChangeAspect="1"/>
          </p:cNvPicPr>
          <p:nvPr/>
        </p:nvPicPr>
        <p:blipFill>
          <a:blip r:embed="rId25"/>
          <a:stretch>
            <a:fillRect/>
          </a:stretch>
        </p:blipFill>
        <p:spPr>
          <a:xfrm>
            <a:off x="3424825" y="3402561"/>
            <a:ext cx="137160" cy="137160"/>
          </a:xfrm>
          <a:prstGeom prst="rect">
            <a:avLst/>
          </a:prstGeom>
        </p:spPr>
      </p:pic>
      <p:sp>
        <p:nvSpPr>
          <p:cNvPr id="211" name="TextBox 210">
            <a:extLst>
              <a:ext uri="{FF2B5EF4-FFF2-40B4-BE49-F238E27FC236}">
                <a16:creationId xmlns:a16="http://schemas.microsoft.com/office/drawing/2014/main" id="{2D0A0620-A477-56C4-6A0B-82BA57192FA9}"/>
              </a:ext>
            </a:extLst>
          </p:cNvPr>
          <p:cNvSpPr txBox="1"/>
          <p:nvPr/>
        </p:nvSpPr>
        <p:spPr>
          <a:xfrm>
            <a:off x="3553544" y="3283064"/>
            <a:ext cx="859536"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ea typeface="+mn-ea"/>
                <a:cs typeface="+mn-cs"/>
              </a:rPr>
              <a:t>Aurora PostgreSQL</a:t>
            </a:r>
          </a:p>
        </p:txBody>
      </p:sp>
      <p:sp>
        <p:nvSpPr>
          <p:cNvPr id="212" name="TextBox 211">
            <a:extLst>
              <a:ext uri="{FF2B5EF4-FFF2-40B4-BE49-F238E27FC236}">
                <a16:creationId xmlns:a16="http://schemas.microsoft.com/office/drawing/2014/main" id="{778AEFD8-4B8D-EC5A-7541-EFB8EFDEACE8}"/>
              </a:ext>
            </a:extLst>
          </p:cNvPr>
          <p:cNvSpPr txBox="1"/>
          <p:nvPr/>
        </p:nvSpPr>
        <p:spPr>
          <a:xfrm>
            <a:off x="3456829" y="3456249"/>
            <a:ext cx="969264" cy="15780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ea typeface="+mn-ea"/>
                <a:cs typeface="+mn-cs"/>
              </a:rPr>
              <a:t>Applications, customers,
KYC docs, audit</a:t>
            </a:r>
          </a:p>
        </p:txBody>
      </p:sp>
      <p:sp>
        <p:nvSpPr>
          <p:cNvPr id="213" name="TextBox 212">
            <a:extLst>
              <a:ext uri="{FF2B5EF4-FFF2-40B4-BE49-F238E27FC236}">
                <a16:creationId xmlns:a16="http://schemas.microsoft.com/office/drawing/2014/main" id="{A1E75DAB-85B7-9C5D-1C0C-5A0AF74F225F}"/>
              </a:ext>
            </a:extLst>
          </p:cNvPr>
          <p:cNvSpPr txBox="1"/>
          <p:nvPr/>
        </p:nvSpPr>
        <p:spPr>
          <a:xfrm>
            <a:off x="4453525" y="3404791"/>
            <a:ext cx="201168" cy="16927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ea typeface="+mn-ea"/>
                <a:cs typeface="+mn-cs"/>
              </a:rPr>
              <a:t>→</a:t>
            </a:r>
          </a:p>
        </p:txBody>
      </p:sp>
      <p:sp>
        <p:nvSpPr>
          <p:cNvPr id="214" name="Rectangle 213">
            <a:extLst>
              <a:ext uri="{FF2B5EF4-FFF2-40B4-BE49-F238E27FC236}">
                <a16:creationId xmlns:a16="http://schemas.microsoft.com/office/drawing/2014/main" id="{96820179-6E14-A830-C453-A18B05F70FF9}"/>
              </a:ext>
            </a:extLst>
          </p:cNvPr>
          <p:cNvSpPr/>
          <p:nvPr/>
        </p:nvSpPr>
        <p:spPr>
          <a:xfrm>
            <a:off x="4517533" y="3242541"/>
            <a:ext cx="987552"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15" name="Picture 214" descr="bucket_1e5fa5.png">
            <a:extLst>
              <a:ext uri="{FF2B5EF4-FFF2-40B4-BE49-F238E27FC236}">
                <a16:creationId xmlns:a16="http://schemas.microsoft.com/office/drawing/2014/main" id="{DA2BBAB8-9886-C6CD-58F6-4A1145CD168F}"/>
              </a:ext>
            </a:extLst>
          </p:cNvPr>
          <p:cNvPicPr>
            <a:picLocks noChangeAspect="1"/>
          </p:cNvPicPr>
          <p:nvPr/>
        </p:nvPicPr>
        <p:blipFill>
          <a:blip r:embed="rId26"/>
          <a:stretch>
            <a:fillRect/>
          </a:stretch>
        </p:blipFill>
        <p:spPr>
          <a:xfrm>
            <a:off x="4558681" y="3402561"/>
            <a:ext cx="137160" cy="137160"/>
          </a:xfrm>
          <a:prstGeom prst="rect">
            <a:avLst/>
          </a:prstGeom>
        </p:spPr>
      </p:pic>
      <p:sp>
        <p:nvSpPr>
          <p:cNvPr id="216" name="TextBox 215">
            <a:extLst>
              <a:ext uri="{FF2B5EF4-FFF2-40B4-BE49-F238E27FC236}">
                <a16:creationId xmlns:a16="http://schemas.microsoft.com/office/drawing/2014/main" id="{511C4269-B9E3-3AF5-821A-F59361C84381}"/>
              </a:ext>
            </a:extLst>
          </p:cNvPr>
          <p:cNvSpPr txBox="1"/>
          <p:nvPr/>
        </p:nvSpPr>
        <p:spPr>
          <a:xfrm>
            <a:off x="4700413" y="3246488"/>
            <a:ext cx="786384"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ea typeface="+mn-ea"/>
                <a:cs typeface="+mn-cs"/>
              </a:rPr>
              <a:t>Amazon S3</a:t>
            </a:r>
          </a:p>
        </p:txBody>
      </p:sp>
      <p:sp>
        <p:nvSpPr>
          <p:cNvPr id="217" name="TextBox 216">
            <a:extLst>
              <a:ext uri="{FF2B5EF4-FFF2-40B4-BE49-F238E27FC236}">
                <a16:creationId xmlns:a16="http://schemas.microsoft.com/office/drawing/2014/main" id="{24091F43-EB67-E740-7228-8BC2BEE6B30D}"/>
              </a:ext>
            </a:extLst>
          </p:cNvPr>
          <p:cNvSpPr txBox="1"/>
          <p:nvPr/>
        </p:nvSpPr>
        <p:spPr>
          <a:xfrm>
            <a:off x="4590685" y="3456249"/>
            <a:ext cx="896112" cy="15780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ea typeface="+mn-ea"/>
                <a:cs typeface="+mn-cs"/>
              </a:rPr>
              <a:t>Forms, statements,
agreements</a:t>
            </a:r>
          </a:p>
        </p:txBody>
      </p:sp>
      <p:sp>
        <p:nvSpPr>
          <p:cNvPr id="218" name="TextBox 217">
            <a:extLst>
              <a:ext uri="{FF2B5EF4-FFF2-40B4-BE49-F238E27FC236}">
                <a16:creationId xmlns:a16="http://schemas.microsoft.com/office/drawing/2014/main" id="{296DB80B-C0A6-D485-0FBC-4E676601F45E}"/>
              </a:ext>
            </a:extLst>
          </p:cNvPr>
          <p:cNvSpPr txBox="1"/>
          <p:nvPr/>
        </p:nvSpPr>
        <p:spPr>
          <a:xfrm>
            <a:off x="5514229" y="3404791"/>
            <a:ext cx="201168" cy="16927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ea typeface="+mn-ea"/>
                <a:cs typeface="+mn-cs"/>
              </a:rPr>
              <a:t>→</a:t>
            </a:r>
          </a:p>
        </p:txBody>
      </p:sp>
      <p:sp>
        <p:nvSpPr>
          <p:cNvPr id="219" name="Rectangle 218">
            <a:extLst>
              <a:ext uri="{FF2B5EF4-FFF2-40B4-BE49-F238E27FC236}">
                <a16:creationId xmlns:a16="http://schemas.microsoft.com/office/drawing/2014/main" id="{E842B89C-CB7A-7826-0FAD-2B85C874C2DE}"/>
              </a:ext>
            </a:extLst>
          </p:cNvPr>
          <p:cNvSpPr/>
          <p:nvPr/>
        </p:nvSpPr>
        <p:spPr>
          <a:xfrm>
            <a:off x="5578237" y="3242541"/>
            <a:ext cx="1060704"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20" name="Picture 219" descr="workflow_1e5fa5.png">
            <a:extLst>
              <a:ext uri="{FF2B5EF4-FFF2-40B4-BE49-F238E27FC236}">
                <a16:creationId xmlns:a16="http://schemas.microsoft.com/office/drawing/2014/main" id="{AC1670A7-4C0C-77AA-6EF9-65F4F57C803D}"/>
              </a:ext>
            </a:extLst>
          </p:cNvPr>
          <p:cNvPicPr>
            <a:picLocks noChangeAspect="1"/>
          </p:cNvPicPr>
          <p:nvPr/>
        </p:nvPicPr>
        <p:blipFill>
          <a:blip r:embed="rId27"/>
          <a:stretch>
            <a:fillRect/>
          </a:stretch>
        </p:blipFill>
        <p:spPr>
          <a:xfrm>
            <a:off x="5619385" y="3402561"/>
            <a:ext cx="137160" cy="137160"/>
          </a:xfrm>
          <a:prstGeom prst="rect">
            <a:avLst/>
          </a:prstGeom>
        </p:spPr>
      </p:pic>
      <p:sp>
        <p:nvSpPr>
          <p:cNvPr id="221" name="TextBox 220">
            <a:extLst>
              <a:ext uri="{FF2B5EF4-FFF2-40B4-BE49-F238E27FC236}">
                <a16:creationId xmlns:a16="http://schemas.microsoft.com/office/drawing/2014/main" id="{32E772AA-B9CC-13F5-0906-820DD67A63D5}"/>
              </a:ext>
            </a:extLst>
          </p:cNvPr>
          <p:cNvSpPr txBox="1"/>
          <p:nvPr/>
        </p:nvSpPr>
        <p:spPr>
          <a:xfrm>
            <a:off x="5761117" y="3246488"/>
            <a:ext cx="859536"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ea typeface="+mn-ea"/>
                <a:cs typeface="+mn-cs"/>
              </a:rPr>
              <a:t>Step Functions</a:t>
            </a:r>
          </a:p>
        </p:txBody>
      </p:sp>
      <p:sp>
        <p:nvSpPr>
          <p:cNvPr id="222" name="TextBox 221">
            <a:extLst>
              <a:ext uri="{FF2B5EF4-FFF2-40B4-BE49-F238E27FC236}">
                <a16:creationId xmlns:a16="http://schemas.microsoft.com/office/drawing/2014/main" id="{28959DB5-6EA5-7F8B-ED92-E6FF15F3FB15}"/>
              </a:ext>
            </a:extLst>
          </p:cNvPr>
          <p:cNvSpPr txBox="1"/>
          <p:nvPr/>
        </p:nvSpPr>
        <p:spPr>
          <a:xfrm>
            <a:off x="5651389" y="3456249"/>
            <a:ext cx="969264" cy="15780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ea typeface="+mn-ea"/>
                <a:cs typeface="+mn-cs"/>
              </a:rPr>
              <a:t>KYC • bureau • credit
approval • disb.</a:t>
            </a:r>
          </a:p>
        </p:txBody>
      </p:sp>
      <p:sp>
        <p:nvSpPr>
          <p:cNvPr id="223" name="TextBox 222">
            <a:extLst>
              <a:ext uri="{FF2B5EF4-FFF2-40B4-BE49-F238E27FC236}">
                <a16:creationId xmlns:a16="http://schemas.microsoft.com/office/drawing/2014/main" id="{969D825B-128F-43AD-5574-5035CA1574A7}"/>
              </a:ext>
            </a:extLst>
          </p:cNvPr>
          <p:cNvSpPr txBox="1"/>
          <p:nvPr/>
        </p:nvSpPr>
        <p:spPr>
          <a:xfrm>
            <a:off x="6648085" y="3404791"/>
            <a:ext cx="201168" cy="169277"/>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ea typeface="+mn-ea"/>
                <a:cs typeface="+mn-cs"/>
              </a:rPr>
              <a:t>→</a:t>
            </a:r>
          </a:p>
        </p:txBody>
      </p:sp>
      <p:sp>
        <p:nvSpPr>
          <p:cNvPr id="224" name="Rectangle 223">
            <a:extLst>
              <a:ext uri="{FF2B5EF4-FFF2-40B4-BE49-F238E27FC236}">
                <a16:creationId xmlns:a16="http://schemas.microsoft.com/office/drawing/2014/main" id="{CDE97590-7DF7-049F-90CE-E617E92AB4FE}"/>
              </a:ext>
            </a:extLst>
          </p:cNvPr>
          <p:cNvSpPr/>
          <p:nvPr/>
        </p:nvSpPr>
        <p:spPr>
          <a:xfrm>
            <a:off x="6712093" y="3242541"/>
            <a:ext cx="1005840"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25" name="Picture 224" descr="chart_1e5fa5.png">
            <a:extLst>
              <a:ext uri="{FF2B5EF4-FFF2-40B4-BE49-F238E27FC236}">
                <a16:creationId xmlns:a16="http://schemas.microsoft.com/office/drawing/2014/main" id="{B77A2B2E-DA32-464D-454A-A51DFC02ED66}"/>
              </a:ext>
            </a:extLst>
          </p:cNvPr>
          <p:cNvPicPr>
            <a:picLocks noChangeAspect="1"/>
          </p:cNvPicPr>
          <p:nvPr/>
        </p:nvPicPr>
        <p:blipFill>
          <a:blip r:embed="rId28"/>
          <a:stretch>
            <a:fillRect/>
          </a:stretch>
        </p:blipFill>
        <p:spPr>
          <a:xfrm>
            <a:off x="6753241" y="3402561"/>
            <a:ext cx="137160" cy="137160"/>
          </a:xfrm>
          <a:prstGeom prst="rect">
            <a:avLst/>
          </a:prstGeom>
        </p:spPr>
      </p:pic>
      <p:sp>
        <p:nvSpPr>
          <p:cNvPr id="226" name="TextBox 225">
            <a:extLst>
              <a:ext uri="{FF2B5EF4-FFF2-40B4-BE49-F238E27FC236}">
                <a16:creationId xmlns:a16="http://schemas.microsoft.com/office/drawing/2014/main" id="{0C76241B-708F-D809-B7E3-9D8080516BAA}"/>
              </a:ext>
            </a:extLst>
          </p:cNvPr>
          <p:cNvSpPr txBox="1"/>
          <p:nvPr/>
        </p:nvSpPr>
        <p:spPr>
          <a:xfrm>
            <a:off x="6886180" y="3282237"/>
            <a:ext cx="804672"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ea typeface="+mn-ea"/>
                <a:cs typeface="+mn-cs"/>
              </a:rPr>
              <a:t>Audit &amp; Monitoring</a:t>
            </a:r>
          </a:p>
        </p:txBody>
      </p:sp>
      <p:sp>
        <p:nvSpPr>
          <p:cNvPr id="227" name="TextBox 226">
            <a:extLst>
              <a:ext uri="{FF2B5EF4-FFF2-40B4-BE49-F238E27FC236}">
                <a16:creationId xmlns:a16="http://schemas.microsoft.com/office/drawing/2014/main" id="{EF43BBAD-E84F-B104-3CDD-A9B7C9789F80}"/>
              </a:ext>
            </a:extLst>
          </p:cNvPr>
          <p:cNvSpPr txBox="1"/>
          <p:nvPr/>
        </p:nvSpPr>
        <p:spPr>
          <a:xfrm>
            <a:off x="6785245" y="3456249"/>
            <a:ext cx="914400" cy="15780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ea typeface="+mn-ea"/>
                <a:cs typeface="+mn-cs"/>
              </a:rPr>
              <a:t>CloudWatch, X-Ray,
logs, traceability</a:t>
            </a:r>
          </a:p>
        </p:txBody>
      </p:sp>
      <p:sp>
        <p:nvSpPr>
          <p:cNvPr id="228" name="Rectangle 227">
            <a:extLst>
              <a:ext uri="{FF2B5EF4-FFF2-40B4-BE49-F238E27FC236}">
                <a16:creationId xmlns:a16="http://schemas.microsoft.com/office/drawing/2014/main" id="{C9FD93B9-B787-0267-FCE2-80AF30C19A50}"/>
              </a:ext>
            </a:extLst>
          </p:cNvPr>
          <p:cNvSpPr/>
          <p:nvPr/>
        </p:nvSpPr>
        <p:spPr>
          <a:xfrm>
            <a:off x="3383677" y="3946629"/>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29" name="Picture 228" descr="shield_user_1e5fa5.png">
            <a:extLst>
              <a:ext uri="{FF2B5EF4-FFF2-40B4-BE49-F238E27FC236}">
                <a16:creationId xmlns:a16="http://schemas.microsoft.com/office/drawing/2014/main" id="{00340245-2A72-D5FB-8FE5-C819F55DA5C4}"/>
              </a:ext>
            </a:extLst>
          </p:cNvPr>
          <p:cNvPicPr>
            <a:picLocks noChangeAspect="1"/>
          </p:cNvPicPr>
          <p:nvPr/>
        </p:nvPicPr>
        <p:blipFill>
          <a:blip r:embed="rId20"/>
          <a:stretch>
            <a:fillRect/>
          </a:stretch>
        </p:blipFill>
        <p:spPr>
          <a:xfrm>
            <a:off x="3420253" y="4120365"/>
            <a:ext cx="118872" cy="118872"/>
          </a:xfrm>
          <a:prstGeom prst="rect">
            <a:avLst/>
          </a:prstGeom>
        </p:spPr>
      </p:pic>
      <p:sp>
        <p:nvSpPr>
          <p:cNvPr id="230" name="TextBox 229">
            <a:extLst>
              <a:ext uri="{FF2B5EF4-FFF2-40B4-BE49-F238E27FC236}">
                <a16:creationId xmlns:a16="http://schemas.microsoft.com/office/drawing/2014/main" id="{4C0BD85B-899A-0D2A-B49B-EB8E5C345C77}"/>
              </a:ext>
            </a:extLst>
          </p:cNvPr>
          <p:cNvSpPr txBox="1"/>
          <p:nvPr/>
        </p:nvSpPr>
        <p:spPr>
          <a:xfrm>
            <a:off x="3539125" y="3958271"/>
            <a:ext cx="566928" cy="11387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ea typeface="+mn-ea"/>
                <a:cs typeface="+mn-cs"/>
              </a:rPr>
              <a:t>IAM &amp; Auth</a:t>
            </a:r>
          </a:p>
        </p:txBody>
      </p:sp>
      <p:sp>
        <p:nvSpPr>
          <p:cNvPr id="231" name="TextBox 230">
            <a:extLst>
              <a:ext uri="{FF2B5EF4-FFF2-40B4-BE49-F238E27FC236}">
                <a16:creationId xmlns:a16="http://schemas.microsoft.com/office/drawing/2014/main" id="{0D39180F-BB7A-9D3E-0572-7F0A84CD6F0F}"/>
              </a:ext>
            </a:extLst>
          </p:cNvPr>
          <p:cNvSpPr txBox="1"/>
          <p:nvPr/>
        </p:nvSpPr>
        <p:spPr>
          <a:xfrm>
            <a:off x="3411109" y="4192385"/>
            <a:ext cx="694944" cy="1485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ea typeface="+mn-ea"/>
                <a:cs typeface="+mn-cs"/>
              </a:rPr>
              <a:t>Users, roles
MFA</a:t>
            </a:r>
          </a:p>
        </p:txBody>
      </p:sp>
      <p:sp>
        <p:nvSpPr>
          <p:cNvPr id="232" name="Rectangle 231">
            <a:extLst>
              <a:ext uri="{FF2B5EF4-FFF2-40B4-BE49-F238E27FC236}">
                <a16:creationId xmlns:a16="http://schemas.microsoft.com/office/drawing/2014/main" id="{D109A02B-7C6F-AC8D-A14C-1AFC43C297BF}"/>
              </a:ext>
            </a:extLst>
          </p:cNvPr>
          <p:cNvSpPr/>
          <p:nvPr/>
        </p:nvSpPr>
        <p:spPr>
          <a:xfrm>
            <a:off x="4179205" y="3946629"/>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33" name="Picture 232" descr="log_1e5fa5.png">
            <a:extLst>
              <a:ext uri="{FF2B5EF4-FFF2-40B4-BE49-F238E27FC236}">
                <a16:creationId xmlns:a16="http://schemas.microsoft.com/office/drawing/2014/main" id="{BDEB0096-45AD-AD82-09F1-A73F225B7378}"/>
              </a:ext>
            </a:extLst>
          </p:cNvPr>
          <p:cNvPicPr>
            <a:picLocks noChangeAspect="1"/>
          </p:cNvPicPr>
          <p:nvPr/>
        </p:nvPicPr>
        <p:blipFill>
          <a:blip r:embed="rId29"/>
          <a:stretch>
            <a:fillRect/>
          </a:stretch>
        </p:blipFill>
        <p:spPr>
          <a:xfrm>
            <a:off x="4215781" y="4120365"/>
            <a:ext cx="118872" cy="118872"/>
          </a:xfrm>
          <a:prstGeom prst="rect">
            <a:avLst/>
          </a:prstGeom>
        </p:spPr>
      </p:pic>
      <p:sp>
        <p:nvSpPr>
          <p:cNvPr id="234" name="TextBox 233">
            <a:extLst>
              <a:ext uri="{FF2B5EF4-FFF2-40B4-BE49-F238E27FC236}">
                <a16:creationId xmlns:a16="http://schemas.microsoft.com/office/drawing/2014/main" id="{AA827B35-BAE9-1E82-A92D-24970291FB94}"/>
              </a:ext>
            </a:extLst>
          </p:cNvPr>
          <p:cNvSpPr txBox="1"/>
          <p:nvPr/>
        </p:nvSpPr>
        <p:spPr>
          <a:xfrm>
            <a:off x="4334653" y="3958271"/>
            <a:ext cx="566928" cy="11387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ea typeface="+mn-ea"/>
                <a:cs typeface="+mn-cs"/>
              </a:rPr>
              <a:t>Audit &amp; Log</a:t>
            </a:r>
          </a:p>
        </p:txBody>
      </p:sp>
      <p:sp>
        <p:nvSpPr>
          <p:cNvPr id="235" name="TextBox 234">
            <a:extLst>
              <a:ext uri="{FF2B5EF4-FFF2-40B4-BE49-F238E27FC236}">
                <a16:creationId xmlns:a16="http://schemas.microsoft.com/office/drawing/2014/main" id="{CCA3C733-19F5-016C-499F-E1CED0AC3A73}"/>
              </a:ext>
            </a:extLst>
          </p:cNvPr>
          <p:cNvSpPr txBox="1"/>
          <p:nvPr/>
        </p:nvSpPr>
        <p:spPr>
          <a:xfrm>
            <a:off x="4206637" y="4192385"/>
            <a:ext cx="694944" cy="1485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ea typeface="+mn-ea"/>
                <a:cs typeface="+mn-cs"/>
              </a:rPr>
              <a:t>CloudTrail
Audit logs</a:t>
            </a:r>
          </a:p>
        </p:txBody>
      </p:sp>
      <p:sp>
        <p:nvSpPr>
          <p:cNvPr id="236" name="Rectangle 235">
            <a:extLst>
              <a:ext uri="{FF2B5EF4-FFF2-40B4-BE49-F238E27FC236}">
                <a16:creationId xmlns:a16="http://schemas.microsoft.com/office/drawing/2014/main" id="{498C265E-2D9A-DCDA-83CF-49897E0D0582}"/>
              </a:ext>
            </a:extLst>
          </p:cNvPr>
          <p:cNvSpPr/>
          <p:nvPr/>
        </p:nvSpPr>
        <p:spPr>
          <a:xfrm>
            <a:off x="4974733" y="3946629"/>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37" name="Picture 236" descr="chart_1e5fa5.png">
            <a:extLst>
              <a:ext uri="{FF2B5EF4-FFF2-40B4-BE49-F238E27FC236}">
                <a16:creationId xmlns:a16="http://schemas.microsoft.com/office/drawing/2014/main" id="{E68AD43C-7DB3-81ED-42AD-DF7B1FCC6ADA}"/>
              </a:ext>
            </a:extLst>
          </p:cNvPr>
          <p:cNvPicPr>
            <a:picLocks noChangeAspect="1"/>
          </p:cNvPicPr>
          <p:nvPr/>
        </p:nvPicPr>
        <p:blipFill>
          <a:blip r:embed="rId28"/>
          <a:stretch>
            <a:fillRect/>
          </a:stretch>
        </p:blipFill>
        <p:spPr>
          <a:xfrm>
            <a:off x="5011309" y="4120365"/>
            <a:ext cx="118872" cy="118872"/>
          </a:xfrm>
          <a:prstGeom prst="rect">
            <a:avLst/>
          </a:prstGeom>
        </p:spPr>
      </p:pic>
      <p:sp>
        <p:nvSpPr>
          <p:cNvPr id="238" name="TextBox 237">
            <a:extLst>
              <a:ext uri="{FF2B5EF4-FFF2-40B4-BE49-F238E27FC236}">
                <a16:creationId xmlns:a16="http://schemas.microsoft.com/office/drawing/2014/main" id="{2A5E6007-9428-C188-31B0-F92C704A13E6}"/>
              </a:ext>
            </a:extLst>
          </p:cNvPr>
          <p:cNvSpPr txBox="1"/>
          <p:nvPr/>
        </p:nvSpPr>
        <p:spPr>
          <a:xfrm>
            <a:off x="5130181" y="3958271"/>
            <a:ext cx="566928" cy="11387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ea typeface="+mn-ea"/>
                <a:cs typeface="+mn-cs"/>
              </a:rPr>
              <a:t>Observability</a:t>
            </a:r>
          </a:p>
        </p:txBody>
      </p:sp>
      <p:sp>
        <p:nvSpPr>
          <p:cNvPr id="239" name="TextBox 238">
            <a:extLst>
              <a:ext uri="{FF2B5EF4-FFF2-40B4-BE49-F238E27FC236}">
                <a16:creationId xmlns:a16="http://schemas.microsoft.com/office/drawing/2014/main" id="{28657212-CF97-FB70-1DB9-1E06F8D7A7C1}"/>
              </a:ext>
            </a:extLst>
          </p:cNvPr>
          <p:cNvSpPr txBox="1"/>
          <p:nvPr/>
        </p:nvSpPr>
        <p:spPr>
          <a:xfrm>
            <a:off x="5002165" y="4192385"/>
            <a:ext cx="694944" cy="1485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ea typeface="+mn-ea"/>
                <a:cs typeface="+mn-cs"/>
              </a:rPr>
              <a:t>Metrics
logs traces</a:t>
            </a:r>
          </a:p>
        </p:txBody>
      </p:sp>
      <p:sp>
        <p:nvSpPr>
          <p:cNvPr id="240" name="Rectangle 239">
            <a:extLst>
              <a:ext uri="{FF2B5EF4-FFF2-40B4-BE49-F238E27FC236}">
                <a16:creationId xmlns:a16="http://schemas.microsoft.com/office/drawing/2014/main" id="{CF7FE3AF-FBC7-286F-20CB-A809F601B3C6}"/>
              </a:ext>
            </a:extLst>
          </p:cNvPr>
          <p:cNvSpPr/>
          <p:nvPr/>
        </p:nvSpPr>
        <p:spPr>
          <a:xfrm>
            <a:off x="5770261" y="3946629"/>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41" name="Picture 240" descr="lock_1e5fa5.png">
            <a:extLst>
              <a:ext uri="{FF2B5EF4-FFF2-40B4-BE49-F238E27FC236}">
                <a16:creationId xmlns:a16="http://schemas.microsoft.com/office/drawing/2014/main" id="{25081412-9363-5FB0-03C2-AA303492B222}"/>
              </a:ext>
            </a:extLst>
          </p:cNvPr>
          <p:cNvPicPr>
            <a:picLocks noChangeAspect="1"/>
          </p:cNvPicPr>
          <p:nvPr/>
        </p:nvPicPr>
        <p:blipFill>
          <a:blip r:embed="rId30"/>
          <a:stretch>
            <a:fillRect/>
          </a:stretch>
        </p:blipFill>
        <p:spPr>
          <a:xfrm>
            <a:off x="5806837" y="4120365"/>
            <a:ext cx="118872" cy="118872"/>
          </a:xfrm>
          <a:prstGeom prst="rect">
            <a:avLst/>
          </a:prstGeom>
        </p:spPr>
      </p:pic>
      <p:sp>
        <p:nvSpPr>
          <p:cNvPr id="242" name="TextBox 241">
            <a:extLst>
              <a:ext uri="{FF2B5EF4-FFF2-40B4-BE49-F238E27FC236}">
                <a16:creationId xmlns:a16="http://schemas.microsoft.com/office/drawing/2014/main" id="{77E6D023-E19B-DC97-C2D7-B719F774F60D}"/>
              </a:ext>
            </a:extLst>
          </p:cNvPr>
          <p:cNvSpPr txBox="1"/>
          <p:nvPr/>
        </p:nvSpPr>
        <p:spPr>
          <a:xfrm>
            <a:off x="5925709" y="3958271"/>
            <a:ext cx="566928" cy="11387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ea typeface="+mn-ea"/>
                <a:cs typeface="+mn-cs"/>
              </a:rPr>
              <a:t>Security</a:t>
            </a:r>
          </a:p>
        </p:txBody>
      </p:sp>
      <p:sp>
        <p:nvSpPr>
          <p:cNvPr id="243" name="TextBox 242">
            <a:extLst>
              <a:ext uri="{FF2B5EF4-FFF2-40B4-BE49-F238E27FC236}">
                <a16:creationId xmlns:a16="http://schemas.microsoft.com/office/drawing/2014/main" id="{95CF532F-DA9E-68E6-5D76-04D4349F3D2C}"/>
              </a:ext>
            </a:extLst>
          </p:cNvPr>
          <p:cNvSpPr txBox="1"/>
          <p:nvPr/>
        </p:nvSpPr>
        <p:spPr>
          <a:xfrm>
            <a:off x="5797693" y="4192385"/>
            <a:ext cx="694944" cy="1485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ea typeface="+mn-ea"/>
                <a:cs typeface="+mn-cs"/>
              </a:rPr>
              <a:t>KMS secrets
encryption</a:t>
            </a:r>
          </a:p>
        </p:txBody>
      </p:sp>
      <p:sp>
        <p:nvSpPr>
          <p:cNvPr id="244" name="Rectangle 243">
            <a:extLst>
              <a:ext uri="{FF2B5EF4-FFF2-40B4-BE49-F238E27FC236}">
                <a16:creationId xmlns:a16="http://schemas.microsoft.com/office/drawing/2014/main" id="{A818DC2B-9490-C1B1-794B-0146BFE7141E}"/>
              </a:ext>
            </a:extLst>
          </p:cNvPr>
          <p:cNvSpPr/>
          <p:nvPr/>
        </p:nvSpPr>
        <p:spPr>
          <a:xfrm>
            <a:off x="6565789" y="3946629"/>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45" name="Picture 244" descr="clipboard_1e5fa5.png">
            <a:extLst>
              <a:ext uri="{FF2B5EF4-FFF2-40B4-BE49-F238E27FC236}">
                <a16:creationId xmlns:a16="http://schemas.microsoft.com/office/drawing/2014/main" id="{7D568B7A-7B55-A424-5BF3-88269EF504DF}"/>
              </a:ext>
            </a:extLst>
          </p:cNvPr>
          <p:cNvPicPr>
            <a:picLocks noChangeAspect="1"/>
          </p:cNvPicPr>
          <p:nvPr/>
        </p:nvPicPr>
        <p:blipFill>
          <a:blip r:embed="rId31"/>
          <a:stretch>
            <a:fillRect/>
          </a:stretch>
        </p:blipFill>
        <p:spPr>
          <a:xfrm>
            <a:off x="6602365" y="4120365"/>
            <a:ext cx="118872" cy="118872"/>
          </a:xfrm>
          <a:prstGeom prst="rect">
            <a:avLst/>
          </a:prstGeom>
        </p:spPr>
      </p:pic>
      <p:sp>
        <p:nvSpPr>
          <p:cNvPr id="246" name="TextBox 245">
            <a:extLst>
              <a:ext uri="{FF2B5EF4-FFF2-40B4-BE49-F238E27FC236}">
                <a16:creationId xmlns:a16="http://schemas.microsoft.com/office/drawing/2014/main" id="{49476992-6DA5-D546-5402-1CDBD13BB4B3}"/>
              </a:ext>
            </a:extLst>
          </p:cNvPr>
          <p:cNvSpPr txBox="1"/>
          <p:nvPr/>
        </p:nvSpPr>
        <p:spPr>
          <a:xfrm>
            <a:off x="6721237" y="3958271"/>
            <a:ext cx="566928" cy="11387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ea typeface="+mn-ea"/>
                <a:cs typeface="+mn-cs"/>
              </a:rPr>
              <a:t>Compliance</a:t>
            </a:r>
          </a:p>
        </p:txBody>
      </p:sp>
      <p:sp>
        <p:nvSpPr>
          <p:cNvPr id="247" name="TextBox 246">
            <a:extLst>
              <a:ext uri="{FF2B5EF4-FFF2-40B4-BE49-F238E27FC236}">
                <a16:creationId xmlns:a16="http://schemas.microsoft.com/office/drawing/2014/main" id="{0F279FBA-387F-0FE0-6993-260DFE6FBEA5}"/>
              </a:ext>
            </a:extLst>
          </p:cNvPr>
          <p:cNvSpPr txBox="1"/>
          <p:nvPr/>
        </p:nvSpPr>
        <p:spPr>
          <a:xfrm>
            <a:off x="6593221" y="4192385"/>
            <a:ext cx="694944" cy="1485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ea typeface="+mn-ea"/>
                <a:cs typeface="+mn-cs"/>
              </a:rPr>
              <a:t>Policy + data
residency</a:t>
            </a:r>
          </a:p>
        </p:txBody>
      </p:sp>
      <p:sp>
        <p:nvSpPr>
          <p:cNvPr id="248" name="Rectangle 247">
            <a:extLst>
              <a:ext uri="{FF2B5EF4-FFF2-40B4-BE49-F238E27FC236}">
                <a16:creationId xmlns:a16="http://schemas.microsoft.com/office/drawing/2014/main" id="{28010272-014B-87C0-2D26-D9C3680D03C6}"/>
              </a:ext>
            </a:extLst>
          </p:cNvPr>
          <p:cNvSpPr/>
          <p:nvPr/>
        </p:nvSpPr>
        <p:spPr>
          <a:xfrm>
            <a:off x="7361317" y="3946629"/>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49" name="Picture 248" descr="refresh_1e5fa5.png">
            <a:extLst>
              <a:ext uri="{FF2B5EF4-FFF2-40B4-BE49-F238E27FC236}">
                <a16:creationId xmlns:a16="http://schemas.microsoft.com/office/drawing/2014/main" id="{EA50485F-4AA6-688C-A882-7304CD66DF7F}"/>
              </a:ext>
            </a:extLst>
          </p:cNvPr>
          <p:cNvPicPr>
            <a:picLocks noChangeAspect="1"/>
          </p:cNvPicPr>
          <p:nvPr/>
        </p:nvPicPr>
        <p:blipFill>
          <a:blip r:embed="rId32"/>
          <a:stretch>
            <a:fillRect/>
          </a:stretch>
        </p:blipFill>
        <p:spPr>
          <a:xfrm>
            <a:off x="7397893" y="4120365"/>
            <a:ext cx="118872" cy="118872"/>
          </a:xfrm>
          <a:prstGeom prst="rect">
            <a:avLst/>
          </a:prstGeom>
        </p:spPr>
      </p:pic>
      <p:sp>
        <p:nvSpPr>
          <p:cNvPr id="250" name="TextBox 249">
            <a:extLst>
              <a:ext uri="{FF2B5EF4-FFF2-40B4-BE49-F238E27FC236}">
                <a16:creationId xmlns:a16="http://schemas.microsoft.com/office/drawing/2014/main" id="{6966007F-6532-3C35-E5A9-42C1541DA500}"/>
              </a:ext>
            </a:extLst>
          </p:cNvPr>
          <p:cNvSpPr txBox="1"/>
          <p:nvPr/>
        </p:nvSpPr>
        <p:spPr>
          <a:xfrm>
            <a:off x="7516765" y="3958271"/>
            <a:ext cx="566928" cy="11387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ea typeface="+mn-ea"/>
                <a:cs typeface="+mn-cs"/>
              </a:rPr>
              <a:t>Backup &amp; DR</a:t>
            </a:r>
          </a:p>
        </p:txBody>
      </p:sp>
      <p:sp>
        <p:nvSpPr>
          <p:cNvPr id="251" name="TextBox 250">
            <a:extLst>
              <a:ext uri="{FF2B5EF4-FFF2-40B4-BE49-F238E27FC236}">
                <a16:creationId xmlns:a16="http://schemas.microsoft.com/office/drawing/2014/main" id="{BA950D4B-48DE-445A-64D5-6F6FF1BB0E9A}"/>
              </a:ext>
            </a:extLst>
          </p:cNvPr>
          <p:cNvSpPr txBox="1"/>
          <p:nvPr/>
        </p:nvSpPr>
        <p:spPr>
          <a:xfrm>
            <a:off x="7388749" y="4192385"/>
            <a:ext cx="694944" cy="1485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ea typeface="+mn-ea"/>
                <a:cs typeface="+mn-cs"/>
              </a:rPr>
              <a:t>PITR backups
RTO/RPO</a:t>
            </a:r>
          </a:p>
        </p:txBody>
      </p:sp>
      <p:sp>
        <p:nvSpPr>
          <p:cNvPr id="252" name="Rectangle 251">
            <a:extLst>
              <a:ext uri="{FF2B5EF4-FFF2-40B4-BE49-F238E27FC236}">
                <a16:creationId xmlns:a16="http://schemas.microsoft.com/office/drawing/2014/main" id="{B2DD42C1-8373-13A5-E640-8529B5FBE8E0}"/>
              </a:ext>
            </a:extLst>
          </p:cNvPr>
          <p:cNvSpPr/>
          <p:nvPr/>
        </p:nvSpPr>
        <p:spPr>
          <a:xfrm>
            <a:off x="2313829" y="4926231"/>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53" name="Picture 252" descr="app_form_777777.png">
            <a:extLst>
              <a:ext uri="{FF2B5EF4-FFF2-40B4-BE49-F238E27FC236}">
                <a16:creationId xmlns:a16="http://schemas.microsoft.com/office/drawing/2014/main" id="{9CA8FB59-7F06-601A-8A27-44B959D3C147}"/>
              </a:ext>
            </a:extLst>
          </p:cNvPr>
          <p:cNvPicPr>
            <a:picLocks noChangeAspect="1"/>
          </p:cNvPicPr>
          <p:nvPr/>
        </p:nvPicPr>
        <p:blipFill>
          <a:blip r:embed="rId33"/>
          <a:stretch>
            <a:fillRect/>
          </a:stretch>
        </p:blipFill>
        <p:spPr>
          <a:xfrm>
            <a:off x="2383006" y="5056631"/>
            <a:ext cx="164592" cy="164592"/>
          </a:xfrm>
          <a:prstGeom prst="rect">
            <a:avLst/>
          </a:prstGeom>
        </p:spPr>
      </p:pic>
      <p:sp>
        <p:nvSpPr>
          <p:cNvPr id="254" name="TextBox 253">
            <a:extLst>
              <a:ext uri="{FF2B5EF4-FFF2-40B4-BE49-F238E27FC236}">
                <a16:creationId xmlns:a16="http://schemas.microsoft.com/office/drawing/2014/main" id="{D1279774-CE45-25BC-C3DD-1625C71A0211}"/>
              </a:ext>
            </a:extLst>
          </p:cNvPr>
          <p:cNvSpPr txBox="1"/>
          <p:nvPr/>
        </p:nvSpPr>
        <p:spPr>
          <a:xfrm>
            <a:off x="2367102" y="5018465"/>
            <a:ext cx="1059909" cy="30970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ea typeface="+mn-ea"/>
                <a:cs typeface="+mn-cs"/>
              </a:rPr>
              <a:t>Loan
Application</a:t>
            </a:r>
            <a:r>
              <a:rPr kumimoji="0" lang="en-IN" sz="690" b="0" i="0" u="none" strike="noStrike" kern="1200" cap="none" spc="0" normalizeH="0" baseline="0" noProof="0">
                <a:ln>
                  <a:noFill/>
                </a:ln>
                <a:solidFill>
                  <a:srgbClr val="1F1F1F"/>
                </a:solidFill>
                <a:effectLst/>
                <a:uLnTx/>
                <a:uFillTx/>
                <a:ea typeface="+mn-ea"/>
                <a:cs typeface="+mn-cs"/>
              </a:rPr>
              <a:t>
</a:t>
            </a:r>
            <a:r>
              <a:rPr kumimoji="0" sz="690" b="0" i="0" u="none" strike="noStrike" kern="1200" cap="none" spc="0" normalizeH="0" baseline="0" noProof="0">
                <a:ln>
                  <a:noFill/>
                </a:ln>
                <a:solidFill>
                  <a:srgbClr val="1F1F1F"/>
                </a:solidFill>
                <a:effectLst/>
                <a:uLnTx/>
                <a:uFillTx/>
                <a:ea typeface="+mn-ea"/>
                <a:cs typeface="+mn-cs"/>
              </a:rPr>
              <a:t>Entry</a:t>
            </a:r>
          </a:p>
        </p:txBody>
      </p:sp>
      <p:sp>
        <p:nvSpPr>
          <p:cNvPr id="255" name="Rectangle 254">
            <a:extLst>
              <a:ext uri="{FF2B5EF4-FFF2-40B4-BE49-F238E27FC236}">
                <a16:creationId xmlns:a16="http://schemas.microsoft.com/office/drawing/2014/main" id="{F6586C0F-1474-707C-EA45-9FFF279EC676}"/>
              </a:ext>
            </a:extLst>
          </p:cNvPr>
          <p:cNvSpPr/>
          <p:nvPr/>
        </p:nvSpPr>
        <p:spPr>
          <a:xfrm>
            <a:off x="3487309" y="4926231"/>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56" name="Picture 255" descr="checklist_777777.png">
            <a:extLst>
              <a:ext uri="{FF2B5EF4-FFF2-40B4-BE49-F238E27FC236}">
                <a16:creationId xmlns:a16="http://schemas.microsoft.com/office/drawing/2014/main" id="{AA426360-2AD4-7531-B7E9-0E9F75FE3DF0}"/>
              </a:ext>
            </a:extLst>
          </p:cNvPr>
          <p:cNvPicPr>
            <a:picLocks noChangeAspect="1"/>
          </p:cNvPicPr>
          <p:nvPr/>
        </p:nvPicPr>
        <p:blipFill>
          <a:blip r:embed="rId34"/>
          <a:stretch>
            <a:fillRect/>
          </a:stretch>
        </p:blipFill>
        <p:spPr>
          <a:xfrm>
            <a:off x="3556486" y="5056631"/>
            <a:ext cx="164592" cy="164592"/>
          </a:xfrm>
          <a:prstGeom prst="rect">
            <a:avLst/>
          </a:prstGeom>
        </p:spPr>
      </p:pic>
      <p:sp>
        <p:nvSpPr>
          <p:cNvPr id="257" name="TextBox 256">
            <a:extLst>
              <a:ext uri="{FF2B5EF4-FFF2-40B4-BE49-F238E27FC236}">
                <a16:creationId xmlns:a16="http://schemas.microsoft.com/office/drawing/2014/main" id="{FED0D591-670B-D49B-AFC4-6D434796AE87}"/>
              </a:ext>
            </a:extLst>
          </p:cNvPr>
          <p:cNvSpPr txBox="1"/>
          <p:nvPr/>
        </p:nvSpPr>
        <p:spPr>
          <a:xfrm>
            <a:off x="3588290" y="5042061"/>
            <a:ext cx="880872" cy="214802"/>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ea typeface="+mn-ea"/>
                <a:cs typeface="+mn-cs"/>
              </a:rPr>
              <a:t>Document &amp;
Verification</a:t>
            </a:r>
          </a:p>
        </p:txBody>
      </p:sp>
      <p:sp>
        <p:nvSpPr>
          <p:cNvPr id="258" name="Rectangle 257">
            <a:extLst>
              <a:ext uri="{FF2B5EF4-FFF2-40B4-BE49-F238E27FC236}">
                <a16:creationId xmlns:a16="http://schemas.microsoft.com/office/drawing/2014/main" id="{22934ADE-E148-1FC7-27D1-23433DF0C325}"/>
              </a:ext>
            </a:extLst>
          </p:cNvPr>
          <p:cNvSpPr/>
          <p:nvPr/>
        </p:nvSpPr>
        <p:spPr>
          <a:xfrm>
            <a:off x="4660789" y="4926231"/>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59" name="Picture 258" descr="person_check_777777.png">
            <a:extLst>
              <a:ext uri="{FF2B5EF4-FFF2-40B4-BE49-F238E27FC236}">
                <a16:creationId xmlns:a16="http://schemas.microsoft.com/office/drawing/2014/main" id="{3B7E825F-C2C4-2133-190D-E4A0859C0CCF}"/>
              </a:ext>
            </a:extLst>
          </p:cNvPr>
          <p:cNvPicPr>
            <a:picLocks noChangeAspect="1"/>
          </p:cNvPicPr>
          <p:nvPr/>
        </p:nvPicPr>
        <p:blipFill>
          <a:blip r:embed="rId35"/>
          <a:stretch>
            <a:fillRect/>
          </a:stretch>
        </p:blipFill>
        <p:spPr>
          <a:xfrm>
            <a:off x="4729966" y="5056631"/>
            <a:ext cx="164592" cy="164592"/>
          </a:xfrm>
          <a:prstGeom prst="rect">
            <a:avLst/>
          </a:prstGeom>
        </p:spPr>
      </p:pic>
      <p:sp>
        <p:nvSpPr>
          <p:cNvPr id="260" name="TextBox 259">
            <a:extLst>
              <a:ext uri="{FF2B5EF4-FFF2-40B4-BE49-F238E27FC236}">
                <a16:creationId xmlns:a16="http://schemas.microsoft.com/office/drawing/2014/main" id="{0FBE9E2B-8612-FAF9-56BF-EA41AE958447}"/>
              </a:ext>
            </a:extLst>
          </p:cNvPr>
          <p:cNvSpPr txBox="1"/>
          <p:nvPr/>
        </p:nvSpPr>
        <p:spPr>
          <a:xfrm>
            <a:off x="4793576" y="5050012"/>
            <a:ext cx="880872" cy="214802"/>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ea typeface="+mn-ea"/>
                <a:cs typeface="+mn-cs"/>
              </a:rPr>
              <a:t>Onboarding &amp;
Eligibility</a:t>
            </a:r>
          </a:p>
        </p:txBody>
      </p:sp>
      <p:sp>
        <p:nvSpPr>
          <p:cNvPr id="261" name="Rectangle 260">
            <a:extLst>
              <a:ext uri="{FF2B5EF4-FFF2-40B4-BE49-F238E27FC236}">
                <a16:creationId xmlns:a16="http://schemas.microsoft.com/office/drawing/2014/main" id="{A83B7547-6D79-05DF-7DED-458CB0A6E134}"/>
              </a:ext>
            </a:extLst>
          </p:cNvPr>
          <p:cNvSpPr/>
          <p:nvPr/>
        </p:nvSpPr>
        <p:spPr>
          <a:xfrm>
            <a:off x="5834269" y="4926231"/>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62" name="Picture 261" descr="magnifier_777777.png">
            <a:extLst>
              <a:ext uri="{FF2B5EF4-FFF2-40B4-BE49-F238E27FC236}">
                <a16:creationId xmlns:a16="http://schemas.microsoft.com/office/drawing/2014/main" id="{B8406D1B-4920-9D03-6086-A49387C8FA49}"/>
              </a:ext>
            </a:extLst>
          </p:cNvPr>
          <p:cNvPicPr>
            <a:picLocks noChangeAspect="1"/>
          </p:cNvPicPr>
          <p:nvPr/>
        </p:nvPicPr>
        <p:blipFill>
          <a:blip r:embed="rId36"/>
          <a:stretch>
            <a:fillRect/>
          </a:stretch>
        </p:blipFill>
        <p:spPr>
          <a:xfrm>
            <a:off x="5903446" y="5056631"/>
            <a:ext cx="164592" cy="164592"/>
          </a:xfrm>
          <a:prstGeom prst="rect">
            <a:avLst/>
          </a:prstGeom>
        </p:spPr>
      </p:pic>
      <p:sp>
        <p:nvSpPr>
          <p:cNvPr id="263" name="TextBox 262">
            <a:extLst>
              <a:ext uri="{FF2B5EF4-FFF2-40B4-BE49-F238E27FC236}">
                <a16:creationId xmlns:a16="http://schemas.microsoft.com/office/drawing/2014/main" id="{8C119438-9E8F-F5A4-439B-8401CAC2CFE5}"/>
              </a:ext>
            </a:extLst>
          </p:cNvPr>
          <p:cNvSpPr txBox="1"/>
          <p:nvPr/>
        </p:nvSpPr>
        <p:spPr>
          <a:xfrm>
            <a:off x="5959105" y="5057963"/>
            <a:ext cx="880872" cy="214802"/>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ea typeface="+mn-ea"/>
                <a:cs typeface="+mn-cs"/>
              </a:rPr>
              <a:t>Credit
Underwriting</a:t>
            </a:r>
          </a:p>
        </p:txBody>
      </p:sp>
      <p:sp>
        <p:nvSpPr>
          <p:cNvPr id="264" name="Rectangle 263">
            <a:extLst>
              <a:ext uri="{FF2B5EF4-FFF2-40B4-BE49-F238E27FC236}">
                <a16:creationId xmlns:a16="http://schemas.microsoft.com/office/drawing/2014/main" id="{F59428F5-A72A-5751-FD66-EDF921E642F5}"/>
              </a:ext>
            </a:extLst>
          </p:cNvPr>
          <p:cNvSpPr/>
          <p:nvPr/>
        </p:nvSpPr>
        <p:spPr>
          <a:xfrm>
            <a:off x="7007749" y="4926231"/>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65" name="Picture 264" descr="scale_777777.png">
            <a:extLst>
              <a:ext uri="{FF2B5EF4-FFF2-40B4-BE49-F238E27FC236}">
                <a16:creationId xmlns:a16="http://schemas.microsoft.com/office/drawing/2014/main" id="{8F3B39C1-CA87-B2A6-895C-E71031175C4D}"/>
              </a:ext>
            </a:extLst>
          </p:cNvPr>
          <p:cNvPicPr>
            <a:picLocks noChangeAspect="1"/>
          </p:cNvPicPr>
          <p:nvPr/>
        </p:nvPicPr>
        <p:blipFill>
          <a:blip r:embed="rId37"/>
          <a:stretch>
            <a:fillRect/>
          </a:stretch>
        </p:blipFill>
        <p:spPr>
          <a:xfrm>
            <a:off x="7076926" y="5056631"/>
            <a:ext cx="164592" cy="164592"/>
          </a:xfrm>
          <a:prstGeom prst="rect">
            <a:avLst/>
          </a:prstGeom>
        </p:spPr>
      </p:pic>
      <p:sp>
        <p:nvSpPr>
          <p:cNvPr id="266" name="TextBox 265">
            <a:extLst>
              <a:ext uri="{FF2B5EF4-FFF2-40B4-BE49-F238E27FC236}">
                <a16:creationId xmlns:a16="http://schemas.microsoft.com/office/drawing/2014/main" id="{6853FAC4-43AA-9164-3469-ABD01ABA94D8}"/>
              </a:ext>
            </a:extLst>
          </p:cNvPr>
          <p:cNvSpPr txBox="1"/>
          <p:nvPr/>
        </p:nvSpPr>
        <p:spPr>
          <a:xfrm>
            <a:off x="7108731" y="5042060"/>
            <a:ext cx="880872" cy="214802"/>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ea typeface="+mn-ea"/>
                <a:cs typeface="+mn-cs"/>
              </a:rPr>
              <a:t>Credit
Decisioning</a:t>
            </a:r>
          </a:p>
        </p:txBody>
      </p:sp>
      <p:sp>
        <p:nvSpPr>
          <p:cNvPr id="267" name="Rectangle 266">
            <a:extLst>
              <a:ext uri="{FF2B5EF4-FFF2-40B4-BE49-F238E27FC236}">
                <a16:creationId xmlns:a16="http://schemas.microsoft.com/office/drawing/2014/main" id="{EFB81C33-589F-C992-5D4F-140447D202D7}"/>
              </a:ext>
            </a:extLst>
          </p:cNvPr>
          <p:cNvSpPr/>
          <p:nvPr/>
        </p:nvSpPr>
        <p:spPr>
          <a:xfrm>
            <a:off x="8181229" y="4926231"/>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68" name="Picture 267" descr="bank_777777.png">
            <a:extLst>
              <a:ext uri="{FF2B5EF4-FFF2-40B4-BE49-F238E27FC236}">
                <a16:creationId xmlns:a16="http://schemas.microsoft.com/office/drawing/2014/main" id="{30C431DA-4B82-C80C-2093-B97CE816FA93}"/>
              </a:ext>
            </a:extLst>
          </p:cNvPr>
          <p:cNvPicPr>
            <a:picLocks noChangeAspect="1"/>
          </p:cNvPicPr>
          <p:nvPr/>
        </p:nvPicPr>
        <p:blipFill>
          <a:blip r:embed="rId11"/>
          <a:stretch>
            <a:fillRect/>
          </a:stretch>
        </p:blipFill>
        <p:spPr>
          <a:xfrm>
            <a:off x="8250406" y="5056631"/>
            <a:ext cx="164592" cy="164592"/>
          </a:xfrm>
          <a:prstGeom prst="rect">
            <a:avLst/>
          </a:prstGeom>
        </p:spPr>
      </p:pic>
      <p:sp>
        <p:nvSpPr>
          <p:cNvPr id="269" name="TextBox 268">
            <a:extLst>
              <a:ext uri="{FF2B5EF4-FFF2-40B4-BE49-F238E27FC236}">
                <a16:creationId xmlns:a16="http://schemas.microsoft.com/office/drawing/2014/main" id="{CC7A4535-5700-4034-A1C4-02CDA8E654D9}"/>
              </a:ext>
            </a:extLst>
          </p:cNvPr>
          <p:cNvSpPr txBox="1"/>
          <p:nvPr/>
        </p:nvSpPr>
        <p:spPr>
          <a:xfrm>
            <a:off x="8266308" y="5063798"/>
            <a:ext cx="880872" cy="203133"/>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IN" sz="650" b="0" i="0" u="none" strike="noStrike" kern="1200" cap="none" spc="0" normalizeH="0" baseline="0" noProof="0">
                <a:ln>
                  <a:noFill/>
                </a:ln>
                <a:solidFill>
                  <a:srgbClr val="1F1F1F"/>
                </a:solidFill>
                <a:effectLst/>
                <a:uLnTx/>
                <a:uFillTx/>
                <a:ea typeface="+mn-ea"/>
                <a:cs typeface="+mn-cs"/>
              </a:rPr>
              <a:t>Post Sales / Servicing
/ Disbursement</a:t>
            </a:r>
          </a:p>
        </p:txBody>
      </p:sp>
      <p:sp>
        <p:nvSpPr>
          <p:cNvPr id="270" name="Rectangle 269">
            <a:extLst>
              <a:ext uri="{FF2B5EF4-FFF2-40B4-BE49-F238E27FC236}">
                <a16:creationId xmlns:a16="http://schemas.microsoft.com/office/drawing/2014/main" id="{FFED3970-6A8B-3F47-3153-D0E1FED1DEC4}"/>
              </a:ext>
            </a:extLst>
          </p:cNvPr>
          <p:cNvSpPr/>
          <p:nvPr/>
        </p:nvSpPr>
        <p:spPr>
          <a:xfrm>
            <a:off x="172940" y="5755153"/>
            <a:ext cx="11658600" cy="876234"/>
          </a:xfrm>
          <a:prstGeom prst="rect">
            <a:avLst/>
          </a:prstGeom>
          <a:solidFill>
            <a:srgbClr val="FFFFFF"/>
          </a:solidFill>
          <a:ln w="12700">
            <a:solidFill>
              <a:schemeClr val="tx2">
                <a:lumMod val="50000"/>
                <a:lumOff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271" name="Rectangle 270">
            <a:extLst>
              <a:ext uri="{FF2B5EF4-FFF2-40B4-BE49-F238E27FC236}">
                <a16:creationId xmlns:a16="http://schemas.microsoft.com/office/drawing/2014/main" id="{DECFBBF0-4C2C-521C-884A-0A528FB2DF6B}"/>
              </a:ext>
            </a:extLst>
          </p:cNvPr>
          <p:cNvSpPr/>
          <p:nvPr/>
        </p:nvSpPr>
        <p:spPr>
          <a:xfrm>
            <a:off x="172940" y="5755153"/>
            <a:ext cx="11658600" cy="200373"/>
          </a:xfrm>
          <a:prstGeom prst="rect">
            <a:avLst/>
          </a:prstGeom>
          <a:solidFill>
            <a:schemeClr val="tx2">
              <a:lumMod val="50000"/>
              <a:lumOff val="50000"/>
            </a:schemeClr>
          </a:solidFill>
          <a:ln w="10160">
            <a:solidFill>
              <a:schemeClr val="tx2">
                <a:lumMod val="50000"/>
                <a:lumOff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sp>
        <p:nvSpPr>
          <p:cNvPr id="272" name="TextBox 271">
            <a:extLst>
              <a:ext uri="{FF2B5EF4-FFF2-40B4-BE49-F238E27FC236}">
                <a16:creationId xmlns:a16="http://schemas.microsoft.com/office/drawing/2014/main" id="{CF9A14B0-E4AA-8D8B-367E-92C7E3992C7B}"/>
              </a:ext>
            </a:extLst>
          </p:cNvPr>
          <p:cNvSpPr txBox="1"/>
          <p:nvPr/>
        </p:nvSpPr>
        <p:spPr>
          <a:xfrm>
            <a:off x="172940" y="5782640"/>
            <a:ext cx="11658600" cy="14619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ea typeface="+mn-ea"/>
                <a:cs typeface="+mn-cs"/>
              </a:rPr>
              <a:t>AI Enablement Layer</a:t>
            </a:r>
          </a:p>
        </p:txBody>
      </p:sp>
      <p:cxnSp>
        <p:nvCxnSpPr>
          <p:cNvPr id="273" name="Connector 206">
            <a:extLst>
              <a:ext uri="{FF2B5EF4-FFF2-40B4-BE49-F238E27FC236}">
                <a16:creationId xmlns:a16="http://schemas.microsoft.com/office/drawing/2014/main" id="{AF8EAEBE-36F1-39DC-5B87-26961DDFF566}"/>
              </a:ext>
            </a:extLst>
          </p:cNvPr>
          <p:cNvCxnSpPr>
            <a:cxnSpLocks/>
          </p:cNvCxnSpPr>
          <p:nvPr/>
        </p:nvCxnSpPr>
        <p:spPr>
          <a:xfrm>
            <a:off x="3281900" y="5518205"/>
            <a:ext cx="0" cy="218660"/>
          </a:xfrm>
          <a:prstGeom prst="line">
            <a:avLst/>
          </a:prstGeom>
          <a:ln w="1397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74" name="TextBox 273">
            <a:extLst>
              <a:ext uri="{FF2B5EF4-FFF2-40B4-BE49-F238E27FC236}">
                <a16:creationId xmlns:a16="http://schemas.microsoft.com/office/drawing/2014/main" id="{92426E76-2E4C-7D2B-AB48-DFF7AC668333}"/>
              </a:ext>
            </a:extLst>
          </p:cNvPr>
          <p:cNvSpPr txBox="1"/>
          <p:nvPr/>
        </p:nvSpPr>
        <p:spPr>
          <a:xfrm>
            <a:off x="2433099" y="5567803"/>
            <a:ext cx="771277" cy="9541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20" b="1" i="0" u="none" strike="noStrike" kern="1200" cap="none" spc="0" normalizeH="0" baseline="0" noProof="0">
                <a:ln>
                  <a:noFill/>
                </a:ln>
                <a:solidFill>
                  <a:srgbClr val="00A3E0"/>
                </a:solidFill>
                <a:effectLst/>
                <a:uLnTx/>
                <a:uFillTx/>
                <a:ea typeface="+mn-ea"/>
                <a:cs typeface="+mn-cs"/>
              </a:rPr>
              <a:t>assistant interaction</a:t>
            </a:r>
          </a:p>
        </p:txBody>
      </p:sp>
      <p:sp>
        <p:nvSpPr>
          <p:cNvPr id="275" name="TextBox 274">
            <a:extLst>
              <a:ext uri="{FF2B5EF4-FFF2-40B4-BE49-F238E27FC236}">
                <a16:creationId xmlns:a16="http://schemas.microsoft.com/office/drawing/2014/main" id="{407CF4CE-09F5-F06C-FE00-48FC0B6D910F}"/>
              </a:ext>
            </a:extLst>
          </p:cNvPr>
          <p:cNvSpPr txBox="1"/>
          <p:nvPr/>
        </p:nvSpPr>
        <p:spPr>
          <a:xfrm>
            <a:off x="3208748" y="5647967"/>
            <a:ext cx="146304" cy="1046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1E5FA5"/>
                </a:solidFill>
                <a:effectLst/>
                <a:uLnTx/>
                <a:uFillTx/>
                <a:ea typeface="+mn-ea"/>
                <a:cs typeface="+mn-cs"/>
              </a:rPr>
              <a:t>▼</a:t>
            </a:r>
          </a:p>
        </p:txBody>
      </p:sp>
      <p:cxnSp>
        <p:nvCxnSpPr>
          <p:cNvPr id="276" name="Connector 209">
            <a:extLst>
              <a:ext uri="{FF2B5EF4-FFF2-40B4-BE49-F238E27FC236}">
                <a16:creationId xmlns:a16="http://schemas.microsoft.com/office/drawing/2014/main" id="{8126EF2E-3F86-C9A1-2C52-A3470739E379}"/>
              </a:ext>
            </a:extLst>
          </p:cNvPr>
          <p:cNvCxnSpPr>
            <a:cxnSpLocks/>
          </p:cNvCxnSpPr>
          <p:nvPr/>
        </p:nvCxnSpPr>
        <p:spPr>
          <a:xfrm>
            <a:off x="5430740" y="5510253"/>
            <a:ext cx="0" cy="226612"/>
          </a:xfrm>
          <a:prstGeom prst="line">
            <a:avLst/>
          </a:prstGeom>
          <a:ln w="1397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77" name="TextBox 276">
            <a:extLst>
              <a:ext uri="{FF2B5EF4-FFF2-40B4-BE49-F238E27FC236}">
                <a16:creationId xmlns:a16="http://schemas.microsoft.com/office/drawing/2014/main" id="{A388028D-50DF-2863-B617-0365480F78EA}"/>
              </a:ext>
            </a:extLst>
          </p:cNvPr>
          <p:cNvSpPr txBox="1"/>
          <p:nvPr/>
        </p:nvSpPr>
        <p:spPr>
          <a:xfrm>
            <a:off x="4566036" y="5553786"/>
            <a:ext cx="822960" cy="9541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20" b="1" i="0" u="none" strike="noStrike" kern="1200" cap="none" spc="0" normalizeH="0" baseline="0" noProof="0">
                <a:ln>
                  <a:noFill/>
                </a:ln>
                <a:solidFill>
                  <a:srgbClr val="00A3E0"/>
                </a:solidFill>
                <a:effectLst/>
                <a:uLnTx/>
                <a:uFillTx/>
                <a:ea typeface="+mn-ea"/>
                <a:cs typeface="+mn-cs"/>
              </a:rPr>
              <a:t>approved actions</a:t>
            </a:r>
          </a:p>
        </p:txBody>
      </p:sp>
      <p:sp>
        <p:nvSpPr>
          <p:cNvPr id="278" name="TextBox 277">
            <a:extLst>
              <a:ext uri="{FF2B5EF4-FFF2-40B4-BE49-F238E27FC236}">
                <a16:creationId xmlns:a16="http://schemas.microsoft.com/office/drawing/2014/main" id="{086270CF-7279-E9FE-C4BC-167D157AAB32}"/>
              </a:ext>
            </a:extLst>
          </p:cNvPr>
          <p:cNvSpPr txBox="1"/>
          <p:nvPr/>
        </p:nvSpPr>
        <p:spPr>
          <a:xfrm>
            <a:off x="5357588" y="5647967"/>
            <a:ext cx="146304" cy="1046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1E5FA5"/>
                </a:solidFill>
                <a:effectLst/>
                <a:uLnTx/>
                <a:uFillTx/>
                <a:ea typeface="+mn-ea"/>
                <a:cs typeface="+mn-cs"/>
              </a:rPr>
              <a:t>▼</a:t>
            </a:r>
          </a:p>
        </p:txBody>
      </p:sp>
      <p:cxnSp>
        <p:nvCxnSpPr>
          <p:cNvPr id="279" name="Connector 212">
            <a:extLst>
              <a:ext uri="{FF2B5EF4-FFF2-40B4-BE49-F238E27FC236}">
                <a16:creationId xmlns:a16="http://schemas.microsoft.com/office/drawing/2014/main" id="{9D9CE149-5D14-AA5F-9541-871EC929D4CC}"/>
              </a:ext>
            </a:extLst>
          </p:cNvPr>
          <p:cNvCxnSpPr>
            <a:cxnSpLocks/>
          </p:cNvCxnSpPr>
          <p:nvPr/>
        </p:nvCxnSpPr>
        <p:spPr>
          <a:xfrm>
            <a:off x="7762460" y="5526156"/>
            <a:ext cx="0" cy="210709"/>
          </a:xfrm>
          <a:prstGeom prst="line">
            <a:avLst/>
          </a:prstGeom>
          <a:ln w="1397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80" name="TextBox 279">
            <a:extLst>
              <a:ext uri="{FF2B5EF4-FFF2-40B4-BE49-F238E27FC236}">
                <a16:creationId xmlns:a16="http://schemas.microsoft.com/office/drawing/2014/main" id="{1BC232D8-05F8-873D-D3AF-AE4B73C15453}"/>
              </a:ext>
            </a:extLst>
          </p:cNvPr>
          <p:cNvSpPr txBox="1"/>
          <p:nvPr/>
        </p:nvSpPr>
        <p:spPr>
          <a:xfrm>
            <a:off x="6850048" y="5569688"/>
            <a:ext cx="822960" cy="95411"/>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20" b="1" i="0" u="none" strike="noStrike" kern="1200" cap="none" spc="0" normalizeH="0" baseline="0" noProof="0">
                <a:ln>
                  <a:noFill/>
                </a:ln>
                <a:solidFill>
                  <a:srgbClr val="00A3E0"/>
                </a:solidFill>
                <a:effectLst/>
                <a:uLnTx/>
                <a:uFillTx/>
                <a:ea typeface="+mn-ea"/>
                <a:cs typeface="+mn-cs"/>
              </a:rPr>
              <a:t>retrieval / context</a:t>
            </a:r>
          </a:p>
        </p:txBody>
      </p:sp>
      <p:sp>
        <p:nvSpPr>
          <p:cNvPr id="281" name="TextBox 280">
            <a:extLst>
              <a:ext uri="{FF2B5EF4-FFF2-40B4-BE49-F238E27FC236}">
                <a16:creationId xmlns:a16="http://schemas.microsoft.com/office/drawing/2014/main" id="{4AE13297-1079-71C8-0282-5458F2D926B6}"/>
              </a:ext>
            </a:extLst>
          </p:cNvPr>
          <p:cNvSpPr txBox="1"/>
          <p:nvPr/>
        </p:nvSpPr>
        <p:spPr>
          <a:xfrm>
            <a:off x="7689308" y="5647967"/>
            <a:ext cx="146304" cy="1046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1E5FA5"/>
                </a:solidFill>
                <a:effectLst/>
                <a:uLnTx/>
                <a:uFillTx/>
                <a:ea typeface="+mn-ea"/>
                <a:cs typeface="+mn-cs"/>
              </a:rPr>
              <a:t>▼</a:t>
            </a:r>
          </a:p>
        </p:txBody>
      </p:sp>
      <p:sp>
        <p:nvSpPr>
          <p:cNvPr id="282" name="Rectangle 281">
            <a:extLst>
              <a:ext uri="{FF2B5EF4-FFF2-40B4-BE49-F238E27FC236}">
                <a16:creationId xmlns:a16="http://schemas.microsoft.com/office/drawing/2014/main" id="{D24DDA06-B2E8-BEB5-2403-79B0989817C6}"/>
              </a:ext>
            </a:extLst>
          </p:cNvPr>
          <p:cNvSpPr/>
          <p:nvPr/>
        </p:nvSpPr>
        <p:spPr>
          <a:xfrm>
            <a:off x="362976" y="6018341"/>
            <a:ext cx="205740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83" name="Picture 282" descr="brain_1e5fa5.png">
            <a:extLst>
              <a:ext uri="{FF2B5EF4-FFF2-40B4-BE49-F238E27FC236}">
                <a16:creationId xmlns:a16="http://schemas.microsoft.com/office/drawing/2014/main" id="{1E0BD095-CC22-96E9-C7F3-F0E234A8A601}"/>
              </a:ext>
            </a:extLst>
          </p:cNvPr>
          <p:cNvPicPr>
            <a:picLocks noChangeAspect="1"/>
          </p:cNvPicPr>
          <p:nvPr/>
        </p:nvPicPr>
        <p:blipFill>
          <a:blip r:embed="rId38"/>
          <a:stretch>
            <a:fillRect/>
          </a:stretch>
        </p:blipFill>
        <p:spPr>
          <a:xfrm>
            <a:off x="408696" y="6182933"/>
            <a:ext cx="146304" cy="146304"/>
          </a:xfrm>
          <a:prstGeom prst="rect">
            <a:avLst/>
          </a:prstGeom>
        </p:spPr>
      </p:pic>
      <p:sp>
        <p:nvSpPr>
          <p:cNvPr id="284" name="TextBox 283">
            <a:extLst>
              <a:ext uri="{FF2B5EF4-FFF2-40B4-BE49-F238E27FC236}">
                <a16:creationId xmlns:a16="http://schemas.microsoft.com/office/drawing/2014/main" id="{2212AD60-E9A3-0F36-4969-867C365AC2F5}"/>
              </a:ext>
            </a:extLst>
          </p:cNvPr>
          <p:cNvSpPr txBox="1"/>
          <p:nvPr/>
        </p:nvSpPr>
        <p:spPr>
          <a:xfrm>
            <a:off x="582432" y="6031432"/>
            <a:ext cx="1801368"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ea typeface="+mn-ea"/>
                <a:cs typeface="+mn-cs"/>
              </a:rPr>
              <a:t>Amazon Bedrock Agent</a:t>
            </a:r>
          </a:p>
        </p:txBody>
      </p:sp>
      <p:sp>
        <p:nvSpPr>
          <p:cNvPr id="285" name="TextBox 284">
            <a:extLst>
              <a:ext uri="{FF2B5EF4-FFF2-40B4-BE49-F238E27FC236}">
                <a16:creationId xmlns:a16="http://schemas.microsoft.com/office/drawing/2014/main" id="{C331FAF9-C435-BD86-785D-46B3F8353618}"/>
              </a:ext>
            </a:extLst>
          </p:cNvPr>
          <p:cNvSpPr txBox="1"/>
          <p:nvPr/>
        </p:nvSpPr>
        <p:spPr>
          <a:xfrm>
            <a:off x="417840" y="6263174"/>
            <a:ext cx="1965960" cy="168701"/>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80" b="0" i="0" u="none" strike="noStrike" kern="1200" cap="none" spc="0" normalizeH="0" baseline="0" noProof="0">
                <a:ln>
                  <a:noFill/>
                </a:ln>
                <a:solidFill>
                  <a:srgbClr val="1F1F1F"/>
                </a:solidFill>
                <a:effectLst/>
                <a:uLnTx/>
                <a:uFillTx/>
                <a:ea typeface="+mn-ea"/>
                <a:cs typeface="+mn-cs"/>
              </a:rPr>
              <a:t>Orchestrates assistant requests
and invokes approved actions</a:t>
            </a:r>
          </a:p>
        </p:txBody>
      </p:sp>
      <p:sp>
        <p:nvSpPr>
          <p:cNvPr id="286" name="Rectangle 285">
            <a:extLst>
              <a:ext uri="{FF2B5EF4-FFF2-40B4-BE49-F238E27FC236}">
                <a16:creationId xmlns:a16="http://schemas.microsoft.com/office/drawing/2014/main" id="{E59F5490-5756-70D0-0642-BEF261BCF009}"/>
              </a:ext>
            </a:extLst>
          </p:cNvPr>
          <p:cNvSpPr/>
          <p:nvPr/>
        </p:nvSpPr>
        <p:spPr>
          <a:xfrm>
            <a:off x="2470668" y="6018341"/>
            <a:ext cx="109728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87" name="Picture 286" descr="code_1e5fa5.png">
            <a:extLst>
              <a:ext uri="{FF2B5EF4-FFF2-40B4-BE49-F238E27FC236}">
                <a16:creationId xmlns:a16="http://schemas.microsoft.com/office/drawing/2014/main" id="{642328BD-A14D-1E52-61EB-572C3EC2AF2F}"/>
              </a:ext>
            </a:extLst>
          </p:cNvPr>
          <p:cNvPicPr>
            <a:picLocks noChangeAspect="1"/>
          </p:cNvPicPr>
          <p:nvPr/>
        </p:nvPicPr>
        <p:blipFill>
          <a:blip r:embed="rId39"/>
          <a:stretch>
            <a:fillRect/>
          </a:stretch>
        </p:blipFill>
        <p:spPr>
          <a:xfrm>
            <a:off x="2516388" y="6182933"/>
            <a:ext cx="146304" cy="146304"/>
          </a:xfrm>
          <a:prstGeom prst="rect">
            <a:avLst/>
          </a:prstGeom>
        </p:spPr>
      </p:pic>
      <p:sp>
        <p:nvSpPr>
          <p:cNvPr id="288" name="TextBox 287">
            <a:extLst>
              <a:ext uri="{FF2B5EF4-FFF2-40B4-BE49-F238E27FC236}">
                <a16:creationId xmlns:a16="http://schemas.microsoft.com/office/drawing/2014/main" id="{28327F9B-B16F-AF25-479B-DF57E891B147}"/>
              </a:ext>
            </a:extLst>
          </p:cNvPr>
          <p:cNvSpPr txBox="1"/>
          <p:nvPr/>
        </p:nvSpPr>
        <p:spPr>
          <a:xfrm>
            <a:off x="2690124" y="6031432"/>
            <a:ext cx="841248"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ea typeface="+mn-ea"/>
                <a:cs typeface="+mn-cs"/>
              </a:rPr>
              <a:t>Action Groups</a:t>
            </a:r>
          </a:p>
        </p:txBody>
      </p:sp>
      <p:sp>
        <p:nvSpPr>
          <p:cNvPr id="289" name="TextBox 288">
            <a:extLst>
              <a:ext uri="{FF2B5EF4-FFF2-40B4-BE49-F238E27FC236}">
                <a16:creationId xmlns:a16="http://schemas.microsoft.com/office/drawing/2014/main" id="{A2C980E7-04E0-44F7-4493-DBAA2554D3D0}"/>
              </a:ext>
            </a:extLst>
          </p:cNvPr>
          <p:cNvSpPr txBox="1"/>
          <p:nvPr/>
        </p:nvSpPr>
        <p:spPr>
          <a:xfrm>
            <a:off x="2525532" y="6265707"/>
            <a:ext cx="1005840" cy="163635"/>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60" b="0" i="0" u="none" strike="noStrike" kern="1200" cap="none" spc="0" normalizeH="0" baseline="0" noProof="0">
                <a:ln>
                  <a:noFill/>
                </a:ln>
                <a:solidFill>
                  <a:srgbClr val="1F1F1F"/>
                </a:solidFill>
                <a:effectLst/>
                <a:uLnTx/>
                <a:uFillTx/>
                <a:ea typeface="+mn-ea"/>
                <a:cs typeface="+mn-cs"/>
              </a:rPr>
              <a:t>OpenAPI schema
Lambda-backed actions</a:t>
            </a:r>
          </a:p>
        </p:txBody>
      </p:sp>
      <p:sp>
        <p:nvSpPr>
          <p:cNvPr id="290" name="Rectangle 289">
            <a:extLst>
              <a:ext uri="{FF2B5EF4-FFF2-40B4-BE49-F238E27FC236}">
                <a16:creationId xmlns:a16="http://schemas.microsoft.com/office/drawing/2014/main" id="{083F1CAF-2276-2732-42BE-6BA10AC5A5A1}"/>
              </a:ext>
            </a:extLst>
          </p:cNvPr>
          <p:cNvSpPr/>
          <p:nvPr/>
        </p:nvSpPr>
        <p:spPr>
          <a:xfrm>
            <a:off x="3618240" y="6018341"/>
            <a:ext cx="1078992"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91" name="Picture 290" descr="shield_1e5fa5.png">
            <a:extLst>
              <a:ext uri="{FF2B5EF4-FFF2-40B4-BE49-F238E27FC236}">
                <a16:creationId xmlns:a16="http://schemas.microsoft.com/office/drawing/2014/main" id="{F97E47CE-3DB7-2CFA-7F3B-D3C9E08C1CA2}"/>
              </a:ext>
            </a:extLst>
          </p:cNvPr>
          <p:cNvPicPr>
            <a:picLocks noChangeAspect="1"/>
          </p:cNvPicPr>
          <p:nvPr/>
        </p:nvPicPr>
        <p:blipFill>
          <a:blip r:embed="rId21"/>
          <a:stretch>
            <a:fillRect/>
          </a:stretch>
        </p:blipFill>
        <p:spPr>
          <a:xfrm>
            <a:off x="3663960" y="6182933"/>
            <a:ext cx="146304" cy="146304"/>
          </a:xfrm>
          <a:prstGeom prst="rect">
            <a:avLst/>
          </a:prstGeom>
        </p:spPr>
      </p:pic>
      <p:sp>
        <p:nvSpPr>
          <p:cNvPr id="292" name="TextBox 291">
            <a:extLst>
              <a:ext uri="{FF2B5EF4-FFF2-40B4-BE49-F238E27FC236}">
                <a16:creationId xmlns:a16="http://schemas.microsoft.com/office/drawing/2014/main" id="{F3FE1C91-1F32-DD39-3A01-7552D6C689FC}"/>
              </a:ext>
            </a:extLst>
          </p:cNvPr>
          <p:cNvSpPr txBox="1"/>
          <p:nvPr/>
        </p:nvSpPr>
        <p:spPr>
          <a:xfrm>
            <a:off x="3837696" y="6031432"/>
            <a:ext cx="822960"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ea typeface="+mn-ea"/>
                <a:cs typeface="+mn-cs"/>
              </a:rPr>
              <a:t>Guardrails</a:t>
            </a:r>
          </a:p>
        </p:txBody>
      </p:sp>
      <p:sp>
        <p:nvSpPr>
          <p:cNvPr id="293" name="TextBox 292">
            <a:extLst>
              <a:ext uri="{FF2B5EF4-FFF2-40B4-BE49-F238E27FC236}">
                <a16:creationId xmlns:a16="http://schemas.microsoft.com/office/drawing/2014/main" id="{1915EBDC-0BBE-793F-13A6-E9B24FA31D23}"/>
              </a:ext>
            </a:extLst>
          </p:cNvPr>
          <p:cNvSpPr txBox="1"/>
          <p:nvPr/>
        </p:nvSpPr>
        <p:spPr>
          <a:xfrm>
            <a:off x="3673104" y="6265707"/>
            <a:ext cx="987552" cy="163635"/>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60" b="0" i="0" u="none" strike="noStrike" kern="1200" cap="none" spc="0" normalizeH="0" baseline="0" noProof="0">
                <a:ln>
                  <a:noFill/>
                </a:ln>
                <a:solidFill>
                  <a:srgbClr val="1F1F1F"/>
                </a:solidFill>
                <a:effectLst/>
                <a:uLnTx/>
                <a:uFillTx/>
                <a:ea typeface="+mn-ea"/>
                <a:cs typeface="+mn-cs"/>
              </a:rPr>
              <a:t>Safety / policy
controls</a:t>
            </a:r>
          </a:p>
        </p:txBody>
      </p:sp>
      <p:sp>
        <p:nvSpPr>
          <p:cNvPr id="294" name="Rectangle 293">
            <a:extLst>
              <a:ext uri="{FF2B5EF4-FFF2-40B4-BE49-F238E27FC236}">
                <a16:creationId xmlns:a16="http://schemas.microsoft.com/office/drawing/2014/main" id="{ECE1F401-78D9-529A-8E55-A97BE2121F7C}"/>
              </a:ext>
            </a:extLst>
          </p:cNvPr>
          <p:cNvSpPr/>
          <p:nvPr/>
        </p:nvSpPr>
        <p:spPr>
          <a:xfrm>
            <a:off x="4747524" y="6018341"/>
            <a:ext cx="178308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95" name="Picture 294" descr="book_1e5fa5.png">
            <a:extLst>
              <a:ext uri="{FF2B5EF4-FFF2-40B4-BE49-F238E27FC236}">
                <a16:creationId xmlns:a16="http://schemas.microsoft.com/office/drawing/2014/main" id="{B8504A3A-3A3A-AFBC-D39B-9B07AC261289}"/>
              </a:ext>
            </a:extLst>
          </p:cNvPr>
          <p:cNvPicPr>
            <a:picLocks noChangeAspect="1"/>
          </p:cNvPicPr>
          <p:nvPr/>
        </p:nvPicPr>
        <p:blipFill>
          <a:blip r:embed="rId40"/>
          <a:stretch>
            <a:fillRect/>
          </a:stretch>
        </p:blipFill>
        <p:spPr>
          <a:xfrm>
            <a:off x="4793244" y="6182933"/>
            <a:ext cx="146304" cy="146304"/>
          </a:xfrm>
          <a:prstGeom prst="rect">
            <a:avLst/>
          </a:prstGeom>
        </p:spPr>
      </p:pic>
      <p:sp>
        <p:nvSpPr>
          <p:cNvPr id="296" name="TextBox 295">
            <a:extLst>
              <a:ext uri="{FF2B5EF4-FFF2-40B4-BE49-F238E27FC236}">
                <a16:creationId xmlns:a16="http://schemas.microsoft.com/office/drawing/2014/main" id="{6C01C1B9-0FBD-A35E-679D-C18BEEE55DAE}"/>
              </a:ext>
            </a:extLst>
          </p:cNvPr>
          <p:cNvSpPr txBox="1"/>
          <p:nvPr/>
        </p:nvSpPr>
        <p:spPr>
          <a:xfrm>
            <a:off x="4966980" y="6031432"/>
            <a:ext cx="1527048"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ea typeface="+mn-ea"/>
                <a:cs typeface="+mn-cs"/>
              </a:rPr>
              <a:t>Bedrock Knowledge Bases</a:t>
            </a:r>
          </a:p>
        </p:txBody>
      </p:sp>
      <p:sp>
        <p:nvSpPr>
          <p:cNvPr id="297" name="TextBox 296">
            <a:extLst>
              <a:ext uri="{FF2B5EF4-FFF2-40B4-BE49-F238E27FC236}">
                <a16:creationId xmlns:a16="http://schemas.microsoft.com/office/drawing/2014/main" id="{CE42825E-B326-F73B-2B2D-709036E4EAD5}"/>
              </a:ext>
            </a:extLst>
          </p:cNvPr>
          <p:cNvSpPr txBox="1"/>
          <p:nvPr/>
        </p:nvSpPr>
        <p:spPr>
          <a:xfrm>
            <a:off x="4802388" y="6265707"/>
            <a:ext cx="1691640" cy="163635"/>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60" b="0" i="0" u="none" strike="noStrike" kern="1200" cap="none" spc="0" normalizeH="0" baseline="0" noProof="0">
                <a:ln>
                  <a:noFill/>
                </a:ln>
                <a:solidFill>
                  <a:srgbClr val="1F1F1F"/>
                </a:solidFill>
                <a:effectLst/>
                <a:uLnTx/>
                <a:uFillTx/>
                <a:ea typeface="+mn-ea"/>
                <a:cs typeface="+mn-cs"/>
              </a:rPr>
              <a:t>Retrieval over policies, SOPs,
product rules and FAQs</a:t>
            </a:r>
          </a:p>
        </p:txBody>
      </p:sp>
      <p:sp>
        <p:nvSpPr>
          <p:cNvPr id="298" name="Rectangle 297">
            <a:extLst>
              <a:ext uri="{FF2B5EF4-FFF2-40B4-BE49-F238E27FC236}">
                <a16:creationId xmlns:a16="http://schemas.microsoft.com/office/drawing/2014/main" id="{45B2EEA1-33E6-128D-66C0-3D7F0D50B966}"/>
              </a:ext>
            </a:extLst>
          </p:cNvPr>
          <p:cNvSpPr/>
          <p:nvPr/>
        </p:nvSpPr>
        <p:spPr>
          <a:xfrm>
            <a:off x="6580896" y="6018341"/>
            <a:ext cx="1874519"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299" name="Picture 298" descr="database_1e5fa5.png">
            <a:extLst>
              <a:ext uri="{FF2B5EF4-FFF2-40B4-BE49-F238E27FC236}">
                <a16:creationId xmlns:a16="http://schemas.microsoft.com/office/drawing/2014/main" id="{DC397DBC-0B53-55EB-4510-F2C0793F196D}"/>
              </a:ext>
            </a:extLst>
          </p:cNvPr>
          <p:cNvPicPr>
            <a:picLocks noChangeAspect="1"/>
          </p:cNvPicPr>
          <p:nvPr/>
        </p:nvPicPr>
        <p:blipFill>
          <a:blip r:embed="rId25"/>
          <a:stretch>
            <a:fillRect/>
          </a:stretch>
        </p:blipFill>
        <p:spPr>
          <a:xfrm>
            <a:off x="6626616" y="6182933"/>
            <a:ext cx="146304" cy="146304"/>
          </a:xfrm>
          <a:prstGeom prst="rect">
            <a:avLst/>
          </a:prstGeom>
        </p:spPr>
      </p:pic>
      <p:sp>
        <p:nvSpPr>
          <p:cNvPr id="300" name="TextBox 299">
            <a:extLst>
              <a:ext uri="{FF2B5EF4-FFF2-40B4-BE49-F238E27FC236}">
                <a16:creationId xmlns:a16="http://schemas.microsoft.com/office/drawing/2014/main" id="{6EAEA988-A4A2-574A-5E78-48762992F779}"/>
              </a:ext>
            </a:extLst>
          </p:cNvPr>
          <p:cNvSpPr txBox="1"/>
          <p:nvPr/>
        </p:nvSpPr>
        <p:spPr>
          <a:xfrm>
            <a:off x="6800352" y="6031432"/>
            <a:ext cx="1618487"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ea typeface="+mn-ea"/>
                <a:cs typeface="+mn-cs"/>
              </a:rPr>
              <a:t>Vector / Search Store</a:t>
            </a:r>
          </a:p>
        </p:txBody>
      </p:sp>
      <p:sp>
        <p:nvSpPr>
          <p:cNvPr id="301" name="TextBox 300">
            <a:extLst>
              <a:ext uri="{FF2B5EF4-FFF2-40B4-BE49-F238E27FC236}">
                <a16:creationId xmlns:a16="http://schemas.microsoft.com/office/drawing/2014/main" id="{57E8D3C6-BBFC-60A2-9A58-475306F8AC41}"/>
              </a:ext>
            </a:extLst>
          </p:cNvPr>
          <p:cNvSpPr txBox="1"/>
          <p:nvPr/>
        </p:nvSpPr>
        <p:spPr>
          <a:xfrm>
            <a:off x="6635760" y="6263174"/>
            <a:ext cx="1783079" cy="168701"/>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80" b="0" i="0" u="none" strike="noStrike" kern="1200" cap="none" spc="0" normalizeH="0" baseline="0" noProof="0">
                <a:ln>
                  <a:noFill/>
                </a:ln>
                <a:solidFill>
                  <a:srgbClr val="1F1F1F"/>
                </a:solidFill>
                <a:effectLst/>
                <a:uLnTx/>
                <a:uFillTx/>
                <a:ea typeface="+mn-ea"/>
                <a:cs typeface="+mn-cs"/>
              </a:rPr>
              <a:t>Aurora pgvector  |  OpenSearch Serverless
vector / search options</a:t>
            </a:r>
          </a:p>
        </p:txBody>
      </p:sp>
      <p:sp>
        <p:nvSpPr>
          <p:cNvPr id="302" name="Rectangle 301">
            <a:extLst>
              <a:ext uri="{FF2B5EF4-FFF2-40B4-BE49-F238E27FC236}">
                <a16:creationId xmlns:a16="http://schemas.microsoft.com/office/drawing/2014/main" id="{F18347CE-2E04-2EBC-D925-C772A9BA147E}"/>
              </a:ext>
            </a:extLst>
          </p:cNvPr>
          <p:cNvSpPr/>
          <p:nvPr/>
        </p:nvSpPr>
        <p:spPr>
          <a:xfrm>
            <a:off x="8505707" y="6018341"/>
            <a:ext cx="278892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ea typeface="+mn-ea"/>
              <a:cs typeface="+mn-cs"/>
            </a:endParaRPr>
          </a:p>
        </p:txBody>
      </p:sp>
      <p:pic>
        <p:nvPicPr>
          <p:cNvPr id="303" name="Picture 302" descr="chart_1e5fa5.png">
            <a:extLst>
              <a:ext uri="{FF2B5EF4-FFF2-40B4-BE49-F238E27FC236}">
                <a16:creationId xmlns:a16="http://schemas.microsoft.com/office/drawing/2014/main" id="{22781DEC-6A70-3FDA-BDDB-378E3312D30D}"/>
              </a:ext>
            </a:extLst>
          </p:cNvPr>
          <p:cNvPicPr>
            <a:picLocks noChangeAspect="1"/>
          </p:cNvPicPr>
          <p:nvPr/>
        </p:nvPicPr>
        <p:blipFill>
          <a:blip r:embed="rId28"/>
          <a:stretch>
            <a:fillRect/>
          </a:stretch>
        </p:blipFill>
        <p:spPr>
          <a:xfrm>
            <a:off x="8551427" y="6182933"/>
            <a:ext cx="146304" cy="146304"/>
          </a:xfrm>
          <a:prstGeom prst="rect">
            <a:avLst/>
          </a:prstGeom>
        </p:spPr>
      </p:pic>
      <p:sp>
        <p:nvSpPr>
          <p:cNvPr id="304" name="TextBox 303">
            <a:extLst>
              <a:ext uri="{FF2B5EF4-FFF2-40B4-BE49-F238E27FC236}">
                <a16:creationId xmlns:a16="http://schemas.microsoft.com/office/drawing/2014/main" id="{ACF4F430-A0D7-DB66-4DE2-4A04E38D54F3}"/>
              </a:ext>
            </a:extLst>
          </p:cNvPr>
          <p:cNvSpPr txBox="1"/>
          <p:nvPr/>
        </p:nvSpPr>
        <p:spPr>
          <a:xfrm>
            <a:off x="8725163" y="6031432"/>
            <a:ext cx="2532888" cy="12926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ea typeface="+mn-ea"/>
                <a:cs typeface="+mn-cs"/>
              </a:rPr>
              <a:t>AI Use Cases</a:t>
            </a:r>
          </a:p>
        </p:txBody>
      </p:sp>
      <p:sp>
        <p:nvSpPr>
          <p:cNvPr id="305" name="TextBox 304">
            <a:extLst>
              <a:ext uri="{FF2B5EF4-FFF2-40B4-BE49-F238E27FC236}">
                <a16:creationId xmlns:a16="http://schemas.microsoft.com/office/drawing/2014/main" id="{0B918DFF-AB9B-6BA8-DB3F-F7EF99FBE3D4}"/>
              </a:ext>
            </a:extLst>
          </p:cNvPr>
          <p:cNvSpPr txBox="1"/>
          <p:nvPr/>
        </p:nvSpPr>
        <p:spPr>
          <a:xfrm>
            <a:off x="8560571" y="6263174"/>
            <a:ext cx="2697480" cy="168701"/>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80" b="0" i="0" u="none" strike="noStrike" kern="1200" cap="none" spc="0" normalizeH="0" baseline="0" noProof="0">
                <a:ln>
                  <a:noFill/>
                </a:ln>
                <a:solidFill>
                  <a:srgbClr val="1F1F1F"/>
                </a:solidFill>
                <a:effectLst/>
                <a:uLnTx/>
                <a:uFillTx/>
                <a:ea typeface="+mn-ea"/>
                <a:cs typeface="+mn-cs"/>
              </a:rPr>
              <a:t>Lead/application status assist • Document checks • Policy Q&amp;A
Case assist • CAM/credit support • Operations guidance</a:t>
            </a:r>
          </a:p>
        </p:txBody>
      </p:sp>
      <p:sp>
        <p:nvSpPr>
          <p:cNvPr id="306" name="TextBox 305">
            <a:extLst>
              <a:ext uri="{FF2B5EF4-FFF2-40B4-BE49-F238E27FC236}">
                <a16:creationId xmlns:a16="http://schemas.microsoft.com/office/drawing/2014/main" id="{093C734C-1E52-73D9-C234-484E0402DB3B}"/>
              </a:ext>
            </a:extLst>
          </p:cNvPr>
          <p:cNvSpPr txBox="1"/>
          <p:nvPr/>
        </p:nvSpPr>
        <p:spPr>
          <a:xfrm rot="5400000">
            <a:off x="4716536" y="2139036"/>
            <a:ext cx="612251"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2E6FB2"/>
                </a:solidFill>
                <a:effectLst/>
                <a:uLnTx/>
                <a:uFillTx/>
                <a:ea typeface="+mn-ea"/>
                <a:cs typeface="+mn-cs"/>
              </a:rPr>
              <a:t>→</a:t>
            </a:r>
          </a:p>
        </p:txBody>
      </p:sp>
      <p:sp>
        <p:nvSpPr>
          <p:cNvPr id="307" name="TextBox 306">
            <a:extLst>
              <a:ext uri="{FF2B5EF4-FFF2-40B4-BE49-F238E27FC236}">
                <a16:creationId xmlns:a16="http://schemas.microsoft.com/office/drawing/2014/main" id="{6C0B02B2-532A-9216-131D-4F66B5B3C316}"/>
              </a:ext>
            </a:extLst>
          </p:cNvPr>
          <p:cNvSpPr txBox="1"/>
          <p:nvPr/>
        </p:nvSpPr>
        <p:spPr>
          <a:xfrm>
            <a:off x="11084118" y="1195035"/>
            <a:ext cx="842838" cy="314830"/>
          </a:xfrm>
          <a:prstGeom prst="rect">
            <a:avLst/>
          </a:prstGeom>
          <a:noFill/>
        </p:spPr>
        <p:txBody>
          <a:bodyPr wrap="square" lIns="36576" tIns="18288" rIns="36576" bIns="18288" anchor="ctr">
            <a:sp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1000" b="1" i="1" u="none" strike="noStrike" kern="1200" cap="none" spc="0" normalizeH="0" baseline="0" noProof="0">
                <a:ln>
                  <a:noFill/>
                </a:ln>
                <a:solidFill>
                  <a:srgbClr val="0F9ED5">
                    <a:lumMod val="40000"/>
                    <a:lumOff val="60000"/>
                  </a:srgbClr>
                </a:solidFill>
                <a:effectLst/>
                <a:uLnTx/>
                <a:uFillTx/>
                <a:ea typeface="+mn-ea"/>
                <a:cs typeface="+mn-cs"/>
              </a:rPr>
              <a:t>40+</a:t>
            </a:r>
            <a:br>
              <a:rPr kumimoji="0" lang="en-US" sz="1000" b="1" i="1" u="none" strike="noStrike" kern="1200" cap="none" spc="0" normalizeH="0" baseline="0" noProof="0">
                <a:ln>
                  <a:noFill/>
                </a:ln>
                <a:solidFill>
                  <a:srgbClr val="0F9ED5">
                    <a:lumMod val="40000"/>
                    <a:lumOff val="60000"/>
                  </a:srgbClr>
                </a:solidFill>
                <a:effectLst/>
                <a:uLnTx/>
                <a:uFillTx/>
                <a:ea typeface="+mn-ea"/>
                <a:cs typeface="+mn-cs"/>
              </a:rPr>
            </a:br>
            <a:r>
              <a:rPr kumimoji="0" lang="en-US" sz="1000" b="1" i="1" u="none" strike="noStrike" kern="1200" cap="none" spc="0" normalizeH="0" baseline="0" noProof="0">
                <a:ln>
                  <a:noFill/>
                </a:ln>
                <a:solidFill>
                  <a:srgbClr val="0F9ED5">
                    <a:lumMod val="40000"/>
                    <a:lumOff val="60000"/>
                  </a:srgbClr>
                </a:solidFill>
                <a:effectLst/>
                <a:uLnTx/>
                <a:uFillTx/>
                <a:ea typeface="+mn-ea"/>
                <a:cs typeface="+mn-cs"/>
              </a:rPr>
              <a:t>Touchpoints</a:t>
            </a:r>
            <a:endParaRPr kumimoji="0" sz="1000" b="1" i="1" u="none" strike="noStrike" kern="1200" cap="none" spc="0" normalizeH="0" baseline="0" noProof="0">
              <a:ln>
                <a:noFill/>
              </a:ln>
              <a:solidFill>
                <a:srgbClr val="0F9ED5">
                  <a:lumMod val="40000"/>
                  <a:lumOff val="60000"/>
                </a:srgbClr>
              </a:solidFill>
              <a:effectLst/>
              <a:uLnTx/>
              <a:uFillTx/>
              <a:ea typeface="+mn-ea"/>
              <a:cs typeface="+mn-cs"/>
            </a:endParaRPr>
          </a:p>
        </p:txBody>
      </p:sp>
    </p:spTree>
    <p:extLst>
      <p:ext uri="{BB962C8B-B14F-4D97-AF65-F5344CB8AC3E}">
        <p14:creationId xmlns:p14="http://schemas.microsoft.com/office/powerpoint/2010/main" val="1946835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20040" y="128037"/>
            <a:ext cx="2831865" cy="310854"/>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900" b="1">
                <a:solidFill>
                  <a:srgbClr val="002060"/>
                </a:solidFill>
              </a:defRPr>
            </a:pPr>
            <a:r>
              <a:rPr kumimoji="0" lang="en-US" sz="1900" b="1" i="0" u="none" strike="noStrike" kern="1200" cap="none" spc="0" normalizeH="0" baseline="0" noProof="0">
                <a:ln>
                  <a:noFill/>
                </a:ln>
                <a:solidFill>
                  <a:srgbClr val="002060"/>
                </a:solidFill>
                <a:effectLst/>
                <a:uLnTx/>
                <a:uFillTx/>
                <a:latin typeface="Aptos" panose="020B0004020202020204"/>
                <a:ea typeface="+mn-ea"/>
                <a:cs typeface="+mn-cs"/>
              </a:rPr>
              <a:t>AWS Bedrock– Deep Dive</a:t>
            </a:r>
            <a:endParaRPr kumimoji="0" sz="1900" b="1" i="0" u="none" strike="noStrike" kern="1200" cap="none" spc="0" normalizeH="0" baseline="0" noProof="0">
              <a:ln>
                <a:noFill/>
              </a:ln>
              <a:solidFill>
                <a:srgbClr val="002060"/>
              </a:solidFill>
              <a:effectLst/>
              <a:uLnTx/>
              <a:uFillTx/>
              <a:latin typeface="Aptos" panose="020B0004020202020204"/>
              <a:ea typeface="+mn-ea"/>
              <a:cs typeface="+mn-cs"/>
            </a:endParaRPr>
          </a:p>
        </p:txBody>
      </p:sp>
      <p:sp>
        <p:nvSpPr>
          <p:cNvPr id="3" name="TextBox 2"/>
          <p:cNvSpPr txBox="1"/>
          <p:nvPr/>
        </p:nvSpPr>
        <p:spPr>
          <a:xfrm>
            <a:off x="329184" y="457200"/>
            <a:ext cx="9692640" cy="182880"/>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860" b="0">
                <a:solidFill>
                  <a:srgbClr val="5C6C80"/>
                </a:solidFill>
              </a:defRPr>
            </a:pPr>
            <a:r>
              <a:rPr kumimoji="0" sz="860" b="0" i="0" u="none" strike="noStrike" kern="1200" cap="none" spc="0" normalizeH="0" baseline="0" noProof="0">
                <a:ln>
                  <a:noFill/>
                </a:ln>
                <a:solidFill>
                  <a:srgbClr val="5C6C80"/>
                </a:solidFill>
                <a:effectLst/>
                <a:uLnTx/>
                <a:uFillTx/>
                <a:latin typeface="Aptos" panose="020B0004020202020204"/>
                <a:ea typeface="+mn-ea"/>
                <a:cs typeface="+mn-cs"/>
              </a:rPr>
              <a:t>Core LOS transaction platform separated from AI enablement, with clean system relationships and minimal connector overlap.</a:t>
            </a:r>
          </a:p>
        </p:txBody>
      </p:sp>
      <p:sp>
        <p:nvSpPr>
          <p:cNvPr id="4" name="Rounded Rectangle 3"/>
          <p:cNvSpPr/>
          <p:nvPr/>
        </p:nvSpPr>
        <p:spPr>
          <a:xfrm>
            <a:off x="247470" y="797275"/>
            <a:ext cx="11658600" cy="5440680"/>
          </a:xfrm>
          <a:prstGeom prst="roundRect">
            <a:avLst>
              <a:gd name="adj" fmla="val 2500"/>
            </a:avLst>
          </a:prstGeom>
          <a:solidFill>
            <a:srgbClr val="FFFFFF"/>
          </a:solidFill>
          <a:ln w="12700">
            <a:solidFill>
              <a:srgbClr val="D6DDE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TextBox 4"/>
          <p:cNvSpPr txBox="1"/>
          <p:nvPr/>
        </p:nvSpPr>
        <p:spPr>
          <a:xfrm>
            <a:off x="411480" y="886968"/>
            <a:ext cx="2926080" cy="164592"/>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819" b="1">
                <a:solidFill>
                  <a:srgbClr val="5C6C80"/>
                </a:solidFill>
              </a:defRPr>
            </a:pPr>
            <a:r>
              <a:rPr kumimoji="0" sz="819" b="1" i="0" u="none" strike="noStrike" kern="1200" cap="none" spc="0" normalizeH="0" baseline="0" noProof="0">
                <a:ln>
                  <a:noFill/>
                </a:ln>
                <a:solidFill>
                  <a:srgbClr val="5C6C80"/>
                </a:solidFill>
                <a:effectLst/>
                <a:uLnTx/>
                <a:uFillTx/>
                <a:latin typeface="Aptos" panose="020B0004020202020204"/>
                <a:ea typeface="+mn-ea"/>
                <a:cs typeface="+mn-cs"/>
              </a:rPr>
              <a:t>AWS Cloud / Enterprise Deployment Boundary</a:t>
            </a:r>
          </a:p>
        </p:txBody>
      </p:sp>
      <p:sp>
        <p:nvSpPr>
          <p:cNvPr id="6" name="Rounded Rectangle 5"/>
          <p:cNvSpPr/>
          <p:nvPr/>
        </p:nvSpPr>
        <p:spPr>
          <a:xfrm>
            <a:off x="502920" y="1097280"/>
            <a:ext cx="6903720" cy="4754880"/>
          </a:xfrm>
          <a:prstGeom prst="roundRect">
            <a:avLst>
              <a:gd name="adj" fmla="val 3500"/>
            </a:avLst>
          </a:prstGeom>
          <a:solidFill>
            <a:srgbClr val="FAFBFD"/>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extBox 6"/>
          <p:cNvSpPr txBox="1"/>
          <p:nvPr/>
        </p:nvSpPr>
        <p:spPr>
          <a:xfrm>
            <a:off x="594360" y="1133856"/>
            <a:ext cx="6720840" cy="182880"/>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919" b="1">
                <a:solidFill>
                  <a:srgbClr val="002060"/>
                </a:solidFill>
              </a:defRPr>
            </a:pPr>
            <a:r>
              <a:rPr kumimoji="0" sz="919" b="1" i="0" u="none" strike="noStrike" kern="1200" cap="none" spc="0" normalizeH="0" baseline="0" noProof="0">
                <a:ln>
                  <a:noFill/>
                </a:ln>
                <a:solidFill>
                  <a:srgbClr val="002060"/>
                </a:solidFill>
                <a:effectLst/>
                <a:uLnTx/>
                <a:uFillTx/>
                <a:latin typeface="Aptos" panose="020B0004020202020204"/>
                <a:ea typeface="+mn-ea"/>
                <a:cs typeface="+mn-cs"/>
              </a:rPr>
              <a:t>Core LOS Platform</a:t>
            </a:r>
          </a:p>
        </p:txBody>
      </p:sp>
      <p:sp>
        <p:nvSpPr>
          <p:cNvPr id="8" name="Rounded Rectangle 7"/>
          <p:cNvSpPr/>
          <p:nvPr/>
        </p:nvSpPr>
        <p:spPr>
          <a:xfrm>
            <a:off x="7635240" y="1097280"/>
            <a:ext cx="3977639" cy="4754880"/>
          </a:xfrm>
          <a:prstGeom prst="roundRect">
            <a:avLst>
              <a:gd name="adj" fmla="val 3500"/>
            </a:avLst>
          </a:prstGeom>
          <a:solidFill>
            <a:srgbClr val="FCFAFF"/>
          </a:solidFill>
          <a:ln w="15240">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TextBox 8"/>
          <p:cNvSpPr txBox="1"/>
          <p:nvPr/>
        </p:nvSpPr>
        <p:spPr>
          <a:xfrm>
            <a:off x="7726679" y="1133856"/>
            <a:ext cx="3794759" cy="182880"/>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919" b="1">
                <a:solidFill>
                  <a:srgbClr val="6D4ABE"/>
                </a:solidFill>
              </a:defRPr>
            </a:pPr>
            <a:r>
              <a:rPr kumimoji="0" sz="919" b="1" i="0" u="none" strike="noStrike" kern="1200" cap="none" spc="0" normalizeH="0" baseline="0" noProof="0">
                <a:ln>
                  <a:noFill/>
                </a:ln>
                <a:solidFill>
                  <a:srgbClr val="6D4ABE"/>
                </a:solidFill>
                <a:effectLst/>
                <a:uLnTx/>
                <a:uFillTx/>
                <a:latin typeface="Aptos" panose="020B0004020202020204"/>
                <a:ea typeface="+mn-ea"/>
                <a:cs typeface="+mn-cs"/>
              </a:rPr>
              <a:t>AI Enablement Layer</a:t>
            </a:r>
          </a:p>
        </p:txBody>
      </p:sp>
      <p:sp>
        <p:nvSpPr>
          <p:cNvPr id="10" name="Rounded Rectangle 9"/>
          <p:cNvSpPr/>
          <p:nvPr/>
        </p:nvSpPr>
        <p:spPr>
          <a:xfrm>
            <a:off x="713232" y="1444752"/>
            <a:ext cx="6473952" cy="841248"/>
          </a:xfrm>
          <a:prstGeom prst="roundRect">
            <a:avLst>
              <a:gd name="adj" fmla="val 3500"/>
            </a:avLst>
          </a:prstGeom>
          <a:solidFill>
            <a:srgbClr val="FFFFFF"/>
          </a:solidFill>
          <a:ln w="15240">
            <a:solidFill>
              <a:srgbClr val="346EB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1" name="TextBox 10"/>
          <p:cNvSpPr txBox="1"/>
          <p:nvPr/>
        </p:nvSpPr>
        <p:spPr>
          <a:xfrm>
            <a:off x="804672" y="1481328"/>
            <a:ext cx="6291072" cy="182880"/>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919" b="1">
                <a:solidFill>
                  <a:srgbClr val="346EBD"/>
                </a:solidFill>
              </a:defRPr>
            </a:pPr>
            <a:r>
              <a:rPr kumimoji="0" sz="919" b="1" i="0" u="none" strike="noStrike" kern="1200" cap="none" spc="0" normalizeH="0" baseline="0" noProof="0">
                <a:ln>
                  <a:noFill/>
                </a:ln>
                <a:solidFill>
                  <a:srgbClr val="346EBD"/>
                </a:solidFill>
                <a:effectLst/>
                <a:uLnTx/>
                <a:uFillTx/>
                <a:latin typeface="Aptos" panose="020B0004020202020204"/>
                <a:ea typeface="+mn-ea"/>
                <a:cs typeface="+mn-cs"/>
              </a:rPr>
              <a:t>Channels &amp; Access</a:t>
            </a:r>
          </a:p>
        </p:txBody>
      </p:sp>
      <p:sp>
        <p:nvSpPr>
          <p:cNvPr id="12" name="Rounded Rectangle 11"/>
          <p:cNvSpPr/>
          <p:nvPr/>
        </p:nvSpPr>
        <p:spPr>
          <a:xfrm>
            <a:off x="713232" y="2487168"/>
            <a:ext cx="6473952" cy="1060704"/>
          </a:xfrm>
          <a:prstGeom prst="roundRect">
            <a:avLst>
              <a:gd name="adj" fmla="val 3500"/>
            </a:avLst>
          </a:prstGeom>
          <a:solidFill>
            <a:srgbClr val="FFFFFF"/>
          </a:solidFill>
          <a:ln w="15240">
            <a:solidFill>
              <a:srgbClr val="00929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 name="TextBox 12"/>
          <p:cNvSpPr txBox="1"/>
          <p:nvPr/>
        </p:nvSpPr>
        <p:spPr>
          <a:xfrm>
            <a:off x="804672" y="2523744"/>
            <a:ext cx="6291072" cy="182880"/>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919" b="1">
                <a:solidFill>
                  <a:srgbClr val="00929C"/>
                </a:solidFill>
              </a:defRPr>
            </a:pPr>
            <a:r>
              <a:rPr kumimoji="0" sz="919" b="1" i="0" u="none" strike="noStrike" kern="1200" cap="none" spc="0" normalizeH="0" baseline="0" noProof="0">
                <a:ln>
                  <a:noFill/>
                </a:ln>
                <a:solidFill>
                  <a:srgbClr val="00929C"/>
                </a:solidFill>
                <a:effectLst/>
                <a:uLnTx/>
                <a:uFillTx/>
                <a:latin typeface="Aptos" panose="020B0004020202020204"/>
                <a:ea typeface="+mn-ea"/>
                <a:cs typeface="+mn-cs"/>
              </a:rPr>
              <a:t>Application &amp; API Layer</a:t>
            </a:r>
          </a:p>
        </p:txBody>
      </p:sp>
      <p:sp>
        <p:nvSpPr>
          <p:cNvPr id="14" name="Rounded Rectangle 13"/>
          <p:cNvSpPr/>
          <p:nvPr/>
        </p:nvSpPr>
        <p:spPr>
          <a:xfrm>
            <a:off x="713232" y="3712463"/>
            <a:ext cx="6473952" cy="1024128"/>
          </a:xfrm>
          <a:prstGeom prst="roundRect">
            <a:avLst>
              <a:gd name="adj" fmla="val 3500"/>
            </a:avLst>
          </a:prstGeom>
          <a:solidFill>
            <a:srgbClr val="FFFFFF"/>
          </a:solidFill>
          <a:ln w="15240">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 name="TextBox 14"/>
          <p:cNvSpPr txBox="1"/>
          <p:nvPr/>
        </p:nvSpPr>
        <p:spPr>
          <a:xfrm>
            <a:off x="804672" y="3749039"/>
            <a:ext cx="6291072" cy="182880"/>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919" b="1">
                <a:solidFill>
                  <a:srgbClr val="86BC25"/>
                </a:solidFill>
              </a:defRPr>
            </a:pPr>
            <a:r>
              <a:rPr kumimoji="0" sz="919" b="1" i="0" u="none" strike="noStrike" kern="1200" cap="none" spc="0" normalizeH="0" baseline="0" noProof="0">
                <a:ln>
                  <a:noFill/>
                </a:ln>
                <a:solidFill>
                  <a:srgbClr val="86BC25"/>
                </a:solidFill>
                <a:effectLst/>
                <a:uLnTx/>
                <a:uFillTx/>
                <a:latin typeface="Aptos" panose="020B0004020202020204"/>
                <a:ea typeface="+mn-ea"/>
                <a:cs typeface="+mn-cs"/>
              </a:rPr>
              <a:t>Data, Documents &amp; Workflow</a:t>
            </a:r>
          </a:p>
        </p:txBody>
      </p:sp>
      <p:sp>
        <p:nvSpPr>
          <p:cNvPr id="16" name="Rounded Rectangle 15"/>
          <p:cNvSpPr/>
          <p:nvPr/>
        </p:nvSpPr>
        <p:spPr>
          <a:xfrm>
            <a:off x="713232" y="4901184"/>
            <a:ext cx="6473952" cy="731520"/>
          </a:xfrm>
          <a:prstGeom prst="roundRect">
            <a:avLst>
              <a:gd name="adj" fmla="val 3500"/>
            </a:avLst>
          </a:prstGeom>
          <a:solidFill>
            <a:srgbClr val="FFFFFF"/>
          </a:solidFill>
          <a:ln w="1524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7" name="TextBox 16"/>
          <p:cNvSpPr txBox="1"/>
          <p:nvPr/>
        </p:nvSpPr>
        <p:spPr>
          <a:xfrm>
            <a:off x="804672" y="4937760"/>
            <a:ext cx="6291072" cy="182880"/>
          </a:xfrm>
          <a:prstGeom prst="rect">
            <a:avLst/>
          </a:prstGeom>
          <a:noFill/>
        </p:spPr>
        <p:txBody>
          <a:bodyPr wrap="none" lIns="27432" tIns="9144" rIns="27432"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919" b="1">
                <a:solidFill>
                  <a:srgbClr val="FF9900"/>
                </a:solidFill>
              </a:defRPr>
            </a:pPr>
            <a:r>
              <a:rPr kumimoji="0" sz="919" b="1" i="0" u="none" strike="noStrike" kern="1200" cap="none" spc="0" normalizeH="0" baseline="0" noProof="0">
                <a:ln>
                  <a:noFill/>
                </a:ln>
                <a:solidFill>
                  <a:srgbClr val="FF9900"/>
                </a:solidFill>
                <a:effectLst/>
                <a:uLnTx/>
                <a:uFillTx/>
                <a:latin typeface="Aptos" panose="020B0004020202020204"/>
                <a:ea typeface="+mn-ea"/>
                <a:cs typeface="+mn-cs"/>
              </a:rPr>
              <a:t>External Integrations</a:t>
            </a:r>
          </a:p>
        </p:txBody>
      </p:sp>
      <p:sp>
        <p:nvSpPr>
          <p:cNvPr id="18" name="Rounded Rectangle 17"/>
          <p:cNvSpPr/>
          <p:nvPr/>
        </p:nvSpPr>
        <p:spPr>
          <a:xfrm>
            <a:off x="914400" y="1719072"/>
            <a:ext cx="1051560" cy="384048"/>
          </a:xfrm>
          <a:prstGeom prst="roundRect">
            <a:avLst>
              <a:gd name="adj" fmla="val 6000"/>
            </a:avLst>
          </a:prstGeom>
          <a:solidFill>
            <a:srgbClr val="FFFFFF"/>
          </a:solidFill>
          <a:ln w="13970">
            <a:solidFill>
              <a:srgbClr val="346EBD"/>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40" b="1">
                <a:solidFill>
                  <a:srgbClr val="283241"/>
                </a:solidFill>
              </a:defRPr>
            </a:pPr>
            <a:r>
              <a:rPr kumimoji="0" sz="840" b="1" i="0" u="none" strike="noStrike" kern="1200" cap="none" spc="0" normalizeH="0" baseline="0" noProof="0">
                <a:ln>
                  <a:noFill/>
                </a:ln>
                <a:solidFill>
                  <a:srgbClr val="283241"/>
                </a:solidFill>
                <a:effectLst/>
                <a:uLnTx/>
                <a:uFillTx/>
                <a:latin typeface="Aptos" panose="020B0004020202020204"/>
                <a:ea typeface="+mn-ea"/>
                <a:cs typeface="+mn-cs"/>
              </a:rPr>
              <a:t>LOS Users</a:t>
            </a:r>
          </a:p>
          <a:p>
            <a:pPr marL="0" marR="0" lvl="0" indent="0" algn="ctr" defTabSz="914400" rtl="0" eaLnBrk="1" fontAlgn="auto" latinLnBrk="0" hangingPunct="1">
              <a:lnSpc>
                <a:spcPct val="100000"/>
              </a:lnSpc>
              <a:spcBef>
                <a:spcPts val="0"/>
              </a:spcBef>
              <a:spcAft>
                <a:spcPts val="0"/>
              </a:spcAft>
              <a:buClrTx/>
              <a:buSzTx/>
              <a:buFontTx/>
              <a:buNone/>
              <a:tabLst/>
              <a:defRPr sz="670">
                <a:solidFill>
                  <a:srgbClr val="5C6C80"/>
                </a:solidFill>
              </a:defRPr>
            </a:pPr>
            <a:r>
              <a:rPr kumimoji="0" sz="670" b="0" i="0" u="none" strike="noStrike" kern="1200" cap="none" spc="0" normalizeH="0" baseline="0" noProof="0">
                <a:ln>
                  <a:noFill/>
                </a:ln>
                <a:solidFill>
                  <a:srgbClr val="5C6C80"/>
                </a:solidFill>
                <a:effectLst/>
                <a:uLnTx/>
                <a:uFillTx/>
                <a:latin typeface="Aptos" panose="020B0004020202020204"/>
                <a:ea typeface="+mn-ea"/>
                <a:cs typeface="+mn-cs"/>
              </a:rPr>
              <a:t>Sales • CC • Credit</a:t>
            </a:r>
          </a:p>
        </p:txBody>
      </p:sp>
      <p:sp>
        <p:nvSpPr>
          <p:cNvPr id="19" name="Rounded Rectangle 18"/>
          <p:cNvSpPr/>
          <p:nvPr/>
        </p:nvSpPr>
        <p:spPr>
          <a:xfrm>
            <a:off x="914400" y="1719072"/>
            <a:ext cx="73152" cy="384048"/>
          </a:xfrm>
          <a:prstGeom prst="roundRect">
            <a:avLst>
              <a:gd name="adj" fmla="val 6000"/>
            </a:avLst>
          </a:prstGeom>
          <a:solidFill>
            <a:srgbClr val="346EBD"/>
          </a:solidFill>
          <a:ln>
            <a:solidFill>
              <a:srgbClr val="346EB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 name="Rounded Rectangle 19"/>
          <p:cNvSpPr/>
          <p:nvPr/>
        </p:nvSpPr>
        <p:spPr>
          <a:xfrm>
            <a:off x="2130552" y="1645920"/>
            <a:ext cx="1005840" cy="530352"/>
          </a:xfrm>
          <a:prstGeom prst="roundRect">
            <a:avLst>
              <a:gd name="adj" fmla="val 6000"/>
            </a:avLst>
          </a:prstGeom>
          <a:solidFill>
            <a:srgbClr val="ECF3FD"/>
          </a:solidFill>
          <a:ln w="13970">
            <a:solidFill>
              <a:srgbClr val="346EBD"/>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80" b="1">
                <a:solidFill>
                  <a:srgbClr val="283241"/>
                </a:solidFill>
              </a:defRPr>
            </a:pPr>
            <a:r>
              <a:rPr kumimoji="0" sz="880" b="1" i="0" u="none" strike="noStrike" kern="1200" cap="none" spc="0" normalizeH="0" baseline="0" noProof="0">
                <a:ln>
                  <a:noFill/>
                </a:ln>
                <a:solidFill>
                  <a:srgbClr val="283241"/>
                </a:solidFill>
                <a:effectLst/>
                <a:uLnTx/>
                <a:uFillTx/>
                <a:latin typeface="Aptos" panose="020B0004020202020204"/>
                <a:ea typeface="+mn-ea"/>
                <a:cs typeface="+mn-cs"/>
              </a:rPr>
              <a:t>Web App</a:t>
            </a:r>
          </a:p>
          <a:p>
            <a:pPr marL="0" marR="0" lvl="0" indent="0" algn="ctr" defTabSz="914400" rtl="0" eaLnBrk="1" fontAlgn="auto" latinLnBrk="0" hangingPunct="1">
              <a:lnSpc>
                <a:spcPct val="100000"/>
              </a:lnSpc>
              <a:spcBef>
                <a:spcPts val="0"/>
              </a:spcBef>
              <a:spcAft>
                <a:spcPts val="0"/>
              </a:spcAft>
              <a:buClrTx/>
              <a:buSzTx/>
              <a:buFontTx/>
              <a:buNone/>
              <a:tabLst/>
              <a:defRPr sz="700">
                <a:solidFill>
                  <a:srgbClr val="5C6C80"/>
                </a:solidFill>
              </a:defRPr>
            </a:pPr>
            <a:r>
              <a:rPr kumimoji="0" sz="700" b="0" i="0" u="none" strike="noStrike" kern="1200" cap="none" spc="0" normalizeH="0" baseline="0" noProof="0">
                <a:ln>
                  <a:noFill/>
                </a:ln>
                <a:solidFill>
                  <a:srgbClr val="5C6C80"/>
                </a:solidFill>
                <a:effectLst/>
                <a:uLnTx/>
                <a:uFillTx/>
                <a:latin typeface="Aptos" panose="020B0004020202020204"/>
                <a:ea typeface="+mn-ea"/>
                <a:cs typeface="+mn-cs"/>
              </a:rPr>
              <a:t>React / Next.js</a:t>
            </a:r>
            <a:br>
              <a:rPr kumimoji="0" sz="700" b="0" i="0" u="none" strike="noStrike" kern="1200" cap="none" spc="0" normalizeH="0" baseline="0" noProof="0">
                <a:ln>
                  <a:noFill/>
                </a:ln>
                <a:solidFill>
                  <a:srgbClr val="5C6C80"/>
                </a:solidFill>
                <a:effectLst/>
                <a:uLnTx/>
                <a:uFillTx/>
                <a:latin typeface="Aptos" panose="020B0004020202020204"/>
                <a:ea typeface="+mn-ea"/>
                <a:cs typeface="+mn-cs"/>
              </a:rPr>
            </a:br>
            <a:r>
              <a:rPr kumimoji="0" sz="700" b="0" i="0" u="none" strike="noStrike" kern="1200" cap="none" spc="0" normalizeH="0" baseline="0" noProof="0">
                <a:ln>
                  <a:noFill/>
                </a:ln>
                <a:solidFill>
                  <a:srgbClr val="5C6C80"/>
                </a:solidFill>
                <a:effectLst/>
                <a:uLnTx/>
                <a:uFillTx/>
                <a:latin typeface="Aptos" panose="020B0004020202020204"/>
                <a:ea typeface="+mn-ea"/>
                <a:cs typeface="+mn-cs"/>
              </a:rPr>
              <a:t>on Amplify</a:t>
            </a:r>
          </a:p>
        </p:txBody>
      </p:sp>
      <p:sp>
        <p:nvSpPr>
          <p:cNvPr id="21" name="Rounded Rectangle 20"/>
          <p:cNvSpPr/>
          <p:nvPr/>
        </p:nvSpPr>
        <p:spPr>
          <a:xfrm>
            <a:off x="2130552" y="1645920"/>
            <a:ext cx="73152" cy="530352"/>
          </a:xfrm>
          <a:prstGeom prst="roundRect">
            <a:avLst>
              <a:gd name="adj" fmla="val 6000"/>
            </a:avLst>
          </a:prstGeom>
          <a:solidFill>
            <a:srgbClr val="346EBD"/>
          </a:solidFill>
          <a:ln>
            <a:solidFill>
              <a:srgbClr val="346EB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2" name="Rounded Rectangle 21"/>
          <p:cNvSpPr/>
          <p:nvPr/>
        </p:nvSpPr>
        <p:spPr>
          <a:xfrm>
            <a:off x="3310128" y="1645920"/>
            <a:ext cx="987552" cy="530352"/>
          </a:xfrm>
          <a:prstGeom prst="roundRect">
            <a:avLst>
              <a:gd name="adj" fmla="val 6000"/>
            </a:avLst>
          </a:prstGeom>
          <a:solidFill>
            <a:srgbClr val="FFFFFF"/>
          </a:solidFill>
          <a:ln w="13970">
            <a:solidFill>
              <a:srgbClr val="346EBD"/>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60" b="1">
                <a:solidFill>
                  <a:srgbClr val="283241"/>
                </a:solidFill>
              </a:defRPr>
            </a:pPr>
            <a:r>
              <a:rPr kumimoji="0" sz="860" b="1" i="0" u="none" strike="noStrike" kern="1200" cap="none" spc="0" normalizeH="0" baseline="0" noProof="0">
                <a:ln>
                  <a:noFill/>
                </a:ln>
                <a:solidFill>
                  <a:srgbClr val="283241"/>
                </a:solidFill>
                <a:effectLst/>
                <a:uLnTx/>
                <a:uFillTx/>
                <a:latin typeface="Aptos" panose="020B0004020202020204"/>
                <a:ea typeface="+mn-ea"/>
                <a:cs typeface="+mn-cs"/>
              </a:rPr>
              <a:t>Cognito</a:t>
            </a:r>
          </a:p>
          <a:p>
            <a:pPr marL="0" marR="0" lvl="0" indent="0" algn="ctr" defTabSz="914400" rtl="0" eaLnBrk="1" fontAlgn="auto" latinLnBrk="0" hangingPunct="1">
              <a:lnSpc>
                <a:spcPct val="100000"/>
              </a:lnSpc>
              <a:spcBef>
                <a:spcPts val="0"/>
              </a:spcBef>
              <a:spcAft>
                <a:spcPts val="0"/>
              </a:spcAft>
              <a:buClrTx/>
              <a:buSzTx/>
              <a:buFontTx/>
              <a:buNone/>
              <a:tabLst/>
              <a:defRPr sz="700">
                <a:solidFill>
                  <a:srgbClr val="5C6C80"/>
                </a:solidFill>
              </a:defRPr>
            </a:pPr>
            <a:r>
              <a:rPr kumimoji="0" sz="700" b="0" i="0" u="none" strike="noStrike" kern="1200" cap="none" spc="0" normalizeH="0" baseline="0" noProof="0">
                <a:ln>
                  <a:noFill/>
                </a:ln>
                <a:solidFill>
                  <a:srgbClr val="5C6C80"/>
                </a:solidFill>
                <a:effectLst/>
                <a:uLnTx/>
                <a:uFillTx/>
                <a:latin typeface="Aptos" panose="020B0004020202020204"/>
                <a:ea typeface="+mn-ea"/>
                <a:cs typeface="+mn-cs"/>
              </a:rPr>
              <a:t>Login • roles • JWT</a:t>
            </a:r>
          </a:p>
        </p:txBody>
      </p:sp>
      <p:sp>
        <p:nvSpPr>
          <p:cNvPr id="23" name="Rounded Rectangle 22"/>
          <p:cNvSpPr/>
          <p:nvPr/>
        </p:nvSpPr>
        <p:spPr>
          <a:xfrm>
            <a:off x="3310128" y="1645920"/>
            <a:ext cx="73152" cy="530352"/>
          </a:xfrm>
          <a:prstGeom prst="roundRect">
            <a:avLst>
              <a:gd name="adj" fmla="val 6000"/>
            </a:avLst>
          </a:prstGeom>
          <a:solidFill>
            <a:srgbClr val="346EBD"/>
          </a:solidFill>
          <a:ln>
            <a:solidFill>
              <a:srgbClr val="346EB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4" name="Rounded Rectangle 23"/>
          <p:cNvSpPr/>
          <p:nvPr/>
        </p:nvSpPr>
        <p:spPr>
          <a:xfrm>
            <a:off x="4471416" y="1645920"/>
            <a:ext cx="987552" cy="530352"/>
          </a:xfrm>
          <a:prstGeom prst="roundRect">
            <a:avLst>
              <a:gd name="adj" fmla="val 6000"/>
            </a:avLst>
          </a:prstGeom>
          <a:solidFill>
            <a:srgbClr val="FFFFFF"/>
          </a:solidFill>
          <a:ln w="13970">
            <a:solidFill>
              <a:srgbClr val="346EBD"/>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60" b="1">
                <a:solidFill>
                  <a:srgbClr val="283241"/>
                </a:solidFill>
              </a:defRPr>
            </a:pPr>
            <a:r>
              <a:rPr kumimoji="0" sz="860" b="1" i="0" u="none" strike="noStrike" kern="1200" cap="none" spc="0" normalizeH="0" baseline="0" noProof="0">
                <a:ln>
                  <a:noFill/>
                </a:ln>
                <a:solidFill>
                  <a:srgbClr val="283241"/>
                </a:solidFill>
                <a:effectLst/>
                <a:uLnTx/>
                <a:uFillTx/>
                <a:latin typeface="Aptos" panose="020B0004020202020204"/>
                <a:ea typeface="+mn-ea"/>
                <a:cs typeface="+mn-cs"/>
              </a:rPr>
              <a:t>CloudFront</a:t>
            </a:r>
          </a:p>
          <a:p>
            <a:pPr marL="0" marR="0" lvl="0" indent="0" algn="ctr" defTabSz="914400" rtl="0" eaLnBrk="1" fontAlgn="auto" latinLnBrk="0" hangingPunct="1">
              <a:lnSpc>
                <a:spcPct val="100000"/>
              </a:lnSpc>
              <a:spcBef>
                <a:spcPts val="0"/>
              </a:spcBef>
              <a:spcAft>
                <a:spcPts val="0"/>
              </a:spcAft>
              <a:buClrTx/>
              <a:buSzTx/>
              <a:buFontTx/>
              <a:buNone/>
              <a:tabLst/>
              <a:defRPr sz="700">
                <a:solidFill>
                  <a:srgbClr val="5C6C80"/>
                </a:solidFill>
              </a:defRPr>
            </a:pPr>
            <a:r>
              <a:rPr kumimoji="0" sz="700" b="0" i="0" u="none" strike="noStrike" kern="1200" cap="none" spc="0" normalizeH="0" baseline="0" noProof="0">
                <a:ln>
                  <a:noFill/>
                </a:ln>
                <a:solidFill>
                  <a:srgbClr val="5C6C80"/>
                </a:solidFill>
                <a:effectLst/>
                <a:uLnTx/>
                <a:uFillTx/>
                <a:latin typeface="Aptos" panose="020B0004020202020204"/>
                <a:ea typeface="+mn-ea"/>
                <a:cs typeface="+mn-cs"/>
              </a:rPr>
              <a:t>CDN / caching</a:t>
            </a:r>
          </a:p>
        </p:txBody>
      </p:sp>
      <p:sp>
        <p:nvSpPr>
          <p:cNvPr id="25" name="Rounded Rectangle 24"/>
          <p:cNvSpPr/>
          <p:nvPr/>
        </p:nvSpPr>
        <p:spPr>
          <a:xfrm>
            <a:off x="4471416" y="1645920"/>
            <a:ext cx="73152" cy="530352"/>
          </a:xfrm>
          <a:prstGeom prst="roundRect">
            <a:avLst>
              <a:gd name="adj" fmla="val 6000"/>
            </a:avLst>
          </a:prstGeom>
          <a:solidFill>
            <a:srgbClr val="346EBD"/>
          </a:solidFill>
          <a:ln>
            <a:solidFill>
              <a:srgbClr val="346EB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6" name="Rounded Rectangle 25"/>
          <p:cNvSpPr/>
          <p:nvPr/>
        </p:nvSpPr>
        <p:spPr>
          <a:xfrm>
            <a:off x="5632704" y="1645920"/>
            <a:ext cx="987552" cy="530352"/>
          </a:xfrm>
          <a:prstGeom prst="roundRect">
            <a:avLst>
              <a:gd name="adj" fmla="val 6000"/>
            </a:avLst>
          </a:prstGeom>
          <a:solidFill>
            <a:srgbClr val="FFFFFF"/>
          </a:solidFill>
          <a:ln w="13970">
            <a:solidFill>
              <a:srgbClr val="346EBD"/>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40" b="1">
                <a:solidFill>
                  <a:srgbClr val="283241"/>
                </a:solidFill>
              </a:defRPr>
            </a:pPr>
            <a:r>
              <a:rPr kumimoji="0" sz="840" b="1" i="0" u="none" strike="noStrike" kern="1200" cap="none" spc="0" normalizeH="0" baseline="0" noProof="0">
                <a:ln>
                  <a:noFill/>
                </a:ln>
                <a:solidFill>
                  <a:srgbClr val="283241"/>
                </a:solidFill>
                <a:effectLst/>
                <a:uLnTx/>
                <a:uFillTx/>
                <a:latin typeface="Aptos" panose="020B0004020202020204"/>
                <a:ea typeface="+mn-ea"/>
                <a:cs typeface="+mn-cs"/>
              </a:rPr>
              <a:t>WAF + DNS</a:t>
            </a:r>
          </a:p>
          <a:p>
            <a:pPr marL="0" marR="0" lvl="0" indent="0" algn="ctr" defTabSz="914400" rtl="0" eaLnBrk="1" fontAlgn="auto" latinLnBrk="0" hangingPunct="1">
              <a:lnSpc>
                <a:spcPct val="100000"/>
              </a:lnSpc>
              <a:spcBef>
                <a:spcPts val="0"/>
              </a:spcBef>
              <a:spcAft>
                <a:spcPts val="0"/>
              </a:spcAft>
              <a:buClrTx/>
              <a:buSzTx/>
              <a:buFontTx/>
              <a:buNone/>
              <a:tabLst/>
              <a:defRPr sz="680">
                <a:solidFill>
                  <a:srgbClr val="5C6C80"/>
                </a:solidFill>
              </a:defRPr>
            </a:pPr>
            <a:r>
              <a:rPr kumimoji="0" sz="680" b="0" i="0" u="none" strike="noStrike" kern="1200" cap="none" spc="0" normalizeH="0" baseline="0" noProof="0">
                <a:ln>
                  <a:noFill/>
                </a:ln>
                <a:solidFill>
                  <a:srgbClr val="5C6C80"/>
                </a:solidFill>
                <a:effectLst/>
                <a:uLnTx/>
                <a:uFillTx/>
                <a:latin typeface="Aptos" panose="020B0004020202020204"/>
                <a:ea typeface="+mn-ea"/>
                <a:cs typeface="+mn-cs"/>
              </a:rPr>
              <a:t>Edge security</a:t>
            </a:r>
            <a:br>
              <a:rPr kumimoji="0" sz="680" b="0" i="0" u="none" strike="noStrike" kern="1200" cap="none" spc="0" normalizeH="0" baseline="0" noProof="0">
                <a:ln>
                  <a:noFill/>
                </a:ln>
                <a:solidFill>
                  <a:srgbClr val="5C6C80"/>
                </a:solidFill>
                <a:effectLst/>
                <a:uLnTx/>
                <a:uFillTx/>
                <a:latin typeface="Aptos" panose="020B0004020202020204"/>
                <a:ea typeface="+mn-ea"/>
                <a:cs typeface="+mn-cs"/>
              </a:rPr>
            </a:br>
            <a:r>
              <a:rPr kumimoji="0" sz="680" b="0" i="0" u="none" strike="noStrike" kern="1200" cap="none" spc="0" normalizeH="0" baseline="0" noProof="0">
                <a:ln>
                  <a:noFill/>
                </a:ln>
                <a:solidFill>
                  <a:srgbClr val="5C6C80"/>
                </a:solidFill>
                <a:effectLst/>
                <a:uLnTx/>
                <a:uFillTx/>
                <a:latin typeface="Aptos" panose="020B0004020202020204"/>
                <a:ea typeface="+mn-ea"/>
                <a:cs typeface="+mn-cs"/>
              </a:rPr>
              <a:t>Route 53</a:t>
            </a:r>
          </a:p>
        </p:txBody>
      </p:sp>
      <p:sp>
        <p:nvSpPr>
          <p:cNvPr id="27" name="Rounded Rectangle 26"/>
          <p:cNvSpPr/>
          <p:nvPr/>
        </p:nvSpPr>
        <p:spPr>
          <a:xfrm>
            <a:off x="5632704" y="1645920"/>
            <a:ext cx="73152" cy="530352"/>
          </a:xfrm>
          <a:prstGeom prst="roundRect">
            <a:avLst>
              <a:gd name="adj" fmla="val 6000"/>
            </a:avLst>
          </a:prstGeom>
          <a:solidFill>
            <a:srgbClr val="346EBD"/>
          </a:solidFill>
          <a:ln>
            <a:solidFill>
              <a:srgbClr val="346EB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8" name="Rounded Rectangle 27"/>
          <p:cNvSpPr/>
          <p:nvPr/>
        </p:nvSpPr>
        <p:spPr>
          <a:xfrm>
            <a:off x="1024128" y="2743200"/>
            <a:ext cx="1188720" cy="530352"/>
          </a:xfrm>
          <a:prstGeom prst="roundRect">
            <a:avLst>
              <a:gd name="adj" fmla="val 6000"/>
            </a:avLst>
          </a:prstGeom>
          <a:solidFill>
            <a:srgbClr val="E9F9FA"/>
          </a:solidFill>
          <a:ln w="13970">
            <a:solidFill>
              <a:srgbClr val="00929C"/>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80" b="1">
                <a:solidFill>
                  <a:srgbClr val="283241"/>
                </a:solidFill>
              </a:defRPr>
            </a:pPr>
            <a:r>
              <a:rPr kumimoji="0" sz="880" b="1" i="0" u="none" strike="noStrike" kern="1200" cap="none" spc="0" normalizeH="0" baseline="0" noProof="0">
                <a:ln>
                  <a:noFill/>
                </a:ln>
                <a:solidFill>
                  <a:srgbClr val="283241"/>
                </a:solidFill>
                <a:effectLst/>
                <a:uLnTx/>
                <a:uFillTx/>
                <a:latin typeface="Aptos" panose="020B0004020202020204"/>
                <a:ea typeface="+mn-ea"/>
                <a:cs typeface="+mn-cs"/>
              </a:rPr>
              <a:t>API Gateway</a:t>
            </a:r>
          </a:p>
          <a:p>
            <a:pPr marL="0" marR="0" lvl="0" indent="0" algn="ctr" defTabSz="914400" rtl="0" eaLnBrk="1" fontAlgn="auto" latinLnBrk="0" hangingPunct="1">
              <a:lnSpc>
                <a:spcPct val="100000"/>
              </a:lnSpc>
              <a:spcBef>
                <a:spcPts val="0"/>
              </a:spcBef>
              <a:spcAft>
                <a:spcPts val="0"/>
              </a:spcAft>
              <a:buClrTx/>
              <a:buSzTx/>
              <a:buFontTx/>
              <a:buNone/>
              <a:tabLst/>
              <a:defRPr sz="700">
                <a:solidFill>
                  <a:srgbClr val="5C6C80"/>
                </a:solidFill>
              </a:defRPr>
            </a:pPr>
            <a:r>
              <a:rPr kumimoji="0" sz="700" b="0" i="0" u="none" strike="noStrike" kern="1200" cap="none" spc="0" normalizeH="0" baseline="0" noProof="0">
                <a:ln>
                  <a:noFill/>
                </a:ln>
                <a:solidFill>
                  <a:srgbClr val="5C6C80"/>
                </a:solidFill>
                <a:effectLst/>
                <a:uLnTx/>
                <a:uFillTx/>
                <a:latin typeface="Aptos" panose="020B0004020202020204"/>
                <a:ea typeface="+mn-ea"/>
                <a:cs typeface="+mn-cs"/>
              </a:rPr>
              <a:t>Secured LOS APIs</a:t>
            </a:r>
          </a:p>
        </p:txBody>
      </p:sp>
      <p:sp>
        <p:nvSpPr>
          <p:cNvPr id="29" name="Rounded Rectangle 28"/>
          <p:cNvSpPr/>
          <p:nvPr/>
        </p:nvSpPr>
        <p:spPr>
          <a:xfrm>
            <a:off x="1024128" y="2743200"/>
            <a:ext cx="73152" cy="530352"/>
          </a:xfrm>
          <a:prstGeom prst="roundRect">
            <a:avLst>
              <a:gd name="adj" fmla="val 6000"/>
            </a:avLst>
          </a:prstGeom>
          <a:solidFill>
            <a:srgbClr val="00929C"/>
          </a:solidFill>
          <a:ln>
            <a:solidFill>
              <a:srgbClr val="00929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0" name="Rounded Rectangle 29"/>
          <p:cNvSpPr/>
          <p:nvPr/>
        </p:nvSpPr>
        <p:spPr>
          <a:xfrm>
            <a:off x="2521415" y="2668883"/>
            <a:ext cx="3101769" cy="696109"/>
          </a:xfrm>
          <a:prstGeom prst="roundRect">
            <a:avLst>
              <a:gd name="adj" fmla="val 6000"/>
            </a:avLst>
          </a:prstGeom>
          <a:solidFill>
            <a:srgbClr val="FFFFFF"/>
          </a:solidFill>
          <a:ln w="13970">
            <a:solidFill>
              <a:srgbClr val="00929C"/>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80" b="1">
                <a:solidFill>
                  <a:srgbClr val="283241"/>
                </a:solidFill>
              </a:defRPr>
            </a:pPr>
            <a:r>
              <a:rPr kumimoji="0" sz="880" b="1" i="0" u="none" strike="noStrike" kern="1200" cap="none" spc="0" normalizeH="0" baseline="0" noProof="0">
                <a:ln>
                  <a:noFill/>
                </a:ln>
                <a:solidFill>
                  <a:srgbClr val="283241"/>
                </a:solidFill>
                <a:effectLst/>
                <a:uLnTx/>
                <a:uFillTx/>
                <a:latin typeface="Aptos" panose="020B0004020202020204"/>
                <a:ea typeface="+mn-ea"/>
                <a:cs typeface="+mn-cs"/>
              </a:rPr>
              <a:t>Lambda Business Services</a:t>
            </a:r>
          </a:p>
          <a:p>
            <a:pPr marL="0" marR="0" lvl="0" indent="0" algn="ctr" defTabSz="914400" rtl="0" eaLnBrk="1" fontAlgn="auto" latinLnBrk="0" hangingPunct="1">
              <a:lnSpc>
                <a:spcPct val="100000"/>
              </a:lnSpc>
              <a:spcBef>
                <a:spcPts val="0"/>
              </a:spcBef>
              <a:spcAft>
                <a:spcPts val="0"/>
              </a:spcAft>
              <a:buClrTx/>
              <a:buSzTx/>
              <a:buFontTx/>
              <a:buNone/>
              <a:tabLst/>
              <a:defRPr sz="720">
                <a:solidFill>
                  <a:srgbClr val="5C6C80"/>
                </a:solidFill>
              </a:defRPr>
            </a:pPr>
            <a:r>
              <a:rPr kumimoji="0" sz="720" b="0" i="0" u="none" strike="noStrike" kern="1200" cap="none" spc="0" normalizeH="0" baseline="0" noProof="0">
                <a:ln>
                  <a:noFill/>
                </a:ln>
                <a:solidFill>
                  <a:srgbClr val="5C6C80"/>
                </a:solidFill>
                <a:effectLst/>
                <a:uLnTx/>
                <a:uFillTx/>
                <a:latin typeface="Aptos" panose="020B0004020202020204"/>
                <a:ea typeface="+mn-ea"/>
                <a:cs typeface="+mn-cs"/>
              </a:rPr>
              <a:t>Lead service   |   Application service   |   Document service   |   Customer service   |   Workflow service   |   Integration adapters</a:t>
            </a:r>
          </a:p>
        </p:txBody>
      </p:sp>
      <p:sp>
        <p:nvSpPr>
          <p:cNvPr id="31" name="Rounded Rectangle 30"/>
          <p:cNvSpPr/>
          <p:nvPr/>
        </p:nvSpPr>
        <p:spPr>
          <a:xfrm>
            <a:off x="2487168" y="2651760"/>
            <a:ext cx="73152" cy="713232"/>
          </a:xfrm>
          <a:prstGeom prst="roundRect">
            <a:avLst>
              <a:gd name="adj" fmla="val 6000"/>
            </a:avLst>
          </a:prstGeom>
          <a:solidFill>
            <a:srgbClr val="00929C"/>
          </a:solidFill>
          <a:ln>
            <a:solidFill>
              <a:srgbClr val="00929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2" name="Rounded Rectangle 31"/>
          <p:cNvSpPr/>
          <p:nvPr/>
        </p:nvSpPr>
        <p:spPr>
          <a:xfrm>
            <a:off x="5907024" y="2743200"/>
            <a:ext cx="1097280" cy="530352"/>
          </a:xfrm>
          <a:prstGeom prst="roundRect">
            <a:avLst>
              <a:gd name="adj" fmla="val 6000"/>
            </a:avLst>
          </a:prstGeom>
          <a:solidFill>
            <a:srgbClr val="FFFFFF"/>
          </a:solidFill>
          <a:ln w="13970">
            <a:solidFill>
              <a:srgbClr val="00929C"/>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283241"/>
                </a:solidFill>
              </a:defRPr>
            </a:pPr>
            <a:r>
              <a:rPr kumimoji="0" sz="800" b="1" i="0" u="none" strike="noStrike" kern="1200" cap="none" spc="0" normalizeH="0" baseline="0" noProof="0">
                <a:ln>
                  <a:noFill/>
                </a:ln>
                <a:solidFill>
                  <a:srgbClr val="283241"/>
                </a:solidFill>
                <a:effectLst/>
                <a:uLnTx/>
                <a:uFillTx/>
                <a:latin typeface="Aptos" panose="020B0004020202020204"/>
                <a:ea typeface="+mn-ea"/>
                <a:cs typeface="+mn-cs"/>
              </a:rPr>
              <a:t>EventBridge / SQS</a:t>
            </a:r>
          </a:p>
          <a:p>
            <a:pPr marL="0" marR="0" lvl="0" indent="0" algn="ctr" defTabSz="914400" rtl="0" eaLnBrk="1" fontAlgn="auto" latinLnBrk="0" hangingPunct="1">
              <a:lnSpc>
                <a:spcPct val="100000"/>
              </a:lnSpc>
              <a:spcBef>
                <a:spcPts val="0"/>
              </a:spcBef>
              <a:spcAft>
                <a:spcPts val="0"/>
              </a:spcAft>
              <a:buClrTx/>
              <a:buSzTx/>
              <a:buFontTx/>
              <a:buNone/>
              <a:tabLst/>
              <a:defRPr sz="680">
                <a:solidFill>
                  <a:srgbClr val="5C6C80"/>
                </a:solidFill>
              </a:defRPr>
            </a:pPr>
            <a:r>
              <a:rPr kumimoji="0" sz="680" b="0" i="0" u="none" strike="noStrike" kern="1200" cap="none" spc="0" normalizeH="0" baseline="0" noProof="0">
                <a:ln>
                  <a:noFill/>
                </a:ln>
                <a:solidFill>
                  <a:srgbClr val="5C6C80"/>
                </a:solidFill>
                <a:effectLst/>
                <a:uLnTx/>
                <a:uFillTx/>
                <a:latin typeface="Aptos" panose="020B0004020202020204"/>
                <a:ea typeface="+mn-ea"/>
                <a:cs typeface="+mn-cs"/>
              </a:rPr>
              <a:t>Async events,</a:t>
            </a:r>
            <a:br>
              <a:rPr kumimoji="0" sz="680" b="0" i="0" u="none" strike="noStrike" kern="1200" cap="none" spc="0" normalizeH="0" baseline="0" noProof="0">
                <a:ln>
                  <a:noFill/>
                </a:ln>
                <a:solidFill>
                  <a:srgbClr val="5C6C80"/>
                </a:solidFill>
                <a:effectLst/>
                <a:uLnTx/>
                <a:uFillTx/>
                <a:latin typeface="Aptos" panose="020B0004020202020204"/>
                <a:ea typeface="+mn-ea"/>
                <a:cs typeface="+mn-cs"/>
              </a:rPr>
            </a:br>
            <a:r>
              <a:rPr kumimoji="0" sz="680" b="0" i="0" u="none" strike="noStrike" kern="1200" cap="none" spc="0" normalizeH="0" baseline="0" noProof="0">
                <a:ln>
                  <a:noFill/>
                </a:ln>
                <a:solidFill>
                  <a:srgbClr val="5C6C80"/>
                </a:solidFill>
                <a:effectLst/>
                <a:uLnTx/>
                <a:uFillTx/>
                <a:latin typeface="Aptos" panose="020B0004020202020204"/>
                <a:ea typeface="+mn-ea"/>
                <a:cs typeface="+mn-cs"/>
              </a:rPr>
              <a:t>retries, callbacks</a:t>
            </a:r>
          </a:p>
        </p:txBody>
      </p:sp>
      <p:sp>
        <p:nvSpPr>
          <p:cNvPr id="33" name="Rounded Rectangle 32"/>
          <p:cNvSpPr/>
          <p:nvPr/>
        </p:nvSpPr>
        <p:spPr>
          <a:xfrm>
            <a:off x="5907024" y="2743200"/>
            <a:ext cx="73152" cy="530352"/>
          </a:xfrm>
          <a:prstGeom prst="roundRect">
            <a:avLst>
              <a:gd name="adj" fmla="val 6000"/>
            </a:avLst>
          </a:prstGeom>
          <a:solidFill>
            <a:srgbClr val="00929C"/>
          </a:solidFill>
          <a:ln>
            <a:solidFill>
              <a:srgbClr val="00929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4" name="Rounded Rectangle 33"/>
          <p:cNvSpPr/>
          <p:nvPr/>
        </p:nvSpPr>
        <p:spPr>
          <a:xfrm>
            <a:off x="960120" y="3968496"/>
            <a:ext cx="1353312" cy="530352"/>
          </a:xfrm>
          <a:prstGeom prst="roundRect">
            <a:avLst>
              <a:gd name="adj" fmla="val 6000"/>
            </a:avLst>
          </a:prstGeom>
          <a:solidFill>
            <a:srgbClr val="F2FBF0"/>
          </a:solidFill>
          <a:ln w="13970">
            <a:solidFill>
              <a:srgbClr val="86BC25"/>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60" b="1">
                <a:solidFill>
                  <a:srgbClr val="283241"/>
                </a:solidFill>
              </a:defRPr>
            </a:pPr>
            <a:r>
              <a:rPr kumimoji="0" sz="860" b="1" i="0" u="none" strike="noStrike" kern="1200" cap="none" spc="0" normalizeH="0" baseline="0" noProof="0">
                <a:ln>
                  <a:noFill/>
                </a:ln>
                <a:solidFill>
                  <a:srgbClr val="283241"/>
                </a:solidFill>
                <a:effectLst/>
                <a:uLnTx/>
                <a:uFillTx/>
                <a:latin typeface="Aptos" panose="020B0004020202020204"/>
                <a:ea typeface="+mn-ea"/>
                <a:cs typeface="+mn-cs"/>
              </a:rPr>
              <a:t>Aurora PostgreSQL</a:t>
            </a:r>
          </a:p>
          <a:p>
            <a:pPr marL="0" marR="0" lvl="0" indent="0" algn="ctr" defTabSz="914400" rtl="0" eaLnBrk="1" fontAlgn="auto" latinLnBrk="0" hangingPunct="1">
              <a:lnSpc>
                <a:spcPct val="100000"/>
              </a:lnSpc>
              <a:spcBef>
                <a:spcPts val="0"/>
              </a:spcBef>
              <a:spcAft>
                <a:spcPts val="0"/>
              </a:spcAft>
              <a:buClrTx/>
              <a:buSzTx/>
              <a:buFontTx/>
              <a:buNone/>
              <a:tabLst/>
              <a:defRPr sz="680">
                <a:solidFill>
                  <a:srgbClr val="5C6C80"/>
                </a:solidFill>
              </a:defRPr>
            </a:pPr>
            <a:r>
              <a:rPr kumimoji="0" sz="680" b="0" i="0" u="none" strike="noStrike" kern="1200" cap="none" spc="0" normalizeH="0" baseline="0" noProof="0">
                <a:ln>
                  <a:noFill/>
                </a:ln>
                <a:solidFill>
                  <a:srgbClr val="5C6C80"/>
                </a:solidFill>
                <a:effectLst/>
                <a:uLnTx/>
                <a:uFillTx/>
                <a:latin typeface="Aptos" panose="020B0004020202020204"/>
                <a:ea typeface="+mn-ea"/>
                <a:cs typeface="+mn-cs"/>
              </a:rPr>
              <a:t>Leads • applications</a:t>
            </a:r>
            <a:br>
              <a:rPr kumimoji="0" sz="680" b="0" i="0" u="none" strike="noStrike" kern="1200" cap="none" spc="0" normalizeH="0" baseline="0" noProof="0">
                <a:ln>
                  <a:noFill/>
                </a:ln>
                <a:solidFill>
                  <a:srgbClr val="5C6C80"/>
                </a:solidFill>
                <a:effectLst/>
                <a:uLnTx/>
                <a:uFillTx/>
                <a:latin typeface="Aptos" panose="020B0004020202020204"/>
                <a:ea typeface="+mn-ea"/>
                <a:cs typeface="+mn-cs"/>
              </a:rPr>
            </a:br>
            <a:r>
              <a:rPr kumimoji="0" sz="680" b="0" i="0" u="none" strike="noStrike" kern="1200" cap="none" spc="0" normalizeH="0" baseline="0" noProof="0">
                <a:ln>
                  <a:noFill/>
                </a:ln>
                <a:solidFill>
                  <a:srgbClr val="5C6C80"/>
                </a:solidFill>
                <a:effectLst/>
                <a:uLnTx/>
                <a:uFillTx/>
                <a:latin typeface="Aptos" panose="020B0004020202020204"/>
                <a:ea typeface="+mn-ea"/>
                <a:cs typeface="+mn-cs"/>
              </a:rPr>
              <a:t>applicants • audit</a:t>
            </a:r>
          </a:p>
        </p:txBody>
      </p:sp>
      <p:sp>
        <p:nvSpPr>
          <p:cNvPr id="35" name="Rounded Rectangle 34"/>
          <p:cNvSpPr/>
          <p:nvPr/>
        </p:nvSpPr>
        <p:spPr>
          <a:xfrm>
            <a:off x="960120" y="3968496"/>
            <a:ext cx="73152" cy="530352"/>
          </a:xfrm>
          <a:prstGeom prst="roundRect">
            <a:avLst>
              <a:gd name="adj" fmla="val 6000"/>
            </a:avLst>
          </a:prstGeom>
          <a:solidFill>
            <a:srgbClr val="86BC25"/>
          </a:solidFill>
          <a:ln>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Rounded Rectangle 35"/>
          <p:cNvSpPr/>
          <p:nvPr/>
        </p:nvSpPr>
        <p:spPr>
          <a:xfrm>
            <a:off x="2578608" y="3968496"/>
            <a:ext cx="1051560" cy="530352"/>
          </a:xfrm>
          <a:prstGeom prst="roundRect">
            <a:avLst>
              <a:gd name="adj" fmla="val 6000"/>
            </a:avLst>
          </a:prstGeom>
          <a:solidFill>
            <a:srgbClr val="FFFFFF"/>
          </a:solidFill>
          <a:ln w="13970">
            <a:solidFill>
              <a:srgbClr val="86BC25"/>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60" b="1">
                <a:solidFill>
                  <a:srgbClr val="283241"/>
                </a:solidFill>
              </a:defRPr>
            </a:pPr>
            <a:r>
              <a:rPr kumimoji="0" sz="860" b="1" i="0" u="none" strike="noStrike" kern="1200" cap="none" spc="0" normalizeH="0" baseline="0" noProof="0">
                <a:ln>
                  <a:noFill/>
                </a:ln>
                <a:solidFill>
                  <a:srgbClr val="283241"/>
                </a:solidFill>
                <a:effectLst/>
                <a:uLnTx/>
                <a:uFillTx/>
                <a:latin typeface="Aptos" panose="020B0004020202020204"/>
                <a:ea typeface="+mn-ea"/>
                <a:cs typeface="+mn-cs"/>
              </a:rPr>
              <a:t>Amazon S3</a:t>
            </a:r>
          </a:p>
          <a:p>
            <a:pPr marL="0" marR="0" lvl="0" indent="0" algn="ctr" defTabSz="914400" rtl="0" eaLnBrk="1" fontAlgn="auto" latinLnBrk="0" hangingPunct="1">
              <a:lnSpc>
                <a:spcPct val="100000"/>
              </a:lnSpc>
              <a:spcBef>
                <a:spcPts val="0"/>
              </a:spcBef>
              <a:spcAft>
                <a:spcPts val="0"/>
              </a:spcAft>
              <a:buClrTx/>
              <a:buSzTx/>
              <a:buFontTx/>
              <a:buNone/>
              <a:tabLst/>
              <a:defRPr sz="680">
                <a:solidFill>
                  <a:srgbClr val="5C6C80"/>
                </a:solidFill>
              </a:defRPr>
            </a:pPr>
            <a:r>
              <a:rPr kumimoji="0" sz="680" b="0" i="0" u="none" strike="noStrike" kern="1200" cap="none" spc="0" normalizeH="0" baseline="0" noProof="0">
                <a:ln>
                  <a:noFill/>
                </a:ln>
                <a:solidFill>
                  <a:srgbClr val="5C6C80"/>
                </a:solidFill>
                <a:effectLst/>
                <a:uLnTx/>
                <a:uFillTx/>
                <a:latin typeface="Aptos" panose="020B0004020202020204"/>
                <a:ea typeface="+mn-ea"/>
                <a:cs typeface="+mn-cs"/>
              </a:rPr>
              <a:t>KYC docs • forms</a:t>
            </a:r>
            <a:br>
              <a:rPr kumimoji="0" sz="680" b="0" i="0" u="none" strike="noStrike" kern="1200" cap="none" spc="0" normalizeH="0" baseline="0" noProof="0">
                <a:ln>
                  <a:noFill/>
                </a:ln>
                <a:solidFill>
                  <a:srgbClr val="5C6C80"/>
                </a:solidFill>
                <a:effectLst/>
                <a:uLnTx/>
                <a:uFillTx/>
                <a:latin typeface="Aptos" panose="020B0004020202020204"/>
                <a:ea typeface="+mn-ea"/>
                <a:cs typeface="+mn-cs"/>
              </a:rPr>
            </a:br>
            <a:r>
              <a:rPr kumimoji="0" sz="680" b="0" i="0" u="none" strike="noStrike" kern="1200" cap="none" spc="0" normalizeH="0" baseline="0" noProof="0">
                <a:ln>
                  <a:noFill/>
                </a:ln>
                <a:solidFill>
                  <a:srgbClr val="5C6C80"/>
                </a:solidFill>
                <a:effectLst/>
                <a:uLnTx/>
                <a:uFillTx/>
                <a:latin typeface="Aptos" panose="020B0004020202020204"/>
                <a:ea typeface="+mn-ea"/>
                <a:cs typeface="+mn-cs"/>
              </a:rPr>
              <a:t>statements</a:t>
            </a:r>
          </a:p>
        </p:txBody>
      </p:sp>
      <p:sp>
        <p:nvSpPr>
          <p:cNvPr id="37" name="Rounded Rectangle 36"/>
          <p:cNvSpPr/>
          <p:nvPr/>
        </p:nvSpPr>
        <p:spPr>
          <a:xfrm>
            <a:off x="2578608" y="3968496"/>
            <a:ext cx="73152" cy="530352"/>
          </a:xfrm>
          <a:prstGeom prst="roundRect">
            <a:avLst>
              <a:gd name="adj" fmla="val 6000"/>
            </a:avLst>
          </a:prstGeom>
          <a:solidFill>
            <a:srgbClr val="86BC25"/>
          </a:solidFill>
          <a:ln>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8" name="Rounded Rectangle 37"/>
          <p:cNvSpPr/>
          <p:nvPr/>
        </p:nvSpPr>
        <p:spPr>
          <a:xfrm>
            <a:off x="3904487" y="3968496"/>
            <a:ext cx="1325880" cy="530352"/>
          </a:xfrm>
          <a:prstGeom prst="roundRect">
            <a:avLst>
              <a:gd name="adj" fmla="val 6000"/>
            </a:avLst>
          </a:prstGeom>
          <a:solidFill>
            <a:srgbClr val="FFFFFF"/>
          </a:solidFill>
          <a:ln w="13970">
            <a:solidFill>
              <a:srgbClr val="86BC25"/>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40" b="1">
                <a:solidFill>
                  <a:srgbClr val="283241"/>
                </a:solidFill>
              </a:defRPr>
            </a:pPr>
            <a:r>
              <a:rPr kumimoji="0" sz="840" b="1" i="0" u="none" strike="noStrike" kern="1200" cap="none" spc="0" normalizeH="0" baseline="0" noProof="0">
                <a:ln>
                  <a:noFill/>
                </a:ln>
                <a:solidFill>
                  <a:srgbClr val="283241"/>
                </a:solidFill>
                <a:effectLst/>
                <a:uLnTx/>
                <a:uFillTx/>
                <a:latin typeface="Aptos" panose="020B0004020202020204"/>
                <a:ea typeface="+mn-ea"/>
                <a:cs typeface="+mn-cs"/>
              </a:rPr>
              <a:t>Step Functions</a:t>
            </a:r>
          </a:p>
          <a:p>
            <a:pPr marL="0" marR="0" lvl="0" indent="0" algn="ctr" defTabSz="914400" rtl="0" eaLnBrk="1" fontAlgn="auto" latinLnBrk="0" hangingPunct="1">
              <a:lnSpc>
                <a:spcPct val="100000"/>
              </a:lnSpc>
              <a:spcBef>
                <a:spcPts val="0"/>
              </a:spcBef>
              <a:spcAft>
                <a:spcPts val="0"/>
              </a:spcAft>
              <a:buClrTx/>
              <a:buSzTx/>
              <a:buFontTx/>
              <a:buNone/>
              <a:tabLst/>
              <a:defRPr sz="670">
                <a:solidFill>
                  <a:srgbClr val="5C6C80"/>
                </a:solidFill>
              </a:defRPr>
            </a:pPr>
            <a:r>
              <a:rPr kumimoji="0" sz="670" b="0" i="0" u="none" strike="noStrike" kern="1200" cap="none" spc="0" normalizeH="0" baseline="0" noProof="0">
                <a:ln>
                  <a:noFill/>
                </a:ln>
                <a:solidFill>
                  <a:srgbClr val="5C6C80"/>
                </a:solidFill>
                <a:effectLst/>
                <a:uLnTx/>
                <a:uFillTx/>
                <a:latin typeface="Aptos" panose="020B0004020202020204"/>
                <a:ea typeface="+mn-ea"/>
                <a:cs typeface="+mn-cs"/>
              </a:rPr>
              <a:t>KYC → bureau → credit</a:t>
            </a:r>
            <a:br>
              <a:rPr kumimoji="0" sz="670" b="0" i="0" u="none" strike="noStrike" kern="1200" cap="none" spc="0" normalizeH="0" baseline="0" noProof="0">
                <a:ln>
                  <a:noFill/>
                </a:ln>
                <a:solidFill>
                  <a:srgbClr val="5C6C80"/>
                </a:solidFill>
                <a:effectLst/>
                <a:uLnTx/>
                <a:uFillTx/>
                <a:latin typeface="Aptos" panose="020B0004020202020204"/>
                <a:ea typeface="+mn-ea"/>
                <a:cs typeface="+mn-cs"/>
              </a:rPr>
            </a:br>
            <a:r>
              <a:rPr kumimoji="0" sz="670" b="0" i="0" u="none" strike="noStrike" kern="1200" cap="none" spc="0" normalizeH="0" baseline="0" noProof="0">
                <a:ln>
                  <a:noFill/>
                </a:ln>
                <a:solidFill>
                  <a:srgbClr val="5C6C80"/>
                </a:solidFill>
                <a:effectLst/>
                <a:uLnTx/>
                <a:uFillTx/>
                <a:latin typeface="Aptos" panose="020B0004020202020204"/>
                <a:ea typeface="+mn-ea"/>
                <a:cs typeface="+mn-cs"/>
              </a:rPr>
              <a:t>approval → </a:t>
            </a:r>
            <a:r>
              <a:rPr kumimoji="0" sz="670" b="0" i="0" u="none" strike="noStrike" kern="1200" cap="none" spc="0" normalizeH="0" baseline="0" noProof="0" err="1">
                <a:ln>
                  <a:noFill/>
                </a:ln>
                <a:solidFill>
                  <a:srgbClr val="5C6C80"/>
                </a:solidFill>
                <a:effectLst/>
                <a:uLnTx/>
                <a:uFillTx/>
                <a:latin typeface="Aptos" panose="020B0004020202020204"/>
                <a:ea typeface="+mn-ea"/>
                <a:cs typeface="+mn-cs"/>
              </a:rPr>
              <a:t>eSign</a:t>
            </a:r>
            <a:endParaRPr kumimoji="0" sz="670" b="0" i="0" u="none" strike="noStrike" kern="1200" cap="none" spc="0" normalizeH="0" baseline="0" noProof="0">
              <a:ln>
                <a:noFill/>
              </a:ln>
              <a:solidFill>
                <a:srgbClr val="5C6C80"/>
              </a:solidFill>
              <a:effectLst/>
              <a:uLnTx/>
              <a:uFillTx/>
              <a:latin typeface="Aptos" panose="020B0004020202020204"/>
              <a:ea typeface="+mn-ea"/>
              <a:cs typeface="+mn-cs"/>
            </a:endParaRPr>
          </a:p>
        </p:txBody>
      </p:sp>
      <p:sp>
        <p:nvSpPr>
          <p:cNvPr id="39" name="Rounded Rectangle 38"/>
          <p:cNvSpPr/>
          <p:nvPr/>
        </p:nvSpPr>
        <p:spPr>
          <a:xfrm>
            <a:off x="3904487" y="3968496"/>
            <a:ext cx="73152" cy="530352"/>
          </a:xfrm>
          <a:prstGeom prst="roundRect">
            <a:avLst>
              <a:gd name="adj" fmla="val 6000"/>
            </a:avLst>
          </a:prstGeom>
          <a:solidFill>
            <a:srgbClr val="86BC25"/>
          </a:solidFill>
          <a:ln>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0" name="Rounded Rectangle 39"/>
          <p:cNvSpPr/>
          <p:nvPr/>
        </p:nvSpPr>
        <p:spPr>
          <a:xfrm>
            <a:off x="5504688" y="3968496"/>
            <a:ext cx="1325880" cy="530352"/>
          </a:xfrm>
          <a:prstGeom prst="roundRect">
            <a:avLst>
              <a:gd name="adj" fmla="val 6000"/>
            </a:avLst>
          </a:prstGeom>
          <a:solidFill>
            <a:srgbClr val="FFFFFF"/>
          </a:solidFill>
          <a:ln w="13970">
            <a:solidFill>
              <a:srgbClr val="86BC25"/>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19" b="1">
                <a:solidFill>
                  <a:srgbClr val="283241"/>
                </a:solidFill>
              </a:defRPr>
            </a:pPr>
            <a:r>
              <a:rPr kumimoji="0" sz="819" b="1" i="0" u="none" strike="noStrike" kern="1200" cap="none" spc="0" normalizeH="0" baseline="0" noProof="0">
                <a:ln>
                  <a:noFill/>
                </a:ln>
                <a:solidFill>
                  <a:srgbClr val="283241"/>
                </a:solidFill>
                <a:effectLst/>
                <a:uLnTx/>
                <a:uFillTx/>
                <a:latin typeface="Aptos" panose="020B0004020202020204"/>
                <a:ea typeface="+mn-ea"/>
                <a:cs typeface="+mn-cs"/>
              </a:rPr>
              <a:t>Audit &amp; Monitoring</a:t>
            </a:r>
          </a:p>
          <a:p>
            <a:pPr marL="0" marR="0" lvl="0" indent="0" algn="ctr" defTabSz="914400" rtl="0" eaLnBrk="1" fontAlgn="auto" latinLnBrk="0" hangingPunct="1">
              <a:lnSpc>
                <a:spcPct val="100000"/>
              </a:lnSpc>
              <a:spcBef>
                <a:spcPts val="0"/>
              </a:spcBef>
              <a:spcAft>
                <a:spcPts val="0"/>
              </a:spcAft>
              <a:buClrTx/>
              <a:buSzTx/>
              <a:buFontTx/>
              <a:buNone/>
              <a:tabLst/>
              <a:defRPr sz="670">
                <a:solidFill>
                  <a:srgbClr val="5C6C80"/>
                </a:solidFill>
              </a:defRPr>
            </a:pPr>
            <a:r>
              <a:rPr kumimoji="0" sz="670" b="0" i="0" u="none" strike="noStrike" kern="1200" cap="none" spc="0" normalizeH="0" baseline="0" noProof="0">
                <a:ln>
                  <a:noFill/>
                </a:ln>
                <a:solidFill>
                  <a:srgbClr val="5C6C80"/>
                </a:solidFill>
                <a:effectLst/>
                <a:uLnTx/>
                <a:uFillTx/>
                <a:latin typeface="Aptos" panose="020B0004020202020204"/>
                <a:ea typeface="+mn-ea"/>
                <a:cs typeface="+mn-cs"/>
              </a:rPr>
              <a:t>CloudWatch • CloudTrail</a:t>
            </a:r>
            <a:br>
              <a:rPr kumimoji="0" sz="670" b="0" i="0" u="none" strike="noStrike" kern="1200" cap="none" spc="0" normalizeH="0" baseline="0" noProof="0">
                <a:ln>
                  <a:noFill/>
                </a:ln>
                <a:solidFill>
                  <a:srgbClr val="5C6C80"/>
                </a:solidFill>
                <a:effectLst/>
                <a:uLnTx/>
                <a:uFillTx/>
                <a:latin typeface="Aptos" panose="020B0004020202020204"/>
                <a:ea typeface="+mn-ea"/>
                <a:cs typeface="+mn-cs"/>
              </a:rPr>
            </a:br>
            <a:r>
              <a:rPr kumimoji="0" sz="670" b="0" i="0" u="none" strike="noStrike" kern="1200" cap="none" spc="0" normalizeH="0" baseline="0" noProof="0">
                <a:ln>
                  <a:noFill/>
                </a:ln>
                <a:solidFill>
                  <a:srgbClr val="5C6C80"/>
                </a:solidFill>
                <a:effectLst/>
                <a:uLnTx/>
                <a:uFillTx/>
                <a:latin typeface="Aptos" panose="020B0004020202020204"/>
                <a:ea typeface="+mn-ea"/>
                <a:cs typeface="+mn-cs"/>
              </a:rPr>
              <a:t>X-Ray</a:t>
            </a:r>
          </a:p>
        </p:txBody>
      </p:sp>
      <p:sp>
        <p:nvSpPr>
          <p:cNvPr id="41" name="Rounded Rectangle 40"/>
          <p:cNvSpPr/>
          <p:nvPr/>
        </p:nvSpPr>
        <p:spPr>
          <a:xfrm>
            <a:off x="5504688" y="3968496"/>
            <a:ext cx="73152" cy="530352"/>
          </a:xfrm>
          <a:prstGeom prst="roundRect">
            <a:avLst>
              <a:gd name="adj" fmla="val 6000"/>
            </a:avLst>
          </a:prstGeom>
          <a:solidFill>
            <a:srgbClr val="86BC25"/>
          </a:solidFill>
          <a:ln>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2" name="Rounded Rectangle 41"/>
          <p:cNvSpPr/>
          <p:nvPr/>
        </p:nvSpPr>
        <p:spPr>
          <a:xfrm>
            <a:off x="960120" y="5120640"/>
            <a:ext cx="1115568" cy="329184"/>
          </a:xfrm>
          <a:prstGeom prst="roundRect">
            <a:avLst>
              <a:gd name="adj" fmla="val 6000"/>
            </a:avLst>
          </a:prstGeom>
          <a:solidFill>
            <a:srgbClr val="FFFFFF"/>
          </a:solidFill>
          <a:ln w="13970">
            <a:solidFill>
              <a:srgbClr val="FF9900"/>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40" b="1">
                <a:solidFill>
                  <a:srgbClr val="283241"/>
                </a:solidFill>
              </a:defRPr>
            </a:pPr>
            <a:r>
              <a:rPr kumimoji="0" sz="840" b="1" i="0" u="none" strike="noStrike" kern="1200" cap="none" spc="0" normalizeH="0" baseline="0" noProof="0">
                <a:ln>
                  <a:noFill/>
                </a:ln>
                <a:solidFill>
                  <a:srgbClr val="283241"/>
                </a:solidFill>
                <a:effectLst/>
                <a:uLnTx/>
                <a:uFillTx/>
                <a:latin typeface="Aptos" panose="020B0004020202020204"/>
                <a:ea typeface="+mn-ea"/>
                <a:cs typeface="+mn-cs"/>
              </a:rPr>
              <a:t>Bureau</a:t>
            </a:r>
          </a:p>
        </p:txBody>
      </p:sp>
      <p:sp>
        <p:nvSpPr>
          <p:cNvPr id="43" name="Rounded Rectangle 42"/>
          <p:cNvSpPr/>
          <p:nvPr/>
        </p:nvSpPr>
        <p:spPr>
          <a:xfrm>
            <a:off x="960120" y="5120640"/>
            <a:ext cx="73152" cy="329184"/>
          </a:xfrm>
          <a:prstGeom prst="roundRect">
            <a:avLst>
              <a:gd name="adj" fmla="val 6000"/>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Rounded Rectangle 43"/>
          <p:cNvSpPr/>
          <p:nvPr/>
        </p:nvSpPr>
        <p:spPr>
          <a:xfrm>
            <a:off x="2240280" y="5120640"/>
            <a:ext cx="1115568" cy="329184"/>
          </a:xfrm>
          <a:prstGeom prst="roundRect">
            <a:avLst>
              <a:gd name="adj" fmla="val 6000"/>
            </a:avLst>
          </a:prstGeom>
          <a:solidFill>
            <a:srgbClr val="FFFFFF"/>
          </a:solidFill>
          <a:ln w="13970">
            <a:solidFill>
              <a:srgbClr val="FF9900"/>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19" b="1">
                <a:solidFill>
                  <a:srgbClr val="283241"/>
                </a:solidFill>
              </a:defRPr>
            </a:pPr>
            <a:r>
              <a:rPr kumimoji="0" sz="819" b="1" i="0" u="none" strike="noStrike" kern="1200" cap="none" spc="0" normalizeH="0" baseline="0" noProof="0">
                <a:ln>
                  <a:noFill/>
                </a:ln>
                <a:solidFill>
                  <a:srgbClr val="283241"/>
                </a:solidFill>
                <a:effectLst/>
                <a:uLnTx/>
                <a:uFillTx/>
                <a:latin typeface="Aptos" panose="020B0004020202020204"/>
                <a:ea typeface="+mn-ea"/>
                <a:cs typeface="+mn-cs"/>
              </a:rPr>
              <a:t>CKYC / KRA</a:t>
            </a:r>
          </a:p>
        </p:txBody>
      </p:sp>
      <p:sp>
        <p:nvSpPr>
          <p:cNvPr id="45" name="Rounded Rectangle 44"/>
          <p:cNvSpPr/>
          <p:nvPr/>
        </p:nvSpPr>
        <p:spPr>
          <a:xfrm>
            <a:off x="2240280" y="5120640"/>
            <a:ext cx="73152" cy="329184"/>
          </a:xfrm>
          <a:prstGeom prst="roundRect">
            <a:avLst>
              <a:gd name="adj" fmla="val 6000"/>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6" name="Rounded Rectangle 45"/>
          <p:cNvSpPr/>
          <p:nvPr/>
        </p:nvSpPr>
        <p:spPr>
          <a:xfrm>
            <a:off x="3520440" y="5120640"/>
            <a:ext cx="1115568" cy="329184"/>
          </a:xfrm>
          <a:prstGeom prst="roundRect">
            <a:avLst>
              <a:gd name="adj" fmla="val 6000"/>
            </a:avLst>
          </a:prstGeom>
          <a:solidFill>
            <a:srgbClr val="FFFFFF"/>
          </a:solidFill>
          <a:ln w="13970">
            <a:solidFill>
              <a:srgbClr val="FF9900"/>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19" b="1">
                <a:solidFill>
                  <a:srgbClr val="283241"/>
                </a:solidFill>
              </a:defRPr>
            </a:pPr>
            <a:r>
              <a:rPr kumimoji="0" sz="819" b="1" i="0" u="none" strike="noStrike" kern="1200" cap="none" spc="0" normalizeH="0" baseline="0" noProof="0">
                <a:ln>
                  <a:noFill/>
                </a:ln>
                <a:solidFill>
                  <a:srgbClr val="283241"/>
                </a:solidFill>
                <a:effectLst/>
                <a:uLnTx/>
                <a:uFillTx/>
                <a:latin typeface="Aptos" panose="020B0004020202020204"/>
                <a:ea typeface="+mn-ea"/>
                <a:cs typeface="+mn-cs"/>
              </a:rPr>
              <a:t>DigiLocker</a:t>
            </a:r>
          </a:p>
        </p:txBody>
      </p:sp>
      <p:sp>
        <p:nvSpPr>
          <p:cNvPr id="47" name="Rounded Rectangle 46"/>
          <p:cNvSpPr/>
          <p:nvPr/>
        </p:nvSpPr>
        <p:spPr>
          <a:xfrm>
            <a:off x="3520440" y="5120640"/>
            <a:ext cx="73152" cy="329184"/>
          </a:xfrm>
          <a:prstGeom prst="roundRect">
            <a:avLst>
              <a:gd name="adj" fmla="val 6000"/>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8" name="Rounded Rectangle 47"/>
          <p:cNvSpPr/>
          <p:nvPr/>
        </p:nvSpPr>
        <p:spPr>
          <a:xfrm>
            <a:off x="4800600" y="5120640"/>
            <a:ext cx="1115568" cy="329184"/>
          </a:xfrm>
          <a:prstGeom prst="roundRect">
            <a:avLst>
              <a:gd name="adj" fmla="val 6000"/>
            </a:avLst>
          </a:prstGeom>
          <a:solidFill>
            <a:srgbClr val="FFFFFF"/>
          </a:solidFill>
          <a:ln w="13970">
            <a:solidFill>
              <a:srgbClr val="FF9900"/>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40" b="1">
                <a:solidFill>
                  <a:srgbClr val="283241"/>
                </a:solidFill>
              </a:defRPr>
            </a:pPr>
            <a:r>
              <a:rPr kumimoji="0" sz="840" b="1" i="0" u="none" strike="noStrike" kern="1200" cap="none" spc="0" normalizeH="0" baseline="0" noProof="0">
                <a:ln>
                  <a:noFill/>
                </a:ln>
                <a:solidFill>
                  <a:srgbClr val="283241"/>
                </a:solidFill>
                <a:effectLst/>
                <a:uLnTx/>
                <a:uFillTx/>
                <a:latin typeface="Aptos" panose="020B0004020202020204"/>
                <a:ea typeface="+mn-ea"/>
                <a:cs typeface="+mn-cs"/>
              </a:rPr>
              <a:t>OCR</a:t>
            </a:r>
          </a:p>
        </p:txBody>
      </p:sp>
      <p:sp>
        <p:nvSpPr>
          <p:cNvPr id="49" name="Rounded Rectangle 48"/>
          <p:cNvSpPr/>
          <p:nvPr/>
        </p:nvSpPr>
        <p:spPr>
          <a:xfrm>
            <a:off x="4800600" y="5120640"/>
            <a:ext cx="73152" cy="329184"/>
          </a:xfrm>
          <a:prstGeom prst="roundRect">
            <a:avLst>
              <a:gd name="adj" fmla="val 6000"/>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0" name="Rounded Rectangle 49"/>
          <p:cNvSpPr/>
          <p:nvPr/>
        </p:nvSpPr>
        <p:spPr>
          <a:xfrm>
            <a:off x="6080760" y="5120640"/>
            <a:ext cx="1115568" cy="329184"/>
          </a:xfrm>
          <a:prstGeom prst="roundRect">
            <a:avLst>
              <a:gd name="adj" fmla="val 6000"/>
            </a:avLst>
          </a:prstGeom>
          <a:solidFill>
            <a:srgbClr val="FFFFFF"/>
          </a:solidFill>
          <a:ln w="13970">
            <a:solidFill>
              <a:srgbClr val="FF9900"/>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40" b="1">
                <a:solidFill>
                  <a:srgbClr val="283241"/>
                </a:solidFill>
              </a:defRPr>
            </a:pPr>
            <a:r>
              <a:rPr kumimoji="0" sz="840" b="1" i="0" u="none" strike="noStrike" kern="1200" cap="none" spc="0" normalizeH="0" baseline="0" noProof="0">
                <a:ln>
                  <a:noFill/>
                </a:ln>
                <a:solidFill>
                  <a:srgbClr val="283241"/>
                </a:solidFill>
                <a:effectLst/>
                <a:uLnTx/>
                <a:uFillTx/>
                <a:latin typeface="Aptos" panose="020B0004020202020204"/>
                <a:ea typeface="+mn-ea"/>
                <a:cs typeface="+mn-cs"/>
              </a:rPr>
              <a:t>eSign</a:t>
            </a:r>
          </a:p>
        </p:txBody>
      </p:sp>
      <p:sp>
        <p:nvSpPr>
          <p:cNvPr id="51" name="Rounded Rectangle 50"/>
          <p:cNvSpPr/>
          <p:nvPr/>
        </p:nvSpPr>
        <p:spPr>
          <a:xfrm>
            <a:off x="6080760" y="5120640"/>
            <a:ext cx="73152" cy="329184"/>
          </a:xfrm>
          <a:prstGeom prst="roundRect">
            <a:avLst>
              <a:gd name="adj" fmla="val 6000"/>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2" name="Rounded Rectangle 51"/>
          <p:cNvSpPr/>
          <p:nvPr/>
        </p:nvSpPr>
        <p:spPr>
          <a:xfrm>
            <a:off x="7909560" y="1554480"/>
            <a:ext cx="3429000" cy="566928"/>
          </a:xfrm>
          <a:prstGeom prst="roundRect">
            <a:avLst>
              <a:gd name="adj" fmla="val 6000"/>
            </a:avLst>
          </a:prstGeom>
          <a:solidFill>
            <a:srgbClr val="F3F0FB"/>
          </a:solidFill>
          <a:ln w="13970">
            <a:solidFill>
              <a:srgbClr val="6D4ABE"/>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919" b="1">
                <a:solidFill>
                  <a:srgbClr val="283241"/>
                </a:solidFill>
              </a:defRPr>
            </a:pPr>
            <a:r>
              <a:rPr kumimoji="0" sz="919" b="1" i="0" u="none" strike="noStrike" kern="1200" cap="none" spc="0" normalizeH="0" baseline="0" noProof="0">
                <a:ln>
                  <a:noFill/>
                </a:ln>
                <a:solidFill>
                  <a:srgbClr val="283241"/>
                </a:solidFill>
                <a:effectLst/>
                <a:uLnTx/>
                <a:uFillTx/>
                <a:latin typeface="Aptos" panose="020B0004020202020204"/>
                <a:ea typeface="+mn-ea"/>
                <a:cs typeface="+mn-cs"/>
              </a:rPr>
              <a:t>Amazon Bedrock Agent</a:t>
            </a:r>
          </a:p>
          <a:p>
            <a:pPr marL="0" marR="0" lvl="0" indent="0" algn="ctr" defTabSz="914400" rtl="0" eaLnBrk="1" fontAlgn="auto" latinLnBrk="0" hangingPunct="1">
              <a:lnSpc>
                <a:spcPct val="100000"/>
              </a:lnSpc>
              <a:spcBef>
                <a:spcPts val="0"/>
              </a:spcBef>
              <a:spcAft>
                <a:spcPts val="0"/>
              </a:spcAft>
              <a:buClrTx/>
              <a:buSzTx/>
              <a:buFontTx/>
              <a:buNone/>
              <a:tabLst/>
              <a:defRPr sz="740">
                <a:solidFill>
                  <a:srgbClr val="5C6C80"/>
                </a:solidFill>
              </a:defRPr>
            </a:pPr>
            <a:r>
              <a:rPr kumimoji="0" sz="740" b="0" i="0" u="none" strike="noStrike" kern="1200" cap="none" spc="0" normalizeH="0" baseline="0" noProof="0">
                <a:ln>
                  <a:noFill/>
                </a:ln>
                <a:solidFill>
                  <a:srgbClr val="5C6C80"/>
                </a:solidFill>
                <a:effectLst/>
                <a:uLnTx/>
                <a:uFillTx/>
                <a:latin typeface="Aptos" panose="020B0004020202020204"/>
                <a:ea typeface="+mn-ea"/>
                <a:cs typeface="+mn-cs"/>
              </a:rPr>
              <a:t>Orchestrates assistant requests and invokes approved actions</a:t>
            </a:r>
          </a:p>
        </p:txBody>
      </p:sp>
      <p:sp>
        <p:nvSpPr>
          <p:cNvPr id="53" name="Rounded Rectangle 52"/>
          <p:cNvSpPr/>
          <p:nvPr/>
        </p:nvSpPr>
        <p:spPr>
          <a:xfrm>
            <a:off x="7909560" y="1554480"/>
            <a:ext cx="73152" cy="566928"/>
          </a:xfrm>
          <a:prstGeom prst="roundRect">
            <a:avLst>
              <a:gd name="adj" fmla="val 6000"/>
            </a:avLst>
          </a:prstGeom>
          <a:solidFill>
            <a:srgbClr val="6D4ABE"/>
          </a:solidFill>
          <a:ln>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4" name="Rounded Rectangle 53"/>
          <p:cNvSpPr/>
          <p:nvPr/>
        </p:nvSpPr>
        <p:spPr>
          <a:xfrm>
            <a:off x="7909560" y="2395728"/>
            <a:ext cx="1572768" cy="548640"/>
          </a:xfrm>
          <a:prstGeom prst="roundRect">
            <a:avLst>
              <a:gd name="adj" fmla="val 6000"/>
            </a:avLst>
          </a:prstGeom>
          <a:solidFill>
            <a:srgbClr val="FFFFFF"/>
          </a:solidFill>
          <a:ln w="13970">
            <a:solidFill>
              <a:srgbClr val="6D4ABE"/>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60" b="1">
                <a:solidFill>
                  <a:srgbClr val="283241"/>
                </a:solidFill>
              </a:defRPr>
            </a:pPr>
            <a:r>
              <a:rPr kumimoji="0" sz="860" b="1" i="0" u="none" strike="noStrike" kern="1200" cap="none" spc="0" normalizeH="0" baseline="0" noProof="0">
                <a:ln>
                  <a:noFill/>
                </a:ln>
                <a:solidFill>
                  <a:srgbClr val="283241"/>
                </a:solidFill>
                <a:effectLst/>
                <a:uLnTx/>
                <a:uFillTx/>
                <a:latin typeface="Aptos" panose="020B0004020202020204"/>
                <a:ea typeface="+mn-ea"/>
                <a:cs typeface="+mn-cs"/>
              </a:rPr>
              <a:t>Action Groups</a:t>
            </a:r>
          </a:p>
          <a:p>
            <a:pPr marL="0" marR="0" lvl="0" indent="0" algn="ctr" defTabSz="914400" rtl="0" eaLnBrk="1" fontAlgn="auto" latinLnBrk="0" hangingPunct="1">
              <a:lnSpc>
                <a:spcPct val="100000"/>
              </a:lnSpc>
              <a:spcBef>
                <a:spcPts val="0"/>
              </a:spcBef>
              <a:spcAft>
                <a:spcPts val="0"/>
              </a:spcAft>
              <a:buClrTx/>
              <a:buSzTx/>
              <a:buFontTx/>
              <a:buNone/>
              <a:tabLst/>
              <a:defRPr sz="700">
                <a:solidFill>
                  <a:srgbClr val="5C6C80"/>
                </a:solidFill>
              </a:defRPr>
            </a:pPr>
            <a:r>
              <a:rPr kumimoji="0" sz="700" b="0" i="0" u="none" strike="noStrike" kern="1200" cap="none" spc="0" normalizeH="0" baseline="0" noProof="0" err="1">
                <a:ln>
                  <a:noFill/>
                </a:ln>
                <a:solidFill>
                  <a:srgbClr val="5C6C80"/>
                </a:solidFill>
                <a:effectLst/>
                <a:uLnTx/>
                <a:uFillTx/>
                <a:latin typeface="Aptos" panose="020B0004020202020204"/>
                <a:ea typeface="+mn-ea"/>
                <a:cs typeface="+mn-cs"/>
              </a:rPr>
              <a:t>OpenAPI</a:t>
            </a:r>
            <a:r>
              <a:rPr kumimoji="0" sz="700" b="0" i="0" u="none" strike="noStrike" kern="1200" cap="none" spc="0" normalizeH="0" baseline="0" noProof="0">
                <a:ln>
                  <a:noFill/>
                </a:ln>
                <a:solidFill>
                  <a:srgbClr val="5C6C80"/>
                </a:solidFill>
                <a:effectLst/>
                <a:uLnTx/>
                <a:uFillTx/>
                <a:latin typeface="Aptos" panose="020B0004020202020204"/>
                <a:ea typeface="+mn-ea"/>
                <a:cs typeface="+mn-cs"/>
              </a:rPr>
              <a:t> schema</a:t>
            </a:r>
            <a:br>
              <a:rPr kumimoji="0" sz="700" b="0" i="0" u="none" strike="noStrike" kern="1200" cap="none" spc="0" normalizeH="0" baseline="0" noProof="0">
                <a:ln>
                  <a:noFill/>
                </a:ln>
                <a:solidFill>
                  <a:srgbClr val="5C6C80"/>
                </a:solidFill>
                <a:effectLst/>
                <a:uLnTx/>
                <a:uFillTx/>
                <a:latin typeface="Aptos" panose="020B0004020202020204"/>
                <a:ea typeface="+mn-ea"/>
                <a:cs typeface="+mn-cs"/>
              </a:rPr>
            </a:br>
            <a:r>
              <a:rPr kumimoji="0" sz="700" b="0" i="0" u="none" strike="noStrike" kern="1200" cap="none" spc="0" normalizeH="0" baseline="0" noProof="0">
                <a:ln>
                  <a:noFill/>
                </a:ln>
                <a:solidFill>
                  <a:srgbClr val="5C6C80"/>
                </a:solidFill>
                <a:effectLst/>
                <a:uLnTx/>
                <a:uFillTx/>
                <a:latin typeface="Aptos" panose="020B0004020202020204"/>
                <a:ea typeface="+mn-ea"/>
                <a:cs typeface="+mn-cs"/>
              </a:rPr>
              <a:t>calls Lambda</a:t>
            </a:r>
          </a:p>
        </p:txBody>
      </p:sp>
      <p:sp>
        <p:nvSpPr>
          <p:cNvPr id="55" name="Rounded Rectangle 54"/>
          <p:cNvSpPr/>
          <p:nvPr/>
        </p:nvSpPr>
        <p:spPr>
          <a:xfrm>
            <a:off x="7909560" y="2395728"/>
            <a:ext cx="73152" cy="548640"/>
          </a:xfrm>
          <a:prstGeom prst="roundRect">
            <a:avLst>
              <a:gd name="adj" fmla="val 6000"/>
            </a:avLst>
          </a:prstGeom>
          <a:solidFill>
            <a:srgbClr val="6D4ABE"/>
          </a:solidFill>
          <a:ln>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6" name="Rounded Rectangle 55"/>
          <p:cNvSpPr/>
          <p:nvPr/>
        </p:nvSpPr>
        <p:spPr>
          <a:xfrm>
            <a:off x="9765792" y="2395728"/>
            <a:ext cx="1572768" cy="548640"/>
          </a:xfrm>
          <a:prstGeom prst="roundRect">
            <a:avLst>
              <a:gd name="adj" fmla="val 6000"/>
            </a:avLst>
          </a:prstGeom>
          <a:solidFill>
            <a:srgbClr val="FFFFFF"/>
          </a:solidFill>
          <a:ln w="13970">
            <a:solidFill>
              <a:srgbClr val="6D4ABE"/>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60" b="1">
                <a:solidFill>
                  <a:srgbClr val="283241"/>
                </a:solidFill>
              </a:defRPr>
            </a:pPr>
            <a:r>
              <a:rPr kumimoji="0" sz="860" b="1" i="0" u="none" strike="noStrike" kern="1200" cap="none" spc="0" normalizeH="0" baseline="0" noProof="0">
                <a:ln>
                  <a:noFill/>
                </a:ln>
                <a:solidFill>
                  <a:srgbClr val="283241"/>
                </a:solidFill>
                <a:effectLst/>
                <a:uLnTx/>
                <a:uFillTx/>
                <a:latin typeface="Aptos" panose="020B0004020202020204"/>
                <a:ea typeface="+mn-ea"/>
                <a:cs typeface="+mn-cs"/>
              </a:rPr>
              <a:t>Guardrails</a:t>
            </a:r>
          </a:p>
          <a:p>
            <a:pPr marL="0" marR="0" lvl="0" indent="0" algn="ctr" defTabSz="914400" rtl="0" eaLnBrk="1" fontAlgn="auto" latinLnBrk="0" hangingPunct="1">
              <a:lnSpc>
                <a:spcPct val="100000"/>
              </a:lnSpc>
              <a:spcBef>
                <a:spcPts val="0"/>
              </a:spcBef>
              <a:spcAft>
                <a:spcPts val="0"/>
              </a:spcAft>
              <a:buClrTx/>
              <a:buSzTx/>
              <a:buFontTx/>
              <a:buNone/>
              <a:tabLst/>
              <a:defRPr sz="700">
                <a:solidFill>
                  <a:srgbClr val="5C6C80"/>
                </a:solidFill>
              </a:defRPr>
            </a:pPr>
            <a:r>
              <a:rPr kumimoji="0" sz="700" b="0" i="0" u="none" strike="noStrike" kern="1200" cap="none" spc="0" normalizeH="0" baseline="0" noProof="0">
                <a:ln>
                  <a:noFill/>
                </a:ln>
                <a:solidFill>
                  <a:srgbClr val="5C6C80"/>
                </a:solidFill>
                <a:effectLst/>
                <a:uLnTx/>
                <a:uFillTx/>
                <a:latin typeface="Aptos" panose="020B0004020202020204"/>
                <a:ea typeface="+mn-ea"/>
                <a:cs typeface="+mn-cs"/>
              </a:rPr>
              <a:t>Safety / policy</a:t>
            </a:r>
            <a:br>
              <a:rPr kumimoji="0" sz="700" b="0" i="0" u="none" strike="noStrike" kern="1200" cap="none" spc="0" normalizeH="0" baseline="0" noProof="0">
                <a:ln>
                  <a:noFill/>
                </a:ln>
                <a:solidFill>
                  <a:srgbClr val="5C6C80"/>
                </a:solidFill>
                <a:effectLst/>
                <a:uLnTx/>
                <a:uFillTx/>
                <a:latin typeface="Aptos" panose="020B0004020202020204"/>
                <a:ea typeface="+mn-ea"/>
                <a:cs typeface="+mn-cs"/>
              </a:rPr>
            </a:br>
            <a:r>
              <a:rPr kumimoji="0" sz="700" b="0" i="0" u="none" strike="noStrike" kern="1200" cap="none" spc="0" normalizeH="0" baseline="0" noProof="0">
                <a:ln>
                  <a:noFill/>
                </a:ln>
                <a:solidFill>
                  <a:srgbClr val="5C6C80"/>
                </a:solidFill>
                <a:effectLst/>
                <a:uLnTx/>
                <a:uFillTx/>
                <a:latin typeface="Aptos" panose="020B0004020202020204"/>
                <a:ea typeface="+mn-ea"/>
                <a:cs typeface="+mn-cs"/>
              </a:rPr>
              <a:t>controls</a:t>
            </a:r>
          </a:p>
        </p:txBody>
      </p:sp>
      <p:sp>
        <p:nvSpPr>
          <p:cNvPr id="57" name="Rounded Rectangle 56"/>
          <p:cNvSpPr/>
          <p:nvPr/>
        </p:nvSpPr>
        <p:spPr>
          <a:xfrm>
            <a:off x="9765792" y="2395728"/>
            <a:ext cx="73152" cy="548640"/>
          </a:xfrm>
          <a:prstGeom prst="roundRect">
            <a:avLst>
              <a:gd name="adj" fmla="val 6000"/>
            </a:avLst>
          </a:prstGeom>
          <a:solidFill>
            <a:srgbClr val="6D4ABE"/>
          </a:solidFill>
          <a:ln>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8" name="Rounded Rectangle 57"/>
          <p:cNvSpPr/>
          <p:nvPr/>
        </p:nvSpPr>
        <p:spPr>
          <a:xfrm>
            <a:off x="7909560" y="3236976"/>
            <a:ext cx="3429000" cy="566928"/>
          </a:xfrm>
          <a:prstGeom prst="roundRect">
            <a:avLst>
              <a:gd name="adj" fmla="val 6000"/>
            </a:avLst>
          </a:prstGeom>
          <a:solidFill>
            <a:srgbClr val="FFFFFF"/>
          </a:solidFill>
          <a:ln w="13970">
            <a:solidFill>
              <a:srgbClr val="6D4ABE"/>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900" b="1">
                <a:solidFill>
                  <a:srgbClr val="283241"/>
                </a:solidFill>
              </a:defRPr>
            </a:pPr>
            <a:r>
              <a:rPr kumimoji="0" sz="900" b="1" i="0" u="none" strike="noStrike" kern="1200" cap="none" spc="0" normalizeH="0" baseline="0" noProof="0">
                <a:ln>
                  <a:noFill/>
                </a:ln>
                <a:solidFill>
                  <a:srgbClr val="283241"/>
                </a:solidFill>
                <a:effectLst/>
                <a:uLnTx/>
                <a:uFillTx/>
                <a:latin typeface="Aptos" panose="020B0004020202020204"/>
                <a:ea typeface="+mn-ea"/>
                <a:cs typeface="+mn-cs"/>
              </a:rPr>
              <a:t>Bedrock Knowledge Bases</a:t>
            </a:r>
          </a:p>
          <a:p>
            <a:pPr marL="0" marR="0" lvl="0" indent="0" algn="ctr" defTabSz="914400" rtl="0" eaLnBrk="1" fontAlgn="auto" latinLnBrk="0" hangingPunct="1">
              <a:lnSpc>
                <a:spcPct val="100000"/>
              </a:lnSpc>
              <a:spcBef>
                <a:spcPts val="0"/>
              </a:spcBef>
              <a:spcAft>
                <a:spcPts val="0"/>
              </a:spcAft>
              <a:buClrTx/>
              <a:buSzTx/>
              <a:buFontTx/>
              <a:buNone/>
              <a:tabLst/>
              <a:defRPr sz="720">
                <a:solidFill>
                  <a:srgbClr val="5C6C80"/>
                </a:solidFill>
              </a:defRPr>
            </a:pPr>
            <a:r>
              <a:rPr kumimoji="0" sz="720" b="0" i="0" u="none" strike="noStrike" kern="1200" cap="none" spc="0" normalizeH="0" baseline="0" noProof="0">
                <a:ln>
                  <a:noFill/>
                </a:ln>
                <a:solidFill>
                  <a:srgbClr val="5C6C80"/>
                </a:solidFill>
                <a:effectLst/>
                <a:uLnTx/>
                <a:uFillTx/>
                <a:latin typeface="Aptos" panose="020B0004020202020204"/>
                <a:ea typeface="+mn-ea"/>
                <a:cs typeface="+mn-cs"/>
              </a:rPr>
              <a:t>Retrieval over policies, SOPs, product rules and FAQs</a:t>
            </a:r>
          </a:p>
        </p:txBody>
      </p:sp>
      <p:sp>
        <p:nvSpPr>
          <p:cNvPr id="59" name="Rounded Rectangle 58"/>
          <p:cNvSpPr/>
          <p:nvPr/>
        </p:nvSpPr>
        <p:spPr>
          <a:xfrm>
            <a:off x="7909560" y="3236976"/>
            <a:ext cx="73152" cy="566928"/>
          </a:xfrm>
          <a:prstGeom prst="roundRect">
            <a:avLst>
              <a:gd name="adj" fmla="val 6000"/>
            </a:avLst>
          </a:prstGeom>
          <a:solidFill>
            <a:srgbClr val="6D4ABE"/>
          </a:solidFill>
          <a:ln>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0" name="Rounded Rectangle 59"/>
          <p:cNvSpPr/>
          <p:nvPr/>
        </p:nvSpPr>
        <p:spPr>
          <a:xfrm>
            <a:off x="7909560" y="4078224"/>
            <a:ext cx="1572768" cy="548640"/>
          </a:xfrm>
          <a:prstGeom prst="roundRect">
            <a:avLst>
              <a:gd name="adj" fmla="val 6000"/>
            </a:avLst>
          </a:prstGeom>
          <a:solidFill>
            <a:srgbClr val="FFFFFF"/>
          </a:solidFill>
          <a:ln w="13970">
            <a:solidFill>
              <a:srgbClr val="6D4ABE"/>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19" b="1">
                <a:solidFill>
                  <a:srgbClr val="283241"/>
                </a:solidFill>
              </a:defRPr>
            </a:pPr>
            <a:r>
              <a:rPr kumimoji="0" sz="819" b="1" i="0" u="none" strike="noStrike" kern="1200" cap="none" spc="0" normalizeH="0" baseline="0" noProof="0">
                <a:ln>
                  <a:noFill/>
                </a:ln>
                <a:solidFill>
                  <a:srgbClr val="283241"/>
                </a:solidFill>
                <a:effectLst/>
                <a:uLnTx/>
                <a:uFillTx/>
                <a:latin typeface="Aptos" panose="020B0004020202020204"/>
                <a:ea typeface="+mn-ea"/>
                <a:cs typeface="+mn-cs"/>
              </a:rPr>
              <a:t>Aurora pgvector</a:t>
            </a:r>
          </a:p>
          <a:p>
            <a:pPr marL="0" marR="0" lvl="0" indent="0" algn="ctr" defTabSz="914400" rtl="0" eaLnBrk="1" fontAlgn="auto" latinLnBrk="0" hangingPunct="1">
              <a:lnSpc>
                <a:spcPct val="100000"/>
              </a:lnSpc>
              <a:spcBef>
                <a:spcPts val="0"/>
              </a:spcBef>
              <a:spcAft>
                <a:spcPts val="0"/>
              </a:spcAft>
              <a:buClrTx/>
              <a:buSzTx/>
              <a:buFontTx/>
              <a:buNone/>
              <a:tabLst/>
              <a:defRPr sz="700">
                <a:solidFill>
                  <a:srgbClr val="5C6C80"/>
                </a:solidFill>
              </a:defRPr>
            </a:pPr>
            <a:r>
              <a:rPr kumimoji="0" sz="700" b="0" i="0" u="none" strike="noStrike" kern="1200" cap="none" spc="0" normalizeH="0" baseline="0" noProof="0">
                <a:ln>
                  <a:noFill/>
                </a:ln>
                <a:solidFill>
                  <a:srgbClr val="5C6C80"/>
                </a:solidFill>
                <a:effectLst/>
                <a:uLnTx/>
                <a:uFillTx/>
                <a:latin typeface="Aptos" panose="020B0004020202020204"/>
                <a:ea typeface="+mn-ea"/>
                <a:cs typeface="+mn-cs"/>
              </a:rPr>
              <a:t>Simple vector</a:t>
            </a:r>
            <a:br>
              <a:rPr kumimoji="0" sz="700" b="0" i="0" u="none" strike="noStrike" kern="1200" cap="none" spc="0" normalizeH="0" baseline="0" noProof="0">
                <a:ln>
                  <a:noFill/>
                </a:ln>
                <a:solidFill>
                  <a:srgbClr val="5C6C80"/>
                </a:solidFill>
                <a:effectLst/>
                <a:uLnTx/>
                <a:uFillTx/>
                <a:latin typeface="Aptos" panose="020B0004020202020204"/>
                <a:ea typeface="+mn-ea"/>
                <a:cs typeface="+mn-cs"/>
              </a:rPr>
            </a:br>
            <a:r>
              <a:rPr kumimoji="0" sz="700" b="0" i="0" u="none" strike="noStrike" kern="1200" cap="none" spc="0" normalizeH="0" baseline="0" noProof="0">
                <a:ln>
                  <a:noFill/>
                </a:ln>
                <a:solidFill>
                  <a:srgbClr val="5C6C80"/>
                </a:solidFill>
                <a:effectLst/>
                <a:uLnTx/>
                <a:uFillTx/>
                <a:latin typeface="Aptos" panose="020B0004020202020204"/>
                <a:ea typeface="+mn-ea"/>
                <a:cs typeface="+mn-cs"/>
              </a:rPr>
              <a:t>store option</a:t>
            </a:r>
          </a:p>
        </p:txBody>
      </p:sp>
      <p:sp>
        <p:nvSpPr>
          <p:cNvPr id="61" name="Rounded Rectangle 60"/>
          <p:cNvSpPr/>
          <p:nvPr/>
        </p:nvSpPr>
        <p:spPr>
          <a:xfrm>
            <a:off x="7909560" y="4078224"/>
            <a:ext cx="73152" cy="548640"/>
          </a:xfrm>
          <a:prstGeom prst="roundRect">
            <a:avLst>
              <a:gd name="adj" fmla="val 6000"/>
            </a:avLst>
          </a:prstGeom>
          <a:solidFill>
            <a:srgbClr val="6D4ABE"/>
          </a:solidFill>
          <a:ln>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2" name="Rounded Rectangle 61"/>
          <p:cNvSpPr/>
          <p:nvPr/>
        </p:nvSpPr>
        <p:spPr>
          <a:xfrm>
            <a:off x="9765792" y="4078224"/>
            <a:ext cx="1572768" cy="548640"/>
          </a:xfrm>
          <a:prstGeom prst="roundRect">
            <a:avLst>
              <a:gd name="adj" fmla="val 6000"/>
            </a:avLst>
          </a:prstGeom>
          <a:solidFill>
            <a:srgbClr val="FFFFFF"/>
          </a:solidFill>
          <a:ln w="13970">
            <a:solidFill>
              <a:srgbClr val="6D4ABE"/>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283241"/>
                </a:solidFill>
              </a:defRPr>
            </a:pPr>
            <a:r>
              <a:rPr kumimoji="0" sz="800" b="1" i="0" u="none" strike="noStrike" kern="1200" cap="none" spc="0" normalizeH="0" baseline="0" noProof="0">
                <a:ln>
                  <a:noFill/>
                </a:ln>
                <a:solidFill>
                  <a:srgbClr val="283241"/>
                </a:solidFill>
                <a:effectLst/>
                <a:uLnTx/>
                <a:uFillTx/>
                <a:latin typeface="Aptos" panose="020B0004020202020204"/>
                <a:ea typeface="+mn-ea"/>
                <a:cs typeface="+mn-cs"/>
              </a:rPr>
              <a:t>OpenSearch Serverless</a:t>
            </a:r>
          </a:p>
          <a:p>
            <a:pPr marL="0" marR="0" lvl="0" indent="0" algn="ctr" defTabSz="914400" rtl="0" eaLnBrk="1" fontAlgn="auto" latinLnBrk="0" hangingPunct="1">
              <a:lnSpc>
                <a:spcPct val="100000"/>
              </a:lnSpc>
              <a:spcBef>
                <a:spcPts val="0"/>
              </a:spcBef>
              <a:spcAft>
                <a:spcPts val="0"/>
              </a:spcAft>
              <a:buClrTx/>
              <a:buSzTx/>
              <a:buFontTx/>
              <a:buNone/>
              <a:tabLst/>
              <a:defRPr sz="690">
                <a:solidFill>
                  <a:srgbClr val="5C6C80"/>
                </a:solidFill>
              </a:defRPr>
            </a:pPr>
            <a:r>
              <a:rPr kumimoji="0" sz="690" b="0" i="0" u="none" strike="noStrike" kern="1200" cap="none" spc="0" normalizeH="0" baseline="0" noProof="0">
                <a:ln>
                  <a:noFill/>
                </a:ln>
                <a:solidFill>
                  <a:srgbClr val="5C6C80"/>
                </a:solidFill>
                <a:effectLst/>
                <a:uLnTx/>
                <a:uFillTx/>
                <a:latin typeface="Aptos" panose="020B0004020202020204"/>
                <a:ea typeface="+mn-ea"/>
                <a:cs typeface="+mn-cs"/>
              </a:rPr>
              <a:t>Scale-out vector /</a:t>
            </a:r>
            <a:br>
              <a:rPr kumimoji="0" sz="690" b="0" i="0" u="none" strike="noStrike" kern="1200" cap="none" spc="0" normalizeH="0" baseline="0" noProof="0">
                <a:ln>
                  <a:noFill/>
                </a:ln>
                <a:solidFill>
                  <a:srgbClr val="5C6C80"/>
                </a:solidFill>
                <a:effectLst/>
                <a:uLnTx/>
                <a:uFillTx/>
                <a:latin typeface="Aptos" panose="020B0004020202020204"/>
                <a:ea typeface="+mn-ea"/>
                <a:cs typeface="+mn-cs"/>
              </a:rPr>
            </a:br>
            <a:r>
              <a:rPr kumimoji="0" sz="690" b="0" i="0" u="none" strike="noStrike" kern="1200" cap="none" spc="0" normalizeH="0" baseline="0" noProof="0">
                <a:ln>
                  <a:noFill/>
                </a:ln>
                <a:solidFill>
                  <a:srgbClr val="5C6C80"/>
                </a:solidFill>
                <a:effectLst/>
                <a:uLnTx/>
                <a:uFillTx/>
                <a:latin typeface="Aptos" panose="020B0004020202020204"/>
                <a:ea typeface="+mn-ea"/>
                <a:cs typeface="+mn-cs"/>
              </a:rPr>
              <a:t>search option</a:t>
            </a:r>
          </a:p>
        </p:txBody>
      </p:sp>
      <p:sp>
        <p:nvSpPr>
          <p:cNvPr id="63" name="Rounded Rectangle 62"/>
          <p:cNvSpPr/>
          <p:nvPr/>
        </p:nvSpPr>
        <p:spPr>
          <a:xfrm>
            <a:off x="9765792" y="4078224"/>
            <a:ext cx="73152" cy="548640"/>
          </a:xfrm>
          <a:prstGeom prst="roundRect">
            <a:avLst>
              <a:gd name="adj" fmla="val 6000"/>
            </a:avLst>
          </a:prstGeom>
          <a:solidFill>
            <a:srgbClr val="6D4ABE"/>
          </a:solidFill>
          <a:ln>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4" name="Rounded Rectangle 63"/>
          <p:cNvSpPr/>
          <p:nvPr/>
        </p:nvSpPr>
        <p:spPr>
          <a:xfrm>
            <a:off x="7909560" y="4992624"/>
            <a:ext cx="3429000" cy="420624"/>
          </a:xfrm>
          <a:prstGeom prst="roundRect">
            <a:avLst>
              <a:gd name="adj" fmla="val 6000"/>
            </a:avLst>
          </a:prstGeom>
          <a:solidFill>
            <a:srgbClr val="F3F0FB"/>
          </a:solidFill>
          <a:ln w="13970">
            <a:solidFill>
              <a:srgbClr val="6D4ABE"/>
            </a:solidFill>
          </a:ln>
        </p:spPr>
        <p:style>
          <a:lnRef idx="1">
            <a:schemeClr val="accent1"/>
          </a:lnRef>
          <a:fillRef idx="3">
            <a:schemeClr val="accent1"/>
          </a:fillRef>
          <a:effectRef idx="2">
            <a:schemeClr val="accent1"/>
          </a:effectRef>
          <a:fontRef idx="minor">
            <a:schemeClr val="lt1"/>
          </a:fontRef>
        </p:style>
        <p:txBody>
          <a:bodyPr lIns="109728" tIns="27432" rIns="54864" bIns="1828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720" b="1">
                <a:solidFill>
                  <a:srgbClr val="283241"/>
                </a:solidFill>
              </a:defRPr>
            </a:pPr>
            <a:r>
              <a:rPr kumimoji="0" sz="720" b="1" i="0" u="none" strike="noStrike" kern="1200" cap="none" spc="0" normalizeH="0" baseline="0" noProof="0">
                <a:ln>
                  <a:noFill/>
                </a:ln>
                <a:solidFill>
                  <a:srgbClr val="283241"/>
                </a:solidFill>
                <a:effectLst/>
                <a:uLnTx/>
                <a:uFillTx/>
                <a:latin typeface="Aptos" panose="020B0004020202020204"/>
                <a:ea typeface="+mn-ea"/>
                <a:cs typeface="+mn-cs"/>
              </a:rPr>
              <a:t>AI use cases</a:t>
            </a:r>
          </a:p>
          <a:p>
            <a:pPr marL="0" marR="0" lvl="0" indent="0" algn="ctr" defTabSz="914400" rtl="0" eaLnBrk="1" fontAlgn="auto" latinLnBrk="0" hangingPunct="1">
              <a:lnSpc>
                <a:spcPct val="100000"/>
              </a:lnSpc>
              <a:spcBef>
                <a:spcPts val="0"/>
              </a:spcBef>
              <a:spcAft>
                <a:spcPts val="0"/>
              </a:spcAft>
              <a:buClrTx/>
              <a:buSzTx/>
              <a:buFontTx/>
              <a:buNone/>
              <a:tabLst/>
              <a:defRPr sz="620">
                <a:solidFill>
                  <a:srgbClr val="5C6C80"/>
                </a:solidFill>
              </a:defRPr>
            </a:pPr>
            <a:r>
              <a:rPr kumimoji="0" sz="620" b="0" i="0" u="none" strike="noStrike" kern="1200" cap="none" spc="0" normalizeH="0" baseline="0" noProof="0">
                <a:ln>
                  <a:noFill/>
                </a:ln>
                <a:solidFill>
                  <a:srgbClr val="5C6C80"/>
                </a:solidFill>
                <a:effectLst/>
                <a:uLnTx/>
                <a:uFillTx/>
                <a:latin typeface="Aptos" panose="020B0004020202020204"/>
                <a:ea typeface="+mn-ea"/>
                <a:cs typeface="+mn-cs"/>
              </a:rPr>
              <a:t>Create/fetch lead • application status • document checks • policy Q&amp;A</a:t>
            </a:r>
          </a:p>
        </p:txBody>
      </p:sp>
      <p:sp>
        <p:nvSpPr>
          <p:cNvPr id="65" name="Rounded Rectangle 64"/>
          <p:cNvSpPr/>
          <p:nvPr/>
        </p:nvSpPr>
        <p:spPr>
          <a:xfrm>
            <a:off x="7909560" y="4992624"/>
            <a:ext cx="73152" cy="420624"/>
          </a:xfrm>
          <a:prstGeom prst="roundRect">
            <a:avLst>
              <a:gd name="adj" fmla="val 6000"/>
            </a:avLst>
          </a:prstGeom>
          <a:solidFill>
            <a:srgbClr val="6D4ABE"/>
          </a:solidFill>
          <a:ln>
            <a:solidFill>
              <a:srgbClr val="6D4AB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66" name="Connector 65"/>
          <p:cNvCxnSpPr/>
          <p:nvPr/>
        </p:nvCxnSpPr>
        <p:spPr>
          <a:xfrm>
            <a:off x="1965960" y="1911095"/>
            <a:ext cx="164592" cy="0"/>
          </a:xfrm>
          <a:prstGeom prst="line">
            <a:avLst/>
          </a:prstGeom>
          <a:ln w="19050">
            <a:solidFill>
              <a:srgbClr val="346EB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136392" y="1911095"/>
            <a:ext cx="173736" cy="0"/>
          </a:xfrm>
          <a:prstGeom prst="line">
            <a:avLst/>
          </a:prstGeom>
          <a:ln w="19050">
            <a:solidFill>
              <a:srgbClr val="346EB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297680" y="1911095"/>
            <a:ext cx="173736" cy="0"/>
          </a:xfrm>
          <a:prstGeom prst="line">
            <a:avLst/>
          </a:prstGeom>
          <a:ln w="19050">
            <a:solidFill>
              <a:srgbClr val="346EB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458968" y="1911095"/>
            <a:ext cx="173736" cy="0"/>
          </a:xfrm>
          <a:prstGeom prst="line">
            <a:avLst/>
          </a:prstGeom>
          <a:ln w="19050">
            <a:solidFill>
              <a:srgbClr val="346EB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2717515" y="2133464"/>
            <a:ext cx="0" cy="515557"/>
          </a:xfrm>
          <a:prstGeom prst="line">
            <a:avLst/>
          </a:prstGeom>
          <a:ln w="19050">
            <a:solidFill>
              <a:srgbClr val="00929C"/>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789571" y="2341857"/>
            <a:ext cx="694944" cy="109728"/>
          </a:xfrm>
          <a:prstGeom prst="rect">
            <a:avLst/>
          </a:prstGeom>
          <a:noFill/>
        </p:spPr>
        <p:txBody>
          <a:bodyPr wrap="none" lIns="27432" tIns="9144" rIns="27432"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680" b="0">
                <a:solidFill>
                  <a:srgbClr val="00929C"/>
                </a:solidFill>
              </a:defRPr>
            </a:pPr>
            <a:r>
              <a:rPr kumimoji="0" sz="680" b="0" i="0" u="none" strike="noStrike" kern="1200" cap="none" spc="0" normalizeH="0" baseline="0" noProof="0">
                <a:ln>
                  <a:noFill/>
                </a:ln>
                <a:solidFill>
                  <a:srgbClr val="00929C"/>
                </a:solidFill>
                <a:effectLst/>
                <a:uLnTx/>
                <a:uFillTx/>
                <a:latin typeface="Aptos" panose="020B0004020202020204"/>
                <a:ea typeface="+mn-ea"/>
                <a:cs typeface="+mn-cs"/>
              </a:rPr>
              <a:t>User request</a:t>
            </a:r>
          </a:p>
        </p:txBody>
      </p:sp>
      <p:cxnSp>
        <p:nvCxnSpPr>
          <p:cNvPr id="72" name="Connector 71"/>
          <p:cNvCxnSpPr/>
          <p:nvPr/>
        </p:nvCxnSpPr>
        <p:spPr>
          <a:xfrm>
            <a:off x="2212848" y="3008376"/>
            <a:ext cx="274320" cy="0"/>
          </a:xfrm>
          <a:prstGeom prst="line">
            <a:avLst/>
          </a:prstGeom>
          <a:ln w="19050">
            <a:solidFill>
              <a:srgbClr val="00929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632704" y="3008376"/>
            <a:ext cx="274320" cy="0"/>
          </a:xfrm>
          <a:prstGeom prst="line">
            <a:avLst/>
          </a:prstGeom>
          <a:ln w="19050">
            <a:solidFill>
              <a:srgbClr val="00929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526280" y="3364992"/>
            <a:ext cx="0" cy="603504"/>
          </a:xfrm>
          <a:prstGeom prst="line">
            <a:avLst/>
          </a:prstGeom>
          <a:ln w="19050">
            <a:solidFill>
              <a:srgbClr val="86BC25"/>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296994" y="3748698"/>
            <a:ext cx="1554480" cy="128016"/>
          </a:xfrm>
          <a:prstGeom prst="rect">
            <a:avLst/>
          </a:prstGeom>
          <a:noFill/>
        </p:spPr>
        <p:txBody>
          <a:bodyPr wrap="none" lIns="27432" tIns="9144" rIns="27432"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660" b="0">
                <a:solidFill>
                  <a:srgbClr val="86BC25"/>
                </a:solidFill>
              </a:defRPr>
            </a:pPr>
            <a:r>
              <a:rPr kumimoji="0" sz="660" b="0" i="0" u="none" strike="noStrike" kern="1200" cap="none" spc="0" normalizeH="0" baseline="0" noProof="0">
                <a:ln>
                  <a:noFill/>
                </a:ln>
                <a:solidFill>
                  <a:srgbClr val="86BC25"/>
                </a:solidFill>
                <a:effectLst/>
                <a:uLnTx/>
                <a:uFillTx/>
                <a:latin typeface="Aptos" panose="020B0004020202020204"/>
                <a:ea typeface="+mn-ea"/>
                <a:cs typeface="+mn-cs"/>
              </a:rPr>
              <a:t>Reads / writes / workflow</a:t>
            </a:r>
          </a:p>
        </p:txBody>
      </p:sp>
      <p:cxnSp>
        <p:nvCxnSpPr>
          <p:cNvPr id="76" name="Connector 75"/>
          <p:cNvCxnSpPr/>
          <p:nvPr/>
        </p:nvCxnSpPr>
        <p:spPr>
          <a:xfrm>
            <a:off x="2313432" y="4233672"/>
            <a:ext cx="265176" cy="0"/>
          </a:xfrm>
          <a:prstGeom prst="line">
            <a:avLst/>
          </a:prstGeom>
          <a:ln w="17780">
            <a:solidFill>
              <a:srgbClr val="86BC25"/>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630168" y="4233672"/>
            <a:ext cx="274319" cy="0"/>
          </a:xfrm>
          <a:prstGeom prst="line">
            <a:avLst/>
          </a:prstGeom>
          <a:ln w="17780">
            <a:solidFill>
              <a:srgbClr val="86BC25"/>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230368" y="4233672"/>
            <a:ext cx="274320" cy="0"/>
          </a:xfrm>
          <a:prstGeom prst="line">
            <a:avLst/>
          </a:prstGeom>
          <a:ln w="17780">
            <a:solidFill>
              <a:srgbClr val="86BC25"/>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526280" y="4498848"/>
            <a:ext cx="0" cy="621792"/>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4219938" y="4564603"/>
            <a:ext cx="1554480" cy="128016"/>
          </a:xfrm>
          <a:prstGeom prst="rect">
            <a:avLst/>
          </a:prstGeom>
          <a:noFill/>
        </p:spPr>
        <p:txBody>
          <a:bodyPr wrap="none" lIns="27432" tIns="9144" rIns="27432"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660" b="0">
                <a:solidFill>
                  <a:srgbClr val="FF9900"/>
                </a:solidFill>
              </a:defRPr>
            </a:pPr>
            <a:r>
              <a:rPr kumimoji="0" sz="660" b="0" i="0" u="none" strike="noStrike" kern="1200" cap="none" spc="0" normalizeH="0" baseline="0" noProof="0">
                <a:ln>
                  <a:noFill/>
                </a:ln>
                <a:solidFill>
                  <a:srgbClr val="FF9900"/>
                </a:solidFill>
                <a:effectLst/>
                <a:uLnTx/>
                <a:uFillTx/>
                <a:latin typeface="Aptos" panose="020B0004020202020204"/>
                <a:ea typeface="+mn-ea"/>
                <a:cs typeface="+mn-cs"/>
              </a:rPr>
              <a:t>verification / fulfilment</a:t>
            </a:r>
          </a:p>
        </p:txBody>
      </p:sp>
      <p:cxnSp>
        <p:nvCxnSpPr>
          <p:cNvPr id="81" name="Connector 80"/>
          <p:cNvCxnSpPr/>
          <p:nvPr/>
        </p:nvCxnSpPr>
        <p:spPr>
          <a:xfrm>
            <a:off x="2075688" y="5285232"/>
            <a:ext cx="164592" cy="0"/>
          </a:xfrm>
          <a:prstGeom prst="line">
            <a:avLst/>
          </a:prstGeom>
          <a:ln w="1651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355848" y="5285232"/>
            <a:ext cx="164592" cy="0"/>
          </a:xfrm>
          <a:prstGeom prst="line">
            <a:avLst/>
          </a:prstGeom>
          <a:ln w="1651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4636008" y="5285232"/>
            <a:ext cx="164592" cy="0"/>
          </a:xfrm>
          <a:prstGeom prst="line">
            <a:avLst/>
          </a:prstGeom>
          <a:ln w="1651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916168" y="5285232"/>
            <a:ext cx="164592" cy="0"/>
          </a:xfrm>
          <a:prstGeom prst="line">
            <a:avLst/>
          </a:prstGeom>
          <a:ln w="1651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628632" y="2121408"/>
            <a:ext cx="0" cy="274320"/>
          </a:xfrm>
          <a:prstGeom prst="line">
            <a:avLst/>
          </a:prstGeom>
          <a:ln w="19050">
            <a:solidFill>
              <a:srgbClr val="6D4AB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628632" y="2944368"/>
            <a:ext cx="0" cy="292608"/>
          </a:xfrm>
          <a:prstGeom prst="line">
            <a:avLst/>
          </a:prstGeom>
          <a:ln w="19050">
            <a:solidFill>
              <a:srgbClr val="6D4AB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695944" y="3803904"/>
            <a:ext cx="0" cy="274320"/>
          </a:xfrm>
          <a:prstGeom prst="line">
            <a:avLst/>
          </a:prstGeom>
          <a:ln w="17780">
            <a:solidFill>
              <a:srgbClr val="6D4AB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552176" y="3803904"/>
            <a:ext cx="0" cy="274320"/>
          </a:xfrm>
          <a:prstGeom prst="line">
            <a:avLst/>
          </a:prstGeom>
          <a:ln w="17780">
            <a:solidFill>
              <a:srgbClr val="6D4AB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620256" y="1911095"/>
            <a:ext cx="1280743" cy="8561"/>
          </a:xfrm>
          <a:prstGeom prst="line">
            <a:avLst/>
          </a:prstGeom>
          <a:ln w="21590">
            <a:solidFill>
              <a:srgbClr val="6D4ABE"/>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7241176" y="1392366"/>
            <a:ext cx="799194" cy="118494"/>
          </a:xfrm>
          <a:prstGeom prst="rect">
            <a:avLst/>
          </a:prstGeom>
          <a:solidFill>
            <a:schemeClr val="bg1"/>
          </a:solidFill>
        </p:spPr>
        <p:txBody>
          <a:bodyPr wrap="none" lIns="27432" tIns="9144" rIns="27432"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680" b="0">
                <a:solidFill>
                  <a:srgbClr val="6D4ABE"/>
                </a:solidFill>
              </a:defRPr>
            </a:pPr>
            <a:r>
              <a:rPr kumimoji="0" lang="en-US" sz="650" b="0" i="0" u="none" strike="noStrike" kern="1200" cap="none" spc="0" normalizeH="0" baseline="0" noProof="0">
                <a:ln>
                  <a:noFill/>
                </a:ln>
                <a:solidFill>
                  <a:srgbClr val="6D4ABE"/>
                </a:solidFill>
                <a:effectLst/>
                <a:uLnTx/>
                <a:uFillTx/>
                <a:latin typeface="Aptos" panose="020B0004020202020204"/>
                <a:ea typeface="+mn-ea"/>
                <a:cs typeface="+mn-cs"/>
              </a:rPr>
              <a:t>Assistant</a:t>
            </a:r>
            <a:r>
              <a:rPr kumimoji="0" sz="650" b="0" i="0" u="none" strike="noStrike" kern="1200" cap="none" spc="0" normalizeH="0" baseline="0" noProof="0">
                <a:ln>
                  <a:noFill/>
                </a:ln>
                <a:solidFill>
                  <a:srgbClr val="6D4ABE"/>
                </a:solidFill>
                <a:effectLst/>
                <a:uLnTx/>
                <a:uFillTx/>
                <a:latin typeface="Aptos" panose="020B0004020202020204"/>
                <a:ea typeface="+mn-ea"/>
                <a:cs typeface="+mn-cs"/>
              </a:rPr>
              <a:t> interaction</a:t>
            </a:r>
            <a:endParaRPr kumimoji="0" lang="en-US" sz="680" b="0" i="0" u="none" strike="noStrike" kern="1200" cap="none" spc="0" normalizeH="0" baseline="0" noProof="0">
              <a:ln>
                <a:noFill/>
              </a:ln>
              <a:solidFill>
                <a:srgbClr val="6D4ABE"/>
              </a:solidFill>
              <a:effectLst/>
              <a:uLnTx/>
              <a:uFillTx/>
              <a:latin typeface="Aptos" panose="020B0004020202020204"/>
              <a:ea typeface="+mn-ea"/>
              <a:cs typeface="+mn-cs"/>
            </a:endParaRPr>
          </a:p>
        </p:txBody>
      </p:sp>
      <p:cxnSp>
        <p:nvCxnSpPr>
          <p:cNvPr id="91" name="Connector 90"/>
          <p:cNvCxnSpPr/>
          <p:nvPr/>
        </p:nvCxnSpPr>
        <p:spPr>
          <a:xfrm flipH="1" flipV="1">
            <a:off x="7198553" y="2670048"/>
            <a:ext cx="702446" cy="0"/>
          </a:xfrm>
          <a:prstGeom prst="line">
            <a:avLst/>
          </a:prstGeom>
          <a:ln w="20320">
            <a:solidFill>
              <a:srgbClr val="6D4ABE"/>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000057" y="2263397"/>
            <a:ext cx="1005840" cy="128016"/>
          </a:xfrm>
          <a:prstGeom prst="rect">
            <a:avLst/>
          </a:prstGeom>
          <a:solidFill>
            <a:schemeClr val="bg1"/>
          </a:solidFill>
        </p:spPr>
        <p:txBody>
          <a:bodyPr wrap="none" lIns="27432" tIns="9144" rIns="27432"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670" b="0">
                <a:solidFill>
                  <a:srgbClr val="6D4ABE"/>
                </a:solidFill>
              </a:defRPr>
            </a:pPr>
            <a:r>
              <a:rPr kumimoji="0" sz="670" b="0" i="0" u="none" strike="noStrike" kern="1200" cap="none" spc="0" normalizeH="0" baseline="0" noProof="0">
                <a:ln>
                  <a:noFill/>
                </a:ln>
                <a:solidFill>
                  <a:srgbClr val="6D4ABE"/>
                </a:solidFill>
                <a:effectLst/>
                <a:uLnTx/>
                <a:uFillTx/>
                <a:latin typeface="Aptos" panose="020B0004020202020204"/>
                <a:ea typeface="+mn-ea"/>
                <a:cs typeface="+mn-cs"/>
              </a:rPr>
              <a:t>approved actions</a:t>
            </a:r>
          </a:p>
        </p:txBody>
      </p:sp>
      <p:cxnSp>
        <p:nvCxnSpPr>
          <p:cNvPr id="93" name="Connector 92"/>
          <p:cNvCxnSpPr/>
          <p:nvPr/>
        </p:nvCxnSpPr>
        <p:spPr>
          <a:xfrm>
            <a:off x="7200437" y="4250795"/>
            <a:ext cx="700562" cy="8562"/>
          </a:xfrm>
          <a:prstGeom prst="line">
            <a:avLst/>
          </a:prstGeom>
          <a:ln w="15240">
            <a:solidFill>
              <a:srgbClr val="6D4ABE"/>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6108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B976DA0-7CB4-02B1-473C-19D1AA8D4F4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477C8D-380F-DA4D-FB60-14A84CBFC21F}"/>
              </a:ext>
            </a:extLst>
          </p:cNvPr>
          <p:cNvSpPr txBox="1">
            <a:spLocks/>
          </p:cNvSpPr>
          <p:nvPr/>
        </p:nvSpPr>
        <p:spPr>
          <a:xfrm>
            <a:off x="283523" y="854042"/>
            <a:ext cx="8075474" cy="552064"/>
          </a:xfrm>
          <a:prstGeom prst="rect">
            <a:avLst/>
          </a:prstGeom>
        </p:spPr>
        <p:txBody>
          <a:bodyPr vert="horz" lIns="0" tIns="0" rIns="0" bIns="0" rtlCol="0" anchor="t">
            <a:noAutofit/>
          </a:bodyPr>
          <a:lst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600">
                <a:solidFill>
                  <a:schemeClr val="tx1">
                    <a:lumMod val="65000"/>
                    <a:lumOff val="35000"/>
                  </a:schemeClr>
                </a:solidFill>
                <a:latin typeface="Aptos Light" panose="020B0004020202020204" pitchFamily="34" charset="0"/>
                <a:cs typeface="Calibri Light"/>
              </a:rPr>
              <a:t>Ava connects relationship managers, customers, specialist agents, and enterprise systems through a unified AI-led experience across Teams, WhatsApp, LOS, and digital portals.</a:t>
            </a:r>
          </a:p>
        </p:txBody>
      </p:sp>
      <p:sp>
        <p:nvSpPr>
          <p:cNvPr id="3" name="Title 2">
            <a:extLst>
              <a:ext uri="{FF2B5EF4-FFF2-40B4-BE49-F238E27FC236}">
                <a16:creationId xmlns:a16="http://schemas.microsoft.com/office/drawing/2014/main" id="{E0EDE19B-0642-5FA1-49F1-4AADA0A425B9}"/>
              </a:ext>
            </a:extLst>
          </p:cNvPr>
          <p:cNvSpPr txBox="1">
            <a:spLocks/>
          </p:cNvSpPr>
          <p:nvPr/>
        </p:nvSpPr>
        <p:spPr>
          <a:xfrm>
            <a:off x="177078" y="197929"/>
            <a:ext cx="8639118" cy="561196"/>
          </a:xfrm>
          <a:prstGeom prst="rect">
            <a:avLst/>
          </a:prstGeom>
        </p:spPr>
        <p:txBody>
          <a:bodyPr/>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r>
              <a:rPr lang="en-US" sz="3600">
                <a:solidFill>
                  <a:srgbClr val="002060"/>
                </a:solidFill>
                <a:latin typeface="Aptos Light" panose="020B0004020202020204" pitchFamily="34" charset="0"/>
                <a:ea typeface="+mj-lt"/>
                <a:cs typeface="+mj-lt"/>
              </a:rPr>
              <a:t>Ava – AWS bedrock Agent</a:t>
            </a:r>
            <a:endParaRPr lang="en-US" sz="3600">
              <a:solidFill>
                <a:srgbClr val="002060"/>
              </a:solidFill>
              <a:latin typeface="Aptos Light" panose="020B0004020202020204" pitchFamily="34" charset="0"/>
            </a:endParaRPr>
          </a:p>
        </p:txBody>
      </p:sp>
      <p:sp>
        <p:nvSpPr>
          <p:cNvPr id="12" name="Shape 10">
            <a:extLst>
              <a:ext uri="{FF2B5EF4-FFF2-40B4-BE49-F238E27FC236}">
                <a16:creationId xmlns:a16="http://schemas.microsoft.com/office/drawing/2014/main" id="{0C57BE62-5848-AF64-FCB5-8FDDA1B32ABA}"/>
              </a:ext>
            </a:extLst>
          </p:cNvPr>
          <p:cNvSpPr/>
          <p:nvPr/>
        </p:nvSpPr>
        <p:spPr>
          <a:xfrm>
            <a:off x="6050942" y="3832529"/>
            <a:ext cx="7952" cy="500932"/>
          </a:xfrm>
          <a:prstGeom prst="line">
            <a:avLst/>
          </a:prstGeom>
          <a:noFill/>
          <a:ln w="13970">
            <a:solidFill>
              <a:srgbClr val="00A3E0"/>
            </a:solidFill>
            <a:prstDash val="dash"/>
            <a:headEnd type="none"/>
            <a:tailEnd type="none"/>
          </a:ln>
        </p:spPr>
        <p:txBody>
          <a:bodyPr/>
          <a:lstStyle/>
          <a:p>
            <a:endParaRPr lang="en-IN"/>
          </a:p>
        </p:txBody>
      </p:sp>
      <p:sp>
        <p:nvSpPr>
          <p:cNvPr id="13" name="Shape 11">
            <a:extLst>
              <a:ext uri="{FF2B5EF4-FFF2-40B4-BE49-F238E27FC236}">
                <a16:creationId xmlns:a16="http://schemas.microsoft.com/office/drawing/2014/main" id="{2337E2D3-0094-4775-A0DC-E14CA61FE164}"/>
              </a:ext>
            </a:extLst>
          </p:cNvPr>
          <p:cNvSpPr/>
          <p:nvPr/>
        </p:nvSpPr>
        <p:spPr>
          <a:xfrm>
            <a:off x="2303890" y="4341411"/>
            <a:ext cx="6617151" cy="4819"/>
          </a:xfrm>
          <a:prstGeom prst="line">
            <a:avLst/>
          </a:prstGeom>
          <a:noFill/>
          <a:ln w="13970">
            <a:solidFill>
              <a:srgbClr val="00A3E0"/>
            </a:solidFill>
            <a:prstDash val="dash"/>
            <a:headEnd type="none"/>
            <a:tailEnd type="none"/>
          </a:ln>
        </p:spPr>
        <p:txBody>
          <a:bodyPr/>
          <a:lstStyle/>
          <a:p>
            <a:endParaRPr lang="en-IN"/>
          </a:p>
        </p:txBody>
      </p:sp>
      <p:sp>
        <p:nvSpPr>
          <p:cNvPr id="14" name="Shape 12">
            <a:extLst>
              <a:ext uri="{FF2B5EF4-FFF2-40B4-BE49-F238E27FC236}">
                <a16:creationId xmlns:a16="http://schemas.microsoft.com/office/drawing/2014/main" id="{9E3A8BE2-6284-DD8A-D2AB-4B4FA71A42A4}"/>
              </a:ext>
            </a:extLst>
          </p:cNvPr>
          <p:cNvSpPr/>
          <p:nvPr/>
        </p:nvSpPr>
        <p:spPr>
          <a:xfrm>
            <a:off x="2345039" y="4341412"/>
            <a:ext cx="0" cy="237744"/>
          </a:xfrm>
          <a:prstGeom prst="line">
            <a:avLst/>
          </a:prstGeom>
          <a:noFill/>
          <a:ln w="12700">
            <a:solidFill>
              <a:srgbClr val="00A3E0"/>
            </a:solidFill>
            <a:prstDash val="dash"/>
            <a:headEnd type="none"/>
            <a:tailEnd type="triangle"/>
          </a:ln>
        </p:spPr>
        <p:txBody>
          <a:bodyPr/>
          <a:lstStyle/>
          <a:p>
            <a:endParaRPr lang="en-IN"/>
          </a:p>
        </p:txBody>
      </p:sp>
      <p:sp>
        <p:nvSpPr>
          <p:cNvPr id="16" name="Shape 14">
            <a:extLst>
              <a:ext uri="{FF2B5EF4-FFF2-40B4-BE49-F238E27FC236}">
                <a16:creationId xmlns:a16="http://schemas.microsoft.com/office/drawing/2014/main" id="{431B1226-F976-DF9E-F49F-44CA0B182D90}"/>
              </a:ext>
            </a:extLst>
          </p:cNvPr>
          <p:cNvSpPr/>
          <p:nvPr/>
        </p:nvSpPr>
        <p:spPr>
          <a:xfrm>
            <a:off x="3652631" y="4341412"/>
            <a:ext cx="0" cy="237744"/>
          </a:xfrm>
          <a:prstGeom prst="line">
            <a:avLst/>
          </a:prstGeom>
          <a:noFill/>
          <a:ln w="12700">
            <a:solidFill>
              <a:srgbClr val="00A3E0"/>
            </a:solidFill>
            <a:prstDash val="dash"/>
            <a:headEnd type="none"/>
            <a:tailEnd type="triangle"/>
          </a:ln>
        </p:spPr>
        <p:txBody>
          <a:bodyPr/>
          <a:lstStyle/>
          <a:p>
            <a:endParaRPr lang="en-IN"/>
          </a:p>
        </p:txBody>
      </p:sp>
      <p:sp>
        <p:nvSpPr>
          <p:cNvPr id="18" name="Shape 16">
            <a:extLst>
              <a:ext uri="{FF2B5EF4-FFF2-40B4-BE49-F238E27FC236}">
                <a16:creationId xmlns:a16="http://schemas.microsoft.com/office/drawing/2014/main" id="{F9365452-EA03-2DBC-0B1D-558C0E9FF5BE}"/>
              </a:ext>
            </a:extLst>
          </p:cNvPr>
          <p:cNvSpPr/>
          <p:nvPr/>
        </p:nvSpPr>
        <p:spPr>
          <a:xfrm>
            <a:off x="4960223" y="4341412"/>
            <a:ext cx="0" cy="237744"/>
          </a:xfrm>
          <a:prstGeom prst="line">
            <a:avLst/>
          </a:prstGeom>
          <a:noFill/>
          <a:ln w="12700">
            <a:solidFill>
              <a:srgbClr val="00A3E0"/>
            </a:solidFill>
            <a:prstDash val="dash"/>
            <a:headEnd type="none"/>
            <a:tailEnd type="triangle"/>
          </a:ln>
        </p:spPr>
        <p:txBody>
          <a:bodyPr/>
          <a:lstStyle/>
          <a:p>
            <a:endParaRPr lang="en-IN"/>
          </a:p>
        </p:txBody>
      </p:sp>
      <p:sp>
        <p:nvSpPr>
          <p:cNvPr id="20" name="Shape 18">
            <a:extLst>
              <a:ext uri="{FF2B5EF4-FFF2-40B4-BE49-F238E27FC236}">
                <a16:creationId xmlns:a16="http://schemas.microsoft.com/office/drawing/2014/main" id="{CBD477F4-3256-0F19-AFD2-BA7332C45608}"/>
              </a:ext>
            </a:extLst>
          </p:cNvPr>
          <p:cNvSpPr/>
          <p:nvPr/>
        </p:nvSpPr>
        <p:spPr>
          <a:xfrm>
            <a:off x="6267815" y="4341412"/>
            <a:ext cx="0" cy="237744"/>
          </a:xfrm>
          <a:prstGeom prst="line">
            <a:avLst/>
          </a:prstGeom>
          <a:noFill/>
          <a:ln w="12700">
            <a:solidFill>
              <a:srgbClr val="00A3E0"/>
            </a:solidFill>
            <a:prstDash val="dash"/>
            <a:headEnd type="none"/>
            <a:tailEnd type="triangle"/>
          </a:ln>
        </p:spPr>
        <p:txBody>
          <a:bodyPr/>
          <a:lstStyle/>
          <a:p>
            <a:endParaRPr lang="en-IN"/>
          </a:p>
        </p:txBody>
      </p:sp>
      <p:sp>
        <p:nvSpPr>
          <p:cNvPr id="22" name="Shape 20">
            <a:extLst>
              <a:ext uri="{FF2B5EF4-FFF2-40B4-BE49-F238E27FC236}">
                <a16:creationId xmlns:a16="http://schemas.microsoft.com/office/drawing/2014/main" id="{31978DA6-7ADB-1CB8-28A8-1CA8331A7727}"/>
              </a:ext>
            </a:extLst>
          </p:cNvPr>
          <p:cNvSpPr/>
          <p:nvPr/>
        </p:nvSpPr>
        <p:spPr>
          <a:xfrm>
            <a:off x="7575407" y="4341412"/>
            <a:ext cx="0" cy="237744"/>
          </a:xfrm>
          <a:prstGeom prst="line">
            <a:avLst/>
          </a:prstGeom>
          <a:noFill/>
          <a:ln w="12700">
            <a:solidFill>
              <a:srgbClr val="00A3E0"/>
            </a:solidFill>
            <a:prstDash val="dash"/>
            <a:headEnd type="none"/>
            <a:tailEnd type="triangle"/>
          </a:ln>
        </p:spPr>
        <p:txBody>
          <a:bodyPr/>
          <a:lstStyle/>
          <a:p>
            <a:endParaRPr lang="en-IN"/>
          </a:p>
        </p:txBody>
      </p:sp>
      <p:sp>
        <p:nvSpPr>
          <p:cNvPr id="24" name="Shape 22">
            <a:extLst>
              <a:ext uri="{FF2B5EF4-FFF2-40B4-BE49-F238E27FC236}">
                <a16:creationId xmlns:a16="http://schemas.microsoft.com/office/drawing/2014/main" id="{23451EEE-2C08-BEDC-C585-9601AA36DDB0}"/>
              </a:ext>
            </a:extLst>
          </p:cNvPr>
          <p:cNvSpPr/>
          <p:nvPr/>
        </p:nvSpPr>
        <p:spPr>
          <a:xfrm>
            <a:off x="8882999" y="4341412"/>
            <a:ext cx="0" cy="237744"/>
          </a:xfrm>
          <a:prstGeom prst="line">
            <a:avLst/>
          </a:prstGeom>
          <a:noFill/>
          <a:ln w="12700">
            <a:solidFill>
              <a:srgbClr val="00A3E0"/>
            </a:solidFill>
            <a:prstDash val="dash"/>
            <a:headEnd type="none"/>
            <a:tailEnd type="triangle"/>
          </a:ln>
        </p:spPr>
        <p:txBody>
          <a:bodyPr/>
          <a:lstStyle/>
          <a:p>
            <a:endParaRPr lang="en-IN"/>
          </a:p>
        </p:txBody>
      </p:sp>
      <p:sp>
        <p:nvSpPr>
          <p:cNvPr id="25" name="Shape 23">
            <a:extLst>
              <a:ext uri="{FF2B5EF4-FFF2-40B4-BE49-F238E27FC236}">
                <a16:creationId xmlns:a16="http://schemas.microsoft.com/office/drawing/2014/main" id="{99234FD0-10CB-7F82-94B4-3ACB7093E9C1}"/>
              </a:ext>
            </a:extLst>
          </p:cNvPr>
          <p:cNvSpPr/>
          <p:nvPr/>
        </p:nvSpPr>
        <p:spPr>
          <a:xfrm>
            <a:off x="8882998" y="5520988"/>
            <a:ext cx="8247" cy="347637"/>
          </a:xfrm>
          <a:prstGeom prst="line">
            <a:avLst/>
          </a:prstGeom>
          <a:noFill/>
          <a:ln w="12700">
            <a:solidFill>
              <a:srgbClr val="98A2B3"/>
            </a:solidFill>
            <a:prstDash val="sysDash"/>
            <a:headEnd type="triangle"/>
            <a:tailEnd type="triangle"/>
          </a:ln>
        </p:spPr>
        <p:txBody>
          <a:bodyPr/>
          <a:lstStyle/>
          <a:p>
            <a:endParaRPr lang="en-IN"/>
          </a:p>
        </p:txBody>
      </p:sp>
      <p:sp>
        <p:nvSpPr>
          <p:cNvPr id="66" name="Shape 56">
            <a:extLst>
              <a:ext uri="{FF2B5EF4-FFF2-40B4-BE49-F238E27FC236}">
                <a16:creationId xmlns:a16="http://schemas.microsoft.com/office/drawing/2014/main" id="{6AB08613-8F75-0229-EE87-6CA2F6C9E63F}"/>
              </a:ext>
            </a:extLst>
          </p:cNvPr>
          <p:cNvSpPr/>
          <p:nvPr/>
        </p:nvSpPr>
        <p:spPr>
          <a:xfrm>
            <a:off x="1819259" y="4579156"/>
            <a:ext cx="1051560" cy="914400"/>
          </a:xfrm>
          <a:prstGeom prst="roundRect">
            <a:avLst>
              <a:gd name="adj" fmla="val 11000"/>
            </a:avLst>
          </a:prstGeom>
          <a:solidFill>
            <a:srgbClr val="FFFFFF"/>
          </a:solidFill>
          <a:ln w="12700">
            <a:solidFill>
              <a:srgbClr val="E9EEF5"/>
            </a:solidFill>
            <a:prstDash val="solid"/>
          </a:ln>
          <a:effectLst>
            <a:outerShdw blurRad="25400" dist="50800" dir="2700000" algn="bl" rotWithShape="0">
              <a:srgbClr val="D0D5DD">
                <a:alpha val="12000"/>
              </a:srgbClr>
            </a:outerShdw>
          </a:effectLst>
        </p:spPr>
        <p:txBody>
          <a:bodyPr/>
          <a:lstStyle/>
          <a:p>
            <a:endParaRPr lang="en-IN"/>
          </a:p>
        </p:txBody>
      </p:sp>
      <p:sp>
        <p:nvSpPr>
          <p:cNvPr id="67" name="Shape 57">
            <a:extLst>
              <a:ext uri="{FF2B5EF4-FFF2-40B4-BE49-F238E27FC236}">
                <a16:creationId xmlns:a16="http://schemas.microsoft.com/office/drawing/2014/main" id="{22BD75D4-E344-0B08-2ACA-83064E5FA32F}"/>
              </a:ext>
            </a:extLst>
          </p:cNvPr>
          <p:cNvSpPr/>
          <p:nvPr/>
        </p:nvSpPr>
        <p:spPr>
          <a:xfrm>
            <a:off x="2134727" y="4670596"/>
            <a:ext cx="420624" cy="420624"/>
          </a:xfrm>
          <a:prstGeom prst="ellipse">
            <a:avLst/>
          </a:prstGeom>
          <a:solidFill>
            <a:srgbClr val="EAF6FD"/>
          </a:solidFill>
          <a:ln w="6350">
            <a:solidFill>
              <a:srgbClr val="EAF6FD"/>
            </a:solidFill>
            <a:prstDash val="solid"/>
          </a:ln>
        </p:spPr>
        <p:txBody>
          <a:bodyPr/>
          <a:lstStyle/>
          <a:p>
            <a:endParaRPr lang="en-IN"/>
          </a:p>
        </p:txBody>
      </p:sp>
      <p:pic>
        <p:nvPicPr>
          <p:cNvPr id="68" name="Image 8" descr="preencoded.png">
            <a:extLst>
              <a:ext uri="{FF2B5EF4-FFF2-40B4-BE49-F238E27FC236}">
                <a16:creationId xmlns:a16="http://schemas.microsoft.com/office/drawing/2014/main" id="{B13D9AF7-E108-E1AA-2233-2A359C1924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10439" y="4746308"/>
            <a:ext cx="269199" cy="269199"/>
          </a:xfrm>
          <a:prstGeom prst="rect">
            <a:avLst/>
          </a:prstGeom>
        </p:spPr>
      </p:pic>
      <p:sp>
        <p:nvSpPr>
          <p:cNvPr id="69" name="Text 58">
            <a:extLst>
              <a:ext uri="{FF2B5EF4-FFF2-40B4-BE49-F238E27FC236}">
                <a16:creationId xmlns:a16="http://schemas.microsoft.com/office/drawing/2014/main" id="{DAF3D9BF-A507-2C12-4690-6C11B876D430}"/>
              </a:ext>
            </a:extLst>
          </p:cNvPr>
          <p:cNvSpPr/>
          <p:nvPr/>
        </p:nvSpPr>
        <p:spPr>
          <a:xfrm>
            <a:off x="1883267" y="5109508"/>
            <a:ext cx="923544" cy="274320"/>
          </a:xfrm>
          <a:prstGeom prst="rect">
            <a:avLst/>
          </a:prstGeom>
          <a:noFill/>
          <a:ln/>
        </p:spPr>
        <p:txBody>
          <a:bodyPr wrap="square" lIns="0" tIns="0" rIns="0" bIns="0" rtlCol="0" anchor="ctr">
            <a:normAutofit/>
          </a:bodyPr>
          <a:lstStyle/>
          <a:p>
            <a:pPr marL="0" indent="0" algn="ctr">
              <a:buNone/>
            </a:pPr>
            <a:r>
              <a:rPr lang="en-US" sz="850" b="1">
                <a:solidFill>
                  <a:srgbClr val="071226"/>
                </a:solidFill>
                <a:ea typeface="Aptos" pitchFamily="34" charset="-122"/>
                <a:cs typeface="Aptos" pitchFamily="34" charset="-120"/>
              </a:rPr>
              <a:t>Lead</a:t>
            </a:r>
            <a:endParaRPr lang="en-US" sz="850"/>
          </a:p>
          <a:p>
            <a:pPr marL="0" indent="0" algn="ctr">
              <a:buNone/>
            </a:pPr>
            <a:r>
              <a:rPr lang="en-US" sz="850" b="1">
                <a:solidFill>
                  <a:srgbClr val="071226"/>
                </a:solidFill>
                <a:ea typeface="Aptos" pitchFamily="34" charset="-122"/>
                <a:cs typeface="Aptos" pitchFamily="34" charset="-120"/>
              </a:rPr>
              <a:t>Qualification</a:t>
            </a:r>
            <a:endParaRPr lang="en-US" sz="850"/>
          </a:p>
        </p:txBody>
      </p:sp>
      <p:sp>
        <p:nvSpPr>
          <p:cNvPr id="70" name="Shape 59">
            <a:extLst>
              <a:ext uri="{FF2B5EF4-FFF2-40B4-BE49-F238E27FC236}">
                <a16:creationId xmlns:a16="http://schemas.microsoft.com/office/drawing/2014/main" id="{80AA7052-97DD-A7F4-5CB9-19E2ED064388}"/>
              </a:ext>
            </a:extLst>
          </p:cNvPr>
          <p:cNvSpPr/>
          <p:nvPr/>
        </p:nvSpPr>
        <p:spPr>
          <a:xfrm>
            <a:off x="3126851" y="4579156"/>
            <a:ext cx="1051560" cy="914400"/>
          </a:xfrm>
          <a:prstGeom prst="roundRect">
            <a:avLst>
              <a:gd name="adj" fmla="val 11000"/>
            </a:avLst>
          </a:prstGeom>
          <a:solidFill>
            <a:srgbClr val="FFFFFF"/>
          </a:solidFill>
          <a:ln w="12700">
            <a:solidFill>
              <a:srgbClr val="E9EEF5"/>
            </a:solidFill>
            <a:prstDash val="solid"/>
          </a:ln>
          <a:effectLst>
            <a:outerShdw blurRad="25400" dist="50800" dir="2700000" algn="bl" rotWithShape="0">
              <a:srgbClr val="D0D5DD">
                <a:alpha val="12000"/>
              </a:srgbClr>
            </a:outerShdw>
          </a:effectLst>
        </p:spPr>
        <p:txBody>
          <a:bodyPr/>
          <a:lstStyle/>
          <a:p>
            <a:endParaRPr lang="en-IN"/>
          </a:p>
        </p:txBody>
      </p:sp>
      <p:sp>
        <p:nvSpPr>
          <p:cNvPr id="71" name="Shape 60">
            <a:extLst>
              <a:ext uri="{FF2B5EF4-FFF2-40B4-BE49-F238E27FC236}">
                <a16:creationId xmlns:a16="http://schemas.microsoft.com/office/drawing/2014/main" id="{42862854-F660-E83A-6D3B-EC833977970D}"/>
              </a:ext>
            </a:extLst>
          </p:cNvPr>
          <p:cNvSpPr/>
          <p:nvPr/>
        </p:nvSpPr>
        <p:spPr>
          <a:xfrm>
            <a:off x="3442319" y="4670596"/>
            <a:ext cx="420624" cy="420624"/>
          </a:xfrm>
          <a:prstGeom prst="ellipse">
            <a:avLst/>
          </a:prstGeom>
          <a:solidFill>
            <a:srgbClr val="EAF6FD"/>
          </a:solidFill>
          <a:ln w="6350">
            <a:solidFill>
              <a:srgbClr val="EAF6FD"/>
            </a:solidFill>
            <a:prstDash val="solid"/>
          </a:ln>
        </p:spPr>
        <p:txBody>
          <a:bodyPr/>
          <a:lstStyle/>
          <a:p>
            <a:endParaRPr lang="en-IN"/>
          </a:p>
        </p:txBody>
      </p:sp>
      <p:sp>
        <p:nvSpPr>
          <p:cNvPr id="73" name="Text 61">
            <a:extLst>
              <a:ext uri="{FF2B5EF4-FFF2-40B4-BE49-F238E27FC236}">
                <a16:creationId xmlns:a16="http://schemas.microsoft.com/office/drawing/2014/main" id="{C8CC97D8-5421-FB1F-DC74-5B16C5C02CEA}"/>
              </a:ext>
            </a:extLst>
          </p:cNvPr>
          <p:cNvSpPr/>
          <p:nvPr/>
        </p:nvSpPr>
        <p:spPr>
          <a:xfrm>
            <a:off x="3190859" y="5109508"/>
            <a:ext cx="923544" cy="274320"/>
          </a:xfrm>
          <a:prstGeom prst="rect">
            <a:avLst/>
          </a:prstGeom>
          <a:noFill/>
          <a:ln/>
        </p:spPr>
        <p:txBody>
          <a:bodyPr wrap="square" lIns="0" tIns="0" rIns="0" bIns="0" rtlCol="0" anchor="ctr">
            <a:normAutofit/>
          </a:bodyPr>
          <a:lstStyle/>
          <a:p>
            <a:pPr marL="0" indent="0" algn="ctr">
              <a:buNone/>
            </a:pPr>
            <a:r>
              <a:rPr lang="en-US" sz="850" b="1">
                <a:solidFill>
                  <a:srgbClr val="071226"/>
                </a:solidFill>
                <a:ea typeface="Aptos" pitchFamily="34" charset="-122"/>
                <a:cs typeface="Aptos" pitchFamily="34" charset="-120"/>
              </a:rPr>
              <a:t>Verification</a:t>
            </a:r>
            <a:endParaRPr lang="en-US" sz="850"/>
          </a:p>
          <a:p>
            <a:pPr marL="0" indent="0" algn="ctr">
              <a:buNone/>
            </a:pPr>
            <a:r>
              <a:rPr lang="en-US" sz="850" b="1">
                <a:solidFill>
                  <a:srgbClr val="071226"/>
                </a:solidFill>
                <a:ea typeface="Aptos" pitchFamily="34" charset="-122"/>
                <a:cs typeface="Aptos" pitchFamily="34" charset="-120"/>
              </a:rPr>
              <a:t>&amp; KYC</a:t>
            </a:r>
            <a:endParaRPr lang="en-US" sz="850"/>
          </a:p>
        </p:txBody>
      </p:sp>
      <p:sp>
        <p:nvSpPr>
          <p:cNvPr id="74" name="Shape 62">
            <a:extLst>
              <a:ext uri="{FF2B5EF4-FFF2-40B4-BE49-F238E27FC236}">
                <a16:creationId xmlns:a16="http://schemas.microsoft.com/office/drawing/2014/main" id="{44499B1C-066D-72A7-FBF8-C2B2C4916F57}"/>
              </a:ext>
            </a:extLst>
          </p:cNvPr>
          <p:cNvSpPr/>
          <p:nvPr/>
        </p:nvSpPr>
        <p:spPr>
          <a:xfrm>
            <a:off x="4434443" y="4579156"/>
            <a:ext cx="1051560" cy="914400"/>
          </a:xfrm>
          <a:prstGeom prst="roundRect">
            <a:avLst>
              <a:gd name="adj" fmla="val 11000"/>
            </a:avLst>
          </a:prstGeom>
          <a:solidFill>
            <a:srgbClr val="FFFFFF"/>
          </a:solidFill>
          <a:ln w="12700">
            <a:solidFill>
              <a:srgbClr val="E9EEF5"/>
            </a:solidFill>
            <a:prstDash val="solid"/>
          </a:ln>
          <a:effectLst>
            <a:outerShdw blurRad="25400" dist="50800" dir="2700000" algn="bl" rotWithShape="0">
              <a:srgbClr val="D0D5DD">
                <a:alpha val="12000"/>
              </a:srgbClr>
            </a:outerShdw>
          </a:effectLst>
        </p:spPr>
        <p:txBody>
          <a:bodyPr/>
          <a:lstStyle/>
          <a:p>
            <a:endParaRPr lang="en-IN"/>
          </a:p>
        </p:txBody>
      </p:sp>
      <p:sp>
        <p:nvSpPr>
          <p:cNvPr id="75" name="Shape 63">
            <a:extLst>
              <a:ext uri="{FF2B5EF4-FFF2-40B4-BE49-F238E27FC236}">
                <a16:creationId xmlns:a16="http://schemas.microsoft.com/office/drawing/2014/main" id="{B7E5B6C4-D7E9-E889-0BFB-B2F82077B75E}"/>
              </a:ext>
            </a:extLst>
          </p:cNvPr>
          <p:cNvSpPr/>
          <p:nvPr/>
        </p:nvSpPr>
        <p:spPr>
          <a:xfrm>
            <a:off x="4749911" y="4670596"/>
            <a:ext cx="420624" cy="420624"/>
          </a:xfrm>
          <a:prstGeom prst="ellipse">
            <a:avLst/>
          </a:prstGeom>
          <a:solidFill>
            <a:srgbClr val="EAF6FD"/>
          </a:solidFill>
          <a:ln w="6350">
            <a:solidFill>
              <a:srgbClr val="EAF6FD"/>
            </a:solidFill>
            <a:prstDash val="solid"/>
          </a:ln>
        </p:spPr>
        <p:txBody>
          <a:bodyPr/>
          <a:lstStyle/>
          <a:p>
            <a:endParaRPr lang="en-IN"/>
          </a:p>
        </p:txBody>
      </p:sp>
      <p:pic>
        <p:nvPicPr>
          <p:cNvPr id="76" name="Image 10" descr="preencoded.png">
            <a:extLst>
              <a:ext uri="{FF2B5EF4-FFF2-40B4-BE49-F238E27FC236}">
                <a16:creationId xmlns:a16="http://schemas.microsoft.com/office/drawing/2014/main" id="{B206554F-0ADF-C18F-ECB8-CDE124DD37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25623" y="4746308"/>
            <a:ext cx="269199" cy="269199"/>
          </a:xfrm>
          <a:prstGeom prst="rect">
            <a:avLst/>
          </a:prstGeom>
        </p:spPr>
      </p:pic>
      <p:sp>
        <p:nvSpPr>
          <p:cNvPr id="77" name="Text 64">
            <a:extLst>
              <a:ext uri="{FF2B5EF4-FFF2-40B4-BE49-F238E27FC236}">
                <a16:creationId xmlns:a16="http://schemas.microsoft.com/office/drawing/2014/main" id="{A349A316-02D7-1A97-5DE9-B8EF8EB4E688}"/>
              </a:ext>
            </a:extLst>
          </p:cNvPr>
          <p:cNvSpPr/>
          <p:nvPr/>
        </p:nvSpPr>
        <p:spPr>
          <a:xfrm>
            <a:off x="4498451" y="5109508"/>
            <a:ext cx="923544" cy="274320"/>
          </a:xfrm>
          <a:prstGeom prst="rect">
            <a:avLst/>
          </a:prstGeom>
          <a:noFill/>
          <a:ln/>
        </p:spPr>
        <p:txBody>
          <a:bodyPr wrap="square" lIns="0" tIns="0" rIns="0" bIns="0" rtlCol="0" anchor="ctr">
            <a:normAutofit/>
          </a:bodyPr>
          <a:lstStyle/>
          <a:p>
            <a:pPr marL="0" indent="0" algn="ctr">
              <a:buNone/>
            </a:pPr>
            <a:r>
              <a:rPr lang="en-US" sz="850" b="1">
                <a:solidFill>
                  <a:srgbClr val="071226"/>
                </a:solidFill>
                <a:ea typeface="Aptos" pitchFamily="34" charset="-122"/>
                <a:cs typeface="Aptos" pitchFamily="34" charset="-120"/>
              </a:rPr>
              <a:t>Document</a:t>
            </a:r>
            <a:endParaRPr lang="en-US" sz="850"/>
          </a:p>
          <a:p>
            <a:pPr marL="0" indent="0" algn="ctr">
              <a:buNone/>
            </a:pPr>
            <a:r>
              <a:rPr lang="en-US" sz="850" b="1">
                <a:solidFill>
                  <a:srgbClr val="071226"/>
                </a:solidFill>
                <a:ea typeface="Aptos" pitchFamily="34" charset="-122"/>
                <a:cs typeface="Aptos" pitchFamily="34" charset="-120"/>
              </a:rPr>
              <a:t>Collection</a:t>
            </a:r>
            <a:endParaRPr lang="en-US" sz="850"/>
          </a:p>
        </p:txBody>
      </p:sp>
      <p:sp>
        <p:nvSpPr>
          <p:cNvPr id="78" name="Shape 65">
            <a:extLst>
              <a:ext uri="{FF2B5EF4-FFF2-40B4-BE49-F238E27FC236}">
                <a16:creationId xmlns:a16="http://schemas.microsoft.com/office/drawing/2014/main" id="{4E50CD77-D2AB-2209-053E-0F52A08BB255}"/>
              </a:ext>
            </a:extLst>
          </p:cNvPr>
          <p:cNvSpPr/>
          <p:nvPr/>
        </p:nvSpPr>
        <p:spPr>
          <a:xfrm>
            <a:off x="5742035" y="4579156"/>
            <a:ext cx="1051560" cy="914400"/>
          </a:xfrm>
          <a:prstGeom prst="roundRect">
            <a:avLst>
              <a:gd name="adj" fmla="val 11000"/>
            </a:avLst>
          </a:prstGeom>
          <a:solidFill>
            <a:srgbClr val="FFFFFF"/>
          </a:solidFill>
          <a:ln w="12700">
            <a:solidFill>
              <a:srgbClr val="E9EEF5"/>
            </a:solidFill>
            <a:prstDash val="solid"/>
          </a:ln>
          <a:effectLst>
            <a:outerShdw blurRad="25400" dist="50800" dir="2700000" algn="bl" rotWithShape="0">
              <a:srgbClr val="D0D5DD">
                <a:alpha val="12000"/>
              </a:srgbClr>
            </a:outerShdw>
          </a:effectLst>
        </p:spPr>
        <p:txBody>
          <a:bodyPr/>
          <a:lstStyle/>
          <a:p>
            <a:endParaRPr lang="en-IN"/>
          </a:p>
        </p:txBody>
      </p:sp>
      <p:sp>
        <p:nvSpPr>
          <p:cNvPr id="79" name="Shape 66">
            <a:extLst>
              <a:ext uri="{FF2B5EF4-FFF2-40B4-BE49-F238E27FC236}">
                <a16:creationId xmlns:a16="http://schemas.microsoft.com/office/drawing/2014/main" id="{CCEA7852-D594-0A14-DC7A-99287490157E}"/>
              </a:ext>
            </a:extLst>
          </p:cNvPr>
          <p:cNvSpPr/>
          <p:nvPr/>
        </p:nvSpPr>
        <p:spPr>
          <a:xfrm>
            <a:off x="6057503" y="4670596"/>
            <a:ext cx="420624" cy="420624"/>
          </a:xfrm>
          <a:prstGeom prst="ellipse">
            <a:avLst/>
          </a:prstGeom>
          <a:solidFill>
            <a:srgbClr val="EAF6FD"/>
          </a:solidFill>
          <a:ln w="6350">
            <a:solidFill>
              <a:srgbClr val="EAF6FD"/>
            </a:solidFill>
            <a:prstDash val="solid"/>
          </a:ln>
        </p:spPr>
        <p:txBody>
          <a:bodyPr/>
          <a:lstStyle/>
          <a:p>
            <a:endParaRPr lang="en-IN"/>
          </a:p>
        </p:txBody>
      </p:sp>
      <p:pic>
        <p:nvPicPr>
          <p:cNvPr id="80" name="Image 11" descr="preencoded.png">
            <a:extLst>
              <a:ext uri="{FF2B5EF4-FFF2-40B4-BE49-F238E27FC236}">
                <a16:creationId xmlns:a16="http://schemas.microsoft.com/office/drawing/2014/main" id="{3F63C104-92B3-B094-FEAF-DE2A6BB9B6D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33215" y="4746308"/>
            <a:ext cx="269199" cy="269199"/>
          </a:xfrm>
          <a:prstGeom prst="rect">
            <a:avLst/>
          </a:prstGeom>
        </p:spPr>
      </p:pic>
      <p:sp>
        <p:nvSpPr>
          <p:cNvPr id="81" name="Text 67">
            <a:extLst>
              <a:ext uri="{FF2B5EF4-FFF2-40B4-BE49-F238E27FC236}">
                <a16:creationId xmlns:a16="http://schemas.microsoft.com/office/drawing/2014/main" id="{3BF761E9-97AF-6414-398C-35D02FA78906}"/>
              </a:ext>
            </a:extLst>
          </p:cNvPr>
          <p:cNvSpPr/>
          <p:nvPr/>
        </p:nvSpPr>
        <p:spPr>
          <a:xfrm>
            <a:off x="5806043" y="5109508"/>
            <a:ext cx="923544" cy="274320"/>
          </a:xfrm>
          <a:prstGeom prst="rect">
            <a:avLst/>
          </a:prstGeom>
          <a:noFill/>
          <a:ln/>
        </p:spPr>
        <p:txBody>
          <a:bodyPr wrap="square" lIns="0" tIns="0" rIns="0" bIns="0" rtlCol="0" anchor="ctr">
            <a:normAutofit/>
          </a:bodyPr>
          <a:lstStyle/>
          <a:p>
            <a:pPr marL="0" indent="0" algn="ctr">
              <a:buNone/>
            </a:pPr>
            <a:r>
              <a:rPr lang="en-US" sz="850" b="1">
                <a:solidFill>
                  <a:srgbClr val="071226"/>
                </a:solidFill>
                <a:ea typeface="Aptos" pitchFamily="34" charset="-122"/>
                <a:cs typeface="Aptos" pitchFamily="34" charset="-120"/>
              </a:rPr>
              <a:t>Eligibility</a:t>
            </a:r>
            <a:endParaRPr lang="en-US" sz="850"/>
          </a:p>
          <a:p>
            <a:pPr marL="0" indent="0" algn="ctr">
              <a:buNone/>
            </a:pPr>
            <a:r>
              <a:rPr lang="en-US" sz="850" b="1">
                <a:solidFill>
                  <a:srgbClr val="071226"/>
                </a:solidFill>
                <a:ea typeface="Aptos" pitchFamily="34" charset="-122"/>
                <a:cs typeface="Aptos" pitchFamily="34" charset="-120"/>
              </a:rPr>
              <a:t>Check</a:t>
            </a:r>
            <a:endParaRPr lang="en-US" sz="850"/>
          </a:p>
        </p:txBody>
      </p:sp>
      <p:sp>
        <p:nvSpPr>
          <p:cNvPr id="82" name="Shape 68">
            <a:extLst>
              <a:ext uri="{FF2B5EF4-FFF2-40B4-BE49-F238E27FC236}">
                <a16:creationId xmlns:a16="http://schemas.microsoft.com/office/drawing/2014/main" id="{53D310E3-6763-055A-0C95-AB13DB621270}"/>
              </a:ext>
            </a:extLst>
          </p:cNvPr>
          <p:cNvSpPr/>
          <p:nvPr/>
        </p:nvSpPr>
        <p:spPr>
          <a:xfrm>
            <a:off x="7049627" y="4579156"/>
            <a:ext cx="1051560" cy="914400"/>
          </a:xfrm>
          <a:prstGeom prst="roundRect">
            <a:avLst>
              <a:gd name="adj" fmla="val 11000"/>
            </a:avLst>
          </a:prstGeom>
          <a:solidFill>
            <a:srgbClr val="FFFFFF"/>
          </a:solidFill>
          <a:ln w="12700">
            <a:solidFill>
              <a:srgbClr val="E9EEF5"/>
            </a:solidFill>
            <a:prstDash val="solid"/>
          </a:ln>
          <a:effectLst>
            <a:outerShdw blurRad="25400" dist="50800" dir="2700000" algn="bl" rotWithShape="0">
              <a:srgbClr val="D0D5DD">
                <a:alpha val="12000"/>
              </a:srgbClr>
            </a:outerShdw>
          </a:effectLst>
        </p:spPr>
        <p:txBody>
          <a:bodyPr/>
          <a:lstStyle/>
          <a:p>
            <a:endParaRPr lang="en-IN"/>
          </a:p>
        </p:txBody>
      </p:sp>
      <p:sp>
        <p:nvSpPr>
          <p:cNvPr id="83" name="Shape 69">
            <a:extLst>
              <a:ext uri="{FF2B5EF4-FFF2-40B4-BE49-F238E27FC236}">
                <a16:creationId xmlns:a16="http://schemas.microsoft.com/office/drawing/2014/main" id="{72A987F6-3037-70A8-F528-D9209D1E618B}"/>
              </a:ext>
            </a:extLst>
          </p:cNvPr>
          <p:cNvSpPr/>
          <p:nvPr/>
        </p:nvSpPr>
        <p:spPr>
          <a:xfrm>
            <a:off x="7365095" y="4670596"/>
            <a:ext cx="420624" cy="420624"/>
          </a:xfrm>
          <a:prstGeom prst="ellipse">
            <a:avLst/>
          </a:prstGeom>
          <a:solidFill>
            <a:srgbClr val="EAF6FD"/>
          </a:solidFill>
          <a:ln w="6350">
            <a:solidFill>
              <a:srgbClr val="EAF6FD"/>
            </a:solidFill>
            <a:prstDash val="solid"/>
          </a:ln>
        </p:spPr>
        <p:txBody>
          <a:bodyPr/>
          <a:lstStyle/>
          <a:p>
            <a:endParaRPr lang="en-IN"/>
          </a:p>
        </p:txBody>
      </p:sp>
      <p:pic>
        <p:nvPicPr>
          <p:cNvPr id="84" name="Image 12" descr="preencoded.png">
            <a:extLst>
              <a:ext uri="{FF2B5EF4-FFF2-40B4-BE49-F238E27FC236}">
                <a16:creationId xmlns:a16="http://schemas.microsoft.com/office/drawing/2014/main" id="{1FBECA02-FB7E-0C3A-9A2C-14D63C01FE9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40807" y="4746308"/>
            <a:ext cx="269199" cy="269199"/>
          </a:xfrm>
          <a:prstGeom prst="rect">
            <a:avLst/>
          </a:prstGeom>
        </p:spPr>
      </p:pic>
      <p:sp>
        <p:nvSpPr>
          <p:cNvPr id="85" name="Text 70">
            <a:extLst>
              <a:ext uri="{FF2B5EF4-FFF2-40B4-BE49-F238E27FC236}">
                <a16:creationId xmlns:a16="http://schemas.microsoft.com/office/drawing/2014/main" id="{56883786-9DAF-C855-896C-61861DA8317D}"/>
              </a:ext>
            </a:extLst>
          </p:cNvPr>
          <p:cNvSpPr/>
          <p:nvPr/>
        </p:nvSpPr>
        <p:spPr>
          <a:xfrm>
            <a:off x="7113635" y="5109508"/>
            <a:ext cx="923544" cy="274320"/>
          </a:xfrm>
          <a:prstGeom prst="rect">
            <a:avLst/>
          </a:prstGeom>
          <a:noFill/>
          <a:ln/>
        </p:spPr>
        <p:txBody>
          <a:bodyPr wrap="square" lIns="0" tIns="0" rIns="0" bIns="0" rtlCol="0" anchor="ctr">
            <a:normAutofit/>
          </a:bodyPr>
          <a:lstStyle/>
          <a:p>
            <a:pPr marL="0" indent="0" algn="ctr">
              <a:buNone/>
            </a:pPr>
            <a:r>
              <a:rPr lang="en-US" sz="850" b="1">
                <a:solidFill>
                  <a:srgbClr val="071226"/>
                </a:solidFill>
                <a:ea typeface="Aptos" pitchFamily="34" charset="-122"/>
                <a:cs typeface="Aptos" pitchFamily="34" charset="-120"/>
              </a:rPr>
              <a:t>Application</a:t>
            </a:r>
            <a:endParaRPr lang="en-US" sz="850"/>
          </a:p>
          <a:p>
            <a:pPr marL="0" indent="0" algn="ctr">
              <a:buNone/>
            </a:pPr>
            <a:r>
              <a:rPr lang="en-US" sz="850" b="1">
                <a:solidFill>
                  <a:srgbClr val="071226"/>
                </a:solidFill>
                <a:ea typeface="Aptos" pitchFamily="34" charset="-122"/>
                <a:cs typeface="Aptos" pitchFamily="34" charset="-120"/>
              </a:rPr>
              <a:t>Conversion</a:t>
            </a:r>
            <a:endParaRPr lang="en-US" sz="850"/>
          </a:p>
        </p:txBody>
      </p:sp>
      <p:sp>
        <p:nvSpPr>
          <p:cNvPr id="86" name="Shape 71">
            <a:extLst>
              <a:ext uri="{FF2B5EF4-FFF2-40B4-BE49-F238E27FC236}">
                <a16:creationId xmlns:a16="http://schemas.microsoft.com/office/drawing/2014/main" id="{02013643-64F0-B5E1-E16C-7934344248D5}"/>
              </a:ext>
            </a:extLst>
          </p:cNvPr>
          <p:cNvSpPr/>
          <p:nvPr/>
        </p:nvSpPr>
        <p:spPr>
          <a:xfrm>
            <a:off x="8357219" y="4579156"/>
            <a:ext cx="1051560" cy="914400"/>
          </a:xfrm>
          <a:prstGeom prst="roundRect">
            <a:avLst>
              <a:gd name="adj" fmla="val 11000"/>
            </a:avLst>
          </a:prstGeom>
          <a:solidFill>
            <a:srgbClr val="FFFFFF"/>
          </a:solidFill>
          <a:ln w="12700">
            <a:solidFill>
              <a:srgbClr val="E9EEF5"/>
            </a:solidFill>
            <a:prstDash val="solid"/>
          </a:ln>
          <a:effectLst>
            <a:outerShdw blurRad="25400" dist="50800" dir="2700000" algn="bl" rotWithShape="0">
              <a:srgbClr val="D0D5DD">
                <a:alpha val="12000"/>
              </a:srgbClr>
            </a:outerShdw>
          </a:effectLst>
        </p:spPr>
        <p:txBody>
          <a:bodyPr/>
          <a:lstStyle/>
          <a:p>
            <a:endParaRPr lang="en-IN"/>
          </a:p>
        </p:txBody>
      </p:sp>
      <p:sp>
        <p:nvSpPr>
          <p:cNvPr id="87" name="Shape 72">
            <a:extLst>
              <a:ext uri="{FF2B5EF4-FFF2-40B4-BE49-F238E27FC236}">
                <a16:creationId xmlns:a16="http://schemas.microsoft.com/office/drawing/2014/main" id="{D77F4C74-05DF-982D-08C8-1FE785777A52}"/>
              </a:ext>
            </a:extLst>
          </p:cNvPr>
          <p:cNvSpPr/>
          <p:nvPr/>
        </p:nvSpPr>
        <p:spPr>
          <a:xfrm>
            <a:off x="8672687" y="4670596"/>
            <a:ext cx="420624" cy="420624"/>
          </a:xfrm>
          <a:prstGeom prst="ellipse">
            <a:avLst/>
          </a:prstGeom>
          <a:solidFill>
            <a:srgbClr val="EAF6FD"/>
          </a:solidFill>
          <a:ln w="6350">
            <a:solidFill>
              <a:srgbClr val="EAF6FD"/>
            </a:solidFill>
            <a:prstDash val="solid"/>
          </a:ln>
        </p:spPr>
        <p:txBody>
          <a:bodyPr/>
          <a:lstStyle/>
          <a:p>
            <a:endParaRPr lang="en-IN"/>
          </a:p>
        </p:txBody>
      </p:sp>
      <p:sp>
        <p:nvSpPr>
          <p:cNvPr id="89" name="Text 73">
            <a:extLst>
              <a:ext uri="{FF2B5EF4-FFF2-40B4-BE49-F238E27FC236}">
                <a16:creationId xmlns:a16="http://schemas.microsoft.com/office/drawing/2014/main" id="{4A47D29A-D1D5-5AC7-27F8-46FAEBD8B77A}"/>
              </a:ext>
            </a:extLst>
          </p:cNvPr>
          <p:cNvSpPr/>
          <p:nvPr/>
        </p:nvSpPr>
        <p:spPr>
          <a:xfrm>
            <a:off x="8421227" y="5109508"/>
            <a:ext cx="923544" cy="274320"/>
          </a:xfrm>
          <a:prstGeom prst="rect">
            <a:avLst/>
          </a:prstGeom>
          <a:noFill/>
          <a:ln/>
        </p:spPr>
        <p:txBody>
          <a:bodyPr wrap="square" lIns="0" tIns="0" rIns="0" bIns="0" rtlCol="0" anchor="ctr">
            <a:normAutofit/>
          </a:bodyPr>
          <a:lstStyle/>
          <a:p>
            <a:pPr marL="0" indent="0" algn="ctr">
              <a:buNone/>
            </a:pPr>
            <a:r>
              <a:rPr lang="en-US" sz="850" b="1">
                <a:solidFill>
                  <a:srgbClr val="071226"/>
                </a:solidFill>
                <a:ea typeface="Aptos" pitchFamily="34" charset="-122"/>
                <a:cs typeface="Aptos" pitchFamily="34" charset="-120"/>
              </a:rPr>
              <a:t>Consent &amp;</a:t>
            </a:r>
            <a:endParaRPr lang="en-US" sz="850"/>
          </a:p>
          <a:p>
            <a:pPr marL="0" indent="0" algn="ctr">
              <a:buNone/>
            </a:pPr>
            <a:r>
              <a:rPr lang="en-US" sz="850" b="1">
                <a:solidFill>
                  <a:srgbClr val="071226"/>
                </a:solidFill>
                <a:ea typeface="Aptos" pitchFamily="34" charset="-122"/>
                <a:cs typeface="Aptos" pitchFamily="34" charset="-120"/>
              </a:rPr>
              <a:t>Follow-up</a:t>
            </a:r>
            <a:endParaRPr lang="en-US" sz="850"/>
          </a:p>
        </p:txBody>
      </p:sp>
      <p:sp>
        <p:nvSpPr>
          <p:cNvPr id="93" name="Shape 77">
            <a:extLst>
              <a:ext uri="{FF2B5EF4-FFF2-40B4-BE49-F238E27FC236}">
                <a16:creationId xmlns:a16="http://schemas.microsoft.com/office/drawing/2014/main" id="{9F86A4F4-9DC0-9DC4-3C22-7E402CB7C94D}"/>
              </a:ext>
            </a:extLst>
          </p:cNvPr>
          <p:cNvSpPr/>
          <p:nvPr/>
        </p:nvSpPr>
        <p:spPr>
          <a:xfrm>
            <a:off x="832540" y="5893491"/>
            <a:ext cx="8917687" cy="758952"/>
          </a:xfrm>
          <a:prstGeom prst="roundRect">
            <a:avLst>
              <a:gd name="adj" fmla="val 9639"/>
            </a:avLst>
          </a:prstGeom>
          <a:solidFill>
            <a:srgbClr val="FFFFFF"/>
          </a:solidFill>
          <a:ln w="12700">
            <a:solidFill>
              <a:srgbClr val="CBD5E1"/>
            </a:solidFill>
            <a:prstDash val="solid"/>
          </a:ln>
        </p:spPr>
        <p:txBody>
          <a:bodyPr/>
          <a:lstStyle/>
          <a:p>
            <a:endParaRPr lang="en-IN"/>
          </a:p>
        </p:txBody>
      </p:sp>
      <p:sp>
        <p:nvSpPr>
          <p:cNvPr id="99" name="Shape 83">
            <a:extLst>
              <a:ext uri="{FF2B5EF4-FFF2-40B4-BE49-F238E27FC236}">
                <a16:creationId xmlns:a16="http://schemas.microsoft.com/office/drawing/2014/main" id="{7D62A74E-2567-EEAB-F15E-45F2626DB9DA}"/>
              </a:ext>
            </a:extLst>
          </p:cNvPr>
          <p:cNvSpPr/>
          <p:nvPr/>
        </p:nvSpPr>
        <p:spPr>
          <a:xfrm>
            <a:off x="996023" y="6139548"/>
            <a:ext cx="347472" cy="347472"/>
          </a:xfrm>
          <a:prstGeom prst="ellipse">
            <a:avLst/>
          </a:prstGeom>
          <a:solidFill>
            <a:srgbClr val="E8F8F6"/>
          </a:solidFill>
          <a:ln w="6350">
            <a:solidFill>
              <a:srgbClr val="E8F8F6"/>
            </a:solidFill>
            <a:prstDash val="solid"/>
          </a:ln>
        </p:spPr>
        <p:txBody>
          <a:bodyPr/>
          <a:lstStyle/>
          <a:p>
            <a:endParaRPr lang="en-IN"/>
          </a:p>
        </p:txBody>
      </p:sp>
      <p:pic>
        <p:nvPicPr>
          <p:cNvPr id="100" name="Image 14" descr="preencoded.png">
            <a:extLst>
              <a:ext uri="{FF2B5EF4-FFF2-40B4-BE49-F238E27FC236}">
                <a16:creationId xmlns:a16="http://schemas.microsoft.com/office/drawing/2014/main" id="{6F5297EF-DB90-DC32-41D3-57540ED0C65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8568" y="6202093"/>
            <a:ext cx="222382" cy="222382"/>
          </a:xfrm>
          <a:prstGeom prst="rect">
            <a:avLst/>
          </a:prstGeom>
        </p:spPr>
      </p:pic>
      <p:sp>
        <p:nvSpPr>
          <p:cNvPr id="101" name="Text 84">
            <a:extLst>
              <a:ext uri="{FF2B5EF4-FFF2-40B4-BE49-F238E27FC236}">
                <a16:creationId xmlns:a16="http://schemas.microsoft.com/office/drawing/2014/main" id="{68523FFE-9B70-F532-180E-A67392CC066F}"/>
              </a:ext>
            </a:extLst>
          </p:cNvPr>
          <p:cNvSpPr/>
          <p:nvPr/>
        </p:nvSpPr>
        <p:spPr>
          <a:xfrm>
            <a:off x="1453223" y="6212700"/>
            <a:ext cx="941832" cy="164592"/>
          </a:xfrm>
          <a:prstGeom prst="rect">
            <a:avLst/>
          </a:prstGeom>
          <a:noFill/>
          <a:ln/>
        </p:spPr>
        <p:txBody>
          <a:bodyPr wrap="square" lIns="0" tIns="0" rIns="0" bIns="0" rtlCol="0" anchor="ctr">
            <a:normAutofit/>
          </a:bodyPr>
          <a:lstStyle/>
          <a:p>
            <a:pPr marL="0" indent="0" algn="l">
              <a:buNone/>
            </a:pPr>
            <a:r>
              <a:rPr lang="en-US" sz="880" b="1">
                <a:solidFill>
                  <a:srgbClr val="111827"/>
                </a:solidFill>
                <a:ea typeface="Aptos" pitchFamily="34" charset="-122"/>
                <a:cs typeface="Aptos" pitchFamily="34" charset="-120"/>
              </a:rPr>
              <a:t>Amazon Bedrock</a:t>
            </a:r>
            <a:endParaRPr lang="en-US" sz="880"/>
          </a:p>
        </p:txBody>
      </p:sp>
      <p:sp>
        <p:nvSpPr>
          <p:cNvPr id="102" name="Shape 85">
            <a:extLst>
              <a:ext uri="{FF2B5EF4-FFF2-40B4-BE49-F238E27FC236}">
                <a16:creationId xmlns:a16="http://schemas.microsoft.com/office/drawing/2014/main" id="{F6B6BC64-B70C-0785-9077-161F87B204CD}"/>
              </a:ext>
            </a:extLst>
          </p:cNvPr>
          <p:cNvSpPr/>
          <p:nvPr/>
        </p:nvSpPr>
        <p:spPr>
          <a:xfrm>
            <a:off x="2593453" y="6121260"/>
            <a:ext cx="0" cy="320040"/>
          </a:xfrm>
          <a:prstGeom prst="line">
            <a:avLst/>
          </a:prstGeom>
          <a:noFill/>
          <a:ln w="8890">
            <a:solidFill>
              <a:srgbClr val="CBD5E1"/>
            </a:solidFill>
            <a:prstDash val="solid"/>
            <a:headEnd type="none"/>
            <a:tailEnd type="none"/>
          </a:ln>
        </p:spPr>
        <p:txBody>
          <a:bodyPr/>
          <a:lstStyle/>
          <a:p>
            <a:endParaRPr lang="en-IN"/>
          </a:p>
        </p:txBody>
      </p:sp>
      <p:sp>
        <p:nvSpPr>
          <p:cNvPr id="103" name="Shape 86">
            <a:extLst>
              <a:ext uri="{FF2B5EF4-FFF2-40B4-BE49-F238E27FC236}">
                <a16:creationId xmlns:a16="http://schemas.microsoft.com/office/drawing/2014/main" id="{5FE032E3-890E-42B1-F8DB-CFBA3C3ABE04}"/>
              </a:ext>
            </a:extLst>
          </p:cNvPr>
          <p:cNvSpPr/>
          <p:nvPr/>
        </p:nvSpPr>
        <p:spPr>
          <a:xfrm>
            <a:off x="2894096" y="6139548"/>
            <a:ext cx="347472" cy="347472"/>
          </a:xfrm>
          <a:prstGeom prst="ellipse">
            <a:avLst/>
          </a:prstGeom>
          <a:solidFill>
            <a:srgbClr val="EAF8EA"/>
          </a:solidFill>
          <a:ln w="6350">
            <a:solidFill>
              <a:srgbClr val="EAF8EA"/>
            </a:solidFill>
            <a:prstDash val="solid"/>
          </a:ln>
        </p:spPr>
        <p:txBody>
          <a:bodyPr/>
          <a:lstStyle/>
          <a:p>
            <a:endParaRPr lang="en-IN"/>
          </a:p>
        </p:txBody>
      </p:sp>
      <p:pic>
        <p:nvPicPr>
          <p:cNvPr id="104" name="Image 15" descr="preencoded.png">
            <a:extLst>
              <a:ext uri="{FF2B5EF4-FFF2-40B4-BE49-F238E27FC236}">
                <a16:creationId xmlns:a16="http://schemas.microsoft.com/office/drawing/2014/main" id="{BEB37AB6-9568-D1BE-89B4-900577EEA9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56641" y="6202093"/>
            <a:ext cx="222382" cy="222382"/>
          </a:xfrm>
          <a:prstGeom prst="rect">
            <a:avLst/>
          </a:prstGeom>
        </p:spPr>
      </p:pic>
      <p:sp>
        <p:nvSpPr>
          <p:cNvPr id="105" name="Text 87">
            <a:extLst>
              <a:ext uri="{FF2B5EF4-FFF2-40B4-BE49-F238E27FC236}">
                <a16:creationId xmlns:a16="http://schemas.microsoft.com/office/drawing/2014/main" id="{6853F33E-1EA2-5A31-6691-289AD02A4C82}"/>
              </a:ext>
            </a:extLst>
          </p:cNvPr>
          <p:cNvSpPr/>
          <p:nvPr/>
        </p:nvSpPr>
        <p:spPr>
          <a:xfrm>
            <a:off x="3351296" y="6212700"/>
            <a:ext cx="713232" cy="164592"/>
          </a:xfrm>
          <a:prstGeom prst="rect">
            <a:avLst/>
          </a:prstGeom>
          <a:noFill/>
          <a:ln/>
        </p:spPr>
        <p:txBody>
          <a:bodyPr wrap="square" lIns="0" tIns="0" rIns="0" bIns="0" rtlCol="0" anchor="ctr">
            <a:normAutofit/>
          </a:bodyPr>
          <a:lstStyle/>
          <a:p>
            <a:pPr marL="0" indent="0" algn="l">
              <a:buNone/>
            </a:pPr>
            <a:r>
              <a:rPr lang="en-US" sz="880" b="1">
                <a:solidFill>
                  <a:srgbClr val="111827"/>
                </a:solidFill>
                <a:ea typeface="Aptos" pitchFamily="34" charset="-122"/>
                <a:cs typeface="Aptos" pitchFamily="34" charset="-120"/>
              </a:rPr>
              <a:t>LOS / CRM</a:t>
            </a:r>
            <a:endParaRPr lang="en-US" sz="880"/>
          </a:p>
        </p:txBody>
      </p:sp>
      <p:sp>
        <p:nvSpPr>
          <p:cNvPr id="106" name="Shape 88">
            <a:extLst>
              <a:ext uri="{FF2B5EF4-FFF2-40B4-BE49-F238E27FC236}">
                <a16:creationId xmlns:a16="http://schemas.microsoft.com/office/drawing/2014/main" id="{D9972DA9-5354-E792-7022-80BF1019AFE0}"/>
              </a:ext>
            </a:extLst>
          </p:cNvPr>
          <p:cNvSpPr/>
          <p:nvPr/>
        </p:nvSpPr>
        <p:spPr>
          <a:xfrm>
            <a:off x="4410245" y="6121260"/>
            <a:ext cx="0" cy="320040"/>
          </a:xfrm>
          <a:prstGeom prst="line">
            <a:avLst/>
          </a:prstGeom>
          <a:noFill/>
          <a:ln w="8890">
            <a:solidFill>
              <a:srgbClr val="CBD5E1"/>
            </a:solidFill>
            <a:prstDash val="solid"/>
            <a:headEnd type="none"/>
            <a:tailEnd type="none"/>
          </a:ln>
        </p:spPr>
        <p:txBody>
          <a:bodyPr/>
          <a:lstStyle/>
          <a:p>
            <a:endParaRPr lang="en-IN"/>
          </a:p>
        </p:txBody>
      </p:sp>
      <p:sp>
        <p:nvSpPr>
          <p:cNvPr id="107" name="Shape 89">
            <a:extLst>
              <a:ext uri="{FF2B5EF4-FFF2-40B4-BE49-F238E27FC236}">
                <a16:creationId xmlns:a16="http://schemas.microsoft.com/office/drawing/2014/main" id="{772555DC-45E8-D30E-C16A-92455ED092BC}"/>
              </a:ext>
            </a:extLst>
          </p:cNvPr>
          <p:cNvSpPr/>
          <p:nvPr/>
        </p:nvSpPr>
        <p:spPr>
          <a:xfrm>
            <a:off x="4701653" y="6130311"/>
            <a:ext cx="347472" cy="347472"/>
          </a:xfrm>
          <a:prstGeom prst="ellipse">
            <a:avLst/>
          </a:prstGeom>
          <a:solidFill>
            <a:srgbClr val="E8F8F6"/>
          </a:solidFill>
          <a:ln w="6350">
            <a:solidFill>
              <a:srgbClr val="E8F8F6"/>
            </a:solidFill>
            <a:prstDash val="solid"/>
          </a:ln>
        </p:spPr>
        <p:txBody>
          <a:bodyPr/>
          <a:lstStyle/>
          <a:p>
            <a:endParaRPr lang="en-IN"/>
          </a:p>
        </p:txBody>
      </p:sp>
      <p:pic>
        <p:nvPicPr>
          <p:cNvPr id="108" name="Image 16" descr="preencoded.png">
            <a:extLst>
              <a:ext uri="{FF2B5EF4-FFF2-40B4-BE49-F238E27FC236}">
                <a16:creationId xmlns:a16="http://schemas.microsoft.com/office/drawing/2014/main" id="{0677CF2B-FC1D-D6C7-C439-402FBEABEC0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764198" y="6192856"/>
            <a:ext cx="222382" cy="222382"/>
          </a:xfrm>
          <a:prstGeom prst="rect">
            <a:avLst/>
          </a:prstGeom>
        </p:spPr>
      </p:pic>
      <p:sp>
        <p:nvSpPr>
          <p:cNvPr id="109" name="Text 90">
            <a:extLst>
              <a:ext uri="{FF2B5EF4-FFF2-40B4-BE49-F238E27FC236}">
                <a16:creationId xmlns:a16="http://schemas.microsoft.com/office/drawing/2014/main" id="{81442FFB-3A4F-9449-AB7A-FAC6F5600480}"/>
              </a:ext>
            </a:extLst>
          </p:cNvPr>
          <p:cNvSpPr/>
          <p:nvPr/>
        </p:nvSpPr>
        <p:spPr>
          <a:xfrm>
            <a:off x="5158853" y="6203463"/>
            <a:ext cx="393192" cy="164592"/>
          </a:xfrm>
          <a:prstGeom prst="rect">
            <a:avLst/>
          </a:prstGeom>
          <a:noFill/>
          <a:ln/>
        </p:spPr>
        <p:txBody>
          <a:bodyPr wrap="square" lIns="0" tIns="0" rIns="0" bIns="0" rtlCol="0" anchor="ctr">
            <a:normAutofit/>
          </a:bodyPr>
          <a:lstStyle/>
          <a:p>
            <a:pPr marL="0" indent="0" algn="l">
              <a:buNone/>
            </a:pPr>
            <a:r>
              <a:rPr lang="en-US" sz="880" b="1">
                <a:solidFill>
                  <a:srgbClr val="111827"/>
                </a:solidFill>
                <a:ea typeface="Aptos" pitchFamily="34" charset="-122"/>
                <a:cs typeface="Aptos" pitchFamily="34" charset="-120"/>
              </a:rPr>
              <a:t>APIs</a:t>
            </a:r>
            <a:endParaRPr lang="en-US" sz="880"/>
          </a:p>
        </p:txBody>
      </p:sp>
      <p:sp>
        <p:nvSpPr>
          <p:cNvPr id="110" name="Shape 91">
            <a:extLst>
              <a:ext uri="{FF2B5EF4-FFF2-40B4-BE49-F238E27FC236}">
                <a16:creationId xmlns:a16="http://schemas.microsoft.com/office/drawing/2014/main" id="{AA563FB8-4F16-36A2-F6B5-057C822D5DCD}"/>
              </a:ext>
            </a:extLst>
          </p:cNvPr>
          <p:cNvSpPr/>
          <p:nvPr/>
        </p:nvSpPr>
        <p:spPr>
          <a:xfrm>
            <a:off x="6118973" y="6112023"/>
            <a:ext cx="0" cy="320040"/>
          </a:xfrm>
          <a:prstGeom prst="line">
            <a:avLst/>
          </a:prstGeom>
          <a:noFill/>
          <a:ln w="8890">
            <a:solidFill>
              <a:srgbClr val="CBD5E1"/>
            </a:solidFill>
            <a:prstDash val="solid"/>
            <a:headEnd type="none"/>
            <a:tailEnd type="none"/>
          </a:ln>
        </p:spPr>
        <p:txBody>
          <a:bodyPr/>
          <a:lstStyle/>
          <a:p>
            <a:endParaRPr lang="en-IN"/>
          </a:p>
        </p:txBody>
      </p:sp>
      <p:sp>
        <p:nvSpPr>
          <p:cNvPr id="111" name="Shape 92">
            <a:extLst>
              <a:ext uri="{FF2B5EF4-FFF2-40B4-BE49-F238E27FC236}">
                <a16:creationId xmlns:a16="http://schemas.microsoft.com/office/drawing/2014/main" id="{B7263009-38E8-07D2-26CE-017D24B4C9C2}"/>
              </a:ext>
            </a:extLst>
          </p:cNvPr>
          <p:cNvSpPr/>
          <p:nvPr/>
        </p:nvSpPr>
        <p:spPr>
          <a:xfrm>
            <a:off x="6456562" y="6121074"/>
            <a:ext cx="347472" cy="347472"/>
          </a:xfrm>
          <a:prstGeom prst="ellipse">
            <a:avLst/>
          </a:prstGeom>
          <a:solidFill>
            <a:srgbClr val="EAF6FD"/>
          </a:solidFill>
          <a:ln w="6350">
            <a:solidFill>
              <a:srgbClr val="EAF6FD"/>
            </a:solidFill>
            <a:prstDash val="solid"/>
          </a:ln>
        </p:spPr>
        <p:txBody>
          <a:bodyPr/>
          <a:lstStyle/>
          <a:p>
            <a:endParaRPr lang="en-IN"/>
          </a:p>
        </p:txBody>
      </p:sp>
      <p:pic>
        <p:nvPicPr>
          <p:cNvPr id="112" name="Image 17" descr="preencoded.png">
            <a:extLst>
              <a:ext uri="{FF2B5EF4-FFF2-40B4-BE49-F238E27FC236}">
                <a16:creationId xmlns:a16="http://schemas.microsoft.com/office/drawing/2014/main" id="{FF1CD5B9-4AB5-A24E-DDD7-09E8EA2B20F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519107" y="6183619"/>
            <a:ext cx="222382" cy="222382"/>
          </a:xfrm>
          <a:prstGeom prst="rect">
            <a:avLst/>
          </a:prstGeom>
        </p:spPr>
      </p:pic>
      <p:sp>
        <p:nvSpPr>
          <p:cNvPr id="113" name="Text 93">
            <a:extLst>
              <a:ext uri="{FF2B5EF4-FFF2-40B4-BE49-F238E27FC236}">
                <a16:creationId xmlns:a16="http://schemas.microsoft.com/office/drawing/2014/main" id="{8253DF9B-FA74-B806-2C12-2DB65534061C}"/>
              </a:ext>
            </a:extLst>
          </p:cNvPr>
          <p:cNvSpPr/>
          <p:nvPr/>
        </p:nvSpPr>
        <p:spPr>
          <a:xfrm>
            <a:off x="6913762" y="6194226"/>
            <a:ext cx="347472" cy="164592"/>
          </a:xfrm>
          <a:prstGeom prst="rect">
            <a:avLst/>
          </a:prstGeom>
          <a:noFill/>
          <a:ln/>
        </p:spPr>
        <p:txBody>
          <a:bodyPr wrap="square" lIns="0" tIns="0" rIns="0" bIns="0" rtlCol="0" anchor="ctr">
            <a:normAutofit/>
          </a:bodyPr>
          <a:lstStyle/>
          <a:p>
            <a:pPr marL="0" indent="0" algn="l">
              <a:buNone/>
            </a:pPr>
            <a:r>
              <a:rPr lang="en-US" sz="880" b="1">
                <a:solidFill>
                  <a:srgbClr val="111827"/>
                </a:solidFill>
                <a:ea typeface="Aptos" pitchFamily="34" charset="-122"/>
                <a:cs typeface="Aptos" pitchFamily="34" charset="-120"/>
              </a:rPr>
              <a:t>Data</a:t>
            </a:r>
            <a:endParaRPr lang="en-US" sz="880"/>
          </a:p>
        </p:txBody>
      </p:sp>
      <p:sp>
        <p:nvSpPr>
          <p:cNvPr id="114" name="Shape 94">
            <a:extLst>
              <a:ext uri="{FF2B5EF4-FFF2-40B4-BE49-F238E27FC236}">
                <a16:creationId xmlns:a16="http://schemas.microsoft.com/office/drawing/2014/main" id="{8E489F30-8D41-2194-8A27-394192519B5A}"/>
              </a:ext>
            </a:extLst>
          </p:cNvPr>
          <p:cNvSpPr/>
          <p:nvPr/>
        </p:nvSpPr>
        <p:spPr>
          <a:xfrm>
            <a:off x="7597715" y="6112023"/>
            <a:ext cx="0" cy="320040"/>
          </a:xfrm>
          <a:prstGeom prst="line">
            <a:avLst/>
          </a:prstGeom>
          <a:noFill/>
          <a:ln w="8890">
            <a:solidFill>
              <a:srgbClr val="CBD5E1"/>
            </a:solidFill>
            <a:prstDash val="solid"/>
            <a:headEnd type="none"/>
            <a:tailEnd type="none"/>
          </a:ln>
        </p:spPr>
        <p:txBody>
          <a:bodyPr/>
          <a:lstStyle/>
          <a:p>
            <a:endParaRPr lang="en-IN"/>
          </a:p>
        </p:txBody>
      </p:sp>
      <p:sp>
        <p:nvSpPr>
          <p:cNvPr id="115" name="Shape 95">
            <a:extLst>
              <a:ext uri="{FF2B5EF4-FFF2-40B4-BE49-F238E27FC236}">
                <a16:creationId xmlns:a16="http://schemas.microsoft.com/office/drawing/2014/main" id="{C459FD1F-930E-9B50-5B6F-9A1D90C91D7D}"/>
              </a:ext>
            </a:extLst>
          </p:cNvPr>
          <p:cNvSpPr/>
          <p:nvPr/>
        </p:nvSpPr>
        <p:spPr>
          <a:xfrm>
            <a:off x="8009195" y="6130311"/>
            <a:ext cx="347472" cy="347472"/>
          </a:xfrm>
          <a:prstGeom prst="ellipse">
            <a:avLst/>
          </a:prstGeom>
          <a:solidFill>
            <a:srgbClr val="E8F8F6"/>
          </a:solidFill>
          <a:ln w="6350">
            <a:solidFill>
              <a:srgbClr val="E8F8F6"/>
            </a:solidFill>
            <a:prstDash val="solid"/>
          </a:ln>
        </p:spPr>
        <p:txBody>
          <a:bodyPr/>
          <a:lstStyle/>
          <a:p>
            <a:endParaRPr lang="en-IN"/>
          </a:p>
        </p:txBody>
      </p:sp>
      <p:pic>
        <p:nvPicPr>
          <p:cNvPr id="116" name="Image 18" descr="preencoded.png">
            <a:extLst>
              <a:ext uri="{FF2B5EF4-FFF2-40B4-BE49-F238E27FC236}">
                <a16:creationId xmlns:a16="http://schemas.microsoft.com/office/drawing/2014/main" id="{B010B7C6-29D9-669D-7A8B-60AB6AB8F08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71740" y="6192856"/>
            <a:ext cx="222382" cy="222382"/>
          </a:xfrm>
          <a:prstGeom prst="rect">
            <a:avLst/>
          </a:prstGeom>
        </p:spPr>
      </p:pic>
      <p:sp>
        <p:nvSpPr>
          <p:cNvPr id="117" name="Text 96">
            <a:extLst>
              <a:ext uri="{FF2B5EF4-FFF2-40B4-BE49-F238E27FC236}">
                <a16:creationId xmlns:a16="http://schemas.microsoft.com/office/drawing/2014/main" id="{03F2A47D-8711-E0B9-B6AF-9E2DBAD3E1EA}"/>
              </a:ext>
            </a:extLst>
          </p:cNvPr>
          <p:cNvSpPr/>
          <p:nvPr/>
        </p:nvSpPr>
        <p:spPr>
          <a:xfrm>
            <a:off x="8466395" y="6203463"/>
            <a:ext cx="1170432" cy="164592"/>
          </a:xfrm>
          <a:prstGeom prst="rect">
            <a:avLst/>
          </a:prstGeom>
          <a:noFill/>
          <a:ln/>
        </p:spPr>
        <p:txBody>
          <a:bodyPr wrap="square" lIns="0" tIns="0" rIns="0" bIns="0" rtlCol="0" anchor="ctr">
            <a:normAutofit/>
          </a:bodyPr>
          <a:lstStyle/>
          <a:p>
            <a:pPr marL="0" indent="0" algn="l">
              <a:buNone/>
            </a:pPr>
            <a:r>
              <a:rPr lang="en-US" sz="880" b="1">
                <a:solidFill>
                  <a:srgbClr val="111827"/>
                </a:solidFill>
                <a:ea typeface="Aptos" pitchFamily="34" charset="-122"/>
                <a:cs typeface="Aptos" pitchFamily="34" charset="-120"/>
              </a:rPr>
              <a:t>Audit &amp; Monitoring</a:t>
            </a:r>
            <a:endParaRPr lang="en-US" sz="880"/>
          </a:p>
        </p:txBody>
      </p:sp>
      <p:sp>
        <p:nvSpPr>
          <p:cNvPr id="131" name="Shape 18">
            <a:extLst>
              <a:ext uri="{FF2B5EF4-FFF2-40B4-BE49-F238E27FC236}">
                <a16:creationId xmlns:a16="http://schemas.microsoft.com/office/drawing/2014/main" id="{06037ED4-7C9E-65BD-C2AF-2D7AA6D65850}"/>
              </a:ext>
            </a:extLst>
          </p:cNvPr>
          <p:cNvSpPr/>
          <p:nvPr/>
        </p:nvSpPr>
        <p:spPr>
          <a:xfrm>
            <a:off x="3389243" y="2515395"/>
            <a:ext cx="1226668" cy="0"/>
          </a:xfrm>
          <a:prstGeom prst="line">
            <a:avLst/>
          </a:prstGeom>
          <a:noFill/>
          <a:ln w="22225">
            <a:solidFill>
              <a:srgbClr val="0E7C86"/>
            </a:solidFill>
            <a:prstDash val="solid"/>
          </a:ln>
        </p:spPr>
        <p:txBody>
          <a:bodyPr/>
          <a:lstStyle/>
          <a:p>
            <a:endParaRPr lang="en-IN"/>
          </a:p>
        </p:txBody>
      </p:sp>
      <p:sp>
        <p:nvSpPr>
          <p:cNvPr id="132" name="Shape 19">
            <a:extLst>
              <a:ext uri="{FF2B5EF4-FFF2-40B4-BE49-F238E27FC236}">
                <a16:creationId xmlns:a16="http://schemas.microsoft.com/office/drawing/2014/main" id="{04349ADF-8835-0B29-13DC-BE30D3C76F0E}"/>
              </a:ext>
            </a:extLst>
          </p:cNvPr>
          <p:cNvSpPr/>
          <p:nvPr/>
        </p:nvSpPr>
        <p:spPr>
          <a:xfrm>
            <a:off x="3389243" y="3228627"/>
            <a:ext cx="1226668" cy="0"/>
          </a:xfrm>
          <a:prstGeom prst="line">
            <a:avLst/>
          </a:prstGeom>
          <a:noFill/>
          <a:ln w="22225">
            <a:solidFill>
              <a:srgbClr val="0E7C86"/>
            </a:solidFill>
            <a:prstDash val="solid"/>
          </a:ln>
        </p:spPr>
        <p:txBody>
          <a:bodyPr/>
          <a:lstStyle/>
          <a:p>
            <a:endParaRPr lang="en-IN"/>
          </a:p>
        </p:txBody>
      </p:sp>
      <p:sp>
        <p:nvSpPr>
          <p:cNvPr id="133" name="Shape 20">
            <a:extLst>
              <a:ext uri="{FF2B5EF4-FFF2-40B4-BE49-F238E27FC236}">
                <a16:creationId xmlns:a16="http://schemas.microsoft.com/office/drawing/2014/main" id="{032AEE9D-1354-E071-766B-52BB5C132E0C}"/>
              </a:ext>
            </a:extLst>
          </p:cNvPr>
          <p:cNvSpPr/>
          <p:nvPr/>
        </p:nvSpPr>
        <p:spPr>
          <a:xfrm>
            <a:off x="4615911" y="2515395"/>
            <a:ext cx="0" cy="713232"/>
          </a:xfrm>
          <a:prstGeom prst="line">
            <a:avLst/>
          </a:prstGeom>
          <a:noFill/>
          <a:ln w="22225">
            <a:solidFill>
              <a:srgbClr val="0E7C86"/>
            </a:solidFill>
            <a:prstDash val="solid"/>
          </a:ln>
        </p:spPr>
        <p:txBody>
          <a:bodyPr/>
          <a:lstStyle/>
          <a:p>
            <a:endParaRPr lang="en-IN"/>
          </a:p>
        </p:txBody>
      </p:sp>
      <p:sp>
        <p:nvSpPr>
          <p:cNvPr id="134" name="Shape 21">
            <a:extLst>
              <a:ext uri="{FF2B5EF4-FFF2-40B4-BE49-F238E27FC236}">
                <a16:creationId xmlns:a16="http://schemas.microsoft.com/office/drawing/2014/main" id="{19940692-EEF7-FA1C-5769-C693CFA3D96A}"/>
              </a:ext>
            </a:extLst>
          </p:cNvPr>
          <p:cNvSpPr/>
          <p:nvPr/>
        </p:nvSpPr>
        <p:spPr>
          <a:xfrm>
            <a:off x="4615911" y="2840007"/>
            <a:ext cx="502920" cy="0"/>
          </a:xfrm>
          <a:prstGeom prst="line">
            <a:avLst/>
          </a:prstGeom>
          <a:noFill/>
          <a:ln w="22225">
            <a:solidFill>
              <a:srgbClr val="0E7C86"/>
            </a:solidFill>
            <a:prstDash val="solid"/>
            <a:tailEnd type="none"/>
          </a:ln>
        </p:spPr>
        <p:txBody>
          <a:bodyPr/>
          <a:lstStyle/>
          <a:p>
            <a:endParaRPr lang="en-IN"/>
          </a:p>
        </p:txBody>
      </p:sp>
      <p:sp>
        <p:nvSpPr>
          <p:cNvPr id="135" name="Shape 22">
            <a:extLst>
              <a:ext uri="{FF2B5EF4-FFF2-40B4-BE49-F238E27FC236}">
                <a16:creationId xmlns:a16="http://schemas.microsoft.com/office/drawing/2014/main" id="{6B1F4321-F28D-3D40-7FC9-D557525AE201}"/>
              </a:ext>
            </a:extLst>
          </p:cNvPr>
          <p:cNvSpPr/>
          <p:nvPr/>
        </p:nvSpPr>
        <p:spPr>
          <a:xfrm>
            <a:off x="6993351" y="2840007"/>
            <a:ext cx="502920" cy="0"/>
          </a:xfrm>
          <a:prstGeom prst="line">
            <a:avLst/>
          </a:prstGeom>
          <a:noFill/>
          <a:ln w="22225">
            <a:solidFill>
              <a:srgbClr val="0E7C86"/>
            </a:solidFill>
            <a:prstDash val="solid"/>
          </a:ln>
        </p:spPr>
        <p:txBody>
          <a:bodyPr/>
          <a:lstStyle/>
          <a:p>
            <a:endParaRPr lang="en-IN"/>
          </a:p>
        </p:txBody>
      </p:sp>
      <p:sp>
        <p:nvSpPr>
          <p:cNvPr id="136" name="Shape 23">
            <a:extLst>
              <a:ext uri="{FF2B5EF4-FFF2-40B4-BE49-F238E27FC236}">
                <a16:creationId xmlns:a16="http://schemas.microsoft.com/office/drawing/2014/main" id="{616D34E6-A7B0-9A38-DF91-82A92A57863E}"/>
              </a:ext>
            </a:extLst>
          </p:cNvPr>
          <p:cNvSpPr/>
          <p:nvPr/>
        </p:nvSpPr>
        <p:spPr>
          <a:xfrm>
            <a:off x="7496271" y="2515395"/>
            <a:ext cx="0" cy="713232"/>
          </a:xfrm>
          <a:prstGeom prst="line">
            <a:avLst/>
          </a:prstGeom>
          <a:noFill/>
          <a:ln w="22225">
            <a:solidFill>
              <a:srgbClr val="0E7C86"/>
            </a:solidFill>
            <a:prstDash val="solid"/>
          </a:ln>
        </p:spPr>
        <p:txBody>
          <a:bodyPr/>
          <a:lstStyle/>
          <a:p>
            <a:endParaRPr lang="en-IN"/>
          </a:p>
        </p:txBody>
      </p:sp>
      <p:sp>
        <p:nvSpPr>
          <p:cNvPr id="137" name="Shape 24">
            <a:extLst>
              <a:ext uri="{FF2B5EF4-FFF2-40B4-BE49-F238E27FC236}">
                <a16:creationId xmlns:a16="http://schemas.microsoft.com/office/drawing/2014/main" id="{31C4BAED-FACE-0498-5B1A-CEE8F7AF3E71}"/>
              </a:ext>
            </a:extLst>
          </p:cNvPr>
          <p:cNvSpPr/>
          <p:nvPr/>
        </p:nvSpPr>
        <p:spPr>
          <a:xfrm>
            <a:off x="7496271" y="2515395"/>
            <a:ext cx="1196492" cy="0"/>
          </a:xfrm>
          <a:prstGeom prst="line">
            <a:avLst/>
          </a:prstGeom>
          <a:noFill/>
          <a:ln w="22225">
            <a:solidFill>
              <a:srgbClr val="0E7C86"/>
            </a:solidFill>
            <a:prstDash val="solid"/>
            <a:tailEnd type="none"/>
          </a:ln>
        </p:spPr>
        <p:txBody>
          <a:bodyPr/>
          <a:lstStyle/>
          <a:p>
            <a:endParaRPr lang="en-IN"/>
          </a:p>
        </p:txBody>
      </p:sp>
      <p:sp>
        <p:nvSpPr>
          <p:cNvPr id="138" name="Shape 25">
            <a:extLst>
              <a:ext uri="{FF2B5EF4-FFF2-40B4-BE49-F238E27FC236}">
                <a16:creationId xmlns:a16="http://schemas.microsoft.com/office/drawing/2014/main" id="{FD96F9DE-B30B-3FD0-BA54-A3CD66F1D1F5}"/>
              </a:ext>
            </a:extLst>
          </p:cNvPr>
          <p:cNvSpPr/>
          <p:nvPr/>
        </p:nvSpPr>
        <p:spPr>
          <a:xfrm>
            <a:off x="7496271" y="3228627"/>
            <a:ext cx="1196492" cy="0"/>
          </a:xfrm>
          <a:prstGeom prst="line">
            <a:avLst/>
          </a:prstGeom>
          <a:noFill/>
          <a:ln w="22225">
            <a:solidFill>
              <a:srgbClr val="0E7C86"/>
            </a:solidFill>
            <a:prstDash val="solid"/>
            <a:tailEnd type="none"/>
          </a:ln>
        </p:spPr>
        <p:txBody>
          <a:bodyPr/>
          <a:lstStyle/>
          <a:p>
            <a:endParaRPr lang="en-IN"/>
          </a:p>
        </p:txBody>
      </p:sp>
      <p:sp>
        <p:nvSpPr>
          <p:cNvPr id="139" name="Shape 26">
            <a:extLst>
              <a:ext uri="{FF2B5EF4-FFF2-40B4-BE49-F238E27FC236}">
                <a16:creationId xmlns:a16="http://schemas.microsoft.com/office/drawing/2014/main" id="{57CE83CE-0126-2518-77C5-B8513D513364}"/>
              </a:ext>
            </a:extLst>
          </p:cNvPr>
          <p:cNvSpPr/>
          <p:nvPr/>
        </p:nvSpPr>
        <p:spPr>
          <a:xfrm>
            <a:off x="5073111" y="1857027"/>
            <a:ext cx="1965960" cy="1965960"/>
          </a:xfrm>
          <a:prstGeom prst="ellipse">
            <a:avLst/>
          </a:prstGeom>
          <a:solidFill>
            <a:srgbClr val="FFFFFF"/>
          </a:solidFill>
          <a:ln w="25400">
            <a:solidFill>
              <a:srgbClr val="0E7C86"/>
            </a:solidFill>
            <a:prstDash val="solid"/>
          </a:ln>
          <a:effectLst>
            <a:outerShdw blurRad="127000" dist="50800" dir="5400000" algn="bl" rotWithShape="0">
              <a:srgbClr val="0E7C86">
                <a:alpha val="18000"/>
              </a:srgbClr>
            </a:outerShdw>
          </a:effectLst>
        </p:spPr>
        <p:txBody>
          <a:bodyPr/>
          <a:lstStyle/>
          <a:p>
            <a:endParaRPr lang="en-IN"/>
          </a:p>
        </p:txBody>
      </p:sp>
      <p:sp>
        <p:nvSpPr>
          <p:cNvPr id="140" name="Shape 27">
            <a:extLst>
              <a:ext uri="{FF2B5EF4-FFF2-40B4-BE49-F238E27FC236}">
                <a16:creationId xmlns:a16="http://schemas.microsoft.com/office/drawing/2014/main" id="{35B36B00-0C4C-7EE3-A998-B623B63F617D}"/>
              </a:ext>
            </a:extLst>
          </p:cNvPr>
          <p:cNvSpPr/>
          <p:nvPr/>
        </p:nvSpPr>
        <p:spPr>
          <a:xfrm>
            <a:off x="5118831" y="1902747"/>
            <a:ext cx="1874520" cy="1874520"/>
          </a:xfrm>
          <a:prstGeom prst="ellipse">
            <a:avLst/>
          </a:prstGeom>
          <a:solidFill>
            <a:srgbClr val="FFFFFF"/>
          </a:solidFill>
          <a:ln w="12700">
            <a:solidFill>
              <a:srgbClr val="0E7C86"/>
            </a:solidFill>
            <a:prstDash val="solid"/>
          </a:ln>
        </p:spPr>
        <p:txBody>
          <a:bodyPr/>
          <a:lstStyle/>
          <a:p>
            <a:endParaRPr lang="en-IN"/>
          </a:p>
        </p:txBody>
      </p:sp>
      <p:pic>
        <p:nvPicPr>
          <p:cNvPr id="141" name="Image 6" descr="/home/claude/ava_slide/icons/ava_robot.png">
            <a:extLst>
              <a:ext uri="{FF2B5EF4-FFF2-40B4-BE49-F238E27FC236}">
                <a16:creationId xmlns:a16="http://schemas.microsoft.com/office/drawing/2014/main" id="{264C2AB9-F38A-B23C-74E2-E5F20A53C7AE}"/>
              </a:ext>
            </a:extLst>
          </p:cNvPr>
          <p:cNvPicPr>
            <a:picLocks noChangeAspect="1"/>
          </p:cNvPicPr>
          <p:nvPr/>
        </p:nvPicPr>
        <p:blipFill>
          <a:blip r:embed="rId12"/>
          <a:stretch>
            <a:fillRect/>
          </a:stretch>
        </p:blipFill>
        <p:spPr>
          <a:xfrm>
            <a:off x="5864862" y="2188994"/>
            <a:ext cx="384863" cy="384863"/>
          </a:xfrm>
          <a:prstGeom prst="rect">
            <a:avLst/>
          </a:prstGeom>
        </p:spPr>
      </p:pic>
      <p:sp>
        <p:nvSpPr>
          <p:cNvPr id="142" name="Text 28">
            <a:extLst>
              <a:ext uri="{FF2B5EF4-FFF2-40B4-BE49-F238E27FC236}">
                <a16:creationId xmlns:a16="http://schemas.microsoft.com/office/drawing/2014/main" id="{38CAC96A-50EA-5C98-0AD5-6F5806FC2E7A}"/>
              </a:ext>
            </a:extLst>
          </p:cNvPr>
          <p:cNvSpPr/>
          <p:nvPr/>
        </p:nvSpPr>
        <p:spPr>
          <a:xfrm>
            <a:off x="5118831" y="2579403"/>
            <a:ext cx="1874520" cy="347472"/>
          </a:xfrm>
          <a:prstGeom prst="rect">
            <a:avLst/>
          </a:prstGeom>
          <a:noFill/>
          <a:ln/>
        </p:spPr>
        <p:txBody>
          <a:bodyPr wrap="square" lIns="0" tIns="0" rIns="0" bIns="0" rtlCol="0" anchor="ctr"/>
          <a:lstStyle/>
          <a:p>
            <a:pPr marL="0" indent="0" algn="ctr">
              <a:buNone/>
            </a:pPr>
            <a:r>
              <a:rPr lang="en-US" sz="2100" b="1">
                <a:solidFill>
                  <a:srgbClr val="0E7C86"/>
                </a:solidFill>
                <a:ea typeface="Calibri" pitchFamily="34" charset="-122"/>
                <a:cs typeface="Calibri" pitchFamily="34" charset="-120"/>
              </a:rPr>
              <a:t>AVA</a:t>
            </a:r>
            <a:endParaRPr lang="en-US" sz="2100"/>
          </a:p>
        </p:txBody>
      </p:sp>
      <p:sp>
        <p:nvSpPr>
          <p:cNvPr id="143" name="Text 29">
            <a:extLst>
              <a:ext uri="{FF2B5EF4-FFF2-40B4-BE49-F238E27FC236}">
                <a16:creationId xmlns:a16="http://schemas.microsoft.com/office/drawing/2014/main" id="{F83E436F-020E-C41A-9F6F-73FFD26875A5}"/>
              </a:ext>
            </a:extLst>
          </p:cNvPr>
          <p:cNvSpPr/>
          <p:nvPr/>
        </p:nvSpPr>
        <p:spPr>
          <a:xfrm>
            <a:off x="5118831" y="2908587"/>
            <a:ext cx="1874520" cy="219456"/>
          </a:xfrm>
          <a:prstGeom prst="rect">
            <a:avLst/>
          </a:prstGeom>
          <a:noFill/>
          <a:ln/>
        </p:spPr>
        <p:txBody>
          <a:bodyPr wrap="square" lIns="0" tIns="0" rIns="0" bIns="0" rtlCol="0" anchor="ctr"/>
          <a:lstStyle/>
          <a:p>
            <a:pPr marL="0" indent="0" algn="ctr">
              <a:buNone/>
            </a:pPr>
            <a:r>
              <a:rPr lang="en-US" sz="950" b="1">
                <a:solidFill>
                  <a:srgbClr val="0B1B33"/>
                </a:solidFill>
                <a:ea typeface="Calibri" pitchFamily="34" charset="-122"/>
                <a:cs typeface="Calibri" pitchFamily="34" charset="-120"/>
              </a:rPr>
              <a:t>Orchestrator Agent</a:t>
            </a:r>
            <a:endParaRPr lang="en-US" sz="950"/>
          </a:p>
        </p:txBody>
      </p:sp>
      <p:sp>
        <p:nvSpPr>
          <p:cNvPr id="144" name="Text 30">
            <a:extLst>
              <a:ext uri="{FF2B5EF4-FFF2-40B4-BE49-F238E27FC236}">
                <a16:creationId xmlns:a16="http://schemas.microsoft.com/office/drawing/2014/main" id="{4796BC5B-60EA-4610-568B-D43C88682701}"/>
              </a:ext>
            </a:extLst>
          </p:cNvPr>
          <p:cNvSpPr/>
          <p:nvPr/>
        </p:nvSpPr>
        <p:spPr>
          <a:xfrm>
            <a:off x="5510254" y="3090672"/>
            <a:ext cx="1144988" cy="530352"/>
          </a:xfrm>
          <a:prstGeom prst="rect">
            <a:avLst/>
          </a:prstGeom>
          <a:noFill/>
          <a:ln/>
        </p:spPr>
        <p:txBody>
          <a:bodyPr wrap="square" lIns="0" tIns="0" rIns="0" bIns="0" rtlCol="0" anchor="ctr"/>
          <a:lstStyle/>
          <a:p>
            <a:pPr marL="0" indent="0" algn="ctr">
              <a:lnSpc>
                <a:spcPct val="105000"/>
              </a:lnSpc>
              <a:buNone/>
            </a:pPr>
            <a:r>
              <a:rPr lang="en-US" sz="750">
                <a:solidFill>
                  <a:srgbClr val="64748B"/>
                </a:solidFill>
                <a:ea typeface="Calibri" pitchFamily="34" charset="-122"/>
                <a:cs typeface="Calibri" pitchFamily="34" charset="-120"/>
              </a:rPr>
              <a:t>Coordinates conversations, specialist agents &amp; enterprise actions.</a:t>
            </a:r>
            <a:endParaRPr lang="en-US" sz="750"/>
          </a:p>
        </p:txBody>
      </p:sp>
      <p:sp>
        <p:nvSpPr>
          <p:cNvPr id="145" name="Shape 6">
            <a:extLst>
              <a:ext uri="{FF2B5EF4-FFF2-40B4-BE49-F238E27FC236}">
                <a16:creationId xmlns:a16="http://schemas.microsoft.com/office/drawing/2014/main" id="{B9C4816B-0BCE-EC3F-3204-2324E7AF2606}"/>
              </a:ext>
            </a:extLst>
          </p:cNvPr>
          <p:cNvSpPr/>
          <p:nvPr/>
        </p:nvSpPr>
        <p:spPr>
          <a:xfrm>
            <a:off x="425394" y="2239883"/>
            <a:ext cx="2971800" cy="566928"/>
          </a:xfrm>
          <a:prstGeom prst="roundRect">
            <a:avLst>
              <a:gd name="adj" fmla="val 14516"/>
            </a:avLst>
          </a:prstGeom>
          <a:solidFill>
            <a:srgbClr val="FFFFFF"/>
          </a:solidFill>
          <a:ln w="12700">
            <a:solidFill>
              <a:srgbClr val="E2E8F0"/>
            </a:solidFill>
            <a:prstDash val="solid"/>
          </a:ln>
          <a:effectLst>
            <a:outerShdw blurRad="88900" dist="25400" dir="5400000" algn="bl" rotWithShape="0">
              <a:srgbClr val="1B2733">
                <a:alpha val="10000"/>
              </a:srgbClr>
            </a:outerShdw>
          </a:effectLst>
        </p:spPr>
        <p:txBody>
          <a:bodyPr/>
          <a:lstStyle/>
          <a:p>
            <a:endParaRPr lang="en-IN"/>
          </a:p>
        </p:txBody>
      </p:sp>
      <p:sp>
        <p:nvSpPr>
          <p:cNvPr id="148" name="Text 8">
            <a:extLst>
              <a:ext uri="{FF2B5EF4-FFF2-40B4-BE49-F238E27FC236}">
                <a16:creationId xmlns:a16="http://schemas.microsoft.com/office/drawing/2014/main" id="{EC7D2F0A-7EAA-932D-9C4E-C707B858C478}"/>
              </a:ext>
            </a:extLst>
          </p:cNvPr>
          <p:cNvSpPr/>
          <p:nvPr/>
        </p:nvSpPr>
        <p:spPr>
          <a:xfrm>
            <a:off x="1065474" y="2239883"/>
            <a:ext cx="2167128" cy="566928"/>
          </a:xfrm>
          <a:prstGeom prst="rect">
            <a:avLst/>
          </a:prstGeom>
          <a:noFill/>
          <a:ln/>
        </p:spPr>
        <p:txBody>
          <a:bodyPr wrap="square" lIns="0" tIns="0" rIns="0" bIns="0" rtlCol="0" anchor="ctr"/>
          <a:lstStyle/>
          <a:p>
            <a:pPr marL="0" indent="0" algn="l">
              <a:lnSpc>
                <a:spcPct val="105000"/>
              </a:lnSpc>
              <a:buNone/>
            </a:pPr>
            <a:r>
              <a:rPr lang="en-US" sz="1000" b="1">
                <a:solidFill>
                  <a:srgbClr val="0B1B33"/>
                </a:solidFill>
                <a:ea typeface="Calibri" pitchFamily="34" charset="-122"/>
                <a:cs typeface="Calibri" pitchFamily="34" charset="-120"/>
              </a:rPr>
              <a:t>Microsoft Teams</a:t>
            </a:r>
            <a:endParaRPr lang="en-US" sz="1000"/>
          </a:p>
          <a:p>
            <a:pPr marL="0" indent="0" algn="l">
              <a:lnSpc>
                <a:spcPct val="105000"/>
              </a:lnSpc>
              <a:buNone/>
            </a:pPr>
            <a:r>
              <a:rPr lang="en-US" sz="1000">
                <a:solidFill>
                  <a:srgbClr val="64748B"/>
                </a:solidFill>
                <a:ea typeface="Calibri" pitchFamily="34" charset="-122"/>
                <a:cs typeface="Calibri" pitchFamily="34" charset="-120"/>
              </a:rPr>
              <a:t>Ava for Reps</a:t>
            </a:r>
            <a:endParaRPr lang="en-US" sz="1000"/>
          </a:p>
        </p:txBody>
      </p:sp>
      <p:sp>
        <p:nvSpPr>
          <p:cNvPr id="149" name="Shape 9">
            <a:extLst>
              <a:ext uri="{FF2B5EF4-FFF2-40B4-BE49-F238E27FC236}">
                <a16:creationId xmlns:a16="http://schemas.microsoft.com/office/drawing/2014/main" id="{26C60562-6E3F-07A3-CDCF-3A70D7701B61}"/>
              </a:ext>
            </a:extLst>
          </p:cNvPr>
          <p:cNvSpPr/>
          <p:nvPr/>
        </p:nvSpPr>
        <p:spPr>
          <a:xfrm>
            <a:off x="425394" y="2953115"/>
            <a:ext cx="2971800" cy="566928"/>
          </a:xfrm>
          <a:prstGeom prst="roundRect">
            <a:avLst>
              <a:gd name="adj" fmla="val 14516"/>
            </a:avLst>
          </a:prstGeom>
          <a:solidFill>
            <a:srgbClr val="FFFFFF"/>
          </a:solidFill>
          <a:ln w="12700">
            <a:solidFill>
              <a:srgbClr val="E2E8F0"/>
            </a:solidFill>
            <a:prstDash val="solid"/>
          </a:ln>
          <a:effectLst>
            <a:outerShdw blurRad="88900" dist="25400" dir="5400000" algn="bl" rotWithShape="0">
              <a:srgbClr val="1B2733">
                <a:alpha val="10000"/>
              </a:srgbClr>
            </a:outerShdw>
          </a:effectLst>
        </p:spPr>
        <p:txBody>
          <a:bodyPr/>
          <a:lstStyle/>
          <a:p>
            <a:endParaRPr lang="en-IN"/>
          </a:p>
        </p:txBody>
      </p:sp>
      <p:sp>
        <p:nvSpPr>
          <p:cNvPr id="150" name="Shape 10">
            <a:extLst>
              <a:ext uri="{FF2B5EF4-FFF2-40B4-BE49-F238E27FC236}">
                <a16:creationId xmlns:a16="http://schemas.microsoft.com/office/drawing/2014/main" id="{553DD47C-B0B9-68AF-38D3-D731A368515B}"/>
              </a:ext>
            </a:extLst>
          </p:cNvPr>
          <p:cNvSpPr/>
          <p:nvPr/>
        </p:nvSpPr>
        <p:spPr>
          <a:xfrm>
            <a:off x="589986" y="3071987"/>
            <a:ext cx="329184" cy="329184"/>
          </a:xfrm>
          <a:prstGeom prst="ellipse">
            <a:avLst/>
          </a:prstGeom>
          <a:solidFill>
            <a:srgbClr val="EAF6EF"/>
          </a:solidFill>
          <a:ln/>
        </p:spPr>
        <p:txBody>
          <a:bodyPr/>
          <a:lstStyle/>
          <a:p>
            <a:endParaRPr lang="en-IN"/>
          </a:p>
        </p:txBody>
      </p:sp>
      <p:pic>
        <p:nvPicPr>
          <p:cNvPr id="151" name="Image 3" descr="/home/claude/ava_slide/icons/los.png">
            <a:extLst>
              <a:ext uri="{FF2B5EF4-FFF2-40B4-BE49-F238E27FC236}">
                <a16:creationId xmlns:a16="http://schemas.microsoft.com/office/drawing/2014/main" id="{DA870E4A-9701-866C-2E2D-25FEFDE34FB5}"/>
              </a:ext>
            </a:extLst>
          </p:cNvPr>
          <p:cNvPicPr>
            <a:picLocks noChangeAspect="1"/>
          </p:cNvPicPr>
          <p:nvPr/>
        </p:nvPicPr>
        <p:blipFill>
          <a:blip r:embed="rId13"/>
          <a:stretch>
            <a:fillRect/>
          </a:stretch>
        </p:blipFill>
        <p:spPr>
          <a:xfrm>
            <a:off x="653994" y="3135995"/>
            <a:ext cx="201168" cy="201168"/>
          </a:xfrm>
          <a:prstGeom prst="rect">
            <a:avLst/>
          </a:prstGeom>
        </p:spPr>
      </p:pic>
      <p:sp>
        <p:nvSpPr>
          <p:cNvPr id="152" name="Text 11">
            <a:extLst>
              <a:ext uri="{FF2B5EF4-FFF2-40B4-BE49-F238E27FC236}">
                <a16:creationId xmlns:a16="http://schemas.microsoft.com/office/drawing/2014/main" id="{0BA7F6C5-809C-DB34-8C04-55069465CE18}"/>
              </a:ext>
            </a:extLst>
          </p:cNvPr>
          <p:cNvSpPr/>
          <p:nvPr/>
        </p:nvSpPr>
        <p:spPr>
          <a:xfrm>
            <a:off x="1065474" y="2953115"/>
            <a:ext cx="2167128" cy="566928"/>
          </a:xfrm>
          <a:prstGeom prst="rect">
            <a:avLst/>
          </a:prstGeom>
          <a:noFill/>
          <a:ln/>
        </p:spPr>
        <p:txBody>
          <a:bodyPr wrap="square" lIns="0" tIns="0" rIns="0" bIns="0" rtlCol="0" anchor="ctr"/>
          <a:lstStyle/>
          <a:p>
            <a:pPr marL="0" indent="0" algn="l">
              <a:lnSpc>
                <a:spcPct val="105000"/>
              </a:lnSpc>
              <a:buNone/>
            </a:pPr>
            <a:r>
              <a:rPr lang="en-US" sz="1000" b="1">
                <a:solidFill>
                  <a:srgbClr val="0B1B33"/>
                </a:solidFill>
                <a:ea typeface="Calibri" pitchFamily="34" charset="-122"/>
                <a:cs typeface="Calibri" pitchFamily="34" charset="-120"/>
              </a:rPr>
              <a:t>LOS Platform</a:t>
            </a:r>
            <a:endParaRPr lang="en-US" sz="1000"/>
          </a:p>
          <a:p>
            <a:pPr marL="0" indent="0" algn="l">
              <a:lnSpc>
                <a:spcPct val="105000"/>
              </a:lnSpc>
              <a:buNone/>
            </a:pPr>
            <a:r>
              <a:rPr lang="en-US" sz="1000">
                <a:solidFill>
                  <a:srgbClr val="64748B"/>
                </a:solidFill>
                <a:ea typeface="Calibri" pitchFamily="34" charset="-122"/>
                <a:cs typeface="Calibri" pitchFamily="34" charset="-120"/>
              </a:rPr>
              <a:t>Ava in LOS Workspace</a:t>
            </a:r>
            <a:endParaRPr lang="en-US" sz="1000"/>
          </a:p>
        </p:txBody>
      </p:sp>
      <p:sp>
        <p:nvSpPr>
          <p:cNvPr id="153" name="Shape 12">
            <a:extLst>
              <a:ext uri="{FF2B5EF4-FFF2-40B4-BE49-F238E27FC236}">
                <a16:creationId xmlns:a16="http://schemas.microsoft.com/office/drawing/2014/main" id="{FCFC260A-ACAA-0DC5-C877-BAD0972B54EE}"/>
              </a:ext>
            </a:extLst>
          </p:cNvPr>
          <p:cNvSpPr/>
          <p:nvPr/>
        </p:nvSpPr>
        <p:spPr>
          <a:xfrm>
            <a:off x="8676861" y="2223980"/>
            <a:ext cx="2999232" cy="566928"/>
          </a:xfrm>
          <a:prstGeom prst="roundRect">
            <a:avLst>
              <a:gd name="adj" fmla="val 14516"/>
            </a:avLst>
          </a:prstGeom>
          <a:solidFill>
            <a:srgbClr val="FFFFFF"/>
          </a:solidFill>
          <a:ln w="12700">
            <a:solidFill>
              <a:srgbClr val="E2E8F0"/>
            </a:solidFill>
            <a:prstDash val="solid"/>
          </a:ln>
          <a:effectLst>
            <a:outerShdw blurRad="88900" dist="25400" dir="5400000" algn="bl" rotWithShape="0">
              <a:srgbClr val="1B2733">
                <a:alpha val="10000"/>
              </a:srgbClr>
            </a:outerShdw>
          </a:effectLst>
        </p:spPr>
        <p:txBody>
          <a:bodyPr/>
          <a:lstStyle/>
          <a:p>
            <a:endParaRPr lang="en-IN"/>
          </a:p>
        </p:txBody>
      </p:sp>
      <p:sp>
        <p:nvSpPr>
          <p:cNvPr id="156" name="Text 14">
            <a:extLst>
              <a:ext uri="{FF2B5EF4-FFF2-40B4-BE49-F238E27FC236}">
                <a16:creationId xmlns:a16="http://schemas.microsoft.com/office/drawing/2014/main" id="{BD91A15E-52F7-0A6D-E6CF-7DCACB7C9C71}"/>
              </a:ext>
            </a:extLst>
          </p:cNvPr>
          <p:cNvSpPr/>
          <p:nvPr/>
        </p:nvSpPr>
        <p:spPr>
          <a:xfrm>
            <a:off x="9326483" y="2282024"/>
            <a:ext cx="2194560" cy="461176"/>
          </a:xfrm>
          <a:prstGeom prst="rect">
            <a:avLst/>
          </a:prstGeom>
          <a:noFill/>
          <a:ln/>
        </p:spPr>
        <p:txBody>
          <a:bodyPr wrap="square" lIns="0" tIns="0" rIns="0" bIns="0" rtlCol="0" anchor="ctr"/>
          <a:lstStyle/>
          <a:p>
            <a:pPr marL="0" indent="0">
              <a:lnSpc>
                <a:spcPct val="105000"/>
              </a:lnSpc>
              <a:buNone/>
            </a:pPr>
            <a:r>
              <a:rPr lang="en-US" sz="1000" b="1">
                <a:solidFill>
                  <a:srgbClr val="0B1B33"/>
                </a:solidFill>
                <a:ea typeface="Calibri" pitchFamily="34" charset="-122"/>
                <a:cs typeface="Calibri" pitchFamily="34" charset="-120"/>
              </a:rPr>
              <a:t>WhatsApp</a:t>
            </a:r>
            <a:endParaRPr lang="en-US" sz="1000"/>
          </a:p>
          <a:p>
            <a:pPr marL="0" indent="0">
              <a:lnSpc>
                <a:spcPct val="105000"/>
              </a:lnSpc>
              <a:buNone/>
            </a:pPr>
            <a:r>
              <a:rPr lang="en-US" sz="1000">
                <a:solidFill>
                  <a:srgbClr val="64748B"/>
                </a:solidFill>
                <a:ea typeface="Calibri" pitchFamily="34" charset="-122"/>
                <a:cs typeface="Calibri" pitchFamily="34" charset="-120"/>
              </a:rPr>
              <a:t>Ava for Customers</a:t>
            </a:r>
            <a:endParaRPr lang="en-US" sz="1000"/>
          </a:p>
        </p:txBody>
      </p:sp>
      <p:sp>
        <p:nvSpPr>
          <p:cNvPr id="157" name="Shape 15">
            <a:extLst>
              <a:ext uri="{FF2B5EF4-FFF2-40B4-BE49-F238E27FC236}">
                <a16:creationId xmlns:a16="http://schemas.microsoft.com/office/drawing/2014/main" id="{1D9C66FD-8763-BDD9-44F5-B9CE44F76822}"/>
              </a:ext>
            </a:extLst>
          </p:cNvPr>
          <p:cNvSpPr/>
          <p:nvPr/>
        </p:nvSpPr>
        <p:spPr>
          <a:xfrm>
            <a:off x="8676861" y="2937212"/>
            <a:ext cx="2999232" cy="566928"/>
          </a:xfrm>
          <a:prstGeom prst="roundRect">
            <a:avLst>
              <a:gd name="adj" fmla="val 14516"/>
            </a:avLst>
          </a:prstGeom>
          <a:solidFill>
            <a:srgbClr val="FFFFFF"/>
          </a:solidFill>
          <a:ln w="12700">
            <a:solidFill>
              <a:srgbClr val="E2E8F0"/>
            </a:solidFill>
            <a:prstDash val="solid"/>
          </a:ln>
          <a:effectLst>
            <a:outerShdw blurRad="88900" dist="25400" dir="5400000" algn="bl" rotWithShape="0">
              <a:srgbClr val="1B2733">
                <a:alpha val="10000"/>
              </a:srgbClr>
            </a:outerShdw>
          </a:effectLst>
        </p:spPr>
        <p:txBody>
          <a:bodyPr/>
          <a:lstStyle/>
          <a:p>
            <a:endParaRPr lang="en-IN"/>
          </a:p>
        </p:txBody>
      </p:sp>
      <p:sp>
        <p:nvSpPr>
          <p:cNvPr id="160" name="Text 17">
            <a:extLst>
              <a:ext uri="{FF2B5EF4-FFF2-40B4-BE49-F238E27FC236}">
                <a16:creationId xmlns:a16="http://schemas.microsoft.com/office/drawing/2014/main" id="{DFF9001A-8F90-952D-AD41-A58B96D7832C}"/>
              </a:ext>
            </a:extLst>
          </p:cNvPr>
          <p:cNvSpPr/>
          <p:nvPr/>
        </p:nvSpPr>
        <p:spPr>
          <a:xfrm>
            <a:off x="9318927" y="2937212"/>
            <a:ext cx="1717085" cy="566928"/>
          </a:xfrm>
          <a:prstGeom prst="rect">
            <a:avLst/>
          </a:prstGeom>
          <a:noFill/>
          <a:ln/>
        </p:spPr>
        <p:txBody>
          <a:bodyPr wrap="square" lIns="0" tIns="0" rIns="0" bIns="0" rtlCol="0" anchor="ctr"/>
          <a:lstStyle/>
          <a:p>
            <a:pPr marL="0" indent="0">
              <a:lnSpc>
                <a:spcPct val="105000"/>
              </a:lnSpc>
              <a:buNone/>
            </a:pPr>
            <a:r>
              <a:rPr lang="en-US" sz="1000" b="1">
                <a:solidFill>
                  <a:srgbClr val="0B1B33"/>
                </a:solidFill>
                <a:ea typeface="Calibri" pitchFamily="34" charset="-122"/>
                <a:cs typeface="Calibri" pitchFamily="34" charset="-120"/>
              </a:rPr>
              <a:t>Customer Portal</a:t>
            </a:r>
            <a:endParaRPr lang="en-US" sz="1000"/>
          </a:p>
          <a:p>
            <a:pPr marL="0" indent="0">
              <a:lnSpc>
                <a:spcPct val="105000"/>
              </a:lnSpc>
              <a:buNone/>
            </a:pPr>
            <a:r>
              <a:rPr lang="en-US" sz="1000">
                <a:solidFill>
                  <a:srgbClr val="64748B"/>
                </a:solidFill>
                <a:ea typeface="Calibri" pitchFamily="34" charset="-122"/>
                <a:cs typeface="Calibri" pitchFamily="34" charset="-120"/>
              </a:rPr>
              <a:t>Ava on Portal</a:t>
            </a:r>
            <a:endParaRPr lang="en-US" sz="1000"/>
          </a:p>
        </p:txBody>
      </p:sp>
      <p:pic>
        <p:nvPicPr>
          <p:cNvPr id="162" name="Picture 161">
            <a:extLst>
              <a:ext uri="{FF2B5EF4-FFF2-40B4-BE49-F238E27FC236}">
                <a16:creationId xmlns:a16="http://schemas.microsoft.com/office/drawing/2014/main" id="{959C6848-B5BB-49E7-D74E-64C3687B9689}"/>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474844" y="2220819"/>
            <a:ext cx="590630" cy="590630"/>
          </a:xfrm>
          <a:prstGeom prst="rect">
            <a:avLst/>
          </a:prstGeom>
        </p:spPr>
      </p:pic>
      <p:pic>
        <p:nvPicPr>
          <p:cNvPr id="168" name="Picture 167">
            <a:extLst>
              <a:ext uri="{FF2B5EF4-FFF2-40B4-BE49-F238E27FC236}">
                <a16:creationId xmlns:a16="http://schemas.microsoft.com/office/drawing/2014/main" id="{48AFE2A4-8ED3-B005-9F0F-6C5AE249B154}"/>
              </a:ext>
            </a:extLst>
          </p:cNvPr>
          <p:cNvPicPr>
            <a:picLocks noChangeAspect="1"/>
          </p:cNvPicPr>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8844088" y="2328658"/>
            <a:ext cx="350932" cy="350932"/>
          </a:xfrm>
          <a:prstGeom prst="rect">
            <a:avLst/>
          </a:prstGeom>
        </p:spPr>
      </p:pic>
      <p:grpSp>
        <p:nvGrpSpPr>
          <p:cNvPr id="187" name="Group 186">
            <a:extLst>
              <a:ext uri="{FF2B5EF4-FFF2-40B4-BE49-F238E27FC236}">
                <a16:creationId xmlns:a16="http://schemas.microsoft.com/office/drawing/2014/main" id="{143AFE13-BC1E-A675-4BC8-2534D1A9B537}"/>
              </a:ext>
            </a:extLst>
          </p:cNvPr>
          <p:cNvGrpSpPr/>
          <p:nvPr/>
        </p:nvGrpSpPr>
        <p:grpSpPr>
          <a:xfrm>
            <a:off x="496956" y="4762832"/>
            <a:ext cx="1212574" cy="560567"/>
            <a:chOff x="258417" y="4412974"/>
            <a:chExt cx="1212574" cy="560567"/>
          </a:xfrm>
        </p:grpSpPr>
        <p:pic>
          <p:nvPicPr>
            <p:cNvPr id="170" name="Image 7" descr="/home/claude/ava_slide/icons/spec_header.png">
              <a:extLst>
                <a:ext uri="{FF2B5EF4-FFF2-40B4-BE49-F238E27FC236}">
                  <a16:creationId xmlns:a16="http://schemas.microsoft.com/office/drawing/2014/main" id="{4F34DDF7-FD5E-61B3-6279-9F79CB6463EF}"/>
                </a:ext>
              </a:extLst>
            </p:cNvPr>
            <p:cNvPicPr>
              <a:picLocks noChangeAspect="1"/>
            </p:cNvPicPr>
            <p:nvPr/>
          </p:nvPicPr>
          <p:blipFill>
            <a:blip r:embed="rId18"/>
            <a:stretch>
              <a:fillRect/>
            </a:stretch>
          </p:blipFill>
          <p:spPr>
            <a:xfrm>
              <a:off x="258417" y="4552917"/>
              <a:ext cx="219456" cy="219456"/>
            </a:xfrm>
            <a:prstGeom prst="rect">
              <a:avLst/>
            </a:prstGeom>
          </p:spPr>
        </p:pic>
        <p:sp>
          <p:nvSpPr>
            <p:cNvPr id="171" name="Text 31">
              <a:extLst>
                <a:ext uri="{FF2B5EF4-FFF2-40B4-BE49-F238E27FC236}">
                  <a16:creationId xmlns:a16="http://schemas.microsoft.com/office/drawing/2014/main" id="{05DEF425-5420-90CB-432B-1B0B7EE68A86}"/>
                </a:ext>
              </a:extLst>
            </p:cNvPr>
            <p:cNvSpPr/>
            <p:nvPr/>
          </p:nvSpPr>
          <p:spPr>
            <a:xfrm>
              <a:off x="622586" y="4412974"/>
              <a:ext cx="848405" cy="560567"/>
            </a:xfrm>
            <a:prstGeom prst="rect">
              <a:avLst/>
            </a:prstGeom>
            <a:noFill/>
            <a:ln/>
          </p:spPr>
          <p:txBody>
            <a:bodyPr wrap="square" lIns="0" tIns="0" rIns="0" bIns="0" rtlCol="0" anchor="ctr"/>
            <a:lstStyle/>
            <a:p>
              <a:pPr marL="0" indent="0">
                <a:buNone/>
              </a:pPr>
              <a:r>
                <a:rPr lang="en-US" sz="1000" b="1" kern="0" spc="50">
                  <a:solidFill>
                    <a:srgbClr val="0E7C86"/>
                  </a:solidFill>
                  <a:ea typeface="Calibri" pitchFamily="34" charset="-122"/>
                  <a:cs typeface="Calibri" pitchFamily="34" charset="-120"/>
                </a:rPr>
                <a:t>Specialist Agents</a:t>
              </a:r>
              <a:endParaRPr lang="en-US" sz="1000"/>
            </a:p>
          </p:txBody>
        </p:sp>
      </p:grpSp>
      <p:sp>
        <p:nvSpPr>
          <p:cNvPr id="172" name="Shape 58">
            <a:extLst>
              <a:ext uri="{FF2B5EF4-FFF2-40B4-BE49-F238E27FC236}">
                <a16:creationId xmlns:a16="http://schemas.microsoft.com/office/drawing/2014/main" id="{22FC5F7A-62FD-21D7-E606-437F1496321A}"/>
              </a:ext>
            </a:extLst>
          </p:cNvPr>
          <p:cNvSpPr/>
          <p:nvPr/>
        </p:nvSpPr>
        <p:spPr>
          <a:xfrm>
            <a:off x="9940587" y="4208625"/>
            <a:ext cx="2089735" cy="1866171"/>
          </a:xfrm>
          <a:prstGeom prst="roundRect">
            <a:avLst>
              <a:gd name="adj" fmla="val 4444"/>
            </a:avLst>
          </a:prstGeom>
          <a:solidFill>
            <a:srgbClr val="EAF5F6"/>
          </a:solidFill>
          <a:ln w="12700">
            <a:solidFill>
              <a:srgbClr val="0E7C86"/>
            </a:solidFill>
            <a:prstDash val="solid"/>
          </a:ln>
        </p:spPr>
        <p:txBody>
          <a:bodyPr/>
          <a:lstStyle/>
          <a:p>
            <a:endParaRPr lang="en-IN"/>
          </a:p>
        </p:txBody>
      </p:sp>
      <p:pic>
        <p:nvPicPr>
          <p:cNvPr id="173" name="Image 14" descr="/home/claude/ava_slide/icons/quote_mark.png">
            <a:extLst>
              <a:ext uri="{FF2B5EF4-FFF2-40B4-BE49-F238E27FC236}">
                <a16:creationId xmlns:a16="http://schemas.microsoft.com/office/drawing/2014/main" id="{AD9062EB-3F15-67DE-80A3-A38A897748CF}"/>
              </a:ext>
            </a:extLst>
          </p:cNvPr>
          <p:cNvPicPr>
            <a:picLocks noChangeAspect="1"/>
          </p:cNvPicPr>
          <p:nvPr/>
        </p:nvPicPr>
        <p:blipFill>
          <a:blip r:embed="rId19"/>
          <a:stretch>
            <a:fillRect/>
          </a:stretch>
        </p:blipFill>
        <p:spPr>
          <a:xfrm>
            <a:off x="10141756" y="4391505"/>
            <a:ext cx="216245" cy="268069"/>
          </a:xfrm>
          <a:prstGeom prst="rect">
            <a:avLst/>
          </a:prstGeom>
        </p:spPr>
      </p:pic>
      <p:sp>
        <p:nvSpPr>
          <p:cNvPr id="174" name="Text 59">
            <a:extLst>
              <a:ext uri="{FF2B5EF4-FFF2-40B4-BE49-F238E27FC236}">
                <a16:creationId xmlns:a16="http://schemas.microsoft.com/office/drawing/2014/main" id="{9D650C68-F107-4813-AEA9-24EF0801C352}"/>
              </a:ext>
            </a:extLst>
          </p:cNvPr>
          <p:cNvSpPr/>
          <p:nvPr/>
        </p:nvSpPr>
        <p:spPr>
          <a:xfrm>
            <a:off x="10455962" y="4436828"/>
            <a:ext cx="1470995" cy="1001864"/>
          </a:xfrm>
          <a:prstGeom prst="rect">
            <a:avLst/>
          </a:prstGeom>
          <a:noFill/>
          <a:ln/>
        </p:spPr>
        <p:txBody>
          <a:bodyPr wrap="square" lIns="0" tIns="0" rIns="0" bIns="0" rtlCol="0" anchor="t"/>
          <a:lstStyle/>
          <a:p>
            <a:pPr marL="0" indent="0" algn="l">
              <a:lnSpc>
                <a:spcPct val="122000"/>
              </a:lnSpc>
              <a:buNone/>
            </a:pPr>
            <a:r>
              <a:rPr lang="en-US" sz="1000">
                <a:solidFill>
                  <a:srgbClr val="475569"/>
                </a:solidFill>
                <a:ea typeface="Calibri" pitchFamily="34" charset="-122"/>
                <a:cs typeface="Calibri" pitchFamily="34" charset="-120"/>
              </a:rPr>
              <a:t>Ava is not just a channel bot  </a:t>
            </a:r>
            <a:r>
              <a:rPr lang="en-US" sz="1000" b="1">
                <a:solidFill>
                  <a:srgbClr val="0E7C86"/>
                </a:solidFill>
                <a:ea typeface="Calibri" pitchFamily="34" charset="-122"/>
                <a:cs typeface="Calibri" pitchFamily="34" charset="-120"/>
              </a:rPr>
              <a:t>Ava is the orchestration layer</a:t>
            </a:r>
            <a:r>
              <a:rPr lang="en-US" sz="1000">
                <a:solidFill>
                  <a:srgbClr val="475569"/>
                </a:solidFill>
                <a:ea typeface="Calibri" pitchFamily="34" charset="-122"/>
                <a:cs typeface="Calibri" pitchFamily="34" charset="-120"/>
              </a:rPr>
              <a:t> connecting rep experiences, customer experiences, specialist agents, and enterprise systems.</a:t>
            </a:r>
            <a:endParaRPr lang="en-US" sz="1000"/>
          </a:p>
        </p:txBody>
      </p:sp>
      <p:pic>
        <p:nvPicPr>
          <p:cNvPr id="175" name="Image 0" descr="/home/claude/ava_slide/icons/rep_header.png">
            <a:extLst>
              <a:ext uri="{FF2B5EF4-FFF2-40B4-BE49-F238E27FC236}">
                <a16:creationId xmlns:a16="http://schemas.microsoft.com/office/drawing/2014/main" id="{2BE51BA7-D1D1-AC99-41B6-FE996BB6AA43}"/>
              </a:ext>
            </a:extLst>
          </p:cNvPr>
          <p:cNvPicPr>
            <a:picLocks noChangeAspect="1"/>
          </p:cNvPicPr>
          <p:nvPr/>
        </p:nvPicPr>
        <p:blipFill>
          <a:blip r:embed="rId20"/>
          <a:stretch>
            <a:fillRect/>
          </a:stretch>
        </p:blipFill>
        <p:spPr>
          <a:xfrm>
            <a:off x="449248" y="1890024"/>
            <a:ext cx="169363" cy="169363"/>
          </a:xfrm>
          <a:prstGeom prst="rect">
            <a:avLst/>
          </a:prstGeom>
        </p:spPr>
      </p:pic>
      <p:sp>
        <p:nvSpPr>
          <p:cNvPr id="176" name="Text 4">
            <a:extLst>
              <a:ext uri="{FF2B5EF4-FFF2-40B4-BE49-F238E27FC236}">
                <a16:creationId xmlns:a16="http://schemas.microsoft.com/office/drawing/2014/main" id="{72CA5FEA-4B00-C5F5-FA2D-DCC3E7BFBB5C}"/>
              </a:ext>
            </a:extLst>
          </p:cNvPr>
          <p:cNvSpPr/>
          <p:nvPr/>
        </p:nvSpPr>
        <p:spPr>
          <a:xfrm>
            <a:off x="704485" y="1820450"/>
            <a:ext cx="1394659" cy="292608"/>
          </a:xfrm>
          <a:prstGeom prst="rect">
            <a:avLst/>
          </a:prstGeom>
          <a:noFill/>
          <a:ln/>
        </p:spPr>
        <p:txBody>
          <a:bodyPr wrap="square" lIns="0" tIns="0" rIns="0" bIns="0" rtlCol="0" anchor="ctr"/>
          <a:lstStyle/>
          <a:p>
            <a:pPr marL="0" indent="0">
              <a:buNone/>
            </a:pPr>
            <a:r>
              <a:rPr lang="en-US" sz="1200" b="1" kern="0" spc="50">
                <a:solidFill>
                  <a:srgbClr val="2E8B57"/>
                </a:solidFill>
                <a:ea typeface="Calibri" pitchFamily="34" charset="-122"/>
                <a:cs typeface="Calibri" pitchFamily="34" charset="-120"/>
              </a:rPr>
              <a:t>Rep Channels</a:t>
            </a:r>
            <a:endParaRPr lang="en-US" sz="1200"/>
          </a:p>
        </p:txBody>
      </p:sp>
      <p:sp>
        <p:nvSpPr>
          <p:cNvPr id="178" name="Text 5">
            <a:extLst>
              <a:ext uri="{FF2B5EF4-FFF2-40B4-BE49-F238E27FC236}">
                <a16:creationId xmlns:a16="http://schemas.microsoft.com/office/drawing/2014/main" id="{3E8646FF-E11A-000F-2F0E-2736362886B8}"/>
              </a:ext>
            </a:extLst>
          </p:cNvPr>
          <p:cNvSpPr/>
          <p:nvPr/>
        </p:nvSpPr>
        <p:spPr>
          <a:xfrm>
            <a:off x="9104244" y="1844305"/>
            <a:ext cx="1701578" cy="292608"/>
          </a:xfrm>
          <a:prstGeom prst="rect">
            <a:avLst/>
          </a:prstGeom>
          <a:noFill/>
          <a:ln/>
        </p:spPr>
        <p:txBody>
          <a:bodyPr wrap="square" lIns="0" tIns="0" rIns="0" bIns="0" rtlCol="0" anchor="ctr"/>
          <a:lstStyle/>
          <a:p>
            <a:pPr marL="0" indent="0">
              <a:buNone/>
            </a:pPr>
            <a:r>
              <a:rPr lang="en-US" sz="1200" b="1" kern="0" spc="50">
                <a:solidFill>
                  <a:srgbClr val="1C7A17"/>
                </a:solidFill>
                <a:ea typeface="Calibri" pitchFamily="34" charset="-122"/>
                <a:cs typeface="Calibri" pitchFamily="34" charset="-120"/>
              </a:rPr>
              <a:t>Customer Channels</a:t>
            </a:r>
            <a:endParaRPr lang="en-US" sz="1200">
              <a:solidFill>
                <a:srgbClr val="1C7A17"/>
              </a:solidFill>
            </a:endParaRPr>
          </a:p>
        </p:txBody>
      </p:sp>
      <p:pic>
        <p:nvPicPr>
          <p:cNvPr id="182" name="Graphic 181" descr="Users with solid fill">
            <a:extLst>
              <a:ext uri="{FF2B5EF4-FFF2-40B4-BE49-F238E27FC236}">
                <a16:creationId xmlns:a16="http://schemas.microsoft.com/office/drawing/2014/main" id="{A456AF19-1690-C690-FF42-A9FD08E50423}"/>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8715954" y="1866569"/>
            <a:ext cx="276970" cy="276970"/>
          </a:xfrm>
          <a:prstGeom prst="rect">
            <a:avLst/>
          </a:prstGeom>
        </p:spPr>
      </p:pic>
      <p:sp>
        <p:nvSpPr>
          <p:cNvPr id="185" name="Shape 10">
            <a:extLst>
              <a:ext uri="{FF2B5EF4-FFF2-40B4-BE49-F238E27FC236}">
                <a16:creationId xmlns:a16="http://schemas.microsoft.com/office/drawing/2014/main" id="{8B9099CF-55FA-5321-DAD4-12B4E3B579AE}"/>
              </a:ext>
            </a:extLst>
          </p:cNvPr>
          <p:cNvSpPr/>
          <p:nvPr/>
        </p:nvSpPr>
        <p:spPr>
          <a:xfrm>
            <a:off x="8820911" y="3049459"/>
            <a:ext cx="329184" cy="329184"/>
          </a:xfrm>
          <a:prstGeom prst="ellipse">
            <a:avLst/>
          </a:prstGeom>
          <a:solidFill>
            <a:srgbClr val="EAF6EF"/>
          </a:solidFill>
          <a:ln/>
        </p:spPr>
        <p:txBody>
          <a:bodyPr/>
          <a:lstStyle/>
          <a:p>
            <a:endParaRPr lang="en-IN"/>
          </a:p>
        </p:txBody>
      </p:sp>
      <p:pic>
        <p:nvPicPr>
          <p:cNvPr id="186" name="Graphic 185" descr="World with solid fill">
            <a:extLst>
              <a:ext uri="{FF2B5EF4-FFF2-40B4-BE49-F238E27FC236}">
                <a16:creationId xmlns:a16="http://schemas.microsoft.com/office/drawing/2014/main" id="{9FD5434A-6F3C-A453-3C06-93CDAF9EDCC4}"/>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851127" y="3075167"/>
            <a:ext cx="261067" cy="261067"/>
          </a:xfrm>
          <a:prstGeom prst="rect">
            <a:avLst/>
          </a:prstGeom>
        </p:spPr>
      </p:pic>
      <p:pic>
        <p:nvPicPr>
          <p:cNvPr id="190" name="Graphic 189" descr="Ringer with solid fill">
            <a:extLst>
              <a:ext uri="{FF2B5EF4-FFF2-40B4-BE49-F238E27FC236}">
                <a16:creationId xmlns:a16="http://schemas.microsoft.com/office/drawing/2014/main" id="{BB95A7B5-614F-EA2B-66A5-1936DEFA3489}"/>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778240" y="4762831"/>
            <a:ext cx="230588" cy="219323"/>
          </a:xfrm>
          <a:prstGeom prst="rect">
            <a:avLst/>
          </a:prstGeom>
        </p:spPr>
      </p:pic>
      <p:pic>
        <p:nvPicPr>
          <p:cNvPr id="192" name="Graphic 191" descr="Shield Tick with solid fill">
            <a:extLst>
              <a:ext uri="{FF2B5EF4-FFF2-40B4-BE49-F238E27FC236}">
                <a16:creationId xmlns:a16="http://schemas.microsoft.com/office/drawing/2014/main" id="{F238AC9C-2793-B7E5-1DFD-418B9EBA2C7C}"/>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3539655" y="4744942"/>
            <a:ext cx="248478" cy="248478"/>
          </a:xfrm>
          <a:prstGeom prst="rect">
            <a:avLst/>
          </a:prstGeom>
        </p:spPr>
      </p:pic>
      <p:sp>
        <p:nvSpPr>
          <p:cNvPr id="193" name="Shape 23">
            <a:extLst>
              <a:ext uri="{FF2B5EF4-FFF2-40B4-BE49-F238E27FC236}">
                <a16:creationId xmlns:a16="http://schemas.microsoft.com/office/drawing/2014/main" id="{31A2E11B-F5DC-67B0-3C79-959C412E8493}"/>
              </a:ext>
            </a:extLst>
          </p:cNvPr>
          <p:cNvSpPr/>
          <p:nvPr/>
        </p:nvSpPr>
        <p:spPr>
          <a:xfrm>
            <a:off x="2283616" y="5525606"/>
            <a:ext cx="8247" cy="347637"/>
          </a:xfrm>
          <a:prstGeom prst="line">
            <a:avLst/>
          </a:prstGeom>
          <a:noFill/>
          <a:ln w="12700">
            <a:solidFill>
              <a:srgbClr val="98A2B3"/>
            </a:solidFill>
            <a:prstDash val="sysDash"/>
            <a:headEnd type="triangle"/>
            <a:tailEnd type="triangle"/>
          </a:ln>
        </p:spPr>
        <p:txBody>
          <a:bodyPr/>
          <a:lstStyle/>
          <a:p>
            <a:endParaRPr lang="en-IN"/>
          </a:p>
        </p:txBody>
      </p:sp>
      <p:sp>
        <p:nvSpPr>
          <p:cNvPr id="194" name="Shape 23">
            <a:extLst>
              <a:ext uri="{FF2B5EF4-FFF2-40B4-BE49-F238E27FC236}">
                <a16:creationId xmlns:a16="http://schemas.microsoft.com/office/drawing/2014/main" id="{74CFF616-EA63-42BF-1DFD-C72C2C3CE738}"/>
              </a:ext>
            </a:extLst>
          </p:cNvPr>
          <p:cNvSpPr/>
          <p:nvPr/>
        </p:nvSpPr>
        <p:spPr>
          <a:xfrm>
            <a:off x="3632125" y="5525607"/>
            <a:ext cx="8247" cy="347637"/>
          </a:xfrm>
          <a:prstGeom prst="line">
            <a:avLst/>
          </a:prstGeom>
          <a:noFill/>
          <a:ln w="12700">
            <a:solidFill>
              <a:srgbClr val="98A2B3"/>
            </a:solidFill>
            <a:prstDash val="sysDash"/>
            <a:headEnd type="triangle"/>
            <a:tailEnd type="triangle"/>
          </a:ln>
        </p:spPr>
        <p:txBody>
          <a:bodyPr/>
          <a:lstStyle/>
          <a:p>
            <a:endParaRPr lang="en-IN"/>
          </a:p>
        </p:txBody>
      </p:sp>
      <p:sp>
        <p:nvSpPr>
          <p:cNvPr id="195" name="Shape 23">
            <a:extLst>
              <a:ext uri="{FF2B5EF4-FFF2-40B4-BE49-F238E27FC236}">
                <a16:creationId xmlns:a16="http://schemas.microsoft.com/office/drawing/2014/main" id="{E51A05A9-2E87-D06A-4A46-732643F04EAE}"/>
              </a:ext>
            </a:extLst>
          </p:cNvPr>
          <p:cNvSpPr/>
          <p:nvPr/>
        </p:nvSpPr>
        <p:spPr>
          <a:xfrm>
            <a:off x="4934452" y="5516370"/>
            <a:ext cx="8247" cy="347637"/>
          </a:xfrm>
          <a:prstGeom prst="line">
            <a:avLst/>
          </a:prstGeom>
          <a:noFill/>
          <a:ln w="12700">
            <a:solidFill>
              <a:srgbClr val="98A2B3"/>
            </a:solidFill>
            <a:prstDash val="sysDash"/>
            <a:headEnd type="triangle"/>
            <a:tailEnd type="triangle"/>
          </a:ln>
        </p:spPr>
        <p:txBody>
          <a:bodyPr/>
          <a:lstStyle/>
          <a:p>
            <a:endParaRPr lang="en-IN"/>
          </a:p>
        </p:txBody>
      </p:sp>
      <p:sp>
        <p:nvSpPr>
          <p:cNvPr id="196" name="Shape 23">
            <a:extLst>
              <a:ext uri="{FF2B5EF4-FFF2-40B4-BE49-F238E27FC236}">
                <a16:creationId xmlns:a16="http://schemas.microsoft.com/office/drawing/2014/main" id="{685C4EFF-7D62-83A0-DCC8-3A4F99B5937C}"/>
              </a:ext>
            </a:extLst>
          </p:cNvPr>
          <p:cNvSpPr/>
          <p:nvPr/>
        </p:nvSpPr>
        <p:spPr>
          <a:xfrm>
            <a:off x="6246016" y="5525606"/>
            <a:ext cx="8247" cy="347637"/>
          </a:xfrm>
          <a:prstGeom prst="line">
            <a:avLst/>
          </a:prstGeom>
          <a:noFill/>
          <a:ln w="12700">
            <a:solidFill>
              <a:srgbClr val="98A2B3"/>
            </a:solidFill>
            <a:prstDash val="sysDash"/>
            <a:headEnd type="triangle"/>
            <a:tailEnd type="triangle"/>
          </a:ln>
        </p:spPr>
        <p:txBody>
          <a:bodyPr/>
          <a:lstStyle/>
          <a:p>
            <a:endParaRPr lang="en-IN"/>
          </a:p>
        </p:txBody>
      </p:sp>
      <p:sp>
        <p:nvSpPr>
          <p:cNvPr id="197" name="Shape 23">
            <a:extLst>
              <a:ext uri="{FF2B5EF4-FFF2-40B4-BE49-F238E27FC236}">
                <a16:creationId xmlns:a16="http://schemas.microsoft.com/office/drawing/2014/main" id="{6ECAE9E2-2EB0-25C6-40F6-1A293853C92F}"/>
              </a:ext>
            </a:extLst>
          </p:cNvPr>
          <p:cNvSpPr/>
          <p:nvPr/>
        </p:nvSpPr>
        <p:spPr>
          <a:xfrm>
            <a:off x="7557580" y="5507134"/>
            <a:ext cx="8247" cy="347637"/>
          </a:xfrm>
          <a:prstGeom prst="line">
            <a:avLst/>
          </a:prstGeom>
          <a:noFill/>
          <a:ln w="12700">
            <a:solidFill>
              <a:srgbClr val="98A2B3"/>
            </a:solidFill>
            <a:prstDash val="sysDash"/>
            <a:headEnd type="triangle"/>
            <a:tailEnd type="triangle"/>
          </a:ln>
        </p:spPr>
        <p:txBody>
          <a:bodyPr/>
          <a:lstStyle/>
          <a:p>
            <a:endParaRPr lang="en-IN"/>
          </a:p>
        </p:txBody>
      </p:sp>
    </p:spTree>
    <p:extLst>
      <p:ext uri="{BB962C8B-B14F-4D97-AF65-F5344CB8AC3E}">
        <p14:creationId xmlns:p14="http://schemas.microsoft.com/office/powerpoint/2010/main" val="637615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EBF2B-43D3-4C66-8E01-B8E9E3034CB8}"/>
              </a:ext>
            </a:extLst>
          </p:cNvPr>
          <p:cNvSpPr txBox="1">
            <a:spLocks/>
          </p:cNvSpPr>
          <p:nvPr/>
        </p:nvSpPr>
        <p:spPr bwMode="gray">
          <a:xfrm>
            <a:off x="3555604" y="3941296"/>
            <a:ext cx="6388178" cy="605298"/>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pPr marL="0" marR="0" lvl="0" indent="0" algn="l" defTabSz="685800" rtl="0" eaLnBrk="1" fontAlgn="auto" latinLnBrk="0" hangingPunct="1">
              <a:lnSpc>
                <a:spcPts val="6400"/>
              </a:lnSpc>
              <a:spcBef>
                <a:spcPct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Aptos Display" panose="020F0302020204030204"/>
                <a:ea typeface="Open Sans" panose="020B0606030504020204" pitchFamily="34" charset="0"/>
                <a:cs typeface="Calibri Light" panose="020F0302020204030204" pitchFamily="34" charset="0"/>
              </a:rPr>
              <a:t>Appendix</a:t>
            </a:r>
          </a:p>
        </p:txBody>
      </p:sp>
    </p:spTree>
    <p:extLst>
      <p:ext uri="{BB962C8B-B14F-4D97-AF65-F5344CB8AC3E}">
        <p14:creationId xmlns:p14="http://schemas.microsoft.com/office/powerpoint/2010/main" val="4243846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28A7BB3-F9EF-79B6-5220-5341F9AA6CD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B3EDFD-F199-EC7B-FE8A-4E24F8170FAF}"/>
              </a:ext>
            </a:extLst>
          </p:cNvPr>
          <p:cNvSpPr txBox="1">
            <a:spLocks/>
          </p:cNvSpPr>
          <p:nvPr/>
        </p:nvSpPr>
        <p:spPr>
          <a:xfrm>
            <a:off x="283523" y="854042"/>
            <a:ext cx="8075474" cy="552064"/>
          </a:xfrm>
          <a:prstGeom prst="rect">
            <a:avLst/>
          </a:prstGeom>
        </p:spPr>
        <p:txBody>
          <a:bodyPr vert="horz" lIns="0" tIns="0" rIns="0" bIns="0" rtlCol="0" anchor="t">
            <a:noAutofit/>
          </a:bodyPr>
          <a:lst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600">
                <a:solidFill>
                  <a:schemeClr val="tx1">
                    <a:lumMod val="65000"/>
                    <a:lumOff val="35000"/>
                  </a:schemeClr>
                </a:solidFill>
                <a:latin typeface="Aptos Light" panose="020B0004020202020204" pitchFamily="34" charset="0"/>
                <a:cs typeface="Calibri Light"/>
              </a:rPr>
              <a:t>A secure and scalable AWS architecture for agent orchestration, integrations, data, APIs, and audit-ready execution.</a:t>
            </a:r>
          </a:p>
        </p:txBody>
      </p:sp>
      <p:sp>
        <p:nvSpPr>
          <p:cNvPr id="3" name="Title 2">
            <a:extLst>
              <a:ext uri="{FF2B5EF4-FFF2-40B4-BE49-F238E27FC236}">
                <a16:creationId xmlns:a16="http://schemas.microsoft.com/office/drawing/2014/main" id="{3D86721F-C637-A975-7D3D-6DB14AA26E0B}"/>
              </a:ext>
            </a:extLst>
          </p:cNvPr>
          <p:cNvSpPr txBox="1">
            <a:spLocks/>
          </p:cNvSpPr>
          <p:nvPr/>
        </p:nvSpPr>
        <p:spPr>
          <a:xfrm>
            <a:off x="177077" y="197929"/>
            <a:ext cx="9716565" cy="561196"/>
          </a:xfrm>
          <a:prstGeom prst="rect">
            <a:avLst/>
          </a:prstGeom>
        </p:spPr>
        <p:txBody>
          <a:bodyPr/>
          <a:lst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a:lstStyle>
          <a:p>
            <a:r>
              <a:rPr lang="en-US" sz="3600">
                <a:solidFill>
                  <a:srgbClr val="002060"/>
                </a:solidFill>
                <a:latin typeface="Aptos Light" panose="020B0004020202020204" pitchFamily="34" charset="0"/>
                <a:ea typeface="+mj-lt"/>
                <a:cs typeface="+mj-lt"/>
              </a:rPr>
              <a:t>AWS Reference Architecture for Agentic Lending</a:t>
            </a:r>
            <a:endParaRPr lang="en-US" sz="3600">
              <a:solidFill>
                <a:srgbClr val="002060"/>
              </a:solidFill>
              <a:latin typeface="Aptos Light" panose="020B0004020202020204" pitchFamily="34" charset="0"/>
            </a:endParaRPr>
          </a:p>
        </p:txBody>
      </p:sp>
      <p:sp>
        <p:nvSpPr>
          <p:cNvPr id="4" name="Shape 3">
            <a:extLst>
              <a:ext uri="{FF2B5EF4-FFF2-40B4-BE49-F238E27FC236}">
                <a16:creationId xmlns:a16="http://schemas.microsoft.com/office/drawing/2014/main" id="{791CD21D-905B-4D5E-7FF9-C3114E4E5582}"/>
              </a:ext>
            </a:extLst>
          </p:cNvPr>
          <p:cNvSpPr/>
          <p:nvPr/>
        </p:nvSpPr>
        <p:spPr>
          <a:xfrm>
            <a:off x="310101" y="1558456"/>
            <a:ext cx="8668512" cy="731520"/>
          </a:xfrm>
          <a:prstGeom prst="roundRect">
            <a:avLst>
              <a:gd name="adj" fmla="val 5000"/>
            </a:avLst>
          </a:prstGeom>
          <a:solidFill>
            <a:srgbClr val="FFFFFF"/>
          </a:solidFill>
          <a:ln w="9525">
            <a:solidFill>
              <a:srgbClr val="E2E2E2"/>
            </a:solidFill>
            <a:prstDash val="solid"/>
          </a:ln>
          <a:effectLst>
            <a:outerShdw blurRad="50800" dist="12700" dir="5400000" algn="bl" rotWithShape="0">
              <a:srgbClr val="000000">
                <a:alpha val="8000"/>
              </a:srgbClr>
            </a:outerShdw>
          </a:effectLst>
        </p:spPr>
        <p:txBody>
          <a:bodyPr/>
          <a:lstStyle/>
          <a:p>
            <a:endParaRPr lang="en-IN"/>
          </a:p>
        </p:txBody>
      </p:sp>
      <p:pic>
        <p:nvPicPr>
          <p:cNvPr id="5" name="Image 0" descr="preencoded.png">
            <a:extLst>
              <a:ext uri="{FF2B5EF4-FFF2-40B4-BE49-F238E27FC236}">
                <a16:creationId xmlns:a16="http://schemas.microsoft.com/office/drawing/2014/main" id="{CDBAC4FC-5105-6E00-C732-BB7E6CD95AF9}"/>
              </a:ext>
            </a:extLst>
          </p:cNvPr>
          <p:cNvPicPr>
            <a:picLocks noChangeAspect="1"/>
          </p:cNvPicPr>
          <p:nvPr/>
        </p:nvPicPr>
        <p:blipFill>
          <a:blip r:embed="rId3"/>
          <a:stretch>
            <a:fillRect/>
          </a:stretch>
        </p:blipFill>
        <p:spPr>
          <a:xfrm>
            <a:off x="554206" y="1832776"/>
            <a:ext cx="237744" cy="237744"/>
          </a:xfrm>
          <a:prstGeom prst="rect">
            <a:avLst/>
          </a:prstGeom>
        </p:spPr>
      </p:pic>
      <p:sp>
        <p:nvSpPr>
          <p:cNvPr id="6" name="Text 4">
            <a:extLst>
              <a:ext uri="{FF2B5EF4-FFF2-40B4-BE49-F238E27FC236}">
                <a16:creationId xmlns:a16="http://schemas.microsoft.com/office/drawing/2014/main" id="{DD13257C-9037-A466-0172-8BA726763D28}"/>
              </a:ext>
            </a:extLst>
          </p:cNvPr>
          <p:cNvSpPr/>
          <p:nvPr/>
        </p:nvSpPr>
        <p:spPr>
          <a:xfrm>
            <a:off x="1044801" y="1807332"/>
            <a:ext cx="776047" cy="320040"/>
          </a:xfrm>
          <a:prstGeom prst="rect">
            <a:avLst/>
          </a:prstGeom>
          <a:noFill/>
          <a:ln/>
        </p:spPr>
        <p:txBody>
          <a:bodyPr wrap="square" lIns="0" tIns="0" rIns="0" bIns="0" rtlCol="0" anchor="t"/>
          <a:lstStyle/>
          <a:p>
            <a:pPr marL="0" indent="0" algn="l">
              <a:lnSpc>
                <a:spcPct val="104000"/>
              </a:lnSpc>
              <a:buNone/>
            </a:pPr>
            <a:r>
              <a:rPr lang="en-US" sz="800" b="1">
                <a:solidFill>
                  <a:srgbClr val="1A1A1A"/>
                </a:solidFill>
                <a:latin typeface="Arial" pitchFamily="34" charset="0"/>
                <a:ea typeface="Arial" pitchFamily="34" charset="-122"/>
                <a:cs typeface="Arial" pitchFamily="34" charset="-120"/>
              </a:rPr>
              <a:t>BUSINESS</a:t>
            </a:r>
            <a:endParaRPr lang="en-US" sz="800"/>
          </a:p>
          <a:p>
            <a:pPr marL="0" indent="0" algn="l">
              <a:lnSpc>
                <a:spcPct val="104000"/>
              </a:lnSpc>
              <a:buNone/>
            </a:pPr>
            <a:r>
              <a:rPr lang="en-US" sz="800" b="1">
                <a:solidFill>
                  <a:srgbClr val="1A1A1A"/>
                </a:solidFill>
                <a:latin typeface="Arial" pitchFamily="34" charset="0"/>
                <a:ea typeface="Arial" pitchFamily="34" charset="-122"/>
                <a:cs typeface="Arial" pitchFamily="34" charset="-120"/>
              </a:rPr>
              <a:t>CHANNELS</a:t>
            </a:r>
            <a:endParaRPr lang="en-US" sz="800"/>
          </a:p>
        </p:txBody>
      </p:sp>
      <p:sp>
        <p:nvSpPr>
          <p:cNvPr id="7" name="Shape 5">
            <a:extLst>
              <a:ext uri="{FF2B5EF4-FFF2-40B4-BE49-F238E27FC236}">
                <a16:creationId xmlns:a16="http://schemas.microsoft.com/office/drawing/2014/main" id="{5D9BBF00-1B90-E61F-89C7-5E979016DE70}"/>
              </a:ext>
            </a:extLst>
          </p:cNvPr>
          <p:cNvSpPr/>
          <p:nvPr/>
        </p:nvSpPr>
        <p:spPr>
          <a:xfrm>
            <a:off x="1864581" y="1649896"/>
            <a:ext cx="0" cy="548640"/>
          </a:xfrm>
          <a:prstGeom prst="line">
            <a:avLst/>
          </a:prstGeom>
          <a:noFill/>
          <a:ln w="9525">
            <a:solidFill>
              <a:srgbClr val="E2E2E2"/>
            </a:solidFill>
            <a:prstDash val="solid"/>
          </a:ln>
        </p:spPr>
        <p:txBody>
          <a:bodyPr/>
          <a:lstStyle/>
          <a:p>
            <a:endParaRPr lang="en-IN"/>
          </a:p>
        </p:txBody>
      </p:sp>
      <p:pic>
        <p:nvPicPr>
          <p:cNvPr id="8" name="Image 1" descr="preencoded.png">
            <a:extLst>
              <a:ext uri="{FF2B5EF4-FFF2-40B4-BE49-F238E27FC236}">
                <a16:creationId xmlns:a16="http://schemas.microsoft.com/office/drawing/2014/main" id="{617537D2-03BF-CD67-4C17-BE7933F03981}"/>
              </a:ext>
            </a:extLst>
          </p:cNvPr>
          <p:cNvPicPr>
            <a:picLocks noChangeAspect="1"/>
          </p:cNvPicPr>
          <p:nvPr/>
        </p:nvPicPr>
        <p:blipFill>
          <a:blip r:embed="rId4"/>
          <a:stretch>
            <a:fillRect/>
          </a:stretch>
        </p:blipFill>
        <p:spPr>
          <a:xfrm>
            <a:off x="1992597" y="1695616"/>
            <a:ext cx="164592" cy="164592"/>
          </a:xfrm>
          <a:prstGeom prst="rect">
            <a:avLst/>
          </a:prstGeom>
        </p:spPr>
      </p:pic>
      <p:sp>
        <p:nvSpPr>
          <p:cNvPr id="9" name="Text 6">
            <a:extLst>
              <a:ext uri="{FF2B5EF4-FFF2-40B4-BE49-F238E27FC236}">
                <a16:creationId xmlns:a16="http://schemas.microsoft.com/office/drawing/2014/main" id="{E3A1AD98-9B7A-4A68-AEC8-41ADD824BE7E}"/>
              </a:ext>
            </a:extLst>
          </p:cNvPr>
          <p:cNvSpPr/>
          <p:nvPr/>
        </p:nvSpPr>
        <p:spPr>
          <a:xfrm>
            <a:off x="2212053" y="1649896"/>
            <a:ext cx="1476756"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Employees</a:t>
            </a:r>
            <a:endParaRPr lang="en-US" sz="850"/>
          </a:p>
        </p:txBody>
      </p:sp>
      <p:pic>
        <p:nvPicPr>
          <p:cNvPr id="10" name="Image 2" descr="preencoded.png">
            <a:extLst>
              <a:ext uri="{FF2B5EF4-FFF2-40B4-BE49-F238E27FC236}">
                <a16:creationId xmlns:a16="http://schemas.microsoft.com/office/drawing/2014/main" id="{4892B649-0BC9-CB32-68A5-5EE1A7663062}"/>
              </a:ext>
            </a:extLst>
          </p:cNvPr>
          <p:cNvPicPr>
            <a:picLocks noChangeAspect="1"/>
          </p:cNvPicPr>
          <p:nvPr/>
        </p:nvPicPr>
        <p:blipFill>
          <a:blip r:embed="rId4"/>
          <a:stretch>
            <a:fillRect/>
          </a:stretch>
        </p:blipFill>
        <p:spPr>
          <a:xfrm>
            <a:off x="3743673" y="1695616"/>
            <a:ext cx="164592" cy="164592"/>
          </a:xfrm>
          <a:prstGeom prst="rect">
            <a:avLst/>
          </a:prstGeom>
        </p:spPr>
      </p:pic>
      <p:sp>
        <p:nvSpPr>
          <p:cNvPr id="11" name="Text 7">
            <a:extLst>
              <a:ext uri="{FF2B5EF4-FFF2-40B4-BE49-F238E27FC236}">
                <a16:creationId xmlns:a16="http://schemas.microsoft.com/office/drawing/2014/main" id="{F9C200D7-FD56-6139-79C5-349DD2ECEF42}"/>
              </a:ext>
            </a:extLst>
          </p:cNvPr>
          <p:cNvSpPr/>
          <p:nvPr/>
        </p:nvSpPr>
        <p:spPr>
          <a:xfrm>
            <a:off x="3963129" y="1649896"/>
            <a:ext cx="1476756"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Customers</a:t>
            </a:r>
            <a:endParaRPr lang="en-US" sz="850"/>
          </a:p>
        </p:txBody>
      </p:sp>
      <p:pic>
        <p:nvPicPr>
          <p:cNvPr id="12" name="Image 3" descr="preencoded.png">
            <a:extLst>
              <a:ext uri="{FF2B5EF4-FFF2-40B4-BE49-F238E27FC236}">
                <a16:creationId xmlns:a16="http://schemas.microsoft.com/office/drawing/2014/main" id="{ADC6C838-F2BB-6B67-94A5-AC8E6E77574B}"/>
              </a:ext>
            </a:extLst>
          </p:cNvPr>
          <p:cNvPicPr>
            <a:picLocks noChangeAspect="1"/>
          </p:cNvPicPr>
          <p:nvPr/>
        </p:nvPicPr>
        <p:blipFill>
          <a:blip r:embed="rId5"/>
          <a:stretch>
            <a:fillRect/>
          </a:stretch>
        </p:blipFill>
        <p:spPr>
          <a:xfrm>
            <a:off x="5494749" y="1695616"/>
            <a:ext cx="164592" cy="164592"/>
          </a:xfrm>
          <a:prstGeom prst="rect">
            <a:avLst/>
          </a:prstGeom>
        </p:spPr>
      </p:pic>
      <p:sp>
        <p:nvSpPr>
          <p:cNvPr id="13" name="Text 8">
            <a:extLst>
              <a:ext uri="{FF2B5EF4-FFF2-40B4-BE49-F238E27FC236}">
                <a16:creationId xmlns:a16="http://schemas.microsoft.com/office/drawing/2014/main" id="{A1257CF9-FA87-23F6-5BA7-2063EC581E31}"/>
              </a:ext>
            </a:extLst>
          </p:cNvPr>
          <p:cNvSpPr/>
          <p:nvPr/>
        </p:nvSpPr>
        <p:spPr>
          <a:xfrm>
            <a:off x="5714205" y="1649896"/>
            <a:ext cx="1476756"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Partners</a:t>
            </a:r>
            <a:endParaRPr lang="en-US" sz="850"/>
          </a:p>
        </p:txBody>
      </p:sp>
      <p:pic>
        <p:nvPicPr>
          <p:cNvPr id="14" name="Image 4" descr="preencoded.png">
            <a:extLst>
              <a:ext uri="{FF2B5EF4-FFF2-40B4-BE49-F238E27FC236}">
                <a16:creationId xmlns:a16="http://schemas.microsoft.com/office/drawing/2014/main" id="{D6559771-C471-E6FF-11AE-58F77B036DB6}"/>
              </a:ext>
            </a:extLst>
          </p:cNvPr>
          <p:cNvPicPr>
            <a:picLocks noChangeAspect="1"/>
          </p:cNvPicPr>
          <p:nvPr/>
        </p:nvPicPr>
        <p:blipFill>
          <a:blip r:embed="rId6"/>
          <a:stretch>
            <a:fillRect/>
          </a:stretch>
        </p:blipFill>
        <p:spPr>
          <a:xfrm>
            <a:off x="7245825" y="1695616"/>
            <a:ext cx="164592" cy="164592"/>
          </a:xfrm>
          <a:prstGeom prst="rect">
            <a:avLst/>
          </a:prstGeom>
        </p:spPr>
      </p:pic>
      <p:sp>
        <p:nvSpPr>
          <p:cNvPr id="15" name="Text 9">
            <a:extLst>
              <a:ext uri="{FF2B5EF4-FFF2-40B4-BE49-F238E27FC236}">
                <a16:creationId xmlns:a16="http://schemas.microsoft.com/office/drawing/2014/main" id="{0D3D4A24-5C87-DC16-7D38-A7A59314DA1C}"/>
              </a:ext>
            </a:extLst>
          </p:cNvPr>
          <p:cNvSpPr/>
          <p:nvPr/>
        </p:nvSpPr>
        <p:spPr>
          <a:xfrm>
            <a:off x="7465281" y="1649896"/>
            <a:ext cx="1476756"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Operations Teams</a:t>
            </a:r>
            <a:endParaRPr lang="en-US" sz="850"/>
          </a:p>
        </p:txBody>
      </p:sp>
      <p:pic>
        <p:nvPicPr>
          <p:cNvPr id="16" name="Image 5" descr="preencoded.png">
            <a:extLst>
              <a:ext uri="{FF2B5EF4-FFF2-40B4-BE49-F238E27FC236}">
                <a16:creationId xmlns:a16="http://schemas.microsoft.com/office/drawing/2014/main" id="{6185F7BA-2E12-C8F7-9AC9-46B6AE10BB6F}"/>
              </a:ext>
            </a:extLst>
          </p:cNvPr>
          <p:cNvPicPr>
            <a:picLocks noChangeAspect="1"/>
          </p:cNvPicPr>
          <p:nvPr/>
        </p:nvPicPr>
        <p:blipFill>
          <a:blip r:embed="rId7"/>
          <a:stretch>
            <a:fillRect/>
          </a:stretch>
        </p:blipFill>
        <p:spPr>
          <a:xfrm>
            <a:off x="1992597" y="2006512"/>
            <a:ext cx="164592" cy="164592"/>
          </a:xfrm>
          <a:prstGeom prst="rect">
            <a:avLst/>
          </a:prstGeom>
        </p:spPr>
      </p:pic>
      <p:sp>
        <p:nvSpPr>
          <p:cNvPr id="17" name="Text 10">
            <a:extLst>
              <a:ext uri="{FF2B5EF4-FFF2-40B4-BE49-F238E27FC236}">
                <a16:creationId xmlns:a16="http://schemas.microsoft.com/office/drawing/2014/main" id="{EAFC08E5-541B-199A-FB1F-195FAD43FD62}"/>
              </a:ext>
            </a:extLst>
          </p:cNvPr>
          <p:cNvSpPr/>
          <p:nvPr/>
        </p:nvSpPr>
        <p:spPr>
          <a:xfrm>
            <a:off x="2212053" y="1960792"/>
            <a:ext cx="1126541"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Web / Portal</a:t>
            </a:r>
            <a:endParaRPr lang="en-US" sz="850"/>
          </a:p>
        </p:txBody>
      </p:sp>
      <p:pic>
        <p:nvPicPr>
          <p:cNvPr id="18" name="Image 6" descr="preencoded.png">
            <a:extLst>
              <a:ext uri="{FF2B5EF4-FFF2-40B4-BE49-F238E27FC236}">
                <a16:creationId xmlns:a16="http://schemas.microsoft.com/office/drawing/2014/main" id="{E68231E8-FB0E-2EB6-DED3-4FE5F26D9DB4}"/>
              </a:ext>
            </a:extLst>
          </p:cNvPr>
          <p:cNvPicPr>
            <a:picLocks noChangeAspect="1"/>
          </p:cNvPicPr>
          <p:nvPr/>
        </p:nvPicPr>
        <p:blipFill>
          <a:blip r:embed="rId8"/>
          <a:stretch>
            <a:fillRect/>
          </a:stretch>
        </p:blipFill>
        <p:spPr>
          <a:xfrm>
            <a:off x="3393458" y="2006512"/>
            <a:ext cx="164592" cy="164592"/>
          </a:xfrm>
          <a:prstGeom prst="rect">
            <a:avLst/>
          </a:prstGeom>
        </p:spPr>
      </p:pic>
      <p:sp>
        <p:nvSpPr>
          <p:cNvPr id="19" name="Text 11">
            <a:extLst>
              <a:ext uri="{FF2B5EF4-FFF2-40B4-BE49-F238E27FC236}">
                <a16:creationId xmlns:a16="http://schemas.microsoft.com/office/drawing/2014/main" id="{B7C4C0BF-3B84-E18A-71E5-EE5C840AA799}"/>
              </a:ext>
            </a:extLst>
          </p:cNvPr>
          <p:cNvSpPr/>
          <p:nvPr/>
        </p:nvSpPr>
        <p:spPr>
          <a:xfrm>
            <a:off x="3612914" y="1960792"/>
            <a:ext cx="1126541"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Mobile Apps</a:t>
            </a:r>
            <a:endParaRPr lang="en-US" sz="850"/>
          </a:p>
        </p:txBody>
      </p:sp>
      <p:pic>
        <p:nvPicPr>
          <p:cNvPr id="20" name="Image 7" descr="preencoded.png">
            <a:extLst>
              <a:ext uri="{FF2B5EF4-FFF2-40B4-BE49-F238E27FC236}">
                <a16:creationId xmlns:a16="http://schemas.microsoft.com/office/drawing/2014/main" id="{AD46AD33-DE62-D822-D5AF-78C479EDDA3F}"/>
              </a:ext>
            </a:extLst>
          </p:cNvPr>
          <p:cNvPicPr>
            <a:picLocks noChangeAspect="1"/>
          </p:cNvPicPr>
          <p:nvPr/>
        </p:nvPicPr>
        <p:blipFill>
          <a:blip r:embed="rId9"/>
          <a:stretch>
            <a:fillRect/>
          </a:stretch>
        </p:blipFill>
        <p:spPr>
          <a:xfrm>
            <a:off x="4794319" y="2006512"/>
            <a:ext cx="164592" cy="164592"/>
          </a:xfrm>
          <a:prstGeom prst="rect">
            <a:avLst/>
          </a:prstGeom>
        </p:spPr>
      </p:pic>
      <p:sp>
        <p:nvSpPr>
          <p:cNvPr id="21" name="Text 12">
            <a:extLst>
              <a:ext uri="{FF2B5EF4-FFF2-40B4-BE49-F238E27FC236}">
                <a16:creationId xmlns:a16="http://schemas.microsoft.com/office/drawing/2014/main" id="{5462AD0E-CF5D-EBCE-2BC9-0BB30F285387}"/>
              </a:ext>
            </a:extLst>
          </p:cNvPr>
          <p:cNvSpPr/>
          <p:nvPr/>
        </p:nvSpPr>
        <p:spPr>
          <a:xfrm>
            <a:off x="5013775" y="1960792"/>
            <a:ext cx="1126541"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Slack</a:t>
            </a:r>
            <a:endParaRPr lang="en-US" sz="850"/>
          </a:p>
        </p:txBody>
      </p:sp>
      <p:pic>
        <p:nvPicPr>
          <p:cNvPr id="22" name="Image 8" descr="preencoded.png">
            <a:extLst>
              <a:ext uri="{FF2B5EF4-FFF2-40B4-BE49-F238E27FC236}">
                <a16:creationId xmlns:a16="http://schemas.microsoft.com/office/drawing/2014/main" id="{AE80E9B7-1CF2-F55E-0749-BFE16075AF75}"/>
              </a:ext>
            </a:extLst>
          </p:cNvPr>
          <p:cNvPicPr>
            <a:picLocks noChangeAspect="1"/>
          </p:cNvPicPr>
          <p:nvPr/>
        </p:nvPicPr>
        <p:blipFill>
          <a:blip r:embed="rId10"/>
          <a:stretch>
            <a:fillRect/>
          </a:stretch>
        </p:blipFill>
        <p:spPr>
          <a:xfrm>
            <a:off x="6195179" y="2006512"/>
            <a:ext cx="164592" cy="164592"/>
          </a:xfrm>
          <a:prstGeom prst="rect">
            <a:avLst/>
          </a:prstGeom>
        </p:spPr>
      </p:pic>
      <p:sp>
        <p:nvSpPr>
          <p:cNvPr id="23" name="Text 13">
            <a:extLst>
              <a:ext uri="{FF2B5EF4-FFF2-40B4-BE49-F238E27FC236}">
                <a16:creationId xmlns:a16="http://schemas.microsoft.com/office/drawing/2014/main" id="{BB1EA3CE-63F9-654C-8FD5-172D04943BB3}"/>
              </a:ext>
            </a:extLst>
          </p:cNvPr>
          <p:cNvSpPr/>
          <p:nvPr/>
        </p:nvSpPr>
        <p:spPr>
          <a:xfrm>
            <a:off x="6414635" y="1960792"/>
            <a:ext cx="1126541"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Microsoft Teams</a:t>
            </a:r>
            <a:endParaRPr lang="en-US" sz="850"/>
          </a:p>
        </p:txBody>
      </p:sp>
      <p:pic>
        <p:nvPicPr>
          <p:cNvPr id="24" name="Image 9" descr="preencoded.png">
            <a:extLst>
              <a:ext uri="{FF2B5EF4-FFF2-40B4-BE49-F238E27FC236}">
                <a16:creationId xmlns:a16="http://schemas.microsoft.com/office/drawing/2014/main" id="{F033348E-7F5D-37F0-F900-B592B5B9F078}"/>
              </a:ext>
            </a:extLst>
          </p:cNvPr>
          <p:cNvPicPr>
            <a:picLocks noChangeAspect="1"/>
          </p:cNvPicPr>
          <p:nvPr/>
        </p:nvPicPr>
        <p:blipFill>
          <a:blip r:embed="rId11"/>
          <a:stretch>
            <a:fillRect/>
          </a:stretch>
        </p:blipFill>
        <p:spPr>
          <a:xfrm>
            <a:off x="7596040" y="2006512"/>
            <a:ext cx="164592" cy="164592"/>
          </a:xfrm>
          <a:prstGeom prst="rect">
            <a:avLst/>
          </a:prstGeom>
        </p:spPr>
      </p:pic>
      <p:sp>
        <p:nvSpPr>
          <p:cNvPr id="25" name="Text 14">
            <a:extLst>
              <a:ext uri="{FF2B5EF4-FFF2-40B4-BE49-F238E27FC236}">
                <a16:creationId xmlns:a16="http://schemas.microsoft.com/office/drawing/2014/main" id="{1AEC7CC9-4D56-434A-15D6-1CD7FABFB983}"/>
              </a:ext>
            </a:extLst>
          </p:cNvPr>
          <p:cNvSpPr/>
          <p:nvPr/>
        </p:nvSpPr>
        <p:spPr>
          <a:xfrm>
            <a:off x="7815496" y="1960792"/>
            <a:ext cx="1126541" cy="256032"/>
          </a:xfrm>
          <a:prstGeom prst="rect">
            <a:avLst/>
          </a:prstGeom>
          <a:noFill/>
          <a:ln/>
        </p:spPr>
        <p:txBody>
          <a:bodyPr wrap="square" lIns="0" tIns="0" rIns="0" bIns="0" rtlCol="0" anchor="ctr"/>
          <a:lstStyle/>
          <a:p>
            <a:pPr marL="0" indent="0" algn="l">
              <a:lnSpc>
                <a:spcPct val="95000"/>
              </a:lnSpc>
              <a:buNone/>
            </a:pPr>
            <a:r>
              <a:rPr lang="en-US" sz="850">
                <a:solidFill>
                  <a:srgbClr val="1A1A1A"/>
                </a:solidFill>
                <a:latin typeface="Arial" pitchFamily="34" charset="0"/>
                <a:ea typeface="Arial" pitchFamily="34" charset="-122"/>
                <a:cs typeface="Arial" pitchFamily="34" charset="-120"/>
              </a:rPr>
              <a:t>CRM / Portals</a:t>
            </a:r>
            <a:endParaRPr lang="en-US" sz="850"/>
          </a:p>
        </p:txBody>
      </p:sp>
      <p:sp>
        <p:nvSpPr>
          <p:cNvPr id="26" name="Shape 15">
            <a:extLst>
              <a:ext uri="{FF2B5EF4-FFF2-40B4-BE49-F238E27FC236}">
                <a16:creationId xmlns:a16="http://schemas.microsoft.com/office/drawing/2014/main" id="{EBE195D6-AC8A-C73B-B605-39BCCA6B9224}"/>
              </a:ext>
            </a:extLst>
          </p:cNvPr>
          <p:cNvSpPr/>
          <p:nvPr/>
        </p:nvSpPr>
        <p:spPr>
          <a:xfrm>
            <a:off x="4525485" y="2271688"/>
            <a:ext cx="237744" cy="182880"/>
          </a:xfrm>
          <a:prstGeom prst="ellipse">
            <a:avLst/>
          </a:prstGeom>
          <a:solidFill>
            <a:srgbClr val="FFFFFF"/>
          </a:solidFill>
          <a:ln w="9525">
            <a:solidFill>
              <a:srgbClr val="E2E2E2"/>
            </a:solidFill>
            <a:prstDash val="solid"/>
          </a:ln>
        </p:spPr>
        <p:txBody>
          <a:bodyPr/>
          <a:lstStyle/>
          <a:p>
            <a:endParaRPr lang="en-IN"/>
          </a:p>
        </p:txBody>
      </p:sp>
      <p:sp>
        <p:nvSpPr>
          <p:cNvPr id="27" name="Text 16">
            <a:extLst>
              <a:ext uri="{FF2B5EF4-FFF2-40B4-BE49-F238E27FC236}">
                <a16:creationId xmlns:a16="http://schemas.microsoft.com/office/drawing/2014/main" id="{0E568D6F-C89A-B8A3-930A-814989A267C9}"/>
              </a:ext>
            </a:extLst>
          </p:cNvPr>
          <p:cNvSpPr/>
          <p:nvPr/>
        </p:nvSpPr>
        <p:spPr>
          <a:xfrm>
            <a:off x="4525485" y="2267116"/>
            <a:ext cx="237744" cy="192024"/>
          </a:xfrm>
          <a:prstGeom prst="rect">
            <a:avLst/>
          </a:prstGeom>
          <a:noFill/>
          <a:ln/>
        </p:spPr>
        <p:txBody>
          <a:bodyPr wrap="square" lIns="0" tIns="0" rIns="0" bIns="0" rtlCol="0" anchor="ctr"/>
          <a:lstStyle/>
          <a:p>
            <a:pPr marL="0" indent="0" algn="ctr">
              <a:buNone/>
            </a:pPr>
            <a:r>
              <a:rPr lang="en-US" sz="700">
                <a:solidFill>
                  <a:srgbClr val="86BC25"/>
                </a:solidFill>
              </a:rPr>
              <a:t>▼</a:t>
            </a:r>
            <a:endParaRPr lang="en-US" sz="700"/>
          </a:p>
        </p:txBody>
      </p:sp>
      <p:sp>
        <p:nvSpPr>
          <p:cNvPr id="28" name="Shape 17">
            <a:extLst>
              <a:ext uri="{FF2B5EF4-FFF2-40B4-BE49-F238E27FC236}">
                <a16:creationId xmlns:a16="http://schemas.microsoft.com/office/drawing/2014/main" id="{5BC88595-5B31-DBBD-4607-E8516370944D}"/>
              </a:ext>
            </a:extLst>
          </p:cNvPr>
          <p:cNvSpPr/>
          <p:nvPr/>
        </p:nvSpPr>
        <p:spPr>
          <a:xfrm>
            <a:off x="310101" y="2436280"/>
            <a:ext cx="8668512" cy="1481328"/>
          </a:xfrm>
          <a:prstGeom prst="roundRect">
            <a:avLst>
              <a:gd name="adj" fmla="val 2469"/>
            </a:avLst>
          </a:prstGeom>
          <a:solidFill>
            <a:srgbClr val="FFFFFF"/>
          </a:solidFill>
          <a:ln w="9525">
            <a:solidFill>
              <a:srgbClr val="E2E2E2"/>
            </a:solidFill>
            <a:prstDash val="solid"/>
          </a:ln>
          <a:effectLst>
            <a:outerShdw blurRad="50800" dist="12700" dir="5400000" algn="bl" rotWithShape="0">
              <a:srgbClr val="000000">
                <a:alpha val="8000"/>
              </a:srgbClr>
            </a:outerShdw>
          </a:effectLst>
        </p:spPr>
        <p:txBody>
          <a:bodyPr/>
          <a:lstStyle/>
          <a:p>
            <a:endParaRPr lang="en-IN"/>
          </a:p>
        </p:txBody>
      </p:sp>
      <p:pic>
        <p:nvPicPr>
          <p:cNvPr id="29" name="Image 10" descr="preencoded.png">
            <a:extLst>
              <a:ext uri="{FF2B5EF4-FFF2-40B4-BE49-F238E27FC236}">
                <a16:creationId xmlns:a16="http://schemas.microsoft.com/office/drawing/2014/main" id="{02235325-1DDF-E406-8125-62CE94542E2E}"/>
              </a:ext>
            </a:extLst>
          </p:cNvPr>
          <p:cNvPicPr>
            <a:picLocks noChangeAspect="1"/>
          </p:cNvPicPr>
          <p:nvPr/>
        </p:nvPicPr>
        <p:blipFill>
          <a:blip r:embed="rId12"/>
          <a:stretch>
            <a:fillRect/>
          </a:stretch>
        </p:blipFill>
        <p:spPr>
          <a:xfrm>
            <a:off x="482644" y="3060457"/>
            <a:ext cx="237744" cy="237744"/>
          </a:xfrm>
          <a:prstGeom prst="rect">
            <a:avLst/>
          </a:prstGeom>
        </p:spPr>
      </p:pic>
      <p:sp>
        <p:nvSpPr>
          <p:cNvPr id="30" name="Text 18">
            <a:extLst>
              <a:ext uri="{FF2B5EF4-FFF2-40B4-BE49-F238E27FC236}">
                <a16:creationId xmlns:a16="http://schemas.microsoft.com/office/drawing/2014/main" id="{4329EEC5-DFB0-37CA-5320-4540486DD3DD}"/>
              </a:ext>
            </a:extLst>
          </p:cNvPr>
          <p:cNvSpPr/>
          <p:nvPr/>
        </p:nvSpPr>
        <p:spPr>
          <a:xfrm>
            <a:off x="965288" y="2979354"/>
            <a:ext cx="895317" cy="461772"/>
          </a:xfrm>
          <a:prstGeom prst="rect">
            <a:avLst/>
          </a:prstGeom>
          <a:noFill/>
          <a:ln/>
        </p:spPr>
        <p:txBody>
          <a:bodyPr wrap="square" lIns="0" tIns="0" rIns="0" bIns="0" rtlCol="0" anchor="t"/>
          <a:lstStyle/>
          <a:p>
            <a:pPr marL="0" indent="0" algn="l">
              <a:lnSpc>
                <a:spcPct val="104000"/>
              </a:lnSpc>
              <a:buNone/>
            </a:pPr>
            <a:r>
              <a:rPr lang="en-US" sz="800" b="1">
                <a:solidFill>
                  <a:srgbClr val="1A1A1A"/>
                </a:solidFill>
                <a:latin typeface="Arial" pitchFamily="34" charset="0"/>
                <a:ea typeface="Arial" pitchFamily="34" charset="-122"/>
                <a:cs typeface="Arial" pitchFamily="34" charset="-120"/>
              </a:rPr>
              <a:t>AGENTIC</a:t>
            </a:r>
            <a:endParaRPr lang="en-US" sz="800"/>
          </a:p>
          <a:p>
            <a:pPr marL="0" indent="0" algn="l">
              <a:lnSpc>
                <a:spcPct val="104000"/>
              </a:lnSpc>
              <a:buNone/>
            </a:pPr>
            <a:r>
              <a:rPr lang="en-US" sz="800" b="1">
                <a:solidFill>
                  <a:srgbClr val="1A1A1A"/>
                </a:solidFill>
                <a:latin typeface="Arial" pitchFamily="34" charset="0"/>
                <a:ea typeface="Arial" pitchFamily="34" charset="-122"/>
                <a:cs typeface="Arial" pitchFamily="34" charset="-120"/>
              </a:rPr>
              <a:t>INTELLIGENCE</a:t>
            </a:r>
            <a:endParaRPr lang="en-US" sz="800"/>
          </a:p>
          <a:p>
            <a:pPr marL="0" indent="0" algn="l">
              <a:lnSpc>
                <a:spcPct val="104000"/>
              </a:lnSpc>
              <a:buNone/>
            </a:pPr>
            <a:r>
              <a:rPr lang="en-US" sz="800" b="1">
                <a:solidFill>
                  <a:srgbClr val="1A1A1A"/>
                </a:solidFill>
                <a:latin typeface="Arial" pitchFamily="34" charset="0"/>
                <a:ea typeface="Arial" pitchFamily="34" charset="-122"/>
                <a:cs typeface="Arial" pitchFamily="34" charset="-120"/>
              </a:rPr>
              <a:t>PLATFORM</a:t>
            </a:r>
            <a:endParaRPr lang="en-US" sz="800"/>
          </a:p>
        </p:txBody>
      </p:sp>
      <p:sp>
        <p:nvSpPr>
          <p:cNvPr id="31" name="Shape 20">
            <a:extLst>
              <a:ext uri="{FF2B5EF4-FFF2-40B4-BE49-F238E27FC236}">
                <a16:creationId xmlns:a16="http://schemas.microsoft.com/office/drawing/2014/main" id="{E21C7680-9C2F-5496-4ACE-5DA8E86DE69D}"/>
              </a:ext>
            </a:extLst>
          </p:cNvPr>
          <p:cNvSpPr/>
          <p:nvPr/>
        </p:nvSpPr>
        <p:spPr>
          <a:xfrm>
            <a:off x="1864581" y="2527720"/>
            <a:ext cx="0" cy="1298448"/>
          </a:xfrm>
          <a:prstGeom prst="line">
            <a:avLst/>
          </a:prstGeom>
          <a:noFill/>
          <a:ln w="9525">
            <a:solidFill>
              <a:srgbClr val="E2E2E2"/>
            </a:solidFill>
            <a:prstDash val="solid"/>
          </a:ln>
        </p:spPr>
        <p:txBody>
          <a:bodyPr/>
          <a:lstStyle/>
          <a:p>
            <a:endParaRPr lang="en-IN"/>
          </a:p>
        </p:txBody>
      </p:sp>
      <p:sp>
        <p:nvSpPr>
          <p:cNvPr id="32" name="Shape 21">
            <a:extLst>
              <a:ext uri="{FF2B5EF4-FFF2-40B4-BE49-F238E27FC236}">
                <a16:creationId xmlns:a16="http://schemas.microsoft.com/office/drawing/2014/main" id="{3021CF01-806C-0EFA-4CEF-809DF28ACA92}"/>
              </a:ext>
            </a:extLst>
          </p:cNvPr>
          <p:cNvSpPr/>
          <p:nvPr/>
        </p:nvSpPr>
        <p:spPr>
          <a:xfrm>
            <a:off x="1974309" y="2527720"/>
            <a:ext cx="7004304" cy="1298448"/>
          </a:xfrm>
          <a:prstGeom prst="roundRect">
            <a:avLst>
              <a:gd name="adj" fmla="val 3521"/>
            </a:avLst>
          </a:prstGeom>
          <a:solidFill>
            <a:srgbClr val="EFF6E4"/>
          </a:solidFill>
          <a:ln w="9525">
            <a:solidFill>
              <a:srgbClr val="D7E8C2"/>
            </a:solidFill>
            <a:prstDash val="solid"/>
          </a:ln>
        </p:spPr>
        <p:txBody>
          <a:bodyPr/>
          <a:lstStyle/>
          <a:p>
            <a:endParaRPr lang="en-IN"/>
          </a:p>
        </p:txBody>
      </p:sp>
      <p:sp>
        <p:nvSpPr>
          <p:cNvPr id="33" name="Shape 22">
            <a:extLst>
              <a:ext uri="{FF2B5EF4-FFF2-40B4-BE49-F238E27FC236}">
                <a16:creationId xmlns:a16="http://schemas.microsoft.com/office/drawing/2014/main" id="{AE0966AE-314D-18C6-29A7-F11CA8CE9305}"/>
              </a:ext>
            </a:extLst>
          </p:cNvPr>
          <p:cNvSpPr/>
          <p:nvPr/>
        </p:nvSpPr>
        <p:spPr>
          <a:xfrm>
            <a:off x="2084037" y="2600872"/>
            <a:ext cx="6784848" cy="365760"/>
          </a:xfrm>
          <a:prstGeom prst="roundRect">
            <a:avLst>
              <a:gd name="adj" fmla="val 12500"/>
            </a:avLst>
          </a:prstGeom>
          <a:solidFill>
            <a:srgbClr val="FFFFFF"/>
          </a:solidFill>
          <a:ln w="6350">
            <a:solidFill>
              <a:srgbClr val="D7E8C2"/>
            </a:solidFill>
            <a:prstDash val="solid"/>
          </a:ln>
        </p:spPr>
        <p:txBody>
          <a:bodyPr/>
          <a:lstStyle/>
          <a:p>
            <a:endParaRPr lang="en-IN"/>
          </a:p>
        </p:txBody>
      </p:sp>
      <p:sp>
        <p:nvSpPr>
          <p:cNvPr id="34" name="Shape 23">
            <a:extLst>
              <a:ext uri="{FF2B5EF4-FFF2-40B4-BE49-F238E27FC236}">
                <a16:creationId xmlns:a16="http://schemas.microsoft.com/office/drawing/2014/main" id="{46C71BBC-E046-D8AF-022C-D253189E429D}"/>
              </a:ext>
            </a:extLst>
          </p:cNvPr>
          <p:cNvSpPr/>
          <p:nvPr/>
        </p:nvSpPr>
        <p:spPr>
          <a:xfrm>
            <a:off x="2175477" y="2646592"/>
            <a:ext cx="274320" cy="274320"/>
          </a:xfrm>
          <a:prstGeom prst="ellipse">
            <a:avLst/>
          </a:prstGeom>
          <a:solidFill>
            <a:srgbClr val="EFF6E4"/>
          </a:solidFill>
          <a:ln w="9525">
            <a:solidFill>
              <a:srgbClr val="86BC25"/>
            </a:solidFill>
            <a:prstDash val="solid"/>
          </a:ln>
        </p:spPr>
        <p:txBody>
          <a:bodyPr/>
          <a:lstStyle/>
          <a:p>
            <a:endParaRPr lang="en-IN"/>
          </a:p>
        </p:txBody>
      </p:sp>
      <p:pic>
        <p:nvPicPr>
          <p:cNvPr id="35" name="Image 11" descr="preencoded.png">
            <a:extLst>
              <a:ext uri="{FF2B5EF4-FFF2-40B4-BE49-F238E27FC236}">
                <a16:creationId xmlns:a16="http://schemas.microsoft.com/office/drawing/2014/main" id="{B695702E-563D-9C8C-CEC6-FD794120088C}"/>
              </a:ext>
            </a:extLst>
          </p:cNvPr>
          <p:cNvPicPr>
            <a:picLocks noChangeAspect="1"/>
          </p:cNvPicPr>
          <p:nvPr/>
        </p:nvPicPr>
        <p:blipFill>
          <a:blip r:embed="rId13"/>
          <a:stretch>
            <a:fillRect/>
          </a:stretch>
        </p:blipFill>
        <p:spPr>
          <a:xfrm>
            <a:off x="2239485" y="2710600"/>
            <a:ext cx="146304" cy="146304"/>
          </a:xfrm>
          <a:prstGeom prst="rect">
            <a:avLst/>
          </a:prstGeom>
        </p:spPr>
      </p:pic>
      <p:sp>
        <p:nvSpPr>
          <p:cNvPr id="36" name="Text 24">
            <a:extLst>
              <a:ext uri="{FF2B5EF4-FFF2-40B4-BE49-F238E27FC236}">
                <a16:creationId xmlns:a16="http://schemas.microsoft.com/office/drawing/2014/main" id="{D43EB84C-7F17-7A82-208E-C59F8B717F91}"/>
              </a:ext>
            </a:extLst>
          </p:cNvPr>
          <p:cNvSpPr/>
          <p:nvPr/>
        </p:nvSpPr>
        <p:spPr>
          <a:xfrm>
            <a:off x="2541237" y="2619160"/>
            <a:ext cx="2743200" cy="182880"/>
          </a:xfrm>
          <a:prstGeom prst="rect">
            <a:avLst/>
          </a:prstGeom>
          <a:noFill/>
          <a:ln/>
        </p:spPr>
        <p:txBody>
          <a:bodyPr wrap="square" lIns="0" tIns="0" rIns="0" bIns="0" rtlCol="0" anchor="ctr"/>
          <a:lstStyle/>
          <a:p>
            <a:pPr marL="0" indent="0">
              <a:buNone/>
            </a:pPr>
            <a:r>
              <a:rPr lang="en-US" sz="1050" b="1">
                <a:solidFill>
                  <a:srgbClr val="1A1A1A"/>
                </a:solidFill>
                <a:latin typeface="Arial" pitchFamily="34" charset="0"/>
                <a:ea typeface="Arial" pitchFamily="34" charset="-122"/>
                <a:cs typeface="Arial" pitchFamily="34" charset="-120"/>
              </a:rPr>
              <a:t>Agent Orchestrator</a:t>
            </a:r>
            <a:endParaRPr lang="en-US" sz="1050"/>
          </a:p>
        </p:txBody>
      </p:sp>
      <p:sp>
        <p:nvSpPr>
          <p:cNvPr id="37" name="Text 25">
            <a:extLst>
              <a:ext uri="{FF2B5EF4-FFF2-40B4-BE49-F238E27FC236}">
                <a16:creationId xmlns:a16="http://schemas.microsoft.com/office/drawing/2014/main" id="{9E47DBE1-19C9-912A-D0E8-539ECC3BE0D4}"/>
              </a:ext>
            </a:extLst>
          </p:cNvPr>
          <p:cNvSpPr/>
          <p:nvPr/>
        </p:nvSpPr>
        <p:spPr>
          <a:xfrm>
            <a:off x="2541237" y="2783752"/>
            <a:ext cx="6089904" cy="164592"/>
          </a:xfrm>
          <a:prstGeom prst="rect">
            <a:avLst/>
          </a:prstGeom>
          <a:noFill/>
          <a:ln/>
        </p:spPr>
        <p:txBody>
          <a:bodyPr wrap="square" lIns="0" tIns="0" rIns="0" bIns="0" rtlCol="0" anchor="ctr"/>
          <a:lstStyle/>
          <a:p>
            <a:pPr marL="0" indent="0">
              <a:buNone/>
            </a:pPr>
            <a:r>
              <a:rPr lang="en-US" sz="700">
                <a:solidFill>
                  <a:srgbClr val="6B6B6B"/>
                </a:solidFill>
                <a:latin typeface="Arial" pitchFamily="34" charset="0"/>
                <a:ea typeface="Arial" pitchFamily="34" charset="-122"/>
                <a:cs typeface="Arial" pitchFamily="34" charset="-120"/>
              </a:rPr>
              <a:t>Plans, reasons and orchestrates actions to achieve business outcomes</a:t>
            </a:r>
            <a:endParaRPr lang="en-US" sz="700"/>
          </a:p>
        </p:txBody>
      </p:sp>
      <p:pic>
        <p:nvPicPr>
          <p:cNvPr id="38" name="Image 12" descr="preencoded.png">
            <a:extLst>
              <a:ext uri="{FF2B5EF4-FFF2-40B4-BE49-F238E27FC236}">
                <a16:creationId xmlns:a16="http://schemas.microsoft.com/office/drawing/2014/main" id="{495637DA-0193-FB87-1F34-67512587E11E}"/>
              </a:ext>
            </a:extLst>
          </p:cNvPr>
          <p:cNvPicPr>
            <a:picLocks noChangeAspect="1"/>
          </p:cNvPicPr>
          <p:nvPr/>
        </p:nvPicPr>
        <p:blipFill>
          <a:blip r:embed="rId14"/>
          <a:stretch>
            <a:fillRect/>
          </a:stretch>
        </p:blipFill>
        <p:spPr>
          <a:xfrm>
            <a:off x="2535141" y="3058072"/>
            <a:ext cx="182880" cy="182880"/>
          </a:xfrm>
          <a:prstGeom prst="rect">
            <a:avLst/>
          </a:prstGeom>
        </p:spPr>
      </p:pic>
      <p:sp>
        <p:nvSpPr>
          <p:cNvPr id="39" name="Text 26">
            <a:extLst>
              <a:ext uri="{FF2B5EF4-FFF2-40B4-BE49-F238E27FC236}">
                <a16:creationId xmlns:a16="http://schemas.microsoft.com/office/drawing/2014/main" id="{03D71A0C-8B52-5CE5-C511-D63D37523D84}"/>
              </a:ext>
            </a:extLst>
          </p:cNvPr>
          <p:cNvSpPr/>
          <p:nvPr/>
        </p:nvSpPr>
        <p:spPr>
          <a:xfrm>
            <a:off x="2084037" y="3277528"/>
            <a:ext cx="1085088" cy="274320"/>
          </a:xfrm>
          <a:prstGeom prst="rect">
            <a:avLst/>
          </a:prstGeom>
          <a:noFill/>
          <a:ln/>
        </p:spPr>
        <p:txBody>
          <a:bodyPr wrap="square" lIns="0" tIns="0" rIns="0" bIns="0" rtlCol="0" anchor="t"/>
          <a:lstStyle/>
          <a:p>
            <a:pPr marL="0" indent="0" algn="ctr">
              <a:lnSpc>
                <a:spcPct val="100000"/>
              </a:lnSpc>
              <a:buNone/>
            </a:pPr>
            <a:r>
              <a:rPr lang="en-US" sz="730" b="1">
                <a:solidFill>
                  <a:srgbClr val="1A1A1A"/>
                </a:solidFill>
                <a:latin typeface="Arial" pitchFamily="34" charset="0"/>
                <a:ea typeface="Arial" pitchFamily="34" charset="-122"/>
                <a:cs typeface="Arial" pitchFamily="34" charset="-120"/>
              </a:rPr>
              <a:t>Agent Planner</a:t>
            </a:r>
            <a:endParaRPr lang="en-US" sz="730"/>
          </a:p>
        </p:txBody>
      </p:sp>
      <p:sp>
        <p:nvSpPr>
          <p:cNvPr id="40" name="Text 27">
            <a:extLst>
              <a:ext uri="{FF2B5EF4-FFF2-40B4-BE49-F238E27FC236}">
                <a16:creationId xmlns:a16="http://schemas.microsoft.com/office/drawing/2014/main" id="{9458ECA7-6435-11AA-693E-BB609704DBE8}"/>
              </a:ext>
            </a:extLst>
          </p:cNvPr>
          <p:cNvSpPr/>
          <p:nvPr/>
        </p:nvSpPr>
        <p:spPr>
          <a:xfrm>
            <a:off x="2111469" y="3560992"/>
            <a:ext cx="1030224" cy="192024"/>
          </a:xfrm>
          <a:prstGeom prst="rect">
            <a:avLst/>
          </a:prstGeom>
          <a:noFill/>
          <a:ln/>
        </p:spPr>
        <p:txBody>
          <a:bodyPr wrap="square" lIns="0" tIns="0" rIns="0" bIns="0" rtlCol="0" anchor="t"/>
          <a:lstStyle/>
          <a:p>
            <a:pPr marL="0" indent="0" algn="ctr">
              <a:lnSpc>
                <a:spcPct val="100000"/>
              </a:lnSpc>
              <a:buNone/>
            </a:pPr>
            <a:r>
              <a:rPr lang="en-US" sz="630">
                <a:solidFill>
                  <a:srgbClr val="6B6B6B"/>
                </a:solidFill>
                <a:latin typeface="Arial" pitchFamily="34" charset="0"/>
                <a:ea typeface="Arial" pitchFamily="34" charset="-122"/>
                <a:cs typeface="Arial" pitchFamily="34" charset="-120"/>
              </a:rPr>
              <a:t>Break down goals into executable plans</a:t>
            </a:r>
            <a:endParaRPr lang="en-US" sz="630"/>
          </a:p>
        </p:txBody>
      </p:sp>
      <p:pic>
        <p:nvPicPr>
          <p:cNvPr id="41" name="Image 13" descr="preencoded.png">
            <a:extLst>
              <a:ext uri="{FF2B5EF4-FFF2-40B4-BE49-F238E27FC236}">
                <a16:creationId xmlns:a16="http://schemas.microsoft.com/office/drawing/2014/main" id="{54D58924-8AF6-7C98-81BC-473984B939A8}"/>
              </a:ext>
            </a:extLst>
          </p:cNvPr>
          <p:cNvPicPr>
            <a:picLocks noChangeAspect="1"/>
          </p:cNvPicPr>
          <p:nvPr/>
        </p:nvPicPr>
        <p:blipFill>
          <a:blip r:embed="rId15"/>
          <a:stretch>
            <a:fillRect/>
          </a:stretch>
        </p:blipFill>
        <p:spPr>
          <a:xfrm>
            <a:off x="3675093" y="3058072"/>
            <a:ext cx="182880" cy="182880"/>
          </a:xfrm>
          <a:prstGeom prst="rect">
            <a:avLst/>
          </a:prstGeom>
        </p:spPr>
      </p:pic>
      <p:sp>
        <p:nvSpPr>
          <p:cNvPr id="42" name="Text 28">
            <a:extLst>
              <a:ext uri="{FF2B5EF4-FFF2-40B4-BE49-F238E27FC236}">
                <a16:creationId xmlns:a16="http://schemas.microsoft.com/office/drawing/2014/main" id="{DCC6192E-99AF-48C4-3225-AD406FB9A4A2}"/>
              </a:ext>
            </a:extLst>
          </p:cNvPr>
          <p:cNvSpPr/>
          <p:nvPr/>
        </p:nvSpPr>
        <p:spPr>
          <a:xfrm>
            <a:off x="3223989" y="3277528"/>
            <a:ext cx="1085088" cy="274320"/>
          </a:xfrm>
          <a:prstGeom prst="rect">
            <a:avLst/>
          </a:prstGeom>
          <a:noFill/>
          <a:ln/>
        </p:spPr>
        <p:txBody>
          <a:bodyPr wrap="square" lIns="0" tIns="0" rIns="0" bIns="0" rtlCol="0" anchor="t"/>
          <a:lstStyle/>
          <a:p>
            <a:pPr marL="0" indent="0" algn="ctr">
              <a:lnSpc>
                <a:spcPct val="100000"/>
              </a:lnSpc>
              <a:buNone/>
            </a:pPr>
            <a:r>
              <a:rPr lang="en-US" sz="730" b="1">
                <a:solidFill>
                  <a:srgbClr val="1A1A1A"/>
                </a:solidFill>
                <a:latin typeface="Arial" pitchFamily="34" charset="0"/>
                <a:ea typeface="Arial" pitchFamily="34" charset="-122"/>
                <a:cs typeface="Arial" pitchFamily="34" charset="-120"/>
              </a:rPr>
              <a:t>Multi-Agent Coordination</a:t>
            </a:r>
            <a:endParaRPr lang="en-US" sz="730"/>
          </a:p>
        </p:txBody>
      </p:sp>
      <p:sp>
        <p:nvSpPr>
          <p:cNvPr id="43" name="Text 29">
            <a:extLst>
              <a:ext uri="{FF2B5EF4-FFF2-40B4-BE49-F238E27FC236}">
                <a16:creationId xmlns:a16="http://schemas.microsoft.com/office/drawing/2014/main" id="{146722A7-1537-FFDD-07CB-B61B0D2FC2BF}"/>
              </a:ext>
            </a:extLst>
          </p:cNvPr>
          <p:cNvSpPr/>
          <p:nvPr/>
        </p:nvSpPr>
        <p:spPr>
          <a:xfrm>
            <a:off x="3251421" y="3560992"/>
            <a:ext cx="1030224" cy="192024"/>
          </a:xfrm>
          <a:prstGeom prst="rect">
            <a:avLst/>
          </a:prstGeom>
          <a:noFill/>
          <a:ln/>
        </p:spPr>
        <p:txBody>
          <a:bodyPr wrap="square" lIns="0" tIns="0" rIns="0" bIns="0" rtlCol="0" anchor="t"/>
          <a:lstStyle/>
          <a:p>
            <a:pPr marL="0" indent="0" algn="ctr">
              <a:lnSpc>
                <a:spcPct val="100000"/>
              </a:lnSpc>
              <a:buNone/>
            </a:pPr>
            <a:r>
              <a:rPr lang="en-US" sz="630">
                <a:solidFill>
                  <a:srgbClr val="6B6B6B"/>
                </a:solidFill>
                <a:latin typeface="Arial" pitchFamily="34" charset="0"/>
                <a:ea typeface="Arial" pitchFamily="34" charset="-122"/>
                <a:cs typeface="Arial" pitchFamily="34" charset="-120"/>
              </a:rPr>
              <a:t>Collaborate across specialized agents</a:t>
            </a:r>
            <a:endParaRPr lang="en-US" sz="630"/>
          </a:p>
        </p:txBody>
      </p:sp>
      <p:pic>
        <p:nvPicPr>
          <p:cNvPr id="44" name="Image 14" descr="preencoded.png">
            <a:extLst>
              <a:ext uri="{FF2B5EF4-FFF2-40B4-BE49-F238E27FC236}">
                <a16:creationId xmlns:a16="http://schemas.microsoft.com/office/drawing/2014/main" id="{9ED4002B-6139-8B29-979D-83956E9A4002}"/>
              </a:ext>
            </a:extLst>
          </p:cNvPr>
          <p:cNvPicPr>
            <a:picLocks noChangeAspect="1"/>
          </p:cNvPicPr>
          <p:nvPr/>
        </p:nvPicPr>
        <p:blipFill>
          <a:blip r:embed="rId16"/>
          <a:stretch>
            <a:fillRect/>
          </a:stretch>
        </p:blipFill>
        <p:spPr>
          <a:xfrm>
            <a:off x="4815045" y="3058072"/>
            <a:ext cx="182880" cy="182880"/>
          </a:xfrm>
          <a:prstGeom prst="rect">
            <a:avLst/>
          </a:prstGeom>
        </p:spPr>
      </p:pic>
      <p:sp>
        <p:nvSpPr>
          <p:cNvPr id="45" name="Text 30">
            <a:extLst>
              <a:ext uri="{FF2B5EF4-FFF2-40B4-BE49-F238E27FC236}">
                <a16:creationId xmlns:a16="http://schemas.microsoft.com/office/drawing/2014/main" id="{5DC34E7A-E08A-E857-3CFC-F22F26272364}"/>
              </a:ext>
            </a:extLst>
          </p:cNvPr>
          <p:cNvSpPr/>
          <p:nvPr/>
        </p:nvSpPr>
        <p:spPr>
          <a:xfrm>
            <a:off x="4363941" y="3277528"/>
            <a:ext cx="1085088" cy="274320"/>
          </a:xfrm>
          <a:prstGeom prst="rect">
            <a:avLst/>
          </a:prstGeom>
          <a:noFill/>
          <a:ln/>
        </p:spPr>
        <p:txBody>
          <a:bodyPr wrap="square" lIns="0" tIns="0" rIns="0" bIns="0" rtlCol="0" anchor="t"/>
          <a:lstStyle/>
          <a:p>
            <a:pPr marL="0" indent="0" algn="ctr">
              <a:lnSpc>
                <a:spcPct val="100000"/>
              </a:lnSpc>
              <a:buNone/>
            </a:pPr>
            <a:r>
              <a:rPr lang="en-US" sz="730" b="1">
                <a:solidFill>
                  <a:srgbClr val="1A1A1A"/>
                </a:solidFill>
                <a:latin typeface="Arial" pitchFamily="34" charset="0"/>
                <a:ea typeface="Arial" pitchFamily="34" charset="-122"/>
                <a:cs typeface="Arial" pitchFamily="34" charset="-120"/>
              </a:rPr>
              <a:t>Reasoning Engine</a:t>
            </a:r>
            <a:endParaRPr lang="en-US" sz="730"/>
          </a:p>
        </p:txBody>
      </p:sp>
      <p:sp>
        <p:nvSpPr>
          <p:cNvPr id="46" name="Text 31">
            <a:extLst>
              <a:ext uri="{FF2B5EF4-FFF2-40B4-BE49-F238E27FC236}">
                <a16:creationId xmlns:a16="http://schemas.microsoft.com/office/drawing/2014/main" id="{3CABB811-F6E0-DDF3-A661-911F5C024C38}"/>
              </a:ext>
            </a:extLst>
          </p:cNvPr>
          <p:cNvSpPr/>
          <p:nvPr/>
        </p:nvSpPr>
        <p:spPr>
          <a:xfrm>
            <a:off x="4391373" y="3560992"/>
            <a:ext cx="1030224" cy="192024"/>
          </a:xfrm>
          <a:prstGeom prst="rect">
            <a:avLst/>
          </a:prstGeom>
          <a:noFill/>
          <a:ln/>
        </p:spPr>
        <p:txBody>
          <a:bodyPr wrap="square" lIns="0" tIns="0" rIns="0" bIns="0" rtlCol="0" anchor="t"/>
          <a:lstStyle/>
          <a:p>
            <a:pPr marL="0" indent="0" algn="ctr">
              <a:lnSpc>
                <a:spcPct val="100000"/>
              </a:lnSpc>
              <a:buNone/>
            </a:pPr>
            <a:r>
              <a:rPr lang="en-US" sz="630">
                <a:solidFill>
                  <a:srgbClr val="6B6B6B"/>
                </a:solidFill>
                <a:latin typeface="Arial" pitchFamily="34" charset="0"/>
                <a:ea typeface="Arial" pitchFamily="34" charset="-122"/>
                <a:cs typeface="Arial" pitchFamily="34" charset="-120"/>
              </a:rPr>
              <a:t>Context awareness and decision making</a:t>
            </a:r>
            <a:endParaRPr lang="en-US" sz="630"/>
          </a:p>
        </p:txBody>
      </p:sp>
      <p:pic>
        <p:nvPicPr>
          <p:cNvPr id="47" name="Image 15" descr="preencoded.png">
            <a:extLst>
              <a:ext uri="{FF2B5EF4-FFF2-40B4-BE49-F238E27FC236}">
                <a16:creationId xmlns:a16="http://schemas.microsoft.com/office/drawing/2014/main" id="{E9C4BC20-9F05-0934-7896-DE275E08F67B}"/>
              </a:ext>
            </a:extLst>
          </p:cNvPr>
          <p:cNvPicPr>
            <a:picLocks noChangeAspect="1"/>
          </p:cNvPicPr>
          <p:nvPr/>
        </p:nvPicPr>
        <p:blipFill>
          <a:blip r:embed="rId17"/>
          <a:stretch>
            <a:fillRect/>
          </a:stretch>
        </p:blipFill>
        <p:spPr>
          <a:xfrm>
            <a:off x="5954997" y="3058072"/>
            <a:ext cx="182880" cy="182880"/>
          </a:xfrm>
          <a:prstGeom prst="rect">
            <a:avLst/>
          </a:prstGeom>
        </p:spPr>
      </p:pic>
      <p:sp>
        <p:nvSpPr>
          <p:cNvPr id="48" name="Text 32">
            <a:extLst>
              <a:ext uri="{FF2B5EF4-FFF2-40B4-BE49-F238E27FC236}">
                <a16:creationId xmlns:a16="http://schemas.microsoft.com/office/drawing/2014/main" id="{A9435E79-05FF-9F0F-8E52-5C408A72EDA9}"/>
              </a:ext>
            </a:extLst>
          </p:cNvPr>
          <p:cNvSpPr/>
          <p:nvPr/>
        </p:nvSpPr>
        <p:spPr>
          <a:xfrm>
            <a:off x="5503893" y="3277528"/>
            <a:ext cx="1085088" cy="274320"/>
          </a:xfrm>
          <a:prstGeom prst="rect">
            <a:avLst/>
          </a:prstGeom>
          <a:noFill/>
          <a:ln/>
        </p:spPr>
        <p:txBody>
          <a:bodyPr wrap="square" lIns="0" tIns="0" rIns="0" bIns="0" rtlCol="0" anchor="t"/>
          <a:lstStyle/>
          <a:p>
            <a:pPr marL="0" indent="0" algn="ctr">
              <a:lnSpc>
                <a:spcPct val="100000"/>
              </a:lnSpc>
              <a:buNone/>
            </a:pPr>
            <a:r>
              <a:rPr lang="en-US" sz="730" b="1">
                <a:solidFill>
                  <a:srgbClr val="1A1A1A"/>
                </a:solidFill>
                <a:latin typeface="Arial" pitchFamily="34" charset="0"/>
                <a:ea typeface="Arial" pitchFamily="34" charset="-122"/>
                <a:cs typeface="Arial" pitchFamily="34" charset="-120"/>
              </a:rPr>
              <a:t>Tool Use &amp; Action Execution</a:t>
            </a:r>
            <a:endParaRPr lang="en-US" sz="730"/>
          </a:p>
        </p:txBody>
      </p:sp>
      <p:sp>
        <p:nvSpPr>
          <p:cNvPr id="49" name="Text 33">
            <a:extLst>
              <a:ext uri="{FF2B5EF4-FFF2-40B4-BE49-F238E27FC236}">
                <a16:creationId xmlns:a16="http://schemas.microsoft.com/office/drawing/2014/main" id="{FCABAC26-EF31-01B5-7D42-A03DBA084E12}"/>
              </a:ext>
            </a:extLst>
          </p:cNvPr>
          <p:cNvSpPr/>
          <p:nvPr/>
        </p:nvSpPr>
        <p:spPr>
          <a:xfrm>
            <a:off x="5531325" y="3560992"/>
            <a:ext cx="1030224" cy="192024"/>
          </a:xfrm>
          <a:prstGeom prst="rect">
            <a:avLst/>
          </a:prstGeom>
          <a:noFill/>
          <a:ln/>
        </p:spPr>
        <p:txBody>
          <a:bodyPr wrap="square" lIns="0" tIns="0" rIns="0" bIns="0" rtlCol="0" anchor="t"/>
          <a:lstStyle/>
          <a:p>
            <a:pPr marL="0" indent="0" algn="ctr">
              <a:lnSpc>
                <a:spcPct val="100000"/>
              </a:lnSpc>
              <a:buNone/>
            </a:pPr>
            <a:r>
              <a:rPr lang="en-US" sz="630">
                <a:solidFill>
                  <a:srgbClr val="6B6B6B"/>
                </a:solidFill>
                <a:latin typeface="Arial" pitchFamily="34" charset="0"/>
                <a:ea typeface="Arial" pitchFamily="34" charset="-122"/>
                <a:cs typeface="Arial" pitchFamily="34" charset="-120"/>
              </a:rPr>
              <a:t>Invoke APIs, systems and business services</a:t>
            </a:r>
            <a:endParaRPr lang="en-US" sz="630"/>
          </a:p>
        </p:txBody>
      </p:sp>
      <p:pic>
        <p:nvPicPr>
          <p:cNvPr id="50" name="Image 16" descr="preencoded.png">
            <a:extLst>
              <a:ext uri="{FF2B5EF4-FFF2-40B4-BE49-F238E27FC236}">
                <a16:creationId xmlns:a16="http://schemas.microsoft.com/office/drawing/2014/main" id="{309518C1-9AE9-8F95-4BBC-C832C0AF09DA}"/>
              </a:ext>
            </a:extLst>
          </p:cNvPr>
          <p:cNvPicPr>
            <a:picLocks noChangeAspect="1"/>
          </p:cNvPicPr>
          <p:nvPr/>
        </p:nvPicPr>
        <p:blipFill>
          <a:blip r:embed="rId18"/>
          <a:stretch>
            <a:fillRect/>
          </a:stretch>
        </p:blipFill>
        <p:spPr>
          <a:xfrm>
            <a:off x="7094949" y="3058072"/>
            <a:ext cx="182880" cy="182880"/>
          </a:xfrm>
          <a:prstGeom prst="rect">
            <a:avLst/>
          </a:prstGeom>
        </p:spPr>
      </p:pic>
      <p:sp>
        <p:nvSpPr>
          <p:cNvPr id="51" name="Text 34">
            <a:extLst>
              <a:ext uri="{FF2B5EF4-FFF2-40B4-BE49-F238E27FC236}">
                <a16:creationId xmlns:a16="http://schemas.microsoft.com/office/drawing/2014/main" id="{F97BD911-E764-71D9-9BD0-82262700C5C1}"/>
              </a:ext>
            </a:extLst>
          </p:cNvPr>
          <p:cNvSpPr/>
          <p:nvPr/>
        </p:nvSpPr>
        <p:spPr>
          <a:xfrm>
            <a:off x="6643845" y="3277528"/>
            <a:ext cx="1085088" cy="274320"/>
          </a:xfrm>
          <a:prstGeom prst="rect">
            <a:avLst/>
          </a:prstGeom>
          <a:noFill/>
          <a:ln/>
        </p:spPr>
        <p:txBody>
          <a:bodyPr wrap="square" lIns="0" tIns="0" rIns="0" bIns="0" rtlCol="0" anchor="t"/>
          <a:lstStyle/>
          <a:p>
            <a:pPr marL="0" indent="0" algn="ctr">
              <a:lnSpc>
                <a:spcPct val="100000"/>
              </a:lnSpc>
              <a:buNone/>
            </a:pPr>
            <a:r>
              <a:rPr lang="en-US" sz="730" b="1">
                <a:solidFill>
                  <a:srgbClr val="1A1A1A"/>
                </a:solidFill>
                <a:latin typeface="Arial" pitchFamily="34" charset="0"/>
                <a:ea typeface="Arial" pitchFamily="34" charset="-122"/>
                <a:cs typeface="Arial" pitchFamily="34" charset="-120"/>
              </a:rPr>
              <a:t>Memory &amp; Knowledge</a:t>
            </a:r>
            <a:endParaRPr lang="en-US" sz="730"/>
          </a:p>
        </p:txBody>
      </p:sp>
      <p:sp>
        <p:nvSpPr>
          <p:cNvPr id="52" name="Text 35">
            <a:extLst>
              <a:ext uri="{FF2B5EF4-FFF2-40B4-BE49-F238E27FC236}">
                <a16:creationId xmlns:a16="http://schemas.microsoft.com/office/drawing/2014/main" id="{C08F0F2C-AE64-3C2E-1730-AEECBD7F34E1}"/>
              </a:ext>
            </a:extLst>
          </p:cNvPr>
          <p:cNvSpPr/>
          <p:nvPr/>
        </p:nvSpPr>
        <p:spPr>
          <a:xfrm>
            <a:off x="6671277" y="3560992"/>
            <a:ext cx="1030224" cy="192024"/>
          </a:xfrm>
          <a:prstGeom prst="rect">
            <a:avLst/>
          </a:prstGeom>
          <a:noFill/>
          <a:ln/>
        </p:spPr>
        <p:txBody>
          <a:bodyPr wrap="square" lIns="0" tIns="0" rIns="0" bIns="0" rtlCol="0" anchor="t"/>
          <a:lstStyle/>
          <a:p>
            <a:pPr marL="0" indent="0" algn="ctr">
              <a:lnSpc>
                <a:spcPct val="100000"/>
              </a:lnSpc>
              <a:buNone/>
            </a:pPr>
            <a:r>
              <a:rPr lang="en-US" sz="630">
                <a:solidFill>
                  <a:srgbClr val="6B6B6B"/>
                </a:solidFill>
                <a:latin typeface="Arial" pitchFamily="34" charset="0"/>
                <a:ea typeface="Arial" pitchFamily="34" charset="-122"/>
                <a:cs typeface="Arial" pitchFamily="34" charset="-120"/>
              </a:rPr>
              <a:t>Maintain context, history and preferences</a:t>
            </a:r>
            <a:endParaRPr lang="en-US" sz="630"/>
          </a:p>
        </p:txBody>
      </p:sp>
      <p:pic>
        <p:nvPicPr>
          <p:cNvPr id="53" name="Image 17" descr="preencoded.png">
            <a:extLst>
              <a:ext uri="{FF2B5EF4-FFF2-40B4-BE49-F238E27FC236}">
                <a16:creationId xmlns:a16="http://schemas.microsoft.com/office/drawing/2014/main" id="{E422B6D1-7EDA-45CB-3DF8-E9E0263AEB18}"/>
              </a:ext>
            </a:extLst>
          </p:cNvPr>
          <p:cNvPicPr>
            <a:picLocks noChangeAspect="1"/>
          </p:cNvPicPr>
          <p:nvPr/>
        </p:nvPicPr>
        <p:blipFill>
          <a:blip r:embed="rId19"/>
          <a:stretch>
            <a:fillRect/>
          </a:stretch>
        </p:blipFill>
        <p:spPr>
          <a:xfrm>
            <a:off x="8234901" y="3058072"/>
            <a:ext cx="182880" cy="182880"/>
          </a:xfrm>
          <a:prstGeom prst="rect">
            <a:avLst/>
          </a:prstGeom>
        </p:spPr>
      </p:pic>
      <p:sp>
        <p:nvSpPr>
          <p:cNvPr id="54" name="Text 36">
            <a:extLst>
              <a:ext uri="{FF2B5EF4-FFF2-40B4-BE49-F238E27FC236}">
                <a16:creationId xmlns:a16="http://schemas.microsoft.com/office/drawing/2014/main" id="{82BA09C4-727C-5D2A-2282-01CFD7627B92}"/>
              </a:ext>
            </a:extLst>
          </p:cNvPr>
          <p:cNvSpPr/>
          <p:nvPr/>
        </p:nvSpPr>
        <p:spPr>
          <a:xfrm>
            <a:off x="7783797" y="3277528"/>
            <a:ext cx="1085088" cy="274320"/>
          </a:xfrm>
          <a:prstGeom prst="rect">
            <a:avLst/>
          </a:prstGeom>
          <a:noFill/>
          <a:ln/>
        </p:spPr>
        <p:txBody>
          <a:bodyPr wrap="square" lIns="0" tIns="0" rIns="0" bIns="0" rtlCol="0" anchor="t"/>
          <a:lstStyle/>
          <a:p>
            <a:pPr marL="0" indent="0" algn="ctr">
              <a:lnSpc>
                <a:spcPct val="100000"/>
              </a:lnSpc>
              <a:buNone/>
            </a:pPr>
            <a:r>
              <a:rPr lang="en-US" sz="730" b="1">
                <a:solidFill>
                  <a:srgbClr val="1A1A1A"/>
                </a:solidFill>
                <a:latin typeface="Arial" pitchFamily="34" charset="0"/>
                <a:ea typeface="Arial" pitchFamily="34" charset="-122"/>
                <a:cs typeface="Arial" pitchFamily="34" charset="-120"/>
              </a:rPr>
              <a:t>Human-in-the-Loop &amp; Approvals</a:t>
            </a:r>
            <a:endParaRPr lang="en-US" sz="730"/>
          </a:p>
        </p:txBody>
      </p:sp>
      <p:sp>
        <p:nvSpPr>
          <p:cNvPr id="55" name="Text 37">
            <a:extLst>
              <a:ext uri="{FF2B5EF4-FFF2-40B4-BE49-F238E27FC236}">
                <a16:creationId xmlns:a16="http://schemas.microsoft.com/office/drawing/2014/main" id="{705C4E5D-4400-74BD-79AB-FF2704324CCD}"/>
              </a:ext>
            </a:extLst>
          </p:cNvPr>
          <p:cNvSpPr/>
          <p:nvPr/>
        </p:nvSpPr>
        <p:spPr>
          <a:xfrm>
            <a:off x="7811229" y="3560992"/>
            <a:ext cx="1030224" cy="192024"/>
          </a:xfrm>
          <a:prstGeom prst="rect">
            <a:avLst/>
          </a:prstGeom>
          <a:noFill/>
          <a:ln/>
        </p:spPr>
        <p:txBody>
          <a:bodyPr wrap="square" lIns="0" tIns="0" rIns="0" bIns="0" rtlCol="0" anchor="t"/>
          <a:lstStyle/>
          <a:p>
            <a:pPr marL="0" indent="0" algn="ctr">
              <a:lnSpc>
                <a:spcPct val="100000"/>
              </a:lnSpc>
              <a:buNone/>
            </a:pPr>
            <a:r>
              <a:rPr lang="en-US" sz="630">
                <a:solidFill>
                  <a:srgbClr val="6B6B6B"/>
                </a:solidFill>
                <a:latin typeface="Arial" pitchFamily="34" charset="0"/>
                <a:ea typeface="Arial" pitchFamily="34" charset="-122"/>
                <a:cs typeface="Arial" pitchFamily="34" charset="-120"/>
              </a:rPr>
              <a:t>Escalate critical actions for human oversight</a:t>
            </a:r>
            <a:endParaRPr lang="en-US" sz="630"/>
          </a:p>
        </p:txBody>
      </p:sp>
      <p:sp>
        <p:nvSpPr>
          <p:cNvPr id="56" name="Shape 38">
            <a:extLst>
              <a:ext uri="{FF2B5EF4-FFF2-40B4-BE49-F238E27FC236}">
                <a16:creationId xmlns:a16="http://schemas.microsoft.com/office/drawing/2014/main" id="{5D0FAC00-232B-0064-06C1-0DACB4835B10}"/>
              </a:ext>
            </a:extLst>
          </p:cNvPr>
          <p:cNvSpPr/>
          <p:nvPr/>
        </p:nvSpPr>
        <p:spPr>
          <a:xfrm>
            <a:off x="4525485" y="3899320"/>
            <a:ext cx="237744" cy="182880"/>
          </a:xfrm>
          <a:prstGeom prst="ellipse">
            <a:avLst/>
          </a:prstGeom>
          <a:solidFill>
            <a:srgbClr val="FFFFFF"/>
          </a:solidFill>
          <a:ln w="9525">
            <a:solidFill>
              <a:srgbClr val="E2E2E2"/>
            </a:solidFill>
            <a:prstDash val="solid"/>
          </a:ln>
        </p:spPr>
        <p:txBody>
          <a:bodyPr/>
          <a:lstStyle/>
          <a:p>
            <a:endParaRPr lang="en-IN"/>
          </a:p>
        </p:txBody>
      </p:sp>
      <p:sp>
        <p:nvSpPr>
          <p:cNvPr id="57" name="Text 39">
            <a:extLst>
              <a:ext uri="{FF2B5EF4-FFF2-40B4-BE49-F238E27FC236}">
                <a16:creationId xmlns:a16="http://schemas.microsoft.com/office/drawing/2014/main" id="{CE233D37-7572-DD86-AE45-E10B06B12CBE}"/>
              </a:ext>
            </a:extLst>
          </p:cNvPr>
          <p:cNvSpPr/>
          <p:nvPr/>
        </p:nvSpPr>
        <p:spPr>
          <a:xfrm>
            <a:off x="4525485" y="3894748"/>
            <a:ext cx="237744" cy="192024"/>
          </a:xfrm>
          <a:prstGeom prst="rect">
            <a:avLst/>
          </a:prstGeom>
          <a:noFill/>
          <a:ln/>
        </p:spPr>
        <p:txBody>
          <a:bodyPr wrap="square" lIns="0" tIns="0" rIns="0" bIns="0" rtlCol="0" anchor="ctr"/>
          <a:lstStyle/>
          <a:p>
            <a:pPr marL="0" indent="0" algn="ctr">
              <a:buNone/>
            </a:pPr>
            <a:r>
              <a:rPr lang="en-US" sz="700">
                <a:solidFill>
                  <a:srgbClr val="86BC25"/>
                </a:solidFill>
              </a:rPr>
              <a:t>▼</a:t>
            </a:r>
            <a:endParaRPr lang="en-US" sz="700"/>
          </a:p>
        </p:txBody>
      </p:sp>
      <p:sp>
        <p:nvSpPr>
          <p:cNvPr id="58" name="Shape 40">
            <a:extLst>
              <a:ext uri="{FF2B5EF4-FFF2-40B4-BE49-F238E27FC236}">
                <a16:creationId xmlns:a16="http://schemas.microsoft.com/office/drawing/2014/main" id="{66F1C2DF-1326-CC63-6174-60780CED0739}"/>
              </a:ext>
            </a:extLst>
          </p:cNvPr>
          <p:cNvSpPr/>
          <p:nvPr/>
        </p:nvSpPr>
        <p:spPr>
          <a:xfrm>
            <a:off x="310101" y="4063912"/>
            <a:ext cx="8668512" cy="987552"/>
          </a:xfrm>
          <a:prstGeom prst="roundRect">
            <a:avLst>
              <a:gd name="adj" fmla="val 3704"/>
            </a:avLst>
          </a:prstGeom>
          <a:solidFill>
            <a:srgbClr val="FFFFFF"/>
          </a:solidFill>
          <a:ln w="9525">
            <a:solidFill>
              <a:srgbClr val="E2E2E2"/>
            </a:solidFill>
            <a:prstDash val="solid"/>
          </a:ln>
          <a:effectLst>
            <a:outerShdw blurRad="50800" dist="12700" dir="5400000" algn="bl" rotWithShape="0">
              <a:srgbClr val="000000">
                <a:alpha val="8000"/>
              </a:srgbClr>
            </a:outerShdw>
          </a:effectLst>
        </p:spPr>
        <p:txBody>
          <a:bodyPr/>
          <a:lstStyle/>
          <a:p>
            <a:endParaRPr lang="en-IN"/>
          </a:p>
        </p:txBody>
      </p:sp>
      <p:pic>
        <p:nvPicPr>
          <p:cNvPr id="59" name="Image 18" descr="preencoded.png">
            <a:extLst>
              <a:ext uri="{FF2B5EF4-FFF2-40B4-BE49-F238E27FC236}">
                <a16:creationId xmlns:a16="http://schemas.microsoft.com/office/drawing/2014/main" id="{ECEF4519-28C7-957F-4870-4BC478ACCBCF}"/>
              </a:ext>
            </a:extLst>
          </p:cNvPr>
          <p:cNvPicPr>
            <a:picLocks noChangeAspect="1"/>
          </p:cNvPicPr>
          <p:nvPr/>
        </p:nvPicPr>
        <p:blipFill>
          <a:blip r:embed="rId20"/>
          <a:stretch>
            <a:fillRect/>
          </a:stretch>
        </p:blipFill>
        <p:spPr>
          <a:xfrm>
            <a:off x="450839" y="4377988"/>
            <a:ext cx="237744" cy="237744"/>
          </a:xfrm>
          <a:prstGeom prst="rect">
            <a:avLst/>
          </a:prstGeom>
        </p:spPr>
      </p:pic>
      <p:sp>
        <p:nvSpPr>
          <p:cNvPr id="60" name="Text 41">
            <a:extLst>
              <a:ext uri="{FF2B5EF4-FFF2-40B4-BE49-F238E27FC236}">
                <a16:creationId xmlns:a16="http://schemas.microsoft.com/office/drawing/2014/main" id="{CDF73FD3-207B-4E41-5FF2-4433FD736439}"/>
              </a:ext>
            </a:extLst>
          </p:cNvPr>
          <p:cNvSpPr/>
          <p:nvPr/>
        </p:nvSpPr>
        <p:spPr>
          <a:xfrm>
            <a:off x="861922" y="4384349"/>
            <a:ext cx="807852" cy="320040"/>
          </a:xfrm>
          <a:prstGeom prst="rect">
            <a:avLst/>
          </a:prstGeom>
          <a:noFill/>
          <a:ln/>
        </p:spPr>
        <p:txBody>
          <a:bodyPr wrap="square" lIns="0" tIns="0" rIns="0" bIns="0" rtlCol="0" anchor="t"/>
          <a:lstStyle/>
          <a:p>
            <a:pPr marL="0" indent="0" algn="l">
              <a:lnSpc>
                <a:spcPct val="104000"/>
              </a:lnSpc>
              <a:buNone/>
            </a:pPr>
            <a:r>
              <a:rPr lang="en-US" sz="800" b="1">
                <a:solidFill>
                  <a:srgbClr val="1A1A1A"/>
                </a:solidFill>
                <a:latin typeface="Arial" pitchFamily="34" charset="0"/>
                <a:ea typeface="Arial" pitchFamily="34" charset="-122"/>
                <a:cs typeface="Arial" pitchFamily="34" charset="-120"/>
              </a:rPr>
              <a:t>ENTERPRISE</a:t>
            </a:r>
            <a:endParaRPr lang="en-US" sz="800"/>
          </a:p>
          <a:p>
            <a:pPr marL="0" indent="0" algn="l">
              <a:lnSpc>
                <a:spcPct val="104000"/>
              </a:lnSpc>
              <a:buNone/>
            </a:pPr>
            <a:r>
              <a:rPr lang="en-US" sz="800" b="1">
                <a:solidFill>
                  <a:srgbClr val="1A1A1A"/>
                </a:solidFill>
                <a:latin typeface="Arial" pitchFamily="34" charset="0"/>
                <a:ea typeface="Arial" pitchFamily="34" charset="-122"/>
                <a:cs typeface="Arial" pitchFamily="34" charset="-120"/>
              </a:rPr>
              <a:t>CAPABILITIES</a:t>
            </a:r>
            <a:endParaRPr lang="en-US" sz="800"/>
          </a:p>
        </p:txBody>
      </p:sp>
      <p:sp>
        <p:nvSpPr>
          <p:cNvPr id="61" name="Shape 42">
            <a:extLst>
              <a:ext uri="{FF2B5EF4-FFF2-40B4-BE49-F238E27FC236}">
                <a16:creationId xmlns:a16="http://schemas.microsoft.com/office/drawing/2014/main" id="{B6460CCD-DB1E-DEAC-EDCE-5DE79AB16B28}"/>
              </a:ext>
            </a:extLst>
          </p:cNvPr>
          <p:cNvSpPr/>
          <p:nvPr/>
        </p:nvSpPr>
        <p:spPr>
          <a:xfrm>
            <a:off x="1864581" y="4155352"/>
            <a:ext cx="0" cy="804672"/>
          </a:xfrm>
          <a:prstGeom prst="line">
            <a:avLst/>
          </a:prstGeom>
          <a:noFill/>
          <a:ln w="9525">
            <a:solidFill>
              <a:srgbClr val="E2E2E2"/>
            </a:solidFill>
            <a:prstDash val="solid"/>
          </a:ln>
        </p:spPr>
        <p:txBody>
          <a:bodyPr/>
          <a:lstStyle/>
          <a:p>
            <a:endParaRPr lang="en-IN"/>
          </a:p>
        </p:txBody>
      </p:sp>
      <p:pic>
        <p:nvPicPr>
          <p:cNvPr id="62" name="Image 19" descr="preencoded.png">
            <a:extLst>
              <a:ext uri="{FF2B5EF4-FFF2-40B4-BE49-F238E27FC236}">
                <a16:creationId xmlns:a16="http://schemas.microsoft.com/office/drawing/2014/main" id="{FB8C02F4-99E0-2FA0-FE1A-11864677DCF4}"/>
              </a:ext>
            </a:extLst>
          </p:cNvPr>
          <p:cNvPicPr>
            <a:picLocks noChangeAspect="1"/>
          </p:cNvPicPr>
          <p:nvPr/>
        </p:nvPicPr>
        <p:blipFill>
          <a:blip r:embed="rId21"/>
          <a:stretch>
            <a:fillRect/>
          </a:stretch>
        </p:blipFill>
        <p:spPr>
          <a:xfrm>
            <a:off x="1974309" y="4155352"/>
            <a:ext cx="201168" cy="201168"/>
          </a:xfrm>
          <a:prstGeom prst="rect">
            <a:avLst/>
          </a:prstGeom>
        </p:spPr>
      </p:pic>
      <p:sp>
        <p:nvSpPr>
          <p:cNvPr id="63" name="Text 43">
            <a:extLst>
              <a:ext uri="{FF2B5EF4-FFF2-40B4-BE49-F238E27FC236}">
                <a16:creationId xmlns:a16="http://schemas.microsoft.com/office/drawing/2014/main" id="{E6386F32-3908-3A46-08DD-09E50A09C28D}"/>
              </a:ext>
            </a:extLst>
          </p:cNvPr>
          <p:cNvSpPr/>
          <p:nvPr/>
        </p:nvSpPr>
        <p:spPr>
          <a:xfrm>
            <a:off x="2230341" y="4137064"/>
            <a:ext cx="1987296" cy="219456"/>
          </a:xfrm>
          <a:prstGeom prst="rect">
            <a:avLst/>
          </a:prstGeom>
          <a:noFill/>
          <a:ln/>
        </p:spPr>
        <p:txBody>
          <a:bodyPr wrap="square" lIns="0" tIns="0" rIns="0" bIns="0" rtlCol="0" anchor="ctr"/>
          <a:lstStyle/>
          <a:p>
            <a:pPr marL="0" indent="0">
              <a:buNone/>
            </a:pPr>
            <a:r>
              <a:rPr lang="en-US" sz="830" b="1">
                <a:solidFill>
                  <a:srgbClr val="1A1A1A"/>
                </a:solidFill>
                <a:latin typeface="Arial" pitchFamily="34" charset="0"/>
                <a:ea typeface="Arial" pitchFamily="34" charset="-122"/>
                <a:cs typeface="Arial" pitchFamily="34" charset="-120"/>
              </a:rPr>
              <a:t>Knowledge Intelligence</a:t>
            </a:r>
            <a:endParaRPr lang="en-US" sz="830"/>
          </a:p>
        </p:txBody>
      </p:sp>
      <p:sp>
        <p:nvSpPr>
          <p:cNvPr id="64" name="Text 44">
            <a:extLst>
              <a:ext uri="{FF2B5EF4-FFF2-40B4-BE49-F238E27FC236}">
                <a16:creationId xmlns:a16="http://schemas.microsoft.com/office/drawing/2014/main" id="{7CF2C772-F7F9-9143-AF86-558A202D5AF1}"/>
              </a:ext>
            </a:extLst>
          </p:cNvPr>
          <p:cNvSpPr/>
          <p:nvPr/>
        </p:nvSpPr>
        <p:spPr>
          <a:xfrm>
            <a:off x="1974309" y="4393096"/>
            <a:ext cx="2243328" cy="585216"/>
          </a:xfrm>
          <a:prstGeom prst="rect">
            <a:avLst/>
          </a:prstGeom>
          <a:noFill/>
          <a:ln/>
        </p:spPr>
        <p:txBody>
          <a:bodyPr wrap="square" lIns="0" tIns="0" rIns="0" bIns="0" rtlCol="0" anchor="t"/>
          <a:lstStyle/>
          <a:p>
            <a:pPr marL="114300" indent="-114300" algn="l">
              <a:lnSpc>
                <a:spcPct val="92000"/>
              </a:lnSpc>
              <a:spcAft>
                <a:spcPts val="50"/>
              </a:spcAft>
              <a:buSzPct val="100000"/>
              <a:buChar char="▪"/>
            </a:pPr>
            <a:r>
              <a:rPr lang="en-US" sz="680">
                <a:solidFill>
                  <a:srgbClr val="6B6B6B"/>
                </a:solidFill>
                <a:latin typeface="Arial" pitchFamily="34" charset="0"/>
                <a:ea typeface="Arial" pitchFamily="34" charset="-122"/>
                <a:cs typeface="Arial" pitchFamily="34" charset="-120"/>
              </a:rPr>
              <a:t>RAG &amp; Semantic Search</a:t>
            </a:r>
            <a:endParaRPr lang="en-US" sz="680"/>
          </a:p>
          <a:p>
            <a:pPr marL="114300" indent="-114300" algn="l">
              <a:lnSpc>
                <a:spcPct val="92000"/>
              </a:lnSpc>
              <a:spcAft>
                <a:spcPts val="50"/>
              </a:spcAft>
              <a:buSzPct val="100000"/>
              <a:buChar char="▪"/>
            </a:pPr>
            <a:r>
              <a:rPr lang="en-US" sz="680">
                <a:solidFill>
                  <a:srgbClr val="6B6B6B"/>
                </a:solidFill>
                <a:latin typeface="Arial" pitchFamily="34" charset="0"/>
                <a:ea typeface="Arial" pitchFamily="34" charset="-122"/>
                <a:cs typeface="Arial" pitchFamily="34" charset="-120"/>
              </a:rPr>
              <a:t>Knowledge Bases</a:t>
            </a:r>
            <a:endParaRPr lang="en-US" sz="680"/>
          </a:p>
          <a:p>
            <a:pPr marL="114300" indent="-114300" algn="l">
              <a:lnSpc>
                <a:spcPct val="92000"/>
              </a:lnSpc>
              <a:spcAft>
                <a:spcPts val="50"/>
              </a:spcAft>
              <a:buSzPct val="100000"/>
              <a:buChar char="▪"/>
            </a:pPr>
            <a:r>
              <a:rPr lang="en-US" sz="680">
                <a:solidFill>
                  <a:srgbClr val="6B6B6B"/>
                </a:solidFill>
                <a:latin typeface="Arial" pitchFamily="34" charset="0"/>
                <a:ea typeface="Arial" pitchFamily="34" charset="-122"/>
                <a:cs typeface="Arial" pitchFamily="34" charset="-120"/>
              </a:rPr>
              <a:t>Vector Stores</a:t>
            </a:r>
            <a:endParaRPr lang="en-US" sz="680"/>
          </a:p>
          <a:p>
            <a:pPr marL="114300" indent="-114300" algn="l">
              <a:lnSpc>
                <a:spcPct val="92000"/>
              </a:lnSpc>
              <a:spcAft>
                <a:spcPts val="50"/>
              </a:spcAft>
              <a:buSzPct val="100000"/>
              <a:buChar char="▪"/>
            </a:pPr>
            <a:r>
              <a:rPr lang="en-US" sz="680">
                <a:solidFill>
                  <a:srgbClr val="6B6B6B"/>
                </a:solidFill>
                <a:latin typeface="Arial" pitchFamily="34" charset="0"/>
                <a:ea typeface="Arial" pitchFamily="34" charset="-122"/>
                <a:cs typeface="Arial" pitchFamily="34" charset="-120"/>
              </a:rPr>
              <a:t>Enterprise Documents &amp; Content</a:t>
            </a:r>
            <a:endParaRPr lang="en-US" sz="680"/>
          </a:p>
        </p:txBody>
      </p:sp>
      <p:pic>
        <p:nvPicPr>
          <p:cNvPr id="65" name="Image 20" descr="preencoded.png">
            <a:extLst>
              <a:ext uri="{FF2B5EF4-FFF2-40B4-BE49-F238E27FC236}">
                <a16:creationId xmlns:a16="http://schemas.microsoft.com/office/drawing/2014/main" id="{39675BE2-848E-18F8-C9A5-BF8D7B066CBB}"/>
              </a:ext>
            </a:extLst>
          </p:cNvPr>
          <p:cNvPicPr>
            <a:picLocks noChangeAspect="1"/>
          </p:cNvPicPr>
          <p:nvPr/>
        </p:nvPicPr>
        <p:blipFill>
          <a:blip r:embed="rId22"/>
          <a:stretch>
            <a:fillRect/>
          </a:stretch>
        </p:blipFill>
        <p:spPr>
          <a:xfrm>
            <a:off x="4354797" y="4155352"/>
            <a:ext cx="201168" cy="201168"/>
          </a:xfrm>
          <a:prstGeom prst="rect">
            <a:avLst/>
          </a:prstGeom>
        </p:spPr>
      </p:pic>
      <p:sp>
        <p:nvSpPr>
          <p:cNvPr id="66" name="Text 45">
            <a:extLst>
              <a:ext uri="{FF2B5EF4-FFF2-40B4-BE49-F238E27FC236}">
                <a16:creationId xmlns:a16="http://schemas.microsoft.com/office/drawing/2014/main" id="{9DA404BB-FE3C-122A-63D6-3988D30DE070}"/>
              </a:ext>
            </a:extLst>
          </p:cNvPr>
          <p:cNvSpPr/>
          <p:nvPr/>
        </p:nvSpPr>
        <p:spPr>
          <a:xfrm>
            <a:off x="4610829" y="4137064"/>
            <a:ext cx="1987296" cy="219456"/>
          </a:xfrm>
          <a:prstGeom prst="rect">
            <a:avLst/>
          </a:prstGeom>
          <a:noFill/>
          <a:ln/>
        </p:spPr>
        <p:txBody>
          <a:bodyPr wrap="square" lIns="0" tIns="0" rIns="0" bIns="0" rtlCol="0" anchor="ctr"/>
          <a:lstStyle/>
          <a:p>
            <a:pPr marL="0" indent="0">
              <a:buNone/>
            </a:pPr>
            <a:r>
              <a:rPr lang="en-US" sz="800" b="1">
                <a:solidFill>
                  <a:srgbClr val="1A1A1A"/>
                </a:solidFill>
                <a:latin typeface="Arial" pitchFamily="34" charset="0"/>
                <a:ea typeface="Arial" pitchFamily="34" charset="-122"/>
                <a:cs typeface="Arial" pitchFamily="34" charset="-120"/>
              </a:rPr>
              <a:t>Enterprise Systems &amp; Tools</a:t>
            </a:r>
            <a:endParaRPr lang="en-US" sz="800"/>
          </a:p>
        </p:txBody>
      </p:sp>
      <p:sp>
        <p:nvSpPr>
          <p:cNvPr id="67" name="Text 46">
            <a:extLst>
              <a:ext uri="{FF2B5EF4-FFF2-40B4-BE49-F238E27FC236}">
                <a16:creationId xmlns:a16="http://schemas.microsoft.com/office/drawing/2014/main" id="{9E5EB34C-000C-E40F-9EFD-870A56842F12}"/>
              </a:ext>
            </a:extLst>
          </p:cNvPr>
          <p:cNvSpPr/>
          <p:nvPr/>
        </p:nvSpPr>
        <p:spPr>
          <a:xfrm>
            <a:off x="4354797" y="4393096"/>
            <a:ext cx="2243328" cy="585216"/>
          </a:xfrm>
          <a:prstGeom prst="rect">
            <a:avLst/>
          </a:prstGeom>
          <a:noFill/>
          <a:ln/>
        </p:spPr>
        <p:txBody>
          <a:bodyPr wrap="square" lIns="0" tIns="0" rIns="0" bIns="0" rtlCol="0" anchor="t"/>
          <a:lstStyle/>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CRM (Salesforce)</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ITSM (ServiceNow)</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ERP (SAP)</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Custom Applications &amp; APIs</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Third-party Services</a:t>
            </a:r>
            <a:endParaRPr lang="en-US" sz="650"/>
          </a:p>
        </p:txBody>
      </p:sp>
      <p:pic>
        <p:nvPicPr>
          <p:cNvPr id="68" name="Image 21" descr="preencoded.png">
            <a:extLst>
              <a:ext uri="{FF2B5EF4-FFF2-40B4-BE49-F238E27FC236}">
                <a16:creationId xmlns:a16="http://schemas.microsoft.com/office/drawing/2014/main" id="{E8EB8A08-2E07-A5CA-77A7-EE279424AAA3}"/>
              </a:ext>
            </a:extLst>
          </p:cNvPr>
          <p:cNvPicPr>
            <a:picLocks noChangeAspect="1"/>
          </p:cNvPicPr>
          <p:nvPr/>
        </p:nvPicPr>
        <p:blipFill>
          <a:blip r:embed="rId23"/>
          <a:stretch>
            <a:fillRect/>
          </a:stretch>
        </p:blipFill>
        <p:spPr>
          <a:xfrm>
            <a:off x="6735285" y="4155352"/>
            <a:ext cx="201168" cy="201168"/>
          </a:xfrm>
          <a:prstGeom prst="rect">
            <a:avLst/>
          </a:prstGeom>
        </p:spPr>
      </p:pic>
      <p:sp>
        <p:nvSpPr>
          <p:cNvPr id="69" name="Text 47">
            <a:extLst>
              <a:ext uri="{FF2B5EF4-FFF2-40B4-BE49-F238E27FC236}">
                <a16:creationId xmlns:a16="http://schemas.microsoft.com/office/drawing/2014/main" id="{286BA3B2-3DDE-897A-0DB4-D9218F0EBFE4}"/>
              </a:ext>
            </a:extLst>
          </p:cNvPr>
          <p:cNvSpPr/>
          <p:nvPr/>
        </p:nvSpPr>
        <p:spPr>
          <a:xfrm>
            <a:off x="6991317" y="4137064"/>
            <a:ext cx="1987296" cy="219456"/>
          </a:xfrm>
          <a:prstGeom prst="rect">
            <a:avLst/>
          </a:prstGeom>
          <a:noFill/>
          <a:ln/>
        </p:spPr>
        <p:txBody>
          <a:bodyPr wrap="square" lIns="0" tIns="0" rIns="0" bIns="0" rtlCol="0" anchor="ctr"/>
          <a:lstStyle/>
          <a:p>
            <a:pPr marL="0" indent="0">
              <a:buNone/>
            </a:pPr>
            <a:r>
              <a:rPr lang="en-US" sz="800" b="1">
                <a:solidFill>
                  <a:srgbClr val="1A1A1A"/>
                </a:solidFill>
                <a:latin typeface="Arial" pitchFamily="34" charset="0"/>
                <a:ea typeface="Arial" pitchFamily="34" charset="-122"/>
                <a:cs typeface="Arial" pitchFamily="34" charset="-120"/>
              </a:rPr>
              <a:t>Business Processes &amp; Workflows</a:t>
            </a:r>
            <a:endParaRPr lang="en-US" sz="800"/>
          </a:p>
        </p:txBody>
      </p:sp>
      <p:sp>
        <p:nvSpPr>
          <p:cNvPr id="70" name="Text 48">
            <a:extLst>
              <a:ext uri="{FF2B5EF4-FFF2-40B4-BE49-F238E27FC236}">
                <a16:creationId xmlns:a16="http://schemas.microsoft.com/office/drawing/2014/main" id="{DA8D4B85-7E41-AFFD-4806-DA9210C57AA3}"/>
              </a:ext>
            </a:extLst>
          </p:cNvPr>
          <p:cNvSpPr/>
          <p:nvPr/>
        </p:nvSpPr>
        <p:spPr>
          <a:xfrm>
            <a:off x="6735285" y="4393096"/>
            <a:ext cx="2243328" cy="585216"/>
          </a:xfrm>
          <a:prstGeom prst="rect">
            <a:avLst/>
          </a:prstGeom>
          <a:noFill/>
          <a:ln/>
        </p:spPr>
        <p:txBody>
          <a:bodyPr wrap="square" lIns="0" tIns="0" rIns="0" bIns="0" rtlCol="0" anchor="t"/>
          <a:lstStyle/>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Case Management</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Service Management</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Sales &amp; Lead Management</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Finance &amp; Operations</a:t>
            </a:r>
            <a:endParaRPr lang="en-US" sz="650"/>
          </a:p>
          <a:p>
            <a:pPr marL="114300" indent="-114300" algn="l">
              <a:lnSpc>
                <a:spcPct val="92000"/>
              </a:lnSpc>
              <a:spcAft>
                <a:spcPts val="50"/>
              </a:spcAft>
              <a:buSzPct val="100000"/>
              <a:buChar char="▪"/>
            </a:pPr>
            <a:r>
              <a:rPr lang="en-US" sz="650">
                <a:solidFill>
                  <a:srgbClr val="6B6B6B"/>
                </a:solidFill>
                <a:latin typeface="Arial" pitchFamily="34" charset="0"/>
                <a:ea typeface="Arial" pitchFamily="34" charset="-122"/>
                <a:cs typeface="Arial" pitchFamily="34" charset="-120"/>
              </a:rPr>
              <a:t>HR &amp; Employee Services</a:t>
            </a:r>
            <a:endParaRPr lang="en-US" sz="650"/>
          </a:p>
        </p:txBody>
      </p:sp>
      <p:sp>
        <p:nvSpPr>
          <p:cNvPr id="71" name="Shape 49">
            <a:extLst>
              <a:ext uri="{FF2B5EF4-FFF2-40B4-BE49-F238E27FC236}">
                <a16:creationId xmlns:a16="http://schemas.microsoft.com/office/drawing/2014/main" id="{6FA78B78-048D-50A3-69A8-73B201A1A81E}"/>
              </a:ext>
            </a:extLst>
          </p:cNvPr>
          <p:cNvSpPr/>
          <p:nvPr/>
        </p:nvSpPr>
        <p:spPr>
          <a:xfrm>
            <a:off x="4525485" y="5033176"/>
            <a:ext cx="237744" cy="182880"/>
          </a:xfrm>
          <a:prstGeom prst="ellipse">
            <a:avLst/>
          </a:prstGeom>
          <a:solidFill>
            <a:srgbClr val="FFFFFF"/>
          </a:solidFill>
          <a:ln w="9525">
            <a:solidFill>
              <a:srgbClr val="E2E2E2"/>
            </a:solidFill>
            <a:prstDash val="solid"/>
          </a:ln>
        </p:spPr>
        <p:txBody>
          <a:bodyPr/>
          <a:lstStyle/>
          <a:p>
            <a:endParaRPr lang="en-IN"/>
          </a:p>
        </p:txBody>
      </p:sp>
      <p:sp>
        <p:nvSpPr>
          <p:cNvPr id="72" name="Text 50">
            <a:extLst>
              <a:ext uri="{FF2B5EF4-FFF2-40B4-BE49-F238E27FC236}">
                <a16:creationId xmlns:a16="http://schemas.microsoft.com/office/drawing/2014/main" id="{995DD31F-D1A6-B87C-020B-C443B634DBAF}"/>
              </a:ext>
            </a:extLst>
          </p:cNvPr>
          <p:cNvSpPr/>
          <p:nvPr/>
        </p:nvSpPr>
        <p:spPr>
          <a:xfrm>
            <a:off x="4525485" y="5028604"/>
            <a:ext cx="237744" cy="192024"/>
          </a:xfrm>
          <a:prstGeom prst="rect">
            <a:avLst/>
          </a:prstGeom>
          <a:noFill/>
          <a:ln/>
        </p:spPr>
        <p:txBody>
          <a:bodyPr wrap="square" lIns="0" tIns="0" rIns="0" bIns="0" rtlCol="0" anchor="ctr"/>
          <a:lstStyle/>
          <a:p>
            <a:pPr marL="0" indent="0" algn="ctr">
              <a:buNone/>
            </a:pPr>
            <a:r>
              <a:rPr lang="en-US" sz="700">
                <a:solidFill>
                  <a:srgbClr val="86BC25"/>
                </a:solidFill>
              </a:rPr>
              <a:t>▼</a:t>
            </a:r>
            <a:endParaRPr lang="en-US" sz="700"/>
          </a:p>
        </p:txBody>
      </p:sp>
      <p:sp>
        <p:nvSpPr>
          <p:cNvPr id="73" name="Shape 51">
            <a:extLst>
              <a:ext uri="{FF2B5EF4-FFF2-40B4-BE49-F238E27FC236}">
                <a16:creationId xmlns:a16="http://schemas.microsoft.com/office/drawing/2014/main" id="{F54F6D36-BF66-0060-942C-85E363A195E6}"/>
              </a:ext>
            </a:extLst>
          </p:cNvPr>
          <p:cNvSpPr/>
          <p:nvPr/>
        </p:nvSpPr>
        <p:spPr>
          <a:xfrm>
            <a:off x="310101" y="5197768"/>
            <a:ext cx="8668512" cy="603504"/>
          </a:xfrm>
          <a:prstGeom prst="roundRect">
            <a:avLst>
              <a:gd name="adj" fmla="val 6061"/>
            </a:avLst>
          </a:prstGeom>
          <a:solidFill>
            <a:srgbClr val="FFFFFF"/>
          </a:solidFill>
          <a:ln w="9525">
            <a:solidFill>
              <a:srgbClr val="E2E2E2"/>
            </a:solidFill>
            <a:prstDash val="solid"/>
          </a:ln>
          <a:effectLst>
            <a:outerShdw blurRad="50800" dist="12700" dir="5400000" algn="bl" rotWithShape="0">
              <a:srgbClr val="000000">
                <a:alpha val="8000"/>
              </a:srgbClr>
            </a:outerShdw>
          </a:effectLst>
        </p:spPr>
        <p:txBody>
          <a:bodyPr/>
          <a:lstStyle/>
          <a:p>
            <a:endParaRPr lang="en-IN"/>
          </a:p>
        </p:txBody>
      </p:sp>
      <p:pic>
        <p:nvPicPr>
          <p:cNvPr id="74" name="Image 22" descr="preencoded.png">
            <a:extLst>
              <a:ext uri="{FF2B5EF4-FFF2-40B4-BE49-F238E27FC236}">
                <a16:creationId xmlns:a16="http://schemas.microsoft.com/office/drawing/2014/main" id="{11E20B0C-746E-6BEE-7D60-4618A6E49B4D}"/>
              </a:ext>
            </a:extLst>
          </p:cNvPr>
          <p:cNvPicPr>
            <a:picLocks noChangeAspect="1"/>
          </p:cNvPicPr>
          <p:nvPr/>
        </p:nvPicPr>
        <p:blipFill>
          <a:blip r:embed="rId24"/>
          <a:stretch>
            <a:fillRect/>
          </a:stretch>
        </p:blipFill>
        <p:spPr>
          <a:xfrm>
            <a:off x="466741" y="5376672"/>
            <a:ext cx="201168" cy="201168"/>
          </a:xfrm>
          <a:prstGeom prst="rect">
            <a:avLst/>
          </a:prstGeom>
        </p:spPr>
      </p:pic>
      <p:sp>
        <p:nvSpPr>
          <p:cNvPr id="75" name="Text 52">
            <a:extLst>
              <a:ext uri="{FF2B5EF4-FFF2-40B4-BE49-F238E27FC236}">
                <a16:creationId xmlns:a16="http://schemas.microsoft.com/office/drawing/2014/main" id="{DBD9131F-E6FC-A1DF-E50D-96C25C630EE3}"/>
              </a:ext>
            </a:extLst>
          </p:cNvPr>
          <p:cNvSpPr/>
          <p:nvPr/>
        </p:nvSpPr>
        <p:spPr>
          <a:xfrm>
            <a:off x="861922" y="5370311"/>
            <a:ext cx="1298448" cy="305121"/>
          </a:xfrm>
          <a:prstGeom prst="rect">
            <a:avLst/>
          </a:prstGeom>
          <a:noFill/>
          <a:ln/>
        </p:spPr>
        <p:txBody>
          <a:bodyPr wrap="square" lIns="0" tIns="0" rIns="0" bIns="0" rtlCol="0" anchor="t"/>
          <a:lstStyle/>
          <a:p>
            <a:pPr marL="0" indent="0" algn="l">
              <a:lnSpc>
                <a:spcPct val="104000"/>
              </a:lnSpc>
              <a:buNone/>
            </a:pPr>
            <a:r>
              <a:rPr lang="en-US" sz="800" b="1">
                <a:solidFill>
                  <a:srgbClr val="1A1A1A"/>
                </a:solidFill>
                <a:latin typeface="Arial" pitchFamily="34" charset="0"/>
                <a:ea typeface="Arial" pitchFamily="34" charset="-122"/>
                <a:cs typeface="Arial" pitchFamily="34" charset="-120"/>
              </a:rPr>
              <a:t>AWS AI</a:t>
            </a:r>
            <a:endParaRPr lang="en-US" sz="800"/>
          </a:p>
          <a:p>
            <a:pPr marL="0" indent="0" algn="l">
              <a:lnSpc>
                <a:spcPct val="104000"/>
              </a:lnSpc>
              <a:buNone/>
            </a:pPr>
            <a:r>
              <a:rPr lang="en-US" sz="800" b="1">
                <a:solidFill>
                  <a:srgbClr val="1A1A1A"/>
                </a:solidFill>
                <a:latin typeface="Arial" pitchFamily="34" charset="0"/>
                <a:ea typeface="Arial" pitchFamily="34" charset="-122"/>
                <a:cs typeface="Arial" pitchFamily="34" charset="-120"/>
              </a:rPr>
              <a:t>FOUNDATION</a:t>
            </a:r>
            <a:endParaRPr lang="en-US" sz="800"/>
          </a:p>
        </p:txBody>
      </p:sp>
      <p:sp>
        <p:nvSpPr>
          <p:cNvPr id="76" name="Shape 53">
            <a:extLst>
              <a:ext uri="{FF2B5EF4-FFF2-40B4-BE49-F238E27FC236}">
                <a16:creationId xmlns:a16="http://schemas.microsoft.com/office/drawing/2014/main" id="{55C9CC42-DA24-DA6D-391A-60B648DA2332}"/>
              </a:ext>
            </a:extLst>
          </p:cNvPr>
          <p:cNvSpPr/>
          <p:nvPr/>
        </p:nvSpPr>
        <p:spPr>
          <a:xfrm>
            <a:off x="1864581" y="5289208"/>
            <a:ext cx="0" cy="420624"/>
          </a:xfrm>
          <a:prstGeom prst="line">
            <a:avLst/>
          </a:prstGeom>
          <a:noFill/>
          <a:ln w="9525">
            <a:solidFill>
              <a:srgbClr val="E2E2E2"/>
            </a:solidFill>
            <a:prstDash val="solid"/>
          </a:ln>
        </p:spPr>
        <p:txBody>
          <a:bodyPr/>
          <a:lstStyle/>
          <a:p>
            <a:endParaRPr lang="en-IN"/>
          </a:p>
        </p:txBody>
      </p:sp>
      <p:pic>
        <p:nvPicPr>
          <p:cNvPr id="77" name="Image 23" descr="preencoded.png">
            <a:extLst>
              <a:ext uri="{FF2B5EF4-FFF2-40B4-BE49-F238E27FC236}">
                <a16:creationId xmlns:a16="http://schemas.microsoft.com/office/drawing/2014/main" id="{8C8644AD-BEEA-3AA8-F4FA-93C9859F0F20}"/>
              </a:ext>
            </a:extLst>
          </p:cNvPr>
          <p:cNvPicPr>
            <a:picLocks noChangeAspect="1"/>
          </p:cNvPicPr>
          <p:nvPr/>
        </p:nvPicPr>
        <p:blipFill>
          <a:blip r:embed="rId25"/>
          <a:stretch>
            <a:fillRect/>
          </a:stretch>
        </p:blipFill>
        <p:spPr>
          <a:xfrm>
            <a:off x="1992597" y="5408080"/>
            <a:ext cx="182880" cy="182880"/>
          </a:xfrm>
          <a:prstGeom prst="rect">
            <a:avLst/>
          </a:prstGeom>
        </p:spPr>
      </p:pic>
      <p:sp>
        <p:nvSpPr>
          <p:cNvPr id="78" name="Text 54">
            <a:extLst>
              <a:ext uri="{FF2B5EF4-FFF2-40B4-BE49-F238E27FC236}">
                <a16:creationId xmlns:a16="http://schemas.microsoft.com/office/drawing/2014/main" id="{92948E49-5C1F-8D52-5DAD-C1EBA6591AC0}"/>
              </a:ext>
            </a:extLst>
          </p:cNvPr>
          <p:cNvSpPr/>
          <p:nvPr/>
        </p:nvSpPr>
        <p:spPr>
          <a:xfrm>
            <a:off x="2230341" y="5270920"/>
            <a:ext cx="874776" cy="457200"/>
          </a:xfrm>
          <a:prstGeom prst="rect">
            <a:avLst/>
          </a:prstGeom>
          <a:noFill/>
          <a:ln/>
        </p:spPr>
        <p:txBody>
          <a:bodyPr wrap="square" lIns="0" tIns="0" rIns="0" bIns="0" rtlCol="0" anchor="ctr"/>
          <a:lstStyle/>
          <a:p>
            <a:pPr marL="0" indent="0" algn="l">
              <a:lnSpc>
                <a:spcPct val="95000"/>
              </a:lnSpc>
              <a:buNone/>
            </a:pPr>
            <a:r>
              <a:rPr lang="en-US" sz="730">
                <a:solidFill>
                  <a:srgbClr val="1A1A1A"/>
                </a:solidFill>
                <a:latin typeface="Arial" pitchFamily="34" charset="0"/>
                <a:ea typeface="Arial" pitchFamily="34" charset="-122"/>
                <a:cs typeface="Arial" pitchFamily="34" charset="-120"/>
              </a:rPr>
              <a:t>AWS</a:t>
            </a:r>
            <a:endParaRPr lang="en-US" sz="730"/>
          </a:p>
        </p:txBody>
      </p:sp>
      <p:pic>
        <p:nvPicPr>
          <p:cNvPr id="79" name="Image 24" descr="preencoded.png">
            <a:extLst>
              <a:ext uri="{FF2B5EF4-FFF2-40B4-BE49-F238E27FC236}">
                <a16:creationId xmlns:a16="http://schemas.microsoft.com/office/drawing/2014/main" id="{F5DF0919-C9C3-4CD2-11E3-F7F1228143A4}"/>
              </a:ext>
            </a:extLst>
          </p:cNvPr>
          <p:cNvPicPr>
            <a:picLocks noChangeAspect="1"/>
          </p:cNvPicPr>
          <p:nvPr/>
        </p:nvPicPr>
        <p:blipFill>
          <a:blip r:embed="rId26"/>
          <a:stretch>
            <a:fillRect/>
          </a:stretch>
        </p:blipFill>
        <p:spPr>
          <a:xfrm>
            <a:off x="3159981" y="5408080"/>
            <a:ext cx="182880" cy="182880"/>
          </a:xfrm>
          <a:prstGeom prst="rect">
            <a:avLst/>
          </a:prstGeom>
        </p:spPr>
      </p:pic>
      <p:sp>
        <p:nvSpPr>
          <p:cNvPr id="80" name="Text 55">
            <a:extLst>
              <a:ext uri="{FF2B5EF4-FFF2-40B4-BE49-F238E27FC236}">
                <a16:creationId xmlns:a16="http://schemas.microsoft.com/office/drawing/2014/main" id="{6ADD0F45-41AE-9ACD-FE30-FF9468359D17}"/>
              </a:ext>
            </a:extLst>
          </p:cNvPr>
          <p:cNvSpPr/>
          <p:nvPr/>
        </p:nvSpPr>
        <p:spPr>
          <a:xfrm>
            <a:off x="3397725" y="5270920"/>
            <a:ext cx="874776" cy="457200"/>
          </a:xfrm>
          <a:prstGeom prst="rect">
            <a:avLst/>
          </a:prstGeom>
          <a:noFill/>
          <a:ln/>
        </p:spPr>
        <p:txBody>
          <a:bodyPr wrap="square" lIns="0" tIns="0" rIns="0" bIns="0" rtlCol="0" anchor="ctr"/>
          <a:lstStyle/>
          <a:p>
            <a:pPr marL="0" indent="0" algn="l">
              <a:lnSpc>
                <a:spcPct val="95000"/>
              </a:lnSpc>
              <a:buNone/>
            </a:pPr>
            <a:r>
              <a:rPr lang="en-US" sz="730">
                <a:solidFill>
                  <a:srgbClr val="1A1A1A"/>
                </a:solidFill>
                <a:latin typeface="Arial" pitchFamily="34" charset="0"/>
                <a:ea typeface="Arial" pitchFamily="34" charset="-122"/>
                <a:cs typeface="Arial" pitchFamily="34" charset="-120"/>
              </a:rPr>
              <a:t>Amazon Bedrock</a:t>
            </a:r>
            <a:endParaRPr lang="en-US" sz="730"/>
          </a:p>
          <a:p>
            <a:pPr marL="0" indent="0" algn="l">
              <a:lnSpc>
                <a:spcPct val="95000"/>
              </a:lnSpc>
              <a:buNone/>
            </a:pPr>
            <a:r>
              <a:rPr lang="en-US" sz="730">
                <a:solidFill>
                  <a:srgbClr val="1A1A1A"/>
                </a:solidFill>
                <a:latin typeface="Arial" pitchFamily="34" charset="0"/>
                <a:ea typeface="Arial" pitchFamily="34" charset="-122"/>
                <a:cs typeface="Arial" pitchFamily="34" charset="-120"/>
              </a:rPr>
              <a:t>Foundation Models</a:t>
            </a:r>
            <a:endParaRPr lang="en-US" sz="730"/>
          </a:p>
        </p:txBody>
      </p:sp>
      <p:pic>
        <p:nvPicPr>
          <p:cNvPr id="81" name="Image 25" descr="preencoded.png">
            <a:extLst>
              <a:ext uri="{FF2B5EF4-FFF2-40B4-BE49-F238E27FC236}">
                <a16:creationId xmlns:a16="http://schemas.microsoft.com/office/drawing/2014/main" id="{FA9BB1E5-7250-2919-ECAC-904CDDB970B3}"/>
              </a:ext>
            </a:extLst>
          </p:cNvPr>
          <p:cNvPicPr>
            <a:picLocks noChangeAspect="1"/>
          </p:cNvPicPr>
          <p:nvPr/>
        </p:nvPicPr>
        <p:blipFill>
          <a:blip r:embed="rId18"/>
          <a:stretch>
            <a:fillRect/>
          </a:stretch>
        </p:blipFill>
        <p:spPr>
          <a:xfrm>
            <a:off x="4327365" y="5408080"/>
            <a:ext cx="182880" cy="182880"/>
          </a:xfrm>
          <a:prstGeom prst="rect">
            <a:avLst/>
          </a:prstGeom>
        </p:spPr>
      </p:pic>
      <p:sp>
        <p:nvSpPr>
          <p:cNvPr id="82" name="Text 56">
            <a:extLst>
              <a:ext uri="{FF2B5EF4-FFF2-40B4-BE49-F238E27FC236}">
                <a16:creationId xmlns:a16="http://schemas.microsoft.com/office/drawing/2014/main" id="{2940FF26-BFB4-03C6-3561-57536CDDB354}"/>
              </a:ext>
            </a:extLst>
          </p:cNvPr>
          <p:cNvSpPr/>
          <p:nvPr/>
        </p:nvSpPr>
        <p:spPr>
          <a:xfrm>
            <a:off x="4565109" y="5270920"/>
            <a:ext cx="874776" cy="457200"/>
          </a:xfrm>
          <a:prstGeom prst="rect">
            <a:avLst/>
          </a:prstGeom>
          <a:noFill/>
          <a:ln/>
        </p:spPr>
        <p:txBody>
          <a:bodyPr wrap="square" lIns="0" tIns="0" rIns="0" bIns="0" rtlCol="0" anchor="ctr"/>
          <a:lstStyle/>
          <a:p>
            <a:pPr marL="0" indent="0" algn="l">
              <a:lnSpc>
                <a:spcPct val="95000"/>
              </a:lnSpc>
              <a:buNone/>
            </a:pPr>
            <a:r>
              <a:rPr lang="en-US" sz="730">
                <a:solidFill>
                  <a:srgbClr val="1A1A1A"/>
                </a:solidFill>
                <a:latin typeface="Arial" pitchFamily="34" charset="0"/>
                <a:ea typeface="Arial" pitchFamily="34" charset="-122"/>
                <a:cs typeface="Arial" pitchFamily="34" charset="-120"/>
              </a:rPr>
              <a:t>Knowledge Bases</a:t>
            </a:r>
            <a:endParaRPr lang="en-US" sz="730"/>
          </a:p>
          <a:p>
            <a:pPr marL="0" indent="0" algn="l">
              <a:lnSpc>
                <a:spcPct val="95000"/>
              </a:lnSpc>
              <a:buNone/>
            </a:pPr>
            <a:r>
              <a:rPr lang="en-US" sz="730">
                <a:solidFill>
                  <a:srgbClr val="1A1A1A"/>
                </a:solidFill>
                <a:latin typeface="Arial" pitchFamily="34" charset="0"/>
                <a:ea typeface="Arial" pitchFamily="34" charset="-122"/>
                <a:cs typeface="Arial" pitchFamily="34" charset="-120"/>
              </a:rPr>
              <a:t>for Amazon Bedrock</a:t>
            </a:r>
            <a:endParaRPr lang="en-US" sz="730"/>
          </a:p>
        </p:txBody>
      </p:sp>
      <p:pic>
        <p:nvPicPr>
          <p:cNvPr id="83" name="Image 26" descr="preencoded.png">
            <a:extLst>
              <a:ext uri="{FF2B5EF4-FFF2-40B4-BE49-F238E27FC236}">
                <a16:creationId xmlns:a16="http://schemas.microsoft.com/office/drawing/2014/main" id="{CFAC7EA9-B209-AF57-F885-B832F29B3B12}"/>
              </a:ext>
            </a:extLst>
          </p:cNvPr>
          <p:cNvPicPr>
            <a:picLocks noChangeAspect="1"/>
          </p:cNvPicPr>
          <p:nvPr/>
        </p:nvPicPr>
        <p:blipFill>
          <a:blip r:embed="rId27"/>
          <a:stretch>
            <a:fillRect/>
          </a:stretch>
        </p:blipFill>
        <p:spPr>
          <a:xfrm>
            <a:off x="5494749" y="5408080"/>
            <a:ext cx="182880" cy="182880"/>
          </a:xfrm>
          <a:prstGeom prst="rect">
            <a:avLst/>
          </a:prstGeom>
        </p:spPr>
      </p:pic>
      <p:sp>
        <p:nvSpPr>
          <p:cNvPr id="84" name="Text 57">
            <a:extLst>
              <a:ext uri="{FF2B5EF4-FFF2-40B4-BE49-F238E27FC236}">
                <a16:creationId xmlns:a16="http://schemas.microsoft.com/office/drawing/2014/main" id="{6475BEF9-0456-31C2-0179-C18B2BF1572C}"/>
              </a:ext>
            </a:extLst>
          </p:cNvPr>
          <p:cNvSpPr/>
          <p:nvPr/>
        </p:nvSpPr>
        <p:spPr>
          <a:xfrm>
            <a:off x="5732493" y="5270920"/>
            <a:ext cx="874776" cy="457200"/>
          </a:xfrm>
          <a:prstGeom prst="rect">
            <a:avLst/>
          </a:prstGeom>
          <a:noFill/>
          <a:ln/>
        </p:spPr>
        <p:txBody>
          <a:bodyPr wrap="square" lIns="0" tIns="0" rIns="0" bIns="0" rtlCol="0" anchor="ctr"/>
          <a:lstStyle/>
          <a:p>
            <a:pPr marL="0" indent="0" algn="l">
              <a:lnSpc>
                <a:spcPct val="95000"/>
              </a:lnSpc>
              <a:buNone/>
            </a:pPr>
            <a:r>
              <a:rPr lang="en-US" sz="730">
                <a:solidFill>
                  <a:srgbClr val="1A1A1A"/>
                </a:solidFill>
                <a:latin typeface="Arial" pitchFamily="34" charset="0"/>
                <a:ea typeface="Arial" pitchFamily="34" charset="-122"/>
                <a:cs typeface="Arial" pitchFamily="34" charset="-120"/>
              </a:rPr>
              <a:t>Embeddings</a:t>
            </a:r>
            <a:endParaRPr lang="en-US" sz="730"/>
          </a:p>
          <a:p>
            <a:pPr marL="0" indent="0" algn="l">
              <a:lnSpc>
                <a:spcPct val="95000"/>
              </a:lnSpc>
              <a:buNone/>
            </a:pPr>
            <a:r>
              <a:rPr lang="en-US" sz="730">
                <a:solidFill>
                  <a:srgbClr val="1A1A1A"/>
                </a:solidFill>
                <a:latin typeface="Arial" pitchFamily="34" charset="0"/>
                <a:ea typeface="Arial" pitchFamily="34" charset="-122"/>
                <a:cs typeface="Arial" pitchFamily="34" charset="-120"/>
              </a:rPr>
              <a:t>&amp; Vector Models</a:t>
            </a:r>
            <a:endParaRPr lang="en-US" sz="730"/>
          </a:p>
        </p:txBody>
      </p:sp>
      <p:pic>
        <p:nvPicPr>
          <p:cNvPr id="85" name="Image 27" descr="preencoded.png">
            <a:extLst>
              <a:ext uri="{FF2B5EF4-FFF2-40B4-BE49-F238E27FC236}">
                <a16:creationId xmlns:a16="http://schemas.microsoft.com/office/drawing/2014/main" id="{5A438EF4-7D5D-0F8A-44A2-3AC097BBF6B7}"/>
              </a:ext>
            </a:extLst>
          </p:cNvPr>
          <p:cNvPicPr>
            <a:picLocks noChangeAspect="1"/>
          </p:cNvPicPr>
          <p:nvPr/>
        </p:nvPicPr>
        <p:blipFill>
          <a:blip r:embed="rId22"/>
          <a:stretch>
            <a:fillRect/>
          </a:stretch>
        </p:blipFill>
        <p:spPr>
          <a:xfrm>
            <a:off x="6662133" y="5408080"/>
            <a:ext cx="182880" cy="182880"/>
          </a:xfrm>
          <a:prstGeom prst="rect">
            <a:avLst/>
          </a:prstGeom>
        </p:spPr>
      </p:pic>
      <p:sp>
        <p:nvSpPr>
          <p:cNvPr id="86" name="Text 58">
            <a:extLst>
              <a:ext uri="{FF2B5EF4-FFF2-40B4-BE49-F238E27FC236}">
                <a16:creationId xmlns:a16="http://schemas.microsoft.com/office/drawing/2014/main" id="{B21F4BE0-CA3B-9D5E-462E-72A7A27A6B48}"/>
              </a:ext>
            </a:extLst>
          </p:cNvPr>
          <p:cNvSpPr/>
          <p:nvPr/>
        </p:nvSpPr>
        <p:spPr>
          <a:xfrm>
            <a:off x="6899877" y="5270920"/>
            <a:ext cx="874776" cy="457200"/>
          </a:xfrm>
          <a:prstGeom prst="rect">
            <a:avLst/>
          </a:prstGeom>
          <a:noFill/>
          <a:ln/>
        </p:spPr>
        <p:txBody>
          <a:bodyPr wrap="square" lIns="0" tIns="0" rIns="0" bIns="0" rtlCol="0" anchor="ctr"/>
          <a:lstStyle/>
          <a:p>
            <a:pPr marL="0" indent="0" algn="l">
              <a:lnSpc>
                <a:spcPct val="95000"/>
              </a:lnSpc>
              <a:buNone/>
            </a:pPr>
            <a:r>
              <a:rPr lang="en-US" sz="730">
                <a:solidFill>
                  <a:srgbClr val="1A1A1A"/>
                </a:solidFill>
                <a:latin typeface="Arial" pitchFamily="34" charset="0"/>
                <a:ea typeface="Arial" pitchFamily="34" charset="-122"/>
                <a:cs typeface="Arial" pitchFamily="34" charset="-120"/>
              </a:rPr>
              <a:t>Agent Runtime</a:t>
            </a:r>
            <a:endParaRPr lang="en-US" sz="730"/>
          </a:p>
          <a:p>
            <a:pPr marL="0" indent="0" algn="l">
              <a:lnSpc>
                <a:spcPct val="95000"/>
              </a:lnSpc>
              <a:buNone/>
            </a:pPr>
            <a:r>
              <a:rPr lang="en-US" sz="730">
                <a:solidFill>
                  <a:srgbClr val="1A1A1A"/>
                </a:solidFill>
                <a:latin typeface="Arial" pitchFamily="34" charset="0"/>
                <a:ea typeface="Arial" pitchFamily="34" charset="-122"/>
                <a:cs typeface="Arial" pitchFamily="34" charset="-120"/>
              </a:rPr>
              <a:t>&amp; Services</a:t>
            </a:r>
            <a:endParaRPr lang="en-US" sz="730"/>
          </a:p>
        </p:txBody>
      </p:sp>
      <p:pic>
        <p:nvPicPr>
          <p:cNvPr id="87" name="Image 28" descr="preencoded.png">
            <a:extLst>
              <a:ext uri="{FF2B5EF4-FFF2-40B4-BE49-F238E27FC236}">
                <a16:creationId xmlns:a16="http://schemas.microsoft.com/office/drawing/2014/main" id="{7AAF92C3-254D-367C-9029-1D6A02367B8B}"/>
              </a:ext>
            </a:extLst>
          </p:cNvPr>
          <p:cNvPicPr>
            <a:picLocks noChangeAspect="1"/>
          </p:cNvPicPr>
          <p:nvPr/>
        </p:nvPicPr>
        <p:blipFill>
          <a:blip r:embed="rId28"/>
          <a:stretch>
            <a:fillRect/>
          </a:stretch>
        </p:blipFill>
        <p:spPr>
          <a:xfrm>
            <a:off x="7829517" y="5408080"/>
            <a:ext cx="182880" cy="182880"/>
          </a:xfrm>
          <a:prstGeom prst="rect">
            <a:avLst/>
          </a:prstGeom>
        </p:spPr>
      </p:pic>
      <p:sp>
        <p:nvSpPr>
          <p:cNvPr id="88" name="Text 59">
            <a:extLst>
              <a:ext uri="{FF2B5EF4-FFF2-40B4-BE49-F238E27FC236}">
                <a16:creationId xmlns:a16="http://schemas.microsoft.com/office/drawing/2014/main" id="{D173477C-83C3-12B5-987B-6E548F2469E8}"/>
              </a:ext>
            </a:extLst>
          </p:cNvPr>
          <p:cNvSpPr/>
          <p:nvPr/>
        </p:nvSpPr>
        <p:spPr>
          <a:xfrm>
            <a:off x="8067261" y="5270920"/>
            <a:ext cx="874776" cy="457200"/>
          </a:xfrm>
          <a:prstGeom prst="rect">
            <a:avLst/>
          </a:prstGeom>
          <a:noFill/>
          <a:ln/>
        </p:spPr>
        <p:txBody>
          <a:bodyPr wrap="square" lIns="0" tIns="0" rIns="0" bIns="0" rtlCol="0" anchor="ctr"/>
          <a:lstStyle/>
          <a:p>
            <a:pPr marL="0" indent="0" algn="l">
              <a:lnSpc>
                <a:spcPct val="95000"/>
              </a:lnSpc>
              <a:buNone/>
            </a:pPr>
            <a:r>
              <a:rPr lang="en-US" sz="730">
                <a:solidFill>
                  <a:srgbClr val="1A1A1A"/>
                </a:solidFill>
                <a:latin typeface="Arial" pitchFamily="34" charset="0"/>
                <a:ea typeface="Arial" pitchFamily="34" charset="-122"/>
                <a:cs typeface="Arial" pitchFamily="34" charset="-120"/>
              </a:rPr>
              <a:t>Guardrails</a:t>
            </a:r>
            <a:endParaRPr lang="en-US" sz="730"/>
          </a:p>
          <a:p>
            <a:pPr marL="0" indent="0" algn="l">
              <a:lnSpc>
                <a:spcPct val="95000"/>
              </a:lnSpc>
              <a:buNone/>
            </a:pPr>
            <a:r>
              <a:rPr lang="en-US" sz="730">
                <a:solidFill>
                  <a:srgbClr val="1A1A1A"/>
                </a:solidFill>
                <a:latin typeface="Arial" pitchFamily="34" charset="0"/>
                <a:ea typeface="Arial" pitchFamily="34" charset="-122"/>
                <a:cs typeface="Arial" pitchFamily="34" charset="-120"/>
              </a:rPr>
              <a:t>&amp; Safety</a:t>
            </a:r>
            <a:endParaRPr lang="en-US" sz="730"/>
          </a:p>
        </p:txBody>
      </p:sp>
      <p:sp>
        <p:nvSpPr>
          <p:cNvPr id="89" name="Shape 60">
            <a:extLst>
              <a:ext uri="{FF2B5EF4-FFF2-40B4-BE49-F238E27FC236}">
                <a16:creationId xmlns:a16="http://schemas.microsoft.com/office/drawing/2014/main" id="{C5F3CF36-59A7-ED84-C929-394F6E2EBABA}"/>
              </a:ext>
            </a:extLst>
          </p:cNvPr>
          <p:cNvSpPr/>
          <p:nvPr/>
        </p:nvSpPr>
        <p:spPr>
          <a:xfrm>
            <a:off x="4525485" y="5782984"/>
            <a:ext cx="237744" cy="182880"/>
          </a:xfrm>
          <a:prstGeom prst="ellipse">
            <a:avLst/>
          </a:prstGeom>
          <a:solidFill>
            <a:srgbClr val="FFFFFF"/>
          </a:solidFill>
          <a:ln w="9525">
            <a:solidFill>
              <a:srgbClr val="E2E2E2"/>
            </a:solidFill>
            <a:prstDash val="solid"/>
          </a:ln>
        </p:spPr>
        <p:txBody>
          <a:bodyPr/>
          <a:lstStyle/>
          <a:p>
            <a:endParaRPr lang="en-IN"/>
          </a:p>
        </p:txBody>
      </p:sp>
      <p:sp>
        <p:nvSpPr>
          <p:cNvPr id="90" name="Text 61">
            <a:extLst>
              <a:ext uri="{FF2B5EF4-FFF2-40B4-BE49-F238E27FC236}">
                <a16:creationId xmlns:a16="http://schemas.microsoft.com/office/drawing/2014/main" id="{CA5D7BF9-C1ED-CD2D-918D-78CDBF0CE4A6}"/>
              </a:ext>
            </a:extLst>
          </p:cNvPr>
          <p:cNvSpPr/>
          <p:nvPr/>
        </p:nvSpPr>
        <p:spPr>
          <a:xfrm>
            <a:off x="4525485" y="5778412"/>
            <a:ext cx="237744" cy="192024"/>
          </a:xfrm>
          <a:prstGeom prst="rect">
            <a:avLst/>
          </a:prstGeom>
          <a:noFill/>
          <a:ln/>
        </p:spPr>
        <p:txBody>
          <a:bodyPr wrap="square" lIns="0" tIns="0" rIns="0" bIns="0" rtlCol="0" anchor="ctr"/>
          <a:lstStyle/>
          <a:p>
            <a:pPr marL="0" indent="0" algn="ctr">
              <a:buNone/>
            </a:pPr>
            <a:r>
              <a:rPr lang="en-US" sz="700">
                <a:solidFill>
                  <a:srgbClr val="86BC25"/>
                </a:solidFill>
              </a:rPr>
              <a:t>▼</a:t>
            </a:r>
            <a:endParaRPr lang="en-US" sz="700"/>
          </a:p>
        </p:txBody>
      </p:sp>
      <p:sp>
        <p:nvSpPr>
          <p:cNvPr id="91" name="Shape 62">
            <a:extLst>
              <a:ext uri="{FF2B5EF4-FFF2-40B4-BE49-F238E27FC236}">
                <a16:creationId xmlns:a16="http://schemas.microsoft.com/office/drawing/2014/main" id="{2F2338F2-E31E-C9EE-4389-0D7CF942A2E6}"/>
              </a:ext>
            </a:extLst>
          </p:cNvPr>
          <p:cNvSpPr/>
          <p:nvPr/>
        </p:nvSpPr>
        <p:spPr>
          <a:xfrm>
            <a:off x="310101" y="5947576"/>
            <a:ext cx="8668512" cy="713232"/>
          </a:xfrm>
          <a:prstGeom prst="roundRect">
            <a:avLst>
              <a:gd name="adj" fmla="val 5128"/>
            </a:avLst>
          </a:prstGeom>
          <a:solidFill>
            <a:srgbClr val="FFFFFF"/>
          </a:solidFill>
          <a:ln w="9525">
            <a:solidFill>
              <a:srgbClr val="E2E2E2"/>
            </a:solidFill>
            <a:prstDash val="solid"/>
          </a:ln>
          <a:effectLst>
            <a:outerShdw blurRad="50800" dist="12700" dir="5400000" algn="bl" rotWithShape="0">
              <a:srgbClr val="000000">
                <a:alpha val="8000"/>
              </a:srgbClr>
            </a:outerShdw>
          </a:effectLst>
        </p:spPr>
        <p:txBody>
          <a:bodyPr/>
          <a:lstStyle/>
          <a:p>
            <a:endParaRPr lang="en-IN"/>
          </a:p>
        </p:txBody>
      </p:sp>
      <p:pic>
        <p:nvPicPr>
          <p:cNvPr id="92" name="Image 29" descr="preencoded.png">
            <a:extLst>
              <a:ext uri="{FF2B5EF4-FFF2-40B4-BE49-F238E27FC236}">
                <a16:creationId xmlns:a16="http://schemas.microsoft.com/office/drawing/2014/main" id="{D115CE30-539D-6C9C-9C80-C2E08A956607}"/>
              </a:ext>
            </a:extLst>
          </p:cNvPr>
          <p:cNvPicPr>
            <a:picLocks noChangeAspect="1"/>
          </p:cNvPicPr>
          <p:nvPr/>
        </p:nvPicPr>
        <p:blipFill>
          <a:blip r:embed="rId29"/>
          <a:stretch>
            <a:fillRect/>
          </a:stretch>
        </p:blipFill>
        <p:spPr>
          <a:xfrm>
            <a:off x="458791" y="6150334"/>
            <a:ext cx="201168" cy="201168"/>
          </a:xfrm>
          <a:prstGeom prst="rect">
            <a:avLst/>
          </a:prstGeom>
        </p:spPr>
      </p:pic>
      <p:sp>
        <p:nvSpPr>
          <p:cNvPr id="93" name="Text 63">
            <a:extLst>
              <a:ext uri="{FF2B5EF4-FFF2-40B4-BE49-F238E27FC236}">
                <a16:creationId xmlns:a16="http://schemas.microsoft.com/office/drawing/2014/main" id="{68CEDAE2-B047-594C-55D8-01909F9C3274}"/>
              </a:ext>
            </a:extLst>
          </p:cNvPr>
          <p:cNvSpPr/>
          <p:nvPr/>
        </p:nvSpPr>
        <p:spPr>
          <a:xfrm>
            <a:off x="838067" y="6128071"/>
            <a:ext cx="887366" cy="421490"/>
          </a:xfrm>
          <a:prstGeom prst="rect">
            <a:avLst/>
          </a:prstGeom>
          <a:noFill/>
          <a:ln/>
        </p:spPr>
        <p:txBody>
          <a:bodyPr wrap="square" lIns="0" tIns="0" rIns="0" bIns="0" rtlCol="0" anchor="t"/>
          <a:lstStyle/>
          <a:p>
            <a:pPr marL="0" indent="0" algn="l">
              <a:lnSpc>
                <a:spcPct val="104000"/>
              </a:lnSpc>
              <a:buNone/>
            </a:pPr>
            <a:r>
              <a:rPr lang="en-US" sz="800" b="1">
                <a:solidFill>
                  <a:srgbClr val="1A1A1A"/>
                </a:solidFill>
                <a:latin typeface="Arial" pitchFamily="34" charset="0"/>
                <a:ea typeface="Arial" pitchFamily="34" charset="-122"/>
                <a:cs typeface="Arial" pitchFamily="34" charset="-120"/>
              </a:rPr>
              <a:t>GOVERNANCE,</a:t>
            </a:r>
            <a:endParaRPr lang="en-US" sz="800"/>
          </a:p>
          <a:p>
            <a:pPr marL="0" indent="0" algn="l">
              <a:lnSpc>
                <a:spcPct val="104000"/>
              </a:lnSpc>
              <a:buNone/>
            </a:pPr>
            <a:r>
              <a:rPr lang="en-US" sz="800" b="1">
                <a:solidFill>
                  <a:srgbClr val="1A1A1A"/>
                </a:solidFill>
                <a:latin typeface="Arial" pitchFamily="34" charset="0"/>
                <a:ea typeface="Arial" pitchFamily="34" charset="-122"/>
                <a:cs typeface="Arial" pitchFamily="34" charset="-120"/>
              </a:rPr>
              <a:t>SECURITY &amp;</a:t>
            </a:r>
            <a:endParaRPr lang="en-US" sz="800"/>
          </a:p>
          <a:p>
            <a:pPr marL="0" indent="0" algn="l">
              <a:lnSpc>
                <a:spcPct val="104000"/>
              </a:lnSpc>
              <a:buNone/>
            </a:pPr>
            <a:r>
              <a:rPr lang="en-US" sz="800" b="1">
                <a:solidFill>
                  <a:srgbClr val="1A1A1A"/>
                </a:solidFill>
                <a:latin typeface="Arial" pitchFamily="34" charset="0"/>
                <a:ea typeface="Arial" pitchFamily="34" charset="-122"/>
                <a:cs typeface="Arial" pitchFamily="34" charset="-120"/>
              </a:rPr>
              <a:t>OBSERVABILITY</a:t>
            </a:r>
            <a:endParaRPr lang="en-US" sz="800"/>
          </a:p>
        </p:txBody>
      </p:sp>
      <p:sp>
        <p:nvSpPr>
          <p:cNvPr id="94" name="Shape 64">
            <a:extLst>
              <a:ext uri="{FF2B5EF4-FFF2-40B4-BE49-F238E27FC236}">
                <a16:creationId xmlns:a16="http://schemas.microsoft.com/office/drawing/2014/main" id="{8349365E-DF6A-DE02-B88E-0A032E388C5B}"/>
              </a:ext>
            </a:extLst>
          </p:cNvPr>
          <p:cNvSpPr/>
          <p:nvPr/>
        </p:nvSpPr>
        <p:spPr>
          <a:xfrm>
            <a:off x="1864581" y="6039016"/>
            <a:ext cx="0" cy="530352"/>
          </a:xfrm>
          <a:prstGeom prst="line">
            <a:avLst/>
          </a:prstGeom>
          <a:noFill/>
          <a:ln w="9525">
            <a:solidFill>
              <a:srgbClr val="E2E2E2"/>
            </a:solidFill>
            <a:prstDash val="solid"/>
          </a:ln>
        </p:spPr>
        <p:txBody>
          <a:bodyPr/>
          <a:lstStyle/>
          <a:p>
            <a:endParaRPr lang="en-IN"/>
          </a:p>
        </p:txBody>
      </p:sp>
      <p:pic>
        <p:nvPicPr>
          <p:cNvPr id="95" name="Image 30" descr="preencoded.png">
            <a:extLst>
              <a:ext uri="{FF2B5EF4-FFF2-40B4-BE49-F238E27FC236}">
                <a16:creationId xmlns:a16="http://schemas.microsoft.com/office/drawing/2014/main" id="{87EF2CFE-28C2-F773-AB92-D0D5CB88F335}"/>
              </a:ext>
            </a:extLst>
          </p:cNvPr>
          <p:cNvPicPr>
            <a:picLocks noChangeAspect="1"/>
          </p:cNvPicPr>
          <p:nvPr/>
        </p:nvPicPr>
        <p:blipFill>
          <a:blip r:embed="rId30"/>
          <a:stretch>
            <a:fillRect/>
          </a:stretch>
        </p:blipFill>
        <p:spPr>
          <a:xfrm>
            <a:off x="1992597" y="6212752"/>
            <a:ext cx="182880" cy="182880"/>
          </a:xfrm>
          <a:prstGeom prst="rect">
            <a:avLst/>
          </a:prstGeom>
        </p:spPr>
      </p:pic>
      <p:sp>
        <p:nvSpPr>
          <p:cNvPr id="96" name="Text 65">
            <a:extLst>
              <a:ext uri="{FF2B5EF4-FFF2-40B4-BE49-F238E27FC236}">
                <a16:creationId xmlns:a16="http://schemas.microsoft.com/office/drawing/2014/main" id="{88C9B796-05B5-5D54-7925-6EE44FFAE200}"/>
              </a:ext>
            </a:extLst>
          </p:cNvPr>
          <p:cNvSpPr/>
          <p:nvPr/>
        </p:nvSpPr>
        <p:spPr>
          <a:xfrm>
            <a:off x="2230341" y="6020728"/>
            <a:ext cx="874776" cy="566928"/>
          </a:xfrm>
          <a:prstGeom prst="rect">
            <a:avLst/>
          </a:prstGeom>
          <a:noFill/>
          <a:ln/>
        </p:spPr>
        <p:txBody>
          <a:bodyPr wrap="square" lIns="0" tIns="0" rIns="0" bIns="0" rtlCol="0" anchor="ctr"/>
          <a:lstStyle/>
          <a:p>
            <a:pPr marL="0" indent="0" algn="l">
              <a:lnSpc>
                <a:spcPct val="95000"/>
              </a:lnSpc>
              <a:buNone/>
            </a:pPr>
            <a:r>
              <a:rPr lang="en-US" sz="700">
                <a:solidFill>
                  <a:srgbClr val="1A1A1A"/>
                </a:solidFill>
                <a:latin typeface="Arial" pitchFamily="34" charset="0"/>
                <a:ea typeface="Arial" pitchFamily="34" charset="-122"/>
                <a:cs typeface="Arial" pitchFamily="34" charset="-120"/>
              </a:rPr>
              <a:t>Identity &amp; Access</a:t>
            </a:r>
            <a:endParaRPr lang="en-US" sz="700"/>
          </a:p>
          <a:p>
            <a:pPr marL="0" indent="0" algn="l">
              <a:lnSpc>
                <a:spcPct val="95000"/>
              </a:lnSpc>
              <a:buNone/>
            </a:pPr>
            <a:r>
              <a:rPr lang="en-US" sz="700">
                <a:solidFill>
                  <a:srgbClr val="1A1A1A"/>
                </a:solidFill>
                <a:latin typeface="Arial" pitchFamily="34" charset="0"/>
                <a:ea typeface="Arial" pitchFamily="34" charset="-122"/>
                <a:cs typeface="Arial" pitchFamily="34" charset="-120"/>
              </a:rPr>
              <a:t>Management (IAM)</a:t>
            </a:r>
            <a:endParaRPr lang="en-US" sz="700"/>
          </a:p>
        </p:txBody>
      </p:sp>
      <p:pic>
        <p:nvPicPr>
          <p:cNvPr id="97" name="Image 31" descr="preencoded.png">
            <a:extLst>
              <a:ext uri="{FF2B5EF4-FFF2-40B4-BE49-F238E27FC236}">
                <a16:creationId xmlns:a16="http://schemas.microsoft.com/office/drawing/2014/main" id="{F160A286-B50B-F2CC-C535-F6BEC727CC53}"/>
              </a:ext>
            </a:extLst>
          </p:cNvPr>
          <p:cNvPicPr>
            <a:picLocks noChangeAspect="1"/>
          </p:cNvPicPr>
          <p:nvPr/>
        </p:nvPicPr>
        <p:blipFill>
          <a:blip r:embed="rId31"/>
          <a:stretch>
            <a:fillRect/>
          </a:stretch>
        </p:blipFill>
        <p:spPr>
          <a:xfrm>
            <a:off x="3159981" y="6212752"/>
            <a:ext cx="182880" cy="182880"/>
          </a:xfrm>
          <a:prstGeom prst="rect">
            <a:avLst/>
          </a:prstGeom>
        </p:spPr>
      </p:pic>
      <p:sp>
        <p:nvSpPr>
          <p:cNvPr id="98" name="Text 66">
            <a:extLst>
              <a:ext uri="{FF2B5EF4-FFF2-40B4-BE49-F238E27FC236}">
                <a16:creationId xmlns:a16="http://schemas.microsoft.com/office/drawing/2014/main" id="{91B8864B-3F08-128A-C349-370439323FCB}"/>
              </a:ext>
            </a:extLst>
          </p:cNvPr>
          <p:cNvSpPr/>
          <p:nvPr/>
        </p:nvSpPr>
        <p:spPr>
          <a:xfrm>
            <a:off x="3397725" y="6020728"/>
            <a:ext cx="874776" cy="566928"/>
          </a:xfrm>
          <a:prstGeom prst="rect">
            <a:avLst/>
          </a:prstGeom>
          <a:noFill/>
          <a:ln/>
        </p:spPr>
        <p:txBody>
          <a:bodyPr wrap="square" lIns="0" tIns="0" rIns="0" bIns="0" rtlCol="0" anchor="ctr"/>
          <a:lstStyle/>
          <a:p>
            <a:pPr marL="0" indent="0" algn="l">
              <a:lnSpc>
                <a:spcPct val="95000"/>
              </a:lnSpc>
              <a:buNone/>
            </a:pPr>
            <a:r>
              <a:rPr lang="en-US" sz="700">
                <a:solidFill>
                  <a:srgbClr val="1A1A1A"/>
                </a:solidFill>
                <a:latin typeface="Arial" pitchFamily="34" charset="0"/>
                <a:ea typeface="Arial" pitchFamily="34" charset="-122"/>
                <a:cs typeface="Arial" pitchFamily="34" charset="-120"/>
              </a:rPr>
              <a:t>Security &amp; Encryption</a:t>
            </a:r>
            <a:endParaRPr lang="en-US" sz="700"/>
          </a:p>
          <a:p>
            <a:pPr marL="0" indent="0" algn="l">
              <a:lnSpc>
                <a:spcPct val="95000"/>
              </a:lnSpc>
              <a:buNone/>
            </a:pPr>
            <a:r>
              <a:rPr lang="en-US" sz="700">
                <a:solidFill>
                  <a:srgbClr val="1A1A1A"/>
                </a:solidFill>
                <a:latin typeface="Arial" pitchFamily="34" charset="0"/>
                <a:ea typeface="Arial" pitchFamily="34" charset="-122"/>
                <a:cs typeface="Arial" pitchFamily="34" charset="-120"/>
              </a:rPr>
              <a:t>(At Rest / In Transit)</a:t>
            </a:r>
            <a:endParaRPr lang="en-US" sz="700"/>
          </a:p>
        </p:txBody>
      </p:sp>
      <p:pic>
        <p:nvPicPr>
          <p:cNvPr id="99" name="Image 32" descr="preencoded.png">
            <a:extLst>
              <a:ext uri="{FF2B5EF4-FFF2-40B4-BE49-F238E27FC236}">
                <a16:creationId xmlns:a16="http://schemas.microsoft.com/office/drawing/2014/main" id="{B66E4A56-B610-AED3-B3A1-B090A57B70A8}"/>
              </a:ext>
            </a:extLst>
          </p:cNvPr>
          <p:cNvPicPr>
            <a:picLocks noChangeAspect="1"/>
          </p:cNvPicPr>
          <p:nvPr/>
        </p:nvPicPr>
        <p:blipFill>
          <a:blip r:embed="rId28"/>
          <a:stretch>
            <a:fillRect/>
          </a:stretch>
        </p:blipFill>
        <p:spPr>
          <a:xfrm>
            <a:off x="4327365" y="6212752"/>
            <a:ext cx="182880" cy="182880"/>
          </a:xfrm>
          <a:prstGeom prst="rect">
            <a:avLst/>
          </a:prstGeom>
        </p:spPr>
      </p:pic>
      <p:sp>
        <p:nvSpPr>
          <p:cNvPr id="100" name="Text 67">
            <a:extLst>
              <a:ext uri="{FF2B5EF4-FFF2-40B4-BE49-F238E27FC236}">
                <a16:creationId xmlns:a16="http://schemas.microsoft.com/office/drawing/2014/main" id="{1D193AB3-7A27-05A7-5E6E-D5DBFC7C0AAF}"/>
              </a:ext>
            </a:extLst>
          </p:cNvPr>
          <p:cNvSpPr/>
          <p:nvPr/>
        </p:nvSpPr>
        <p:spPr>
          <a:xfrm>
            <a:off x="4565109" y="6020728"/>
            <a:ext cx="874776" cy="566928"/>
          </a:xfrm>
          <a:prstGeom prst="rect">
            <a:avLst/>
          </a:prstGeom>
          <a:noFill/>
          <a:ln/>
        </p:spPr>
        <p:txBody>
          <a:bodyPr wrap="square" lIns="0" tIns="0" rIns="0" bIns="0" rtlCol="0" anchor="ctr"/>
          <a:lstStyle/>
          <a:p>
            <a:pPr marL="0" indent="0" algn="l">
              <a:lnSpc>
                <a:spcPct val="95000"/>
              </a:lnSpc>
              <a:buNone/>
            </a:pPr>
            <a:r>
              <a:rPr lang="en-US" sz="700">
                <a:solidFill>
                  <a:srgbClr val="1A1A1A"/>
                </a:solidFill>
                <a:latin typeface="Arial" pitchFamily="34" charset="0"/>
                <a:ea typeface="Arial" pitchFamily="34" charset="-122"/>
                <a:cs typeface="Arial" pitchFamily="34" charset="-120"/>
              </a:rPr>
              <a:t>Guardrails &amp;</a:t>
            </a:r>
            <a:endParaRPr lang="en-US" sz="700"/>
          </a:p>
          <a:p>
            <a:pPr marL="0" indent="0" algn="l">
              <a:lnSpc>
                <a:spcPct val="95000"/>
              </a:lnSpc>
              <a:buNone/>
            </a:pPr>
            <a:r>
              <a:rPr lang="en-US" sz="700">
                <a:solidFill>
                  <a:srgbClr val="1A1A1A"/>
                </a:solidFill>
                <a:latin typeface="Arial" pitchFamily="34" charset="0"/>
                <a:ea typeface="Arial" pitchFamily="34" charset="-122"/>
                <a:cs typeface="Arial" pitchFamily="34" charset="-120"/>
              </a:rPr>
              <a:t>Responsible AI</a:t>
            </a:r>
            <a:endParaRPr lang="en-US" sz="700"/>
          </a:p>
        </p:txBody>
      </p:sp>
      <p:pic>
        <p:nvPicPr>
          <p:cNvPr id="101" name="Image 33" descr="preencoded.png">
            <a:extLst>
              <a:ext uri="{FF2B5EF4-FFF2-40B4-BE49-F238E27FC236}">
                <a16:creationId xmlns:a16="http://schemas.microsoft.com/office/drawing/2014/main" id="{488279C7-1786-6CA5-9B9B-6927A43D4C7C}"/>
              </a:ext>
            </a:extLst>
          </p:cNvPr>
          <p:cNvPicPr>
            <a:picLocks noChangeAspect="1"/>
          </p:cNvPicPr>
          <p:nvPr/>
        </p:nvPicPr>
        <p:blipFill>
          <a:blip r:embed="rId32"/>
          <a:stretch>
            <a:fillRect/>
          </a:stretch>
        </p:blipFill>
        <p:spPr>
          <a:xfrm>
            <a:off x="5494749" y="6212752"/>
            <a:ext cx="182880" cy="182880"/>
          </a:xfrm>
          <a:prstGeom prst="rect">
            <a:avLst/>
          </a:prstGeom>
        </p:spPr>
      </p:pic>
      <p:sp>
        <p:nvSpPr>
          <p:cNvPr id="102" name="Text 68">
            <a:extLst>
              <a:ext uri="{FF2B5EF4-FFF2-40B4-BE49-F238E27FC236}">
                <a16:creationId xmlns:a16="http://schemas.microsoft.com/office/drawing/2014/main" id="{B4118D8A-DC4D-4C54-20F5-1046C8D9ABF0}"/>
              </a:ext>
            </a:extLst>
          </p:cNvPr>
          <p:cNvSpPr/>
          <p:nvPr/>
        </p:nvSpPr>
        <p:spPr>
          <a:xfrm>
            <a:off x="5732493" y="6020728"/>
            <a:ext cx="874776" cy="566928"/>
          </a:xfrm>
          <a:prstGeom prst="rect">
            <a:avLst/>
          </a:prstGeom>
          <a:noFill/>
          <a:ln/>
        </p:spPr>
        <p:txBody>
          <a:bodyPr wrap="square" lIns="0" tIns="0" rIns="0" bIns="0" rtlCol="0" anchor="ctr"/>
          <a:lstStyle/>
          <a:p>
            <a:pPr marL="0" indent="0" algn="l">
              <a:lnSpc>
                <a:spcPct val="95000"/>
              </a:lnSpc>
              <a:buNone/>
            </a:pPr>
            <a:r>
              <a:rPr lang="en-US" sz="700">
                <a:solidFill>
                  <a:srgbClr val="1A1A1A"/>
                </a:solidFill>
                <a:latin typeface="Arial" pitchFamily="34" charset="0"/>
                <a:ea typeface="Arial" pitchFamily="34" charset="-122"/>
                <a:cs typeface="Arial" pitchFamily="34" charset="-120"/>
              </a:rPr>
              <a:t>Audit Trails</a:t>
            </a:r>
            <a:endParaRPr lang="en-US" sz="700"/>
          </a:p>
          <a:p>
            <a:pPr marL="0" indent="0" algn="l">
              <a:lnSpc>
                <a:spcPct val="95000"/>
              </a:lnSpc>
              <a:buNone/>
            </a:pPr>
            <a:r>
              <a:rPr lang="en-US" sz="700">
                <a:solidFill>
                  <a:srgbClr val="1A1A1A"/>
                </a:solidFill>
                <a:latin typeface="Arial" pitchFamily="34" charset="0"/>
                <a:ea typeface="Arial" pitchFamily="34" charset="-122"/>
                <a:cs typeface="Arial" pitchFamily="34" charset="-120"/>
              </a:rPr>
              <a:t>&amp; Compliance</a:t>
            </a:r>
            <a:endParaRPr lang="en-US" sz="700"/>
          </a:p>
        </p:txBody>
      </p:sp>
      <p:pic>
        <p:nvPicPr>
          <p:cNvPr id="103" name="Image 34" descr="preencoded.png">
            <a:extLst>
              <a:ext uri="{FF2B5EF4-FFF2-40B4-BE49-F238E27FC236}">
                <a16:creationId xmlns:a16="http://schemas.microsoft.com/office/drawing/2014/main" id="{70658083-66AB-18AD-1A0C-AE09863EBDC4}"/>
              </a:ext>
            </a:extLst>
          </p:cNvPr>
          <p:cNvPicPr>
            <a:picLocks noChangeAspect="1"/>
          </p:cNvPicPr>
          <p:nvPr/>
        </p:nvPicPr>
        <p:blipFill>
          <a:blip r:embed="rId33"/>
          <a:stretch>
            <a:fillRect/>
          </a:stretch>
        </p:blipFill>
        <p:spPr>
          <a:xfrm>
            <a:off x="6662133" y="6212752"/>
            <a:ext cx="182880" cy="182880"/>
          </a:xfrm>
          <a:prstGeom prst="rect">
            <a:avLst/>
          </a:prstGeom>
        </p:spPr>
      </p:pic>
      <p:sp>
        <p:nvSpPr>
          <p:cNvPr id="104" name="Text 69">
            <a:extLst>
              <a:ext uri="{FF2B5EF4-FFF2-40B4-BE49-F238E27FC236}">
                <a16:creationId xmlns:a16="http://schemas.microsoft.com/office/drawing/2014/main" id="{87CF1516-2329-FA35-011B-B9FDEFDC0559}"/>
              </a:ext>
            </a:extLst>
          </p:cNvPr>
          <p:cNvSpPr/>
          <p:nvPr/>
        </p:nvSpPr>
        <p:spPr>
          <a:xfrm>
            <a:off x="6899877" y="6020728"/>
            <a:ext cx="874776" cy="566928"/>
          </a:xfrm>
          <a:prstGeom prst="rect">
            <a:avLst/>
          </a:prstGeom>
          <a:noFill/>
          <a:ln/>
        </p:spPr>
        <p:txBody>
          <a:bodyPr wrap="square" lIns="0" tIns="0" rIns="0" bIns="0" rtlCol="0" anchor="ctr"/>
          <a:lstStyle/>
          <a:p>
            <a:pPr marL="0" indent="0" algn="l">
              <a:lnSpc>
                <a:spcPct val="95000"/>
              </a:lnSpc>
              <a:buNone/>
            </a:pPr>
            <a:r>
              <a:rPr lang="en-US" sz="700">
                <a:solidFill>
                  <a:srgbClr val="1A1A1A"/>
                </a:solidFill>
                <a:latin typeface="Arial" pitchFamily="34" charset="0"/>
                <a:ea typeface="Arial" pitchFamily="34" charset="-122"/>
                <a:cs typeface="Arial" pitchFamily="34" charset="-120"/>
              </a:rPr>
              <a:t>Monitoring &amp; Logging</a:t>
            </a:r>
            <a:endParaRPr lang="en-US" sz="700"/>
          </a:p>
          <a:p>
            <a:pPr marL="0" indent="0" algn="l">
              <a:lnSpc>
                <a:spcPct val="95000"/>
              </a:lnSpc>
              <a:buNone/>
            </a:pPr>
            <a:r>
              <a:rPr lang="en-US" sz="700">
                <a:solidFill>
                  <a:srgbClr val="1A1A1A"/>
                </a:solidFill>
                <a:latin typeface="Arial" pitchFamily="34" charset="0"/>
                <a:ea typeface="Arial" pitchFamily="34" charset="-122"/>
                <a:cs typeface="Arial" pitchFamily="34" charset="-120"/>
              </a:rPr>
              <a:t>(Amazon CloudWatch)</a:t>
            </a:r>
            <a:endParaRPr lang="en-US" sz="700"/>
          </a:p>
        </p:txBody>
      </p:sp>
      <p:pic>
        <p:nvPicPr>
          <p:cNvPr id="105" name="Image 35" descr="preencoded.png">
            <a:extLst>
              <a:ext uri="{FF2B5EF4-FFF2-40B4-BE49-F238E27FC236}">
                <a16:creationId xmlns:a16="http://schemas.microsoft.com/office/drawing/2014/main" id="{B5449B83-758D-85BC-8B23-26CC70A9BA4F}"/>
              </a:ext>
            </a:extLst>
          </p:cNvPr>
          <p:cNvPicPr>
            <a:picLocks noChangeAspect="1"/>
          </p:cNvPicPr>
          <p:nvPr/>
        </p:nvPicPr>
        <p:blipFill>
          <a:blip r:embed="rId34"/>
          <a:stretch>
            <a:fillRect/>
          </a:stretch>
        </p:blipFill>
        <p:spPr>
          <a:xfrm>
            <a:off x="7829517" y="6212752"/>
            <a:ext cx="182880" cy="182880"/>
          </a:xfrm>
          <a:prstGeom prst="rect">
            <a:avLst/>
          </a:prstGeom>
        </p:spPr>
      </p:pic>
      <p:sp>
        <p:nvSpPr>
          <p:cNvPr id="106" name="Text 70">
            <a:extLst>
              <a:ext uri="{FF2B5EF4-FFF2-40B4-BE49-F238E27FC236}">
                <a16:creationId xmlns:a16="http://schemas.microsoft.com/office/drawing/2014/main" id="{EA91A1F5-3AAE-BB80-39EF-C505DE978ECD}"/>
              </a:ext>
            </a:extLst>
          </p:cNvPr>
          <p:cNvSpPr/>
          <p:nvPr/>
        </p:nvSpPr>
        <p:spPr>
          <a:xfrm>
            <a:off x="8067261" y="6020728"/>
            <a:ext cx="874776" cy="566928"/>
          </a:xfrm>
          <a:prstGeom prst="rect">
            <a:avLst/>
          </a:prstGeom>
          <a:noFill/>
          <a:ln/>
        </p:spPr>
        <p:txBody>
          <a:bodyPr wrap="square" lIns="0" tIns="0" rIns="0" bIns="0" rtlCol="0" anchor="ctr"/>
          <a:lstStyle/>
          <a:p>
            <a:pPr marL="0" indent="0" algn="l">
              <a:lnSpc>
                <a:spcPct val="95000"/>
              </a:lnSpc>
              <a:buNone/>
            </a:pPr>
            <a:r>
              <a:rPr lang="en-US" sz="700">
                <a:solidFill>
                  <a:srgbClr val="1A1A1A"/>
                </a:solidFill>
                <a:latin typeface="Arial" pitchFamily="34" charset="0"/>
                <a:ea typeface="Arial" pitchFamily="34" charset="-122"/>
                <a:cs typeface="Arial" pitchFamily="34" charset="-120"/>
              </a:rPr>
              <a:t>Cost &amp; Performance</a:t>
            </a:r>
            <a:endParaRPr lang="en-US" sz="700"/>
          </a:p>
          <a:p>
            <a:pPr marL="0" indent="0" algn="l">
              <a:lnSpc>
                <a:spcPct val="95000"/>
              </a:lnSpc>
              <a:buNone/>
            </a:pPr>
            <a:r>
              <a:rPr lang="en-US" sz="700">
                <a:solidFill>
                  <a:srgbClr val="1A1A1A"/>
                </a:solidFill>
                <a:latin typeface="Arial" pitchFamily="34" charset="0"/>
                <a:ea typeface="Arial" pitchFamily="34" charset="-122"/>
                <a:cs typeface="Arial" pitchFamily="34" charset="-120"/>
              </a:rPr>
              <a:t>Management</a:t>
            </a:r>
            <a:endParaRPr lang="en-US" sz="700"/>
          </a:p>
        </p:txBody>
      </p:sp>
      <p:sp>
        <p:nvSpPr>
          <p:cNvPr id="107" name="Shape 71">
            <a:extLst>
              <a:ext uri="{FF2B5EF4-FFF2-40B4-BE49-F238E27FC236}">
                <a16:creationId xmlns:a16="http://schemas.microsoft.com/office/drawing/2014/main" id="{95D501D2-CAC5-DE56-76E6-54CE88256DD0}"/>
              </a:ext>
            </a:extLst>
          </p:cNvPr>
          <p:cNvSpPr/>
          <p:nvPr/>
        </p:nvSpPr>
        <p:spPr>
          <a:xfrm>
            <a:off x="9179781" y="1558456"/>
            <a:ext cx="2590495" cy="5102352"/>
          </a:xfrm>
          <a:prstGeom prst="roundRect">
            <a:avLst>
              <a:gd name="adj" fmla="val 1765"/>
            </a:avLst>
          </a:prstGeom>
          <a:solidFill>
            <a:srgbClr val="F6F7F4"/>
          </a:solidFill>
          <a:ln w="9525">
            <a:solidFill>
              <a:srgbClr val="E2E2E2"/>
            </a:solidFill>
            <a:prstDash val="solid"/>
          </a:ln>
          <a:effectLst>
            <a:outerShdw blurRad="50800" dist="12700" dir="5400000" algn="bl" rotWithShape="0">
              <a:srgbClr val="000000">
                <a:alpha val="8000"/>
              </a:srgbClr>
            </a:outerShdw>
          </a:effectLst>
        </p:spPr>
        <p:txBody>
          <a:bodyPr/>
          <a:lstStyle/>
          <a:p>
            <a:endParaRPr lang="en-IN"/>
          </a:p>
        </p:txBody>
      </p:sp>
      <p:grpSp>
        <p:nvGrpSpPr>
          <p:cNvPr id="108" name="Group 107">
            <a:extLst>
              <a:ext uri="{FF2B5EF4-FFF2-40B4-BE49-F238E27FC236}">
                <a16:creationId xmlns:a16="http://schemas.microsoft.com/office/drawing/2014/main" id="{D2B80934-00F3-A1D8-5BE1-9DCA16E3594B}"/>
              </a:ext>
            </a:extLst>
          </p:cNvPr>
          <p:cNvGrpSpPr/>
          <p:nvPr/>
        </p:nvGrpSpPr>
        <p:grpSpPr>
          <a:xfrm>
            <a:off x="9477954" y="1987826"/>
            <a:ext cx="214685" cy="206734"/>
            <a:chOff x="9517710" y="1606163"/>
            <a:chExt cx="214685" cy="206734"/>
          </a:xfrm>
        </p:grpSpPr>
        <p:sp>
          <p:nvSpPr>
            <p:cNvPr id="109" name="Shape 73">
              <a:extLst>
                <a:ext uri="{FF2B5EF4-FFF2-40B4-BE49-F238E27FC236}">
                  <a16:creationId xmlns:a16="http://schemas.microsoft.com/office/drawing/2014/main" id="{41BC9853-3591-AB09-5CEF-DD2DAF723558}"/>
                </a:ext>
              </a:extLst>
            </p:cNvPr>
            <p:cNvSpPr/>
            <p:nvPr/>
          </p:nvSpPr>
          <p:spPr>
            <a:xfrm>
              <a:off x="9517710" y="1606163"/>
              <a:ext cx="214685" cy="206734"/>
            </a:xfrm>
            <a:prstGeom prst="ellipse">
              <a:avLst/>
            </a:prstGeom>
            <a:solidFill>
              <a:srgbClr val="86BC25"/>
            </a:solidFill>
            <a:ln/>
          </p:spPr>
          <p:txBody>
            <a:bodyPr/>
            <a:lstStyle/>
            <a:p>
              <a:endParaRPr lang="en-IN" sz="900"/>
            </a:p>
          </p:txBody>
        </p:sp>
        <p:pic>
          <p:nvPicPr>
            <p:cNvPr id="110" name="Image 36" descr="preencoded.png">
              <a:extLst>
                <a:ext uri="{FF2B5EF4-FFF2-40B4-BE49-F238E27FC236}">
                  <a16:creationId xmlns:a16="http://schemas.microsoft.com/office/drawing/2014/main" id="{52C3ED66-27E1-987A-5693-16AC336BB127}"/>
                </a:ext>
              </a:extLst>
            </p:cNvPr>
            <p:cNvPicPr>
              <a:picLocks noChangeAspect="1"/>
            </p:cNvPicPr>
            <p:nvPr/>
          </p:nvPicPr>
          <p:blipFill>
            <a:blip r:embed="rId35"/>
            <a:stretch>
              <a:fillRect/>
            </a:stretch>
          </p:blipFill>
          <p:spPr>
            <a:xfrm>
              <a:off x="9545144" y="1637174"/>
              <a:ext cx="123643" cy="123643"/>
            </a:xfrm>
            <a:prstGeom prst="rect">
              <a:avLst/>
            </a:prstGeom>
          </p:spPr>
        </p:pic>
      </p:grpSp>
      <p:sp>
        <p:nvSpPr>
          <p:cNvPr id="111" name="Text 74">
            <a:extLst>
              <a:ext uri="{FF2B5EF4-FFF2-40B4-BE49-F238E27FC236}">
                <a16:creationId xmlns:a16="http://schemas.microsoft.com/office/drawing/2014/main" id="{2A91674E-8038-E746-695A-2C8919B7245C}"/>
              </a:ext>
            </a:extLst>
          </p:cNvPr>
          <p:cNvSpPr/>
          <p:nvPr/>
        </p:nvSpPr>
        <p:spPr>
          <a:xfrm>
            <a:off x="9816681" y="1888832"/>
            <a:ext cx="1172022" cy="347472"/>
          </a:xfrm>
          <a:prstGeom prst="rect">
            <a:avLst/>
          </a:prstGeom>
          <a:noFill/>
          <a:ln/>
        </p:spPr>
        <p:txBody>
          <a:bodyPr wrap="square" lIns="0" tIns="0" rIns="0" bIns="0" rtlCol="0" anchor="ctr"/>
          <a:lstStyle/>
          <a:p>
            <a:pPr marL="0" indent="0">
              <a:buNone/>
            </a:pPr>
            <a:r>
              <a:rPr lang="en-US" sz="900" b="1">
                <a:solidFill>
                  <a:srgbClr val="86BC25"/>
                </a:solidFill>
                <a:latin typeface="Arial" pitchFamily="34" charset="0"/>
                <a:ea typeface="Arial" pitchFamily="34" charset="-122"/>
                <a:cs typeface="Arial" pitchFamily="34" charset="-120"/>
              </a:rPr>
              <a:t>Autonomous</a:t>
            </a:r>
            <a:endParaRPr lang="en-US" sz="900"/>
          </a:p>
        </p:txBody>
      </p:sp>
      <p:sp>
        <p:nvSpPr>
          <p:cNvPr id="112" name="Text 75">
            <a:extLst>
              <a:ext uri="{FF2B5EF4-FFF2-40B4-BE49-F238E27FC236}">
                <a16:creationId xmlns:a16="http://schemas.microsoft.com/office/drawing/2014/main" id="{9E8C5C42-8A7F-D576-4771-598CDD21143D}"/>
              </a:ext>
            </a:extLst>
          </p:cNvPr>
          <p:cNvSpPr/>
          <p:nvPr/>
        </p:nvSpPr>
        <p:spPr>
          <a:xfrm>
            <a:off x="9412754" y="2275266"/>
            <a:ext cx="2188159" cy="539496"/>
          </a:xfrm>
          <a:prstGeom prst="rect">
            <a:avLst/>
          </a:prstGeom>
          <a:noFill/>
          <a:ln/>
        </p:spPr>
        <p:txBody>
          <a:bodyPr wrap="square" lIns="0" tIns="0" rIns="0" bIns="0" rtlCol="0" anchor="t"/>
          <a:lstStyle/>
          <a:p>
            <a:pPr marL="0" indent="0">
              <a:lnSpc>
                <a:spcPct val="105000"/>
              </a:lnSpc>
              <a:buNone/>
            </a:pPr>
            <a:r>
              <a:rPr lang="en-US" sz="900">
                <a:solidFill>
                  <a:srgbClr val="6B6B6B"/>
                </a:solidFill>
                <a:latin typeface="Arial" pitchFamily="34" charset="0"/>
                <a:ea typeface="Arial" pitchFamily="34" charset="-122"/>
                <a:cs typeface="Arial" pitchFamily="34" charset="-120"/>
              </a:rPr>
              <a:t>Agents plan and execute complex tasks across systems to drive outcomes with minimal human effort.</a:t>
            </a:r>
            <a:endParaRPr lang="en-US" sz="900"/>
          </a:p>
        </p:txBody>
      </p:sp>
      <p:sp>
        <p:nvSpPr>
          <p:cNvPr id="113" name="Text 77">
            <a:extLst>
              <a:ext uri="{FF2B5EF4-FFF2-40B4-BE49-F238E27FC236}">
                <a16:creationId xmlns:a16="http://schemas.microsoft.com/office/drawing/2014/main" id="{9D5DE2CF-85DE-6BA1-31B4-983A04FC32B5}"/>
              </a:ext>
            </a:extLst>
          </p:cNvPr>
          <p:cNvSpPr/>
          <p:nvPr/>
        </p:nvSpPr>
        <p:spPr>
          <a:xfrm>
            <a:off x="9768973" y="2848953"/>
            <a:ext cx="1211779" cy="347472"/>
          </a:xfrm>
          <a:prstGeom prst="rect">
            <a:avLst/>
          </a:prstGeom>
          <a:noFill/>
          <a:ln/>
        </p:spPr>
        <p:txBody>
          <a:bodyPr wrap="square" lIns="0" tIns="0" rIns="0" bIns="0" rtlCol="0" anchor="ctr"/>
          <a:lstStyle/>
          <a:p>
            <a:pPr marL="0" indent="0">
              <a:buNone/>
            </a:pPr>
            <a:r>
              <a:rPr lang="en-US" sz="900" b="1">
                <a:solidFill>
                  <a:srgbClr val="2E5C8A"/>
                </a:solidFill>
                <a:latin typeface="Arial" pitchFamily="34" charset="0"/>
                <a:ea typeface="Arial" pitchFamily="34" charset="-122"/>
                <a:cs typeface="Arial" pitchFamily="34" charset="-120"/>
              </a:rPr>
              <a:t>Knowledge-Driven</a:t>
            </a:r>
            <a:endParaRPr lang="en-US" sz="900"/>
          </a:p>
        </p:txBody>
      </p:sp>
      <p:sp>
        <p:nvSpPr>
          <p:cNvPr id="114" name="Text 78">
            <a:extLst>
              <a:ext uri="{FF2B5EF4-FFF2-40B4-BE49-F238E27FC236}">
                <a16:creationId xmlns:a16="http://schemas.microsoft.com/office/drawing/2014/main" id="{56409625-56DE-D579-1814-70B10F9F2A0D}"/>
              </a:ext>
            </a:extLst>
          </p:cNvPr>
          <p:cNvSpPr/>
          <p:nvPr/>
        </p:nvSpPr>
        <p:spPr>
          <a:xfrm>
            <a:off x="9412754" y="3235386"/>
            <a:ext cx="2188159" cy="539496"/>
          </a:xfrm>
          <a:prstGeom prst="rect">
            <a:avLst/>
          </a:prstGeom>
          <a:noFill/>
          <a:ln/>
        </p:spPr>
        <p:txBody>
          <a:bodyPr wrap="square" lIns="0" tIns="0" rIns="0" bIns="0" rtlCol="0" anchor="t"/>
          <a:lstStyle/>
          <a:p>
            <a:pPr marL="0" indent="0">
              <a:lnSpc>
                <a:spcPct val="105000"/>
              </a:lnSpc>
              <a:buNone/>
            </a:pPr>
            <a:r>
              <a:rPr lang="en-US" sz="900">
                <a:solidFill>
                  <a:srgbClr val="6B6B6B"/>
                </a:solidFill>
                <a:latin typeface="Arial" pitchFamily="34" charset="0"/>
                <a:ea typeface="Arial" pitchFamily="34" charset="-122"/>
                <a:cs typeface="Arial" pitchFamily="34" charset="-120"/>
              </a:rPr>
              <a:t>Combines enterprise data, real-time context and organizational knowledge to deliver accurate and relevant outcomes.</a:t>
            </a:r>
            <a:endParaRPr lang="en-US" sz="900"/>
          </a:p>
        </p:txBody>
      </p:sp>
      <p:grpSp>
        <p:nvGrpSpPr>
          <p:cNvPr id="115" name="Group 114">
            <a:extLst>
              <a:ext uri="{FF2B5EF4-FFF2-40B4-BE49-F238E27FC236}">
                <a16:creationId xmlns:a16="http://schemas.microsoft.com/office/drawing/2014/main" id="{9D4C2B28-AAF6-1504-07C9-70E820AC5513}"/>
              </a:ext>
            </a:extLst>
          </p:cNvPr>
          <p:cNvGrpSpPr/>
          <p:nvPr/>
        </p:nvGrpSpPr>
        <p:grpSpPr>
          <a:xfrm>
            <a:off x="9428656" y="3886200"/>
            <a:ext cx="200373" cy="184868"/>
            <a:chOff x="9468413" y="3496586"/>
            <a:chExt cx="200373" cy="184868"/>
          </a:xfrm>
        </p:grpSpPr>
        <p:sp>
          <p:nvSpPr>
            <p:cNvPr id="116" name="Shape 79">
              <a:extLst>
                <a:ext uri="{FF2B5EF4-FFF2-40B4-BE49-F238E27FC236}">
                  <a16:creationId xmlns:a16="http://schemas.microsoft.com/office/drawing/2014/main" id="{54505D1B-423F-3B61-8672-0AB642C5D444}"/>
                </a:ext>
              </a:extLst>
            </p:cNvPr>
            <p:cNvSpPr/>
            <p:nvPr/>
          </p:nvSpPr>
          <p:spPr>
            <a:xfrm>
              <a:off x="9468413" y="3496586"/>
              <a:ext cx="200373" cy="184868"/>
            </a:xfrm>
            <a:prstGeom prst="ellipse">
              <a:avLst/>
            </a:prstGeom>
            <a:solidFill>
              <a:srgbClr val="86BC25"/>
            </a:solidFill>
            <a:ln/>
          </p:spPr>
          <p:txBody>
            <a:bodyPr/>
            <a:lstStyle/>
            <a:p>
              <a:endParaRPr lang="en-IN" sz="900"/>
            </a:p>
          </p:txBody>
        </p:sp>
        <p:pic>
          <p:nvPicPr>
            <p:cNvPr id="117" name="Image 38" descr="preencoded.png">
              <a:extLst>
                <a:ext uri="{FF2B5EF4-FFF2-40B4-BE49-F238E27FC236}">
                  <a16:creationId xmlns:a16="http://schemas.microsoft.com/office/drawing/2014/main" id="{3E7D5107-F834-0982-DDED-6FE1E9ED4D32}"/>
                </a:ext>
              </a:extLst>
            </p:cNvPr>
            <p:cNvPicPr>
              <a:picLocks noChangeAspect="1"/>
            </p:cNvPicPr>
            <p:nvPr/>
          </p:nvPicPr>
          <p:blipFill>
            <a:blip r:embed="rId36"/>
            <a:stretch>
              <a:fillRect/>
            </a:stretch>
          </p:blipFill>
          <p:spPr>
            <a:xfrm>
              <a:off x="9513338" y="3549462"/>
              <a:ext cx="107740" cy="107740"/>
            </a:xfrm>
            <a:prstGeom prst="rect">
              <a:avLst/>
            </a:prstGeom>
          </p:spPr>
        </p:pic>
      </p:grpSp>
      <p:sp>
        <p:nvSpPr>
          <p:cNvPr id="118" name="Text 80">
            <a:extLst>
              <a:ext uri="{FF2B5EF4-FFF2-40B4-BE49-F238E27FC236}">
                <a16:creationId xmlns:a16="http://schemas.microsoft.com/office/drawing/2014/main" id="{7CFB4430-6837-3221-D90A-511C44239D40}"/>
              </a:ext>
            </a:extLst>
          </p:cNvPr>
          <p:cNvSpPr/>
          <p:nvPr/>
        </p:nvSpPr>
        <p:spPr>
          <a:xfrm>
            <a:off x="9753070" y="3809073"/>
            <a:ext cx="1346951" cy="347472"/>
          </a:xfrm>
          <a:prstGeom prst="rect">
            <a:avLst/>
          </a:prstGeom>
          <a:noFill/>
          <a:ln/>
        </p:spPr>
        <p:txBody>
          <a:bodyPr wrap="square" lIns="0" tIns="0" rIns="0" bIns="0" rtlCol="0" anchor="ctr"/>
          <a:lstStyle/>
          <a:p>
            <a:pPr marL="0" indent="0">
              <a:buNone/>
            </a:pPr>
            <a:r>
              <a:rPr lang="en-US" sz="900" b="1">
                <a:solidFill>
                  <a:srgbClr val="86BC25"/>
                </a:solidFill>
                <a:latin typeface="Arial" pitchFamily="34" charset="0"/>
                <a:ea typeface="Arial" pitchFamily="34" charset="-122"/>
                <a:cs typeface="Arial" pitchFamily="34" charset="-120"/>
              </a:rPr>
              <a:t>Governed &amp; Trusted</a:t>
            </a:r>
            <a:endParaRPr lang="en-US" sz="900"/>
          </a:p>
        </p:txBody>
      </p:sp>
      <p:sp>
        <p:nvSpPr>
          <p:cNvPr id="119" name="Text 81">
            <a:extLst>
              <a:ext uri="{FF2B5EF4-FFF2-40B4-BE49-F238E27FC236}">
                <a16:creationId xmlns:a16="http://schemas.microsoft.com/office/drawing/2014/main" id="{A1318C05-BF8A-0AC4-7794-6C02FD21C616}"/>
              </a:ext>
            </a:extLst>
          </p:cNvPr>
          <p:cNvSpPr/>
          <p:nvPr/>
        </p:nvSpPr>
        <p:spPr>
          <a:xfrm>
            <a:off x="9412754" y="4195506"/>
            <a:ext cx="2188159" cy="539496"/>
          </a:xfrm>
          <a:prstGeom prst="rect">
            <a:avLst/>
          </a:prstGeom>
          <a:noFill/>
          <a:ln/>
        </p:spPr>
        <p:txBody>
          <a:bodyPr wrap="square" lIns="0" tIns="0" rIns="0" bIns="0" rtlCol="0" anchor="t"/>
          <a:lstStyle/>
          <a:p>
            <a:pPr marL="0" indent="0">
              <a:lnSpc>
                <a:spcPct val="105000"/>
              </a:lnSpc>
              <a:buNone/>
            </a:pPr>
            <a:r>
              <a:rPr lang="en-US" sz="900">
                <a:solidFill>
                  <a:srgbClr val="6B6B6B"/>
                </a:solidFill>
                <a:latin typeface="Arial" pitchFamily="34" charset="0"/>
                <a:ea typeface="Arial" pitchFamily="34" charset="-122"/>
                <a:cs typeface="Arial" pitchFamily="34" charset="-120"/>
              </a:rPr>
              <a:t>Built on AWS with enterprise-grade security, guardrails and compliance to operate responsibly at scale.</a:t>
            </a:r>
            <a:endParaRPr lang="en-US" sz="900"/>
          </a:p>
        </p:txBody>
      </p:sp>
      <p:sp>
        <p:nvSpPr>
          <p:cNvPr id="120" name="Shape 82">
            <a:extLst>
              <a:ext uri="{FF2B5EF4-FFF2-40B4-BE49-F238E27FC236}">
                <a16:creationId xmlns:a16="http://schemas.microsoft.com/office/drawing/2014/main" id="{D753AC25-3FB8-E2B9-679B-F724AAA419FD}"/>
              </a:ext>
            </a:extLst>
          </p:cNvPr>
          <p:cNvSpPr/>
          <p:nvPr/>
        </p:nvSpPr>
        <p:spPr>
          <a:xfrm>
            <a:off x="9348746" y="4780722"/>
            <a:ext cx="2316175" cy="1536192"/>
          </a:xfrm>
          <a:prstGeom prst="roundRect">
            <a:avLst>
              <a:gd name="adj" fmla="val 2976"/>
            </a:avLst>
          </a:prstGeom>
          <a:solidFill>
            <a:srgbClr val="FFFFFF"/>
          </a:solidFill>
          <a:ln w="9525">
            <a:solidFill>
              <a:srgbClr val="E2E2E2"/>
            </a:solidFill>
            <a:prstDash val="solid"/>
          </a:ln>
        </p:spPr>
        <p:txBody>
          <a:bodyPr/>
          <a:lstStyle/>
          <a:p>
            <a:endParaRPr lang="en-IN" sz="900"/>
          </a:p>
        </p:txBody>
      </p:sp>
      <p:sp>
        <p:nvSpPr>
          <p:cNvPr id="121" name="Text 83">
            <a:extLst>
              <a:ext uri="{FF2B5EF4-FFF2-40B4-BE49-F238E27FC236}">
                <a16:creationId xmlns:a16="http://schemas.microsoft.com/office/drawing/2014/main" id="{879C5CD3-DEFF-7600-B97B-CF0DDE7F7307}"/>
              </a:ext>
            </a:extLst>
          </p:cNvPr>
          <p:cNvSpPr/>
          <p:nvPr/>
        </p:nvSpPr>
        <p:spPr>
          <a:xfrm>
            <a:off x="9412754" y="4725858"/>
            <a:ext cx="365760" cy="365760"/>
          </a:xfrm>
          <a:prstGeom prst="rect">
            <a:avLst/>
          </a:prstGeom>
          <a:noFill/>
          <a:ln/>
        </p:spPr>
        <p:txBody>
          <a:bodyPr wrap="square" lIns="0" tIns="0" rIns="0" bIns="0" rtlCol="0" anchor="ctr"/>
          <a:lstStyle/>
          <a:p>
            <a:pPr marL="0" indent="0">
              <a:buNone/>
            </a:pPr>
            <a:r>
              <a:rPr lang="en-US" sz="900" b="1">
                <a:solidFill>
                  <a:srgbClr val="86BC25"/>
                </a:solidFill>
                <a:latin typeface="Georgia" pitchFamily="34" charset="0"/>
                <a:ea typeface="Georgia" pitchFamily="34" charset="-122"/>
                <a:cs typeface="Georgia" pitchFamily="34" charset="-120"/>
              </a:rPr>
              <a:t>"</a:t>
            </a:r>
            <a:endParaRPr lang="en-US" sz="900"/>
          </a:p>
        </p:txBody>
      </p:sp>
      <p:sp>
        <p:nvSpPr>
          <p:cNvPr id="122" name="Text 84">
            <a:extLst>
              <a:ext uri="{FF2B5EF4-FFF2-40B4-BE49-F238E27FC236}">
                <a16:creationId xmlns:a16="http://schemas.microsoft.com/office/drawing/2014/main" id="{C54FB01B-708E-50BB-06A8-95CA01FAB675}"/>
              </a:ext>
            </a:extLst>
          </p:cNvPr>
          <p:cNvSpPr/>
          <p:nvPr/>
        </p:nvSpPr>
        <p:spPr>
          <a:xfrm>
            <a:off x="9504194" y="4963602"/>
            <a:ext cx="2023567" cy="1243584"/>
          </a:xfrm>
          <a:prstGeom prst="rect">
            <a:avLst/>
          </a:prstGeom>
          <a:noFill/>
          <a:ln/>
        </p:spPr>
        <p:txBody>
          <a:bodyPr wrap="square" lIns="0" tIns="0" rIns="0" bIns="0" rtlCol="0" anchor="t"/>
          <a:lstStyle/>
          <a:p>
            <a:pPr marL="0" indent="0">
              <a:lnSpc>
                <a:spcPct val="108000"/>
              </a:lnSpc>
              <a:buNone/>
            </a:pPr>
            <a:r>
              <a:rPr lang="en-US" sz="900" i="1">
                <a:solidFill>
                  <a:srgbClr val="1A1A1A"/>
                </a:solidFill>
                <a:latin typeface="Arial" pitchFamily="34" charset="0"/>
                <a:ea typeface="Arial" pitchFamily="34" charset="-122"/>
                <a:cs typeface="Arial" pitchFamily="34" charset="-120"/>
              </a:rPr>
              <a:t>Transforming AI into an </a:t>
            </a:r>
            <a:r>
              <a:rPr lang="en-US" sz="900" b="1" i="1">
                <a:solidFill>
                  <a:srgbClr val="5A8A1A"/>
                </a:solidFill>
                <a:latin typeface="Arial" pitchFamily="34" charset="0"/>
                <a:ea typeface="Arial" pitchFamily="34" charset="-122"/>
                <a:cs typeface="Arial" pitchFamily="34" charset="-120"/>
              </a:rPr>
              <a:t>enterprise digital workforce</a:t>
            </a:r>
            <a:r>
              <a:rPr lang="en-US" sz="900" i="1">
                <a:solidFill>
                  <a:srgbClr val="1A1A1A"/>
                </a:solidFill>
                <a:latin typeface="Arial" pitchFamily="34" charset="0"/>
                <a:ea typeface="Arial" pitchFamily="34" charset="-122"/>
                <a:cs typeface="Arial" pitchFamily="34" charset="-120"/>
              </a:rPr>
              <a:t> that understands business context, makes informed decisions, orchestrates workflows and executes actions securely across the enterprise ecosystem.</a:t>
            </a:r>
            <a:endParaRPr lang="en-US" sz="900"/>
          </a:p>
        </p:txBody>
      </p:sp>
      <p:grpSp>
        <p:nvGrpSpPr>
          <p:cNvPr id="123" name="Group 122">
            <a:extLst>
              <a:ext uri="{FF2B5EF4-FFF2-40B4-BE49-F238E27FC236}">
                <a16:creationId xmlns:a16="http://schemas.microsoft.com/office/drawing/2014/main" id="{4539C3BB-55FF-57BC-70E1-DE34358DA020}"/>
              </a:ext>
            </a:extLst>
          </p:cNvPr>
          <p:cNvGrpSpPr/>
          <p:nvPr/>
        </p:nvGrpSpPr>
        <p:grpSpPr>
          <a:xfrm>
            <a:off x="9404802" y="2910178"/>
            <a:ext cx="224227" cy="222637"/>
            <a:chOff x="9563828" y="2623931"/>
            <a:chExt cx="224227" cy="222637"/>
          </a:xfrm>
        </p:grpSpPr>
        <p:sp>
          <p:nvSpPr>
            <p:cNvPr id="124" name="Shape 76">
              <a:extLst>
                <a:ext uri="{FF2B5EF4-FFF2-40B4-BE49-F238E27FC236}">
                  <a16:creationId xmlns:a16="http://schemas.microsoft.com/office/drawing/2014/main" id="{8A915D2E-E032-6CC2-4F09-06557BB94FCA}"/>
                </a:ext>
              </a:extLst>
            </p:cNvPr>
            <p:cNvSpPr/>
            <p:nvPr/>
          </p:nvSpPr>
          <p:spPr>
            <a:xfrm>
              <a:off x="9563828" y="2623931"/>
              <a:ext cx="224227" cy="222637"/>
            </a:xfrm>
            <a:prstGeom prst="ellipse">
              <a:avLst/>
            </a:prstGeom>
            <a:solidFill>
              <a:srgbClr val="2E5C8A"/>
            </a:solidFill>
            <a:ln/>
          </p:spPr>
          <p:txBody>
            <a:bodyPr/>
            <a:lstStyle/>
            <a:p>
              <a:endParaRPr lang="en-IN" sz="900"/>
            </a:p>
          </p:txBody>
        </p:sp>
        <p:pic>
          <p:nvPicPr>
            <p:cNvPr id="125" name="Image 36" descr="preencoded.png">
              <a:extLst>
                <a:ext uri="{FF2B5EF4-FFF2-40B4-BE49-F238E27FC236}">
                  <a16:creationId xmlns:a16="http://schemas.microsoft.com/office/drawing/2014/main" id="{A3C794FA-5CBA-BB98-4827-79FCD9B57FCC}"/>
                </a:ext>
              </a:extLst>
            </p:cNvPr>
            <p:cNvPicPr>
              <a:picLocks noChangeAspect="1"/>
            </p:cNvPicPr>
            <p:nvPr/>
          </p:nvPicPr>
          <p:blipFill>
            <a:blip r:embed="rId35"/>
            <a:stretch>
              <a:fillRect/>
            </a:stretch>
          </p:blipFill>
          <p:spPr>
            <a:xfrm>
              <a:off x="9602129" y="2672169"/>
              <a:ext cx="123643" cy="123643"/>
            </a:xfrm>
            <a:prstGeom prst="rect">
              <a:avLst/>
            </a:prstGeom>
          </p:spPr>
        </p:pic>
      </p:grpSp>
    </p:spTree>
    <p:extLst>
      <p:ext uri="{BB962C8B-B14F-4D97-AF65-F5344CB8AC3E}">
        <p14:creationId xmlns:p14="http://schemas.microsoft.com/office/powerpoint/2010/main" val="3475734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8A94-F37C-5349-E872-761AFC638D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7F568D-AE80-A49D-4885-30B98312DA41}"/>
              </a:ext>
            </a:extLst>
          </p:cNvPr>
          <p:cNvSpPr/>
          <p:nvPr/>
        </p:nvSpPr>
        <p:spPr bwMode="gray">
          <a:xfrm>
            <a:off x="0" y="1"/>
            <a:ext cx="12192000" cy="6858000"/>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 name="Text Placeholder 2">
            <a:extLst>
              <a:ext uri="{FF2B5EF4-FFF2-40B4-BE49-F238E27FC236}">
                <a16:creationId xmlns:a16="http://schemas.microsoft.com/office/drawing/2014/main" id="{E3A17564-DDE6-DAE6-00BF-7937A36F76B8}"/>
              </a:ext>
            </a:extLst>
          </p:cNvPr>
          <p:cNvSpPr>
            <a:spLocks noGrp="1"/>
          </p:cNvSpPr>
          <p:nvPr>
            <p:ph type="body" sz="quarter" idx="13"/>
          </p:nvPr>
        </p:nvSpPr>
        <p:spPr/>
        <p:txBody>
          <a:bodyPr>
            <a:noAutofit/>
          </a:bodyPr>
          <a:lstStyle/>
          <a:p>
            <a:r>
              <a:rPr lang="en-US">
                <a:solidFill>
                  <a:schemeClr val="bg1"/>
                </a:solidFill>
              </a:rPr>
              <a:t>Deloitte refers to one or more of Deloitte Touche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does not provide services to clients. Please see </a:t>
            </a:r>
            <a:r>
              <a:rPr lang="en-US" err="1">
                <a:solidFill>
                  <a:schemeClr val="bg1"/>
                </a:solidFill>
              </a:rPr>
              <a:t>www.deloitte.com</a:t>
            </a:r>
            <a:r>
              <a:rPr lang="en-US">
                <a:solidFill>
                  <a:schemeClr val="bg1"/>
                </a:solidFill>
              </a:rPr>
              <a:t>/about to learn more.</a:t>
            </a:r>
          </a:p>
          <a:p>
            <a:r>
              <a:rPr lang="en-US">
                <a:solidFill>
                  <a:schemeClr val="bg1"/>
                </a:solidFill>
              </a:rPr>
              <a:t>Deloitte Asia Pacific Limited is a company limited by guarantee and a member firm of DTTL. Members of Deloitte Asia Pacific Limited and their related entities, each of which is a separate and independent legal entity, provide services from more than 100 cities across the region, including Auckland, Bangkok, Beijing, Bengaluru, Hanoi, Hong Kong, Jakarta, Kuala Lumpur, Manila, Melbourne, Mumbai, New Delhi, Osaka, Seoul, Shanghai, Singapore, Sydney, Taipei and Tokyo.</a:t>
            </a:r>
          </a:p>
          <a:p>
            <a:r>
              <a:rPr lang="en-US">
                <a:solidFill>
                  <a:schemeClr val="bg1"/>
                </a:solidFill>
              </a:rPr>
              <a:t>This communication and any attachment to it is for internal distribution among personnel of the Deloitte organization. </a:t>
            </a:r>
          </a:p>
          <a:p>
            <a:r>
              <a:rPr lang="en-US">
                <a:solidFill>
                  <a:schemeClr val="bg1"/>
                </a:solidFill>
              </a:rPr>
              <a:t>It may contain confidential information and is intended solely for the use of the individual or entity to whom it is addressed. If you are not the intended recipient, please notify us immediately by replying to this email and then please delete this communication and all copies of it on your system. Please do not use this communication in any way. </a:t>
            </a:r>
          </a:p>
          <a:p>
            <a:r>
              <a:rPr lang="en-US">
                <a:solidFill>
                  <a:schemeClr val="bg1"/>
                </a:solidFill>
              </a:rPr>
              <a:t>None of DTTL, its member firms, related entities, employees or agents shall be responsible for any loss or damage whatsoever arising directly or indirectly in connection with any person relying on this communication. </a:t>
            </a:r>
          </a:p>
          <a:p>
            <a:r>
              <a:rPr lang="en-US">
                <a:solidFill>
                  <a:schemeClr val="bg1"/>
                </a:solidFill>
              </a:rPr>
              <a:t>© 2025 Deloitte Touche Tohmatsu India LLP. </a:t>
            </a:r>
          </a:p>
        </p:txBody>
      </p:sp>
      <p:pic>
        <p:nvPicPr>
          <p:cNvPr id="2" name="Picture 1" descr="Deloitte logo lockup with Together makes progress tagline">
            <a:extLst>
              <a:ext uri="{FF2B5EF4-FFF2-40B4-BE49-F238E27FC236}">
                <a16:creationId xmlns:a16="http://schemas.microsoft.com/office/drawing/2014/main" id="{EEAB85A8-39FA-1B1C-6168-53644C189D94}"/>
              </a:ext>
            </a:extLst>
          </p:cNvPr>
          <p:cNvPicPr>
            <a:picLocks noChangeAspect="1"/>
          </p:cNvPicPr>
          <p:nvPr/>
        </p:nvPicPr>
        <p:blipFill>
          <a:blip r:embed="rId3">
            <a:extLst>
              <a:ext uri="{28A0092B-C50C-407E-A947-70E740481C1C}">
                <a14:useLocalDpi xmlns:a14="http://schemas.microsoft.com/office/drawing/2010/main" val="0"/>
              </a:ext>
            </a:extLst>
          </a:blip>
          <a:srcRect l="7335" t="16745" r="8719" b="40445"/>
          <a:stretch>
            <a:fillRect/>
          </a:stretch>
        </p:blipFill>
        <p:spPr>
          <a:xfrm>
            <a:off x="390210" y="263196"/>
            <a:ext cx="2476122" cy="594269"/>
          </a:xfrm>
          <a:prstGeom prst="rect">
            <a:avLst/>
          </a:prstGeom>
        </p:spPr>
      </p:pic>
    </p:spTree>
    <p:extLst>
      <p:ext uri="{BB962C8B-B14F-4D97-AF65-F5344CB8AC3E}">
        <p14:creationId xmlns:p14="http://schemas.microsoft.com/office/powerpoint/2010/main" val="54333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F3F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24000"/>
          </a:xfrm>
          <a:prstGeom prst="rect">
            <a:avLst/>
          </a:prstGeom>
          <a:solidFill>
            <a:srgbClr val="0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1" y="0"/>
            <a:ext cx="58521" cy="15240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280416" y="203095"/>
            <a:ext cx="10728960" cy="66678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3733" b="1" i="0" u="none" strike="noStrike" kern="1200" cap="none" spc="0" normalizeH="0" baseline="0" noProof="0">
                <a:ln>
                  <a:noFill/>
                </a:ln>
                <a:solidFill>
                  <a:srgbClr val="FFFFFF"/>
                </a:solidFill>
                <a:effectLst/>
                <a:uLnTx/>
                <a:uFillTx/>
                <a:latin typeface="Calibri"/>
                <a:ea typeface="+mn-ea"/>
                <a:cs typeface="+mn-cs"/>
              </a:rPr>
              <a:t>Building  AI-First LOS on AWS</a:t>
            </a:r>
          </a:p>
        </p:txBody>
      </p:sp>
      <p:sp>
        <p:nvSpPr>
          <p:cNvPr id="7" name="TextBox 6"/>
          <p:cNvSpPr txBox="1"/>
          <p:nvPr/>
        </p:nvSpPr>
        <p:spPr>
          <a:xfrm>
            <a:off x="280416" y="918534"/>
            <a:ext cx="10972800" cy="297454"/>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333" b="0" i="1" u="none" strike="noStrike" kern="1200" cap="none" spc="0" normalizeH="0" baseline="0" noProof="0">
                <a:ln>
                  <a:noFill/>
                </a:ln>
                <a:solidFill>
                  <a:srgbClr val="7EB8DF"/>
                </a:solidFill>
                <a:effectLst/>
                <a:uLnTx/>
                <a:uFillTx/>
                <a:latin typeface="Calibri"/>
                <a:ea typeface="+mn-ea"/>
                <a:cs typeface="+mn-cs"/>
              </a:rPr>
              <a:t>A headless lending platform designed for speed, control, intelligence, and scale</a:t>
            </a:r>
          </a:p>
        </p:txBody>
      </p:sp>
      <p:sp>
        <p:nvSpPr>
          <p:cNvPr id="8" name="Rectangle 7"/>
          <p:cNvSpPr/>
          <p:nvPr/>
        </p:nvSpPr>
        <p:spPr>
          <a:xfrm>
            <a:off x="226716" y="1807567"/>
            <a:ext cx="2657856" cy="3596640"/>
          </a:xfrm>
          <a:prstGeom prst="rect">
            <a:avLst/>
          </a:prstGeom>
          <a:solidFill>
            <a:srgbClr val="0718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226716" y="1807567"/>
            <a:ext cx="73152" cy="359664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299868" y="1807567"/>
            <a:ext cx="2584704" cy="585216"/>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397404" y="1856335"/>
            <a:ext cx="2438400" cy="235898"/>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933" b="1" i="0" u="none" strike="noStrike" kern="1200" cap="none" spc="0" normalizeH="0" baseline="0" noProof="0">
                <a:ln>
                  <a:noFill/>
                </a:ln>
                <a:solidFill>
                  <a:srgbClr val="86BC25"/>
                </a:solidFill>
                <a:effectLst/>
                <a:uLnTx/>
                <a:uFillTx/>
                <a:latin typeface="Calibri"/>
                <a:ea typeface="+mn-ea"/>
                <a:cs typeface="+mn-cs"/>
              </a:rPr>
              <a:t>THE CASE FOR CHANGE</a:t>
            </a:r>
          </a:p>
        </p:txBody>
      </p:sp>
      <p:sp>
        <p:nvSpPr>
          <p:cNvPr id="12" name="TextBox 11"/>
          <p:cNvSpPr txBox="1"/>
          <p:nvPr/>
        </p:nvSpPr>
        <p:spPr>
          <a:xfrm>
            <a:off x="397404" y="2075791"/>
            <a:ext cx="2438400" cy="297454"/>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333" b="1" i="0" u="none" strike="noStrike" kern="1200" cap="none" spc="0" normalizeH="0" baseline="0" noProof="0">
                <a:ln>
                  <a:noFill/>
                </a:ln>
                <a:solidFill>
                  <a:srgbClr val="FFFFFF"/>
                </a:solidFill>
                <a:effectLst/>
                <a:uLnTx/>
                <a:uFillTx/>
                <a:latin typeface="Calibri"/>
                <a:ea typeface="+mn-ea"/>
                <a:cs typeface="+mn-cs"/>
              </a:rPr>
              <a:t>Why This, Why Now</a:t>
            </a:r>
          </a:p>
        </p:txBody>
      </p:sp>
      <p:sp>
        <p:nvSpPr>
          <p:cNvPr id="13" name="Rectangle 12"/>
          <p:cNvSpPr/>
          <p:nvPr/>
        </p:nvSpPr>
        <p:spPr>
          <a:xfrm>
            <a:off x="397404" y="2392784"/>
            <a:ext cx="2414016" cy="9753"/>
          </a:xfrm>
          <a:prstGeom prst="rect">
            <a:avLst/>
          </a:prstGeom>
          <a:solidFill>
            <a:srgbClr val="1A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461014" y="2633973"/>
            <a:ext cx="88687" cy="88343"/>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638626" y="2518717"/>
            <a:ext cx="2263600" cy="266676"/>
          </a:xfrm>
          <a:prstGeom prst="rect">
            <a:avLst/>
          </a:prstGeom>
          <a:noFill/>
        </p:spPr>
        <p:txBody>
          <a:bodyPr wrap="square" lIns="91440" tIns="45720" rIns="91440" bIns="45720" anchor="t">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133" b="1" i="0" u="none" strike="noStrike" kern="1200" cap="none" spc="0" normalizeH="0" baseline="0" noProof="0">
                <a:ln>
                  <a:noFill/>
                </a:ln>
                <a:solidFill>
                  <a:srgbClr val="FFFFFF"/>
                </a:solidFill>
                <a:effectLst/>
                <a:uLnTx/>
                <a:uFillTx/>
                <a:latin typeface="Calibri"/>
                <a:ea typeface="+mn-ea"/>
                <a:cs typeface="+mn-cs"/>
              </a:rPr>
              <a:t>Agentic first is the new baseline</a:t>
            </a:r>
            <a:endParaRPr kumimoji="0" sz="1133" b="1" i="0" u="none" strike="noStrike" kern="1200" cap="none" spc="0" normalizeH="0" baseline="0" noProof="0">
              <a:ln>
                <a:noFill/>
              </a:ln>
              <a:solidFill>
                <a:srgbClr val="FFFFFF"/>
              </a:solidFill>
              <a:effectLst/>
              <a:uLnTx/>
              <a:uFillTx/>
              <a:latin typeface="Calibri"/>
              <a:ea typeface="+mn-ea"/>
              <a:cs typeface="+mn-cs"/>
            </a:endParaRPr>
          </a:p>
        </p:txBody>
      </p:sp>
      <p:sp>
        <p:nvSpPr>
          <p:cNvPr id="16" name="TextBox 15"/>
          <p:cNvSpPr txBox="1"/>
          <p:nvPr/>
        </p:nvSpPr>
        <p:spPr>
          <a:xfrm>
            <a:off x="627992" y="2686983"/>
            <a:ext cx="2072640" cy="400110"/>
          </a:xfrm>
          <a:prstGeom prst="rect">
            <a:avLst/>
          </a:prstGeom>
          <a:noFill/>
        </p:spPr>
        <p:txBody>
          <a:bodyPr wrap="square" lIns="91440" tIns="45720" rIns="91440" bIns="45720" anchor="t">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8AAFD4"/>
                </a:solidFill>
                <a:effectLst/>
                <a:uLnTx/>
                <a:uFillTx/>
                <a:latin typeface="Calibri"/>
                <a:ea typeface="+mn-ea"/>
                <a:cs typeface="+mn-cs"/>
              </a:rPr>
              <a:t>Native Intelligence, not an afterthought</a:t>
            </a:r>
            <a:endParaRPr kumimoji="0" sz="1000" b="0" i="0" u="none" strike="noStrike" kern="1200" cap="none" spc="0" normalizeH="0" baseline="0" noProof="0">
              <a:ln>
                <a:noFill/>
              </a:ln>
              <a:solidFill>
                <a:srgbClr val="8AAFD4"/>
              </a:solidFill>
              <a:effectLst/>
              <a:uLnTx/>
              <a:uFillTx/>
              <a:latin typeface="Calibri"/>
              <a:ea typeface="+mn-ea"/>
              <a:cs typeface="+mn-cs"/>
            </a:endParaRPr>
          </a:p>
        </p:txBody>
      </p:sp>
      <p:sp>
        <p:nvSpPr>
          <p:cNvPr id="20" name="Rectangle 19"/>
          <p:cNvSpPr/>
          <p:nvPr/>
        </p:nvSpPr>
        <p:spPr>
          <a:xfrm>
            <a:off x="450381" y="3433080"/>
            <a:ext cx="88687" cy="88343"/>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14675" y="4707510"/>
            <a:ext cx="2072640"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Decouple from backends</a:t>
            </a:r>
          </a:p>
        </p:txBody>
      </p:sp>
      <p:sp>
        <p:nvSpPr>
          <p:cNvPr id="22" name="TextBox 21"/>
          <p:cNvSpPr txBox="1"/>
          <p:nvPr/>
        </p:nvSpPr>
        <p:spPr>
          <a:xfrm>
            <a:off x="616016" y="4883531"/>
            <a:ext cx="2072640"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AAFD4"/>
                </a:solidFill>
                <a:effectLst/>
                <a:uLnTx/>
                <a:uFillTx/>
                <a:latin typeface="Calibri"/>
                <a:ea typeface="+mn-ea"/>
                <a:cs typeface="+mn-cs"/>
              </a:rPr>
              <a:t>Frees product from core systems</a:t>
            </a:r>
          </a:p>
        </p:txBody>
      </p:sp>
      <p:sp>
        <p:nvSpPr>
          <p:cNvPr id="23" name="Rectangle 22"/>
          <p:cNvSpPr/>
          <p:nvPr/>
        </p:nvSpPr>
        <p:spPr>
          <a:xfrm>
            <a:off x="461015" y="4142493"/>
            <a:ext cx="88687" cy="88343"/>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643895" y="4022164"/>
            <a:ext cx="2072640"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Business agility is critical</a:t>
            </a:r>
          </a:p>
        </p:txBody>
      </p:sp>
      <p:sp>
        <p:nvSpPr>
          <p:cNvPr id="25" name="TextBox 24"/>
          <p:cNvSpPr txBox="1"/>
          <p:nvPr/>
        </p:nvSpPr>
        <p:spPr>
          <a:xfrm>
            <a:off x="651845" y="4211406"/>
            <a:ext cx="2072640"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AAFD4"/>
                </a:solidFill>
                <a:effectLst/>
                <a:uLnTx/>
                <a:uFillTx/>
                <a:latin typeface="Calibri"/>
                <a:ea typeface="+mn-ea"/>
                <a:cs typeface="+mn-cs"/>
              </a:rPr>
              <a:t>Launch new products in days</a:t>
            </a:r>
          </a:p>
        </p:txBody>
      </p:sp>
      <p:sp>
        <p:nvSpPr>
          <p:cNvPr id="26" name="Rectangle 25"/>
          <p:cNvSpPr/>
          <p:nvPr/>
        </p:nvSpPr>
        <p:spPr>
          <a:xfrm>
            <a:off x="476917" y="4817613"/>
            <a:ext cx="88687" cy="88343"/>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630675" y="3325133"/>
            <a:ext cx="2072640"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Headless is the future</a:t>
            </a:r>
          </a:p>
        </p:txBody>
      </p:sp>
      <p:sp>
        <p:nvSpPr>
          <p:cNvPr id="28" name="TextBox 27"/>
          <p:cNvSpPr txBox="1"/>
          <p:nvPr/>
        </p:nvSpPr>
        <p:spPr>
          <a:xfrm>
            <a:off x="630675" y="3499813"/>
            <a:ext cx="2072640"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AAFD4"/>
                </a:solidFill>
                <a:effectLst/>
                <a:uLnTx/>
                <a:uFillTx/>
                <a:latin typeface="Calibri"/>
                <a:ea typeface="+mn-ea"/>
                <a:cs typeface="+mn-cs"/>
              </a:rPr>
              <a:t>Composable, extensible by design</a:t>
            </a:r>
          </a:p>
        </p:txBody>
      </p:sp>
      <p:sp>
        <p:nvSpPr>
          <p:cNvPr id="29" name="Rectangle 28"/>
          <p:cNvSpPr/>
          <p:nvPr/>
        </p:nvSpPr>
        <p:spPr>
          <a:xfrm>
            <a:off x="3006493" y="1807567"/>
            <a:ext cx="5096255" cy="3596640"/>
          </a:xfrm>
          <a:prstGeom prst="rect">
            <a:avLst/>
          </a:prstGeom>
          <a:solidFill>
            <a:srgbClr val="FFFFFF"/>
          </a:solidFill>
          <a:ln w="9525">
            <a:solidFill>
              <a:srgbClr val="C8D8E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0" name="Rectangle 29"/>
          <p:cNvSpPr/>
          <p:nvPr/>
        </p:nvSpPr>
        <p:spPr>
          <a:xfrm>
            <a:off x="3006492" y="1807567"/>
            <a:ext cx="121920" cy="3596640"/>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3128412" y="1807567"/>
            <a:ext cx="4974336" cy="67056"/>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3274716" y="1892911"/>
            <a:ext cx="4730496" cy="235898"/>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933" b="1" i="0" u="none" strike="noStrike" kern="1200" cap="none" spc="0" normalizeH="0" baseline="0" noProof="0">
                <a:ln>
                  <a:noFill/>
                </a:ln>
                <a:solidFill>
                  <a:srgbClr val="1E5FA5"/>
                </a:solidFill>
                <a:effectLst/>
                <a:uLnTx/>
                <a:uFillTx/>
                <a:latin typeface="Calibri"/>
                <a:ea typeface="+mn-ea"/>
                <a:cs typeface="+mn-cs"/>
              </a:rPr>
              <a:t>ARCHITECTURE</a:t>
            </a:r>
          </a:p>
        </p:txBody>
      </p:sp>
      <p:sp>
        <p:nvSpPr>
          <p:cNvPr id="33" name="TextBox 32"/>
          <p:cNvSpPr txBox="1"/>
          <p:nvPr/>
        </p:nvSpPr>
        <p:spPr>
          <a:xfrm>
            <a:off x="3274716" y="2087983"/>
            <a:ext cx="4730496" cy="37965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867" b="1" i="0" u="none" strike="noStrike" kern="1200" cap="none" spc="0" normalizeH="0" baseline="0" noProof="0">
                <a:ln>
                  <a:noFill/>
                </a:ln>
                <a:solidFill>
                  <a:srgbClr val="1E5FA5"/>
                </a:solidFill>
                <a:effectLst/>
                <a:uLnTx/>
                <a:uFillTx/>
                <a:latin typeface="Calibri"/>
                <a:ea typeface="+mn-ea"/>
                <a:cs typeface="+mn-cs"/>
              </a:rPr>
              <a:t>What We Are Building</a:t>
            </a:r>
          </a:p>
        </p:txBody>
      </p:sp>
      <p:sp>
        <p:nvSpPr>
          <p:cNvPr id="34" name="Rectangle 33"/>
          <p:cNvSpPr/>
          <p:nvPr/>
        </p:nvSpPr>
        <p:spPr>
          <a:xfrm>
            <a:off x="3274716" y="2441552"/>
            <a:ext cx="4706112" cy="975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3274716" y="2563471"/>
            <a:ext cx="4608576" cy="682752"/>
          </a:xfrm>
          <a:prstGeom prst="rect">
            <a:avLst/>
          </a:prstGeom>
          <a:solidFill>
            <a:srgbClr val="DEEAF7"/>
          </a:solidFill>
          <a:ln w="9525">
            <a:solidFill>
              <a:srgbClr val="9AB8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3274716" y="2563471"/>
            <a:ext cx="73152" cy="682752"/>
          </a:xfrm>
          <a:prstGeom prst="rect">
            <a:avLst/>
          </a:prstGeom>
          <a:solidFill>
            <a:srgbClr val="2E7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6"/>
          <p:cNvSpPr txBox="1"/>
          <p:nvPr/>
        </p:nvSpPr>
        <p:spPr>
          <a:xfrm>
            <a:off x="3421021" y="2612239"/>
            <a:ext cx="4437887" cy="297454"/>
          </a:xfrm>
          <a:prstGeom prst="rect">
            <a:avLst/>
          </a:prstGeom>
          <a:noFill/>
        </p:spPr>
        <p:txBody>
          <a:bodyPr wrap="square" lIns="91440" tIns="45720" rIns="91440" bIns="45720" anchor="t">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E5FA5"/>
                </a:solidFill>
                <a:effectLst/>
                <a:uLnTx/>
                <a:uFillTx/>
                <a:latin typeface="Calibri"/>
                <a:ea typeface="+mn-ea"/>
                <a:cs typeface="+mn-cs"/>
              </a:rPr>
              <a:t>Agentic Engagement</a:t>
            </a:r>
            <a:r>
              <a:rPr kumimoji="0" sz="1300" b="1" i="0" u="none" strike="noStrike" kern="1200" cap="none" spc="0" normalizeH="0" baseline="0" noProof="0">
                <a:ln>
                  <a:noFill/>
                </a:ln>
                <a:solidFill>
                  <a:srgbClr val="1E5FA5"/>
                </a:solidFill>
                <a:effectLst/>
                <a:uLnTx/>
                <a:uFillTx/>
                <a:latin typeface="Calibri"/>
                <a:ea typeface="+mn-ea"/>
                <a:cs typeface="+mn-cs"/>
              </a:rPr>
              <a:t> Layer</a:t>
            </a:r>
          </a:p>
        </p:txBody>
      </p:sp>
      <p:sp>
        <p:nvSpPr>
          <p:cNvPr id="38" name="TextBox 37"/>
          <p:cNvSpPr txBox="1"/>
          <p:nvPr/>
        </p:nvSpPr>
        <p:spPr>
          <a:xfrm>
            <a:off x="3421021" y="2929230"/>
            <a:ext cx="443788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64748B"/>
                </a:solidFill>
                <a:effectLst/>
                <a:uLnTx/>
                <a:uFillTx/>
                <a:latin typeface="Calibri"/>
                <a:ea typeface="+mn-ea"/>
                <a:cs typeface="+mn-cs"/>
              </a:rPr>
              <a:t>Branch · DSA · Digital · Aggregator · Contact Center · API</a:t>
            </a:r>
          </a:p>
        </p:txBody>
      </p:sp>
      <p:sp>
        <p:nvSpPr>
          <p:cNvPr id="39" name="Rectangle 38"/>
          <p:cNvSpPr/>
          <p:nvPr/>
        </p:nvSpPr>
        <p:spPr>
          <a:xfrm>
            <a:off x="5457084" y="3246223"/>
            <a:ext cx="243840" cy="170688"/>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40" name="TextBox 39"/>
          <p:cNvSpPr txBox="1"/>
          <p:nvPr/>
        </p:nvSpPr>
        <p:spPr>
          <a:xfrm>
            <a:off x="5432700" y="3246224"/>
            <a:ext cx="292608" cy="276999"/>
          </a:xfrm>
          <a:prstGeom prst="rect">
            <a:avLst/>
          </a:prstGeom>
          <a:noFill/>
        </p:spPr>
        <p:txBody>
          <a:bodyPr wrap="square">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Calibri"/>
                <a:ea typeface="+mn-ea"/>
                <a:cs typeface="+mn-cs"/>
              </a:rPr>
              <a:t>▼</a:t>
            </a:r>
          </a:p>
        </p:txBody>
      </p:sp>
      <p:sp>
        <p:nvSpPr>
          <p:cNvPr id="41" name="Rectangle 40"/>
          <p:cNvSpPr/>
          <p:nvPr/>
        </p:nvSpPr>
        <p:spPr>
          <a:xfrm>
            <a:off x="3274716" y="3416911"/>
            <a:ext cx="4608576" cy="999744"/>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42" name="Rectangle 41"/>
          <p:cNvSpPr/>
          <p:nvPr/>
        </p:nvSpPr>
        <p:spPr>
          <a:xfrm>
            <a:off x="3274716" y="3416911"/>
            <a:ext cx="73152" cy="999744"/>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43" name="TextBox 42"/>
          <p:cNvSpPr txBox="1"/>
          <p:nvPr/>
        </p:nvSpPr>
        <p:spPr>
          <a:xfrm>
            <a:off x="3421021" y="3465679"/>
            <a:ext cx="4437887" cy="297454"/>
          </a:xfrm>
          <a:prstGeom prst="rect">
            <a:avLst/>
          </a:prstGeom>
          <a:noFill/>
        </p:spPr>
        <p:txBody>
          <a:bodyPr wrap="square" lIns="91440" tIns="45720" rIns="91440" bIns="45720" anchor="t">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a:ea typeface="+mn-ea"/>
                <a:cs typeface="+mn-cs"/>
              </a:rPr>
              <a:t>Headless</a:t>
            </a:r>
            <a:r>
              <a:rPr kumimoji="0" sz="1300" b="1" i="0" u="none" strike="noStrike" kern="1200" cap="none" spc="0" normalizeH="0" baseline="0" noProof="0">
                <a:ln>
                  <a:noFill/>
                </a:ln>
                <a:solidFill>
                  <a:srgbClr val="FFFFFF"/>
                </a:solidFill>
                <a:effectLst/>
                <a:uLnTx/>
                <a:uFillTx/>
                <a:latin typeface="Calibri"/>
                <a:ea typeface="+mn-ea"/>
                <a:cs typeface="+mn-cs"/>
              </a:rPr>
              <a:t> LOS Core</a:t>
            </a:r>
            <a:r>
              <a:rPr kumimoji="0" lang="en-US" sz="1300" b="1" i="0" u="none" strike="noStrike" kern="1200" cap="none" spc="0" normalizeH="0" baseline="0" noProof="0">
                <a:ln>
                  <a:noFill/>
                </a:ln>
                <a:solidFill>
                  <a:srgbClr val="FFFFFF"/>
                </a:solidFill>
                <a:effectLst/>
                <a:uLnTx/>
                <a:uFillTx/>
                <a:latin typeface="Calibri"/>
                <a:ea typeface="+mn-ea"/>
                <a:cs typeface="+mn-cs"/>
              </a:rPr>
              <a:t> | AI Ready</a:t>
            </a:r>
            <a:endParaRPr kumimoji="0" sz="1300" b="1" i="0" u="none" strike="noStrike" kern="1200" cap="none" spc="0" normalizeH="0" baseline="0" noProof="0">
              <a:ln>
                <a:noFill/>
              </a:ln>
              <a:solidFill>
                <a:srgbClr val="FFFFFF"/>
              </a:solidFill>
              <a:effectLst/>
              <a:uLnTx/>
              <a:uFillTx/>
              <a:latin typeface="Calibri"/>
              <a:ea typeface="+mn-ea"/>
              <a:cs typeface="+mn-cs"/>
            </a:endParaRPr>
          </a:p>
        </p:txBody>
      </p:sp>
      <p:sp>
        <p:nvSpPr>
          <p:cNvPr id="44" name="TextBox 43"/>
          <p:cNvSpPr txBox="1"/>
          <p:nvPr/>
        </p:nvSpPr>
        <p:spPr>
          <a:xfrm>
            <a:off x="3421021" y="3782672"/>
            <a:ext cx="218236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DEEAF7"/>
                </a:solidFill>
                <a:effectLst/>
                <a:uLnTx/>
                <a:uFillTx/>
                <a:latin typeface="Calibri"/>
                <a:ea typeface="+mn-ea"/>
                <a:cs typeface="+mn-cs"/>
              </a:rPr>
              <a:t>• Origination &amp; Journey</a:t>
            </a:r>
          </a:p>
        </p:txBody>
      </p:sp>
      <p:sp>
        <p:nvSpPr>
          <p:cNvPr id="45" name="TextBox 44"/>
          <p:cNvSpPr txBox="1"/>
          <p:nvPr/>
        </p:nvSpPr>
        <p:spPr>
          <a:xfrm>
            <a:off x="3428972" y="3954420"/>
            <a:ext cx="218236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DEEAF7"/>
                </a:solidFill>
                <a:effectLst/>
                <a:uLnTx/>
                <a:uFillTx/>
                <a:latin typeface="Calibri"/>
                <a:ea typeface="+mn-ea"/>
                <a:cs typeface="+mn-cs"/>
              </a:rPr>
              <a:t>• Credit &amp; Decisioning</a:t>
            </a:r>
          </a:p>
        </p:txBody>
      </p:sp>
      <p:sp>
        <p:nvSpPr>
          <p:cNvPr id="46" name="TextBox 45"/>
          <p:cNvSpPr txBox="1"/>
          <p:nvPr/>
        </p:nvSpPr>
        <p:spPr>
          <a:xfrm>
            <a:off x="3428972" y="4110266"/>
            <a:ext cx="218236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DEEAF7"/>
                </a:solidFill>
                <a:effectLst/>
                <a:uLnTx/>
                <a:uFillTx/>
                <a:latin typeface="Calibri"/>
                <a:ea typeface="+mn-ea"/>
                <a:cs typeface="+mn-cs"/>
              </a:rPr>
              <a:t>• Workflow Engine</a:t>
            </a:r>
          </a:p>
        </p:txBody>
      </p:sp>
      <p:sp>
        <p:nvSpPr>
          <p:cNvPr id="47" name="TextBox 46"/>
          <p:cNvSpPr txBox="1"/>
          <p:nvPr/>
        </p:nvSpPr>
        <p:spPr>
          <a:xfrm>
            <a:off x="5603389" y="3766769"/>
            <a:ext cx="218236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DEEAF7"/>
                </a:solidFill>
                <a:effectLst/>
                <a:uLnTx/>
                <a:uFillTx/>
                <a:latin typeface="Calibri"/>
                <a:ea typeface="+mn-ea"/>
                <a:cs typeface="+mn-cs"/>
              </a:rPr>
              <a:t>• Document Intelligence</a:t>
            </a:r>
          </a:p>
        </p:txBody>
      </p:sp>
      <p:sp>
        <p:nvSpPr>
          <p:cNvPr id="48" name="TextBox 47"/>
          <p:cNvSpPr txBox="1"/>
          <p:nvPr/>
        </p:nvSpPr>
        <p:spPr>
          <a:xfrm>
            <a:off x="5603389" y="3946468"/>
            <a:ext cx="218236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DEEAF7"/>
                </a:solidFill>
                <a:effectLst/>
                <a:uLnTx/>
                <a:uFillTx/>
                <a:latin typeface="Calibri"/>
                <a:ea typeface="+mn-ea"/>
                <a:cs typeface="+mn-cs"/>
              </a:rPr>
              <a:t>• APIs &amp; Integrations</a:t>
            </a:r>
          </a:p>
        </p:txBody>
      </p:sp>
      <p:sp>
        <p:nvSpPr>
          <p:cNvPr id="49" name="TextBox 48"/>
          <p:cNvSpPr txBox="1"/>
          <p:nvPr/>
        </p:nvSpPr>
        <p:spPr>
          <a:xfrm>
            <a:off x="5603389" y="4102314"/>
            <a:ext cx="218236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DEEAF7"/>
                </a:solidFill>
                <a:effectLst/>
                <a:uLnTx/>
                <a:uFillTx/>
                <a:latin typeface="Calibri"/>
                <a:ea typeface="+mn-ea"/>
                <a:cs typeface="+mn-cs"/>
              </a:rPr>
              <a:t>• Compliance &amp; Audit</a:t>
            </a:r>
          </a:p>
        </p:txBody>
      </p:sp>
      <p:sp>
        <p:nvSpPr>
          <p:cNvPr id="50" name="Rectangle 49"/>
          <p:cNvSpPr/>
          <p:nvPr/>
        </p:nvSpPr>
        <p:spPr>
          <a:xfrm>
            <a:off x="5457084" y="4416655"/>
            <a:ext cx="243840" cy="170688"/>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51" name="TextBox 50"/>
          <p:cNvSpPr txBox="1"/>
          <p:nvPr/>
        </p:nvSpPr>
        <p:spPr>
          <a:xfrm>
            <a:off x="5432700" y="4416656"/>
            <a:ext cx="292608" cy="276999"/>
          </a:xfrm>
          <a:prstGeom prst="rect">
            <a:avLst/>
          </a:prstGeom>
          <a:noFill/>
        </p:spPr>
        <p:txBody>
          <a:bodyPr wrap="square">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C5D9F1"/>
                </a:solidFill>
                <a:effectLst/>
                <a:uLnTx/>
                <a:uFillTx/>
                <a:latin typeface="Calibri"/>
                <a:ea typeface="+mn-ea"/>
                <a:cs typeface="+mn-cs"/>
              </a:rPr>
              <a:t>▼</a:t>
            </a:r>
          </a:p>
        </p:txBody>
      </p:sp>
      <p:sp>
        <p:nvSpPr>
          <p:cNvPr id="52" name="Rectangle 51"/>
          <p:cNvSpPr/>
          <p:nvPr/>
        </p:nvSpPr>
        <p:spPr>
          <a:xfrm>
            <a:off x="3274716" y="4587344"/>
            <a:ext cx="4608576" cy="743711"/>
          </a:xfrm>
          <a:prstGeom prst="rect">
            <a:avLst/>
          </a:prstGeom>
          <a:solidFill>
            <a:srgbClr val="0D3A6E"/>
          </a:solidFill>
          <a:ln w="9525">
            <a:solidFill>
              <a:srgbClr val="2E5A9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52"/>
          <p:cNvSpPr/>
          <p:nvPr/>
        </p:nvSpPr>
        <p:spPr>
          <a:xfrm>
            <a:off x="3274716" y="4587344"/>
            <a:ext cx="73152" cy="743711"/>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54" name="TextBox 53"/>
          <p:cNvSpPr txBox="1"/>
          <p:nvPr/>
        </p:nvSpPr>
        <p:spPr>
          <a:xfrm>
            <a:off x="3421021" y="4636111"/>
            <a:ext cx="4437887" cy="297454"/>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333" b="1" i="0" u="none" strike="noStrike" kern="1200" cap="none" spc="0" normalizeH="0" baseline="0" noProof="0">
                <a:ln>
                  <a:noFill/>
                </a:ln>
                <a:solidFill>
                  <a:srgbClr val="FFFFFF"/>
                </a:solidFill>
                <a:effectLst/>
                <a:uLnTx/>
                <a:uFillTx/>
                <a:latin typeface="Calibri"/>
                <a:ea typeface="+mn-ea"/>
                <a:cs typeface="+mn-cs"/>
              </a:rPr>
              <a:t>Connected Enterprise Services</a:t>
            </a:r>
          </a:p>
        </p:txBody>
      </p:sp>
      <p:sp>
        <p:nvSpPr>
          <p:cNvPr id="55" name="TextBox 54"/>
          <p:cNvSpPr txBox="1"/>
          <p:nvPr/>
        </p:nvSpPr>
        <p:spPr>
          <a:xfrm>
            <a:off x="3421021" y="4953104"/>
            <a:ext cx="4437887"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5D9F1"/>
                </a:solidFill>
                <a:effectLst/>
                <a:uLnTx/>
                <a:uFillTx/>
                <a:latin typeface="Calibri"/>
                <a:ea typeface="+mn-ea"/>
                <a:cs typeface="+mn-cs"/>
              </a:rPr>
              <a:t>CBS · Bureau · </a:t>
            </a:r>
            <a:r>
              <a:rPr kumimoji="0" sz="1000" b="0" i="0" u="none" strike="noStrike" kern="1200" cap="none" spc="0" normalizeH="0" baseline="0" noProof="0" err="1">
                <a:ln>
                  <a:noFill/>
                </a:ln>
                <a:solidFill>
                  <a:srgbClr val="C5D9F1"/>
                </a:solidFill>
                <a:effectLst/>
                <a:uLnTx/>
                <a:uFillTx/>
                <a:latin typeface="Calibri"/>
                <a:ea typeface="+mn-ea"/>
                <a:cs typeface="+mn-cs"/>
              </a:rPr>
              <a:t>eSign</a:t>
            </a:r>
            <a:r>
              <a:rPr kumimoji="0" sz="1000" b="0" i="0" u="none" strike="noStrike" kern="1200" cap="none" spc="0" normalizeH="0" baseline="0" noProof="0">
                <a:ln>
                  <a:noFill/>
                </a:ln>
                <a:solidFill>
                  <a:srgbClr val="C5D9F1"/>
                </a:solidFill>
                <a:effectLst/>
                <a:uLnTx/>
                <a:uFillTx/>
                <a:latin typeface="Calibri"/>
                <a:ea typeface="+mn-ea"/>
                <a:cs typeface="+mn-cs"/>
              </a:rPr>
              <a:t> · LMS · Reporting · AI/ML</a:t>
            </a:r>
          </a:p>
        </p:txBody>
      </p:sp>
      <p:sp>
        <p:nvSpPr>
          <p:cNvPr id="56" name="Rectangle 55"/>
          <p:cNvSpPr/>
          <p:nvPr/>
        </p:nvSpPr>
        <p:spPr>
          <a:xfrm>
            <a:off x="8233961" y="1779689"/>
            <a:ext cx="3706368" cy="3596640"/>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57" name="Rectangle 56"/>
          <p:cNvSpPr/>
          <p:nvPr/>
        </p:nvSpPr>
        <p:spPr>
          <a:xfrm>
            <a:off x="8224668" y="1807567"/>
            <a:ext cx="73152" cy="3596640"/>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58" name="Rectangle 57"/>
          <p:cNvSpPr/>
          <p:nvPr/>
        </p:nvSpPr>
        <p:spPr>
          <a:xfrm>
            <a:off x="8297819" y="1807567"/>
            <a:ext cx="3633216" cy="585216"/>
          </a:xfrm>
          <a:prstGeom prst="rect">
            <a:avLst/>
          </a:prstGeom>
          <a:solidFill>
            <a:srgbClr val="153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60" name="TextBox 59"/>
          <p:cNvSpPr txBox="1"/>
          <p:nvPr/>
        </p:nvSpPr>
        <p:spPr>
          <a:xfrm>
            <a:off x="8322572" y="1953548"/>
            <a:ext cx="3462528" cy="297454"/>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333" b="1" i="0" u="none" strike="noStrike" kern="1200" cap="none" spc="0" normalizeH="0" baseline="0" noProof="0">
                <a:ln>
                  <a:noFill/>
                </a:ln>
                <a:solidFill>
                  <a:srgbClr val="FFFFFF"/>
                </a:solidFill>
                <a:effectLst/>
                <a:uLnTx/>
                <a:uFillTx/>
                <a:latin typeface="Calibri"/>
                <a:ea typeface="+mn-ea"/>
                <a:cs typeface="+mn-cs"/>
              </a:rPr>
              <a:t>The Platform Advantage</a:t>
            </a:r>
          </a:p>
        </p:txBody>
      </p:sp>
      <p:sp>
        <p:nvSpPr>
          <p:cNvPr id="61" name="Rectangle 60"/>
          <p:cNvSpPr/>
          <p:nvPr/>
        </p:nvSpPr>
        <p:spPr>
          <a:xfrm>
            <a:off x="8407548" y="2392784"/>
            <a:ext cx="3438144" cy="9753"/>
          </a:xfrm>
          <a:prstGeom prst="rect">
            <a:avLst/>
          </a:prstGeom>
          <a:solidFill>
            <a:srgbClr val="2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62" name="Rectangle 61"/>
          <p:cNvSpPr/>
          <p:nvPr/>
        </p:nvSpPr>
        <p:spPr>
          <a:xfrm>
            <a:off x="8419209" y="2610119"/>
            <a:ext cx="88687" cy="88343"/>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8761115" y="2465935"/>
            <a:ext cx="3072384"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Scalable cloud foundation</a:t>
            </a:r>
          </a:p>
        </p:txBody>
      </p:sp>
      <p:sp>
        <p:nvSpPr>
          <p:cNvPr id="64" name="TextBox 63"/>
          <p:cNvSpPr txBox="1"/>
          <p:nvPr/>
        </p:nvSpPr>
        <p:spPr>
          <a:xfrm>
            <a:off x="8761115" y="2637739"/>
            <a:ext cx="3072384"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5D9F1"/>
                </a:solidFill>
                <a:effectLst/>
                <a:uLnTx/>
                <a:uFillTx/>
                <a:latin typeface="Calibri"/>
                <a:ea typeface="+mn-ea"/>
                <a:cs typeface="+mn-cs"/>
              </a:rPr>
              <a:t>Elastic infra for any loan volume</a:t>
            </a:r>
          </a:p>
        </p:txBody>
      </p:sp>
      <p:sp>
        <p:nvSpPr>
          <p:cNvPr id="65" name="Rectangle 64"/>
          <p:cNvSpPr/>
          <p:nvPr/>
        </p:nvSpPr>
        <p:spPr>
          <a:xfrm>
            <a:off x="8435112" y="3158015"/>
            <a:ext cx="88687" cy="88343"/>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66" name="TextBox 65"/>
          <p:cNvSpPr txBox="1"/>
          <p:nvPr/>
        </p:nvSpPr>
        <p:spPr>
          <a:xfrm>
            <a:off x="8770408" y="3025710"/>
            <a:ext cx="3072384"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AI-ready platform</a:t>
            </a:r>
          </a:p>
        </p:txBody>
      </p:sp>
      <p:sp>
        <p:nvSpPr>
          <p:cNvPr id="67" name="TextBox 66"/>
          <p:cNvSpPr txBox="1"/>
          <p:nvPr/>
        </p:nvSpPr>
        <p:spPr>
          <a:xfrm>
            <a:off x="8770408" y="3197514"/>
            <a:ext cx="3072384"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5D9F1"/>
                </a:solidFill>
                <a:effectLst/>
                <a:uLnTx/>
                <a:uFillTx/>
                <a:latin typeface="Calibri"/>
                <a:ea typeface="+mn-ea"/>
                <a:cs typeface="+mn-cs"/>
              </a:rPr>
              <a:t>Bedrock &amp; SageMaker built in</a:t>
            </a:r>
          </a:p>
        </p:txBody>
      </p:sp>
      <p:sp>
        <p:nvSpPr>
          <p:cNvPr id="68" name="Rectangle 67"/>
          <p:cNvSpPr/>
          <p:nvPr/>
        </p:nvSpPr>
        <p:spPr>
          <a:xfrm>
            <a:off x="8451014" y="3713865"/>
            <a:ext cx="88687" cy="88343"/>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68"/>
          <p:cNvSpPr txBox="1"/>
          <p:nvPr/>
        </p:nvSpPr>
        <p:spPr>
          <a:xfrm>
            <a:off x="8761115" y="3594780"/>
            <a:ext cx="3072384"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Secure and resilient</a:t>
            </a:r>
          </a:p>
        </p:txBody>
      </p:sp>
      <p:sp>
        <p:nvSpPr>
          <p:cNvPr id="70" name="TextBox 69"/>
          <p:cNvSpPr txBox="1"/>
          <p:nvPr/>
        </p:nvSpPr>
        <p:spPr>
          <a:xfrm>
            <a:off x="8761115" y="3757291"/>
            <a:ext cx="3072384"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5D9F1"/>
                </a:solidFill>
                <a:effectLst/>
                <a:uLnTx/>
                <a:uFillTx/>
                <a:latin typeface="Calibri"/>
                <a:ea typeface="+mn-ea"/>
                <a:cs typeface="+mn-cs"/>
              </a:rPr>
              <a:t>Enterprise-grade controls</a:t>
            </a:r>
          </a:p>
        </p:txBody>
      </p:sp>
      <p:sp>
        <p:nvSpPr>
          <p:cNvPr id="71" name="Rectangle 70"/>
          <p:cNvSpPr/>
          <p:nvPr/>
        </p:nvSpPr>
        <p:spPr>
          <a:xfrm>
            <a:off x="8466917" y="4301520"/>
            <a:ext cx="88687" cy="88343"/>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Box 71"/>
          <p:cNvSpPr txBox="1"/>
          <p:nvPr/>
        </p:nvSpPr>
        <p:spPr>
          <a:xfrm>
            <a:off x="8761115" y="4173142"/>
            <a:ext cx="3072384"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Headless &amp; API-first</a:t>
            </a:r>
          </a:p>
        </p:txBody>
      </p:sp>
      <p:sp>
        <p:nvSpPr>
          <p:cNvPr id="73" name="TextBox 72"/>
          <p:cNvSpPr txBox="1"/>
          <p:nvPr/>
        </p:nvSpPr>
        <p:spPr>
          <a:xfrm>
            <a:off x="8753164" y="4354529"/>
            <a:ext cx="3072384"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5D9F1"/>
                </a:solidFill>
                <a:effectLst/>
                <a:uLnTx/>
                <a:uFillTx/>
                <a:latin typeface="Calibri"/>
                <a:ea typeface="+mn-ea"/>
                <a:cs typeface="+mn-cs"/>
              </a:rPr>
              <a:t>Connect any channel via APIs</a:t>
            </a:r>
          </a:p>
        </p:txBody>
      </p:sp>
      <p:sp>
        <p:nvSpPr>
          <p:cNvPr id="74" name="Rectangle 73"/>
          <p:cNvSpPr/>
          <p:nvPr/>
        </p:nvSpPr>
        <p:spPr>
          <a:xfrm>
            <a:off x="8490771" y="4865320"/>
            <a:ext cx="88687" cy="88343"/>
          </a:xfrm>
          <a:prstGeom prst="rect">
            <a:avLst/>
          </a:prstGeom>
          <a:solidFill>
            <a:srgbClr val="0D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74"/>
          <p:cNvSpPr txBox="1"/>
          <p:nvPr/>
        </p:nvSpPr>
        <p:spPr>
          <a:xfrm>
            <a:off x="8753164" y="4744991"/>
            <a:ext cx="3072384" cy="26667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133" b="1" i="0" u="none" strike="noStrike" kern="1200" cap="none" spc="0" normalizeH="0" baseline="0" noProof="0">
                <a:ln>
                  <a:noFill/>
                </a:ln>
                <a:solidFill>
                  <a:srgbClr val="FFFFFF"/>
                </a:solidFill>
                <a:effectLst/>
                <a:uLnTx/>
                <a:uFillTx/>
                <a:latin typeface="Calibri"/>
                <a:ea typeface="+mn-ea"/>
                <a:cs typeface="+mn-cs"/>
              </a:rPr>
              <a:t>Innovate without overhead</a:t>
            </a:r>
          </a:p>
        </p:txBody>
      </p:sp>
      <p:sp>
        <p:nvSpPr>
          <p:cNvPr id="76" name="TextBox 75"/>
          <p:cNvSpPr txBox="1"/>
          <p:nvPr/>
        </p:nvSpPr>
        <p:spPr>
          <a:xfrm>
            <a:off x="8769066" y="4910378"/>
            <a:ext cx="3072384" cy="24622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C5D9F1"/>
                </a:solidFill>
                <a:effectLst/>
                <a:uLnTx/>
                <a:uFillTx/>
                <a:latin typeface="Calibri"/>
                <a:ea typeface="+mn-ea"/>
                <a:cs typeface="+mn-cs"/>
              </a:rPr>
              <a:t>Managed services</a:t>
            </a:r>
            <a:r>
              <a:rPr kumimoji="0" lang="en-US" sz="1000" b="0" i="0" u="none" strike="noStrike" kern="1200" cap="none" spc="0" normalizeH="0" baseline="0" noProof="0">
                <a:ln>
                  <a:noFill/>
                </a:ln>
                <a:solidFill>
                  <a:srgbClr val="C5D9F1"/>
                </a:solidFill>
                <a:effectLst/>
                <a:uLnTx/>
                <a:uFillTx/>
                <a:latin typeface="Calibri"/>
                <a:ea typeface="+mn-ea"/>
                <a:cs typeface="+mn-cs"/>
              </a:rPr>
              <a:t>,</a:t>
            </a:r>
            <a:r>
              <a:rPr kumimoji="0" sz="1000" b="0" i="0" u="none" strike="noStrike" kern="1200" cap="none" spc="0" normalizeH="0" baseline="0" noProof="0">
                <a:ln>
                  <a:noFill/>
                </a:ln>
                <a:solidFill>
                  <a:srgbClr val="C5D9F1"/>
                </a:solidFill>
                <a:effectLst/>
                <a:uLnTx/>
                <a:uFillTx/>
                <a:latin typeface="Calibri"/>
                <a:ea typeface="+mn-ea"/>
                <a:cs typeface="+mn-cs"/>
              </a:rPr>
              <a:t> less ops</a:t>
            </a:r>
          </a:p>
        </p:txBody>
      </p:sp>
      <p:sp>
        <p:nvSpPr>
          <p:cNvPr id="77" name="Rectangle 76"/>
          <p:cNvSpPr/>
          <p:nvPr/>
        </p:nvSpPr>
        <p:spPr>
          <a:xfrm>
            <a:off x="0" y="5789487"/>
            <a:ext cx="12166315" cy="1068514"/>
          </a:xfrm>
          <a:prstGeom prst="rect">
            <a:avLst/>
          </a:prstGeom>
          <a:solidFill>
            <a:srgbClr val="07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78" name="TextBox 77"/>
          <p:cNvSpPr txBox="1"/>
          <p:nvPr/>
        </p:nvSpPr>
        <p:spPr>
          <a:xfrm>
            <a:off x="172004" y="5830077"/>
            <a:ext cx="6096000" cy="276999"/>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86BC25"/>
                </a:solidFill>
                <a:effectLst/>
                <a:uLnTx/>
                <a:uFillTx/>
                <a:latin typeface="Calibri"/>
                <a:ea typeface="+mn-ea"/>
                <a:cs typeface="+mn-cs"/>
              </a:rPr>
              <a:t>EXPECTED OUTCOMES</a:t>
            </a:r>
          </a:p>
        </p:txBody>
      </p:sp>
      <p:sp>
        <p:nvSpPr>
          <p:cNvPr id="79" name="Rectangle 78"/>
          <p:cNvSpPr/>
          <p:nvPr/>
        </p:nvSpPr>
        <p:spPr>
          <a:xfrm>
            <a:off x="243566" y="6140180"/>
            <a:ext cx="11533632" cy="9753"/>
          </a:xfrm>
          <a:prstGeom prst="rect">
            <a:avLst/>
          </a:prstGeom>
          <a:solidFill>
            <a:srgbClr val="1A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80" name="Rectangle 79"/>
          <p:cNvSpPr/>
          <p:nvPr/>
        </p:nvSpPr>
        <p:spPr>
          <a:xfrm>
            <a:off x="292334" y="6237715"/>
            <a:ext cx="1824736" cy="60960"/>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80"/>
          <p:cNvSpPr txBox="1"/>
          <p:nvPr/>
        </p:nvSpPr>
        <p:spPr>
          <a:xfrm>
            <a:off x="316718" y="6323059"/>
            <a:ext cx="1800352" cy="194990"/>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1" i="0" u="none" strike="noStrike" kern="1200" cap="none" spc="0" normalizeH="0" baseline="0" noProof="0">
                <a:ln>
                  <a:noFill/>
                </a:ln>
                <a:solidFill>
                  <a:srgbClr val="FFFFFF"/>
                </a:solidFill>
                <a:effectLst/>
                <a:uLnTx/>
                <a:uFillTx/>
                <a:latin typeface="Calibri"/>
                <a:ea typeface="+mn-ea"/>
                <a:cs typeface="+mn-cs"/>
              </a:rPr>
              <a:t>AI-First</a:t>
            </a:r>
          </a:p>
        </p:txBody>
      </p:sp>
      <p:sp>
        <p:nvSpPr>
          <p:cNvPr id="82" name="TextBox 81"/>
          <p:cNvSpPr txBox="1"/>
          <p:nvPr/>
        </p:nvSpPr>
        <p:spPr>
          <a:xfrm>
            <a:off x="308156" y="6512651"/>
            <a:ext cx="1800352" cy="164212"/>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C5D9F1"/>
                </a:solidFill>
                <a:effectLst/>
                <a:uLnTx/>
                <a:uFillTx/>
                <a:latin typeface="Calibri"/>
                <a:ea typeface="+mn-ea"/>
                <a:cs typeface="+mn-cs"/>
              </a:rPr>
              <a:t>Operations</a:t>
            </a:r>
          </a:p>
        </p:txBody>
      </p:sp>
      <p:sp>
        <p:nvSpPr>
          <p:cNvPr id="83" name="Rectangle 82"/>
          <p:cNvSpPr/>
          <p:nvPr/>
        </p:nvSpPr>
        <p:spPr>
          <a:xfrm flipH="1">
            <a:off x="2121836" y="6319428"/>
            <a:ext cx="45303" cy="539874"/>
          </a:xfrm>
          <a:prstGeom prst="rect">
            <a:avLst/>
          </a:prstGeom>
          <a:solidFill>
            <a:srgbClr val="1E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84" name="Rectangle 83"/>
          <p:cNvSpPr/>
          <p:nvPr/>
        </p:nvSpPr>
        <p:spPr>
          <a:xfrm>
            <a:off x="2214606" y="6237715"/>
            <a:ext cx="1824736" cy="60960"/>
          </a:xfrm>
          <a:prstGeom prst="rect">
            <a:avLst/>
          </a:prstGeom>
          <a:solidFill>
            <a:srgbClr val="2E7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85" name="TextBox 84"/>
          <p:cNvSpPr txBox="1"/>
          <p:nvPr/>
        </p:nvSpPr>
        <p:spPr>
          <a:xfrm>
            <a:off x="2238990" y="6323059"/>
            <a:ext cx="1800352" cy="194990"/>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1" i="0" u="none" strike="noStrike" kern="1200" cap="none" spc="0" normalizeH="0" baseline="0" noProof="0">
                <a:ln>
                  <a:noFill/>
                </a:ln>
                <a:solidFill>
                  <a:srgbClr val="FFFFFF"/>
                </a:solidFill>
                <a:effectLst/>
                <a:uLnTx/>
                <a:uFillTx/>
                <a:latin typeface="Calibri"/>
                <a:ea typeface="+mn-ea"/>
                <a:cs typeface="+mn-cs"/>
              </a:rPr>
              <a:t>Faster Decision</a:t>
            </a:r>
          </a:p>
        </p:txBody>
      </p:sp>
      <p:sp>
        <p:nvSpPr>
          <p:cNvPr id="86" name="TextBox 85"/>
          <p:cNvSpPr txBox="1"/>
          <p:nvPr/>
        </p:nvSpPr>
        <p:spPr>
          <a:xfrm>
            <a:off x="2238990" y="6512651"/>
            <a:ext cx="1800352" cy="164212"/>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C5D9F1"/>
                </a:solidFill>
                <a:effectLst/>
                <a:uLnTx/>
                <a:uFillTx/>
                <a:latin typeface="Calibri"/>
                <a:ea typeface="+mn-ea"/>
                <a:cs typeface="+mn-cs"/>
              </a:rPr>
              <a:t>Flows</a:t>
            </a:r>
          </a:p>
        </p:txBody>
      </p:sp>
      <p:sp>
        <p:nvSpPr>
          <p:cNvPr id="87" name="Rectangle 86"/>
          <p:cNvSpPr/>
          <p:nvPr/>
        </p:nvSpPr>
        <p:spPr>
          <a:xfrm>
            <a:off x="4020918" y="6310867"/>
            <a:ext cx="57437" cy="556997"/>
          </a:xfrm>
          <a:prstGeom prst="rect">
            <a:avLst/>
          </a:prstGeom>
          <a:solidFill>
            <a:srgbClr val="1E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88" name="Rectangle 87"/>
          <p:cNvSpPr/>
          <p:nvPr/>
        </p:nvSpPr>
        <p:spPr>
          <a:xfrm>
            <a:off x="4136878" y="6237715"/>
            <a:ext cx="1824736" cy="60960"/>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89" name="TextBox 88"/>
          <p:cNvSpPr txBox="1"/>
          <p:nvPr/>
        </p:nvSpPr>
        <p:spPr>
          <a:xfrm>
            <a:off x="4161262" y="6323059"/>
            <a:ext cx="1800352" cy="194990"/>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1" i="0" u="none" strike="noStrike" kern="1200" cap="none" spc="0" normalizeH="0" baseline="0" noProof="0">
                <a:ln>
                  <a:noFill/>
                </a:ln>
                <a:solidFill>
                  <a:srgbClr val="FFFFFF"/>
                </a:solidFill>
                <a:effectLst/>
                <a:uLnTx/>
                <a:uFillTx/>
                <a:latin typeface="Calibri"/>
                <a:ea typeface="+mn-ea"/>
                <a:cs typeface="+mn-cs"/>
              </a:rPr>
              <a:t>Greater Business</a:t>
            </a:r>
          </a:p>
        </p:txBody>
      </p:sp>
      <p:sp>
        <p:nvSpPr>
          <p:cNvPr id="90" name="TextBox 89"/>
          <p:cNvSpPr txBox="1"/>
          <p:nvPr/>
        </p:nvSpPr>
        <p:spPr>
          <a:xfrm>
            <a:off x="4161262" y="6512651"/>
            <a:ext cx="1800352" cy="164212"/>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C5D9F1"/>
                </a:solidFill>
                <a:effectLst/>
                <a:uLnTx/>
                <a:uFillTx/>
                <a:latin typeface="Calibri"/>
                <a:ea typeface="+mn-ea"/>
                <a:cs typeface="+mn-cs"/>
              </a:rPr>
              <a:t>Control</a:t>
            </a:r>
          </a:p>
        </p:txBody>
      </p:sp>
      <p:sp>
        <p:nvSpPr>
          <p:cNvPr id="91" name="Rectangle 90"/>
          <p:cNvSpPr/>
          <p:nvPr/>
        </p:nvSpPr>
        <p:spPr>
          <a:xfrm>
            <a:off x="5951751" y="6310867"/>
            <a:ext cx="48876" cy="556997"/>
          </a:xfrm>
          <a:prstGeom prst="rect">
            <a:avLst/>
          </a:prstGeom>
          <a:solidFill>
            <a:srgbClr val="1E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92" name="Rectangle 91"/>
          <p:cNvSpPr/>
          <p:nvPr/>
        </p:nvSpPr>
        <p:spPr>
          <a:xfrm>
            <a:off x="6059150" y="6237715"/>
            <a:ext cx="1824736" cy="60960"/>
          </a:xfrm>
          <a:prstGeom prst="rect">
            <a:avLst/>
          </a:prstGeom>
          <a:solidFill>
            <a:srgbClr val="2E7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Box 92"/>
          <p:cNvSpPr txBox="1"/>
          <p:nvPr/>
        </p:nvSpPr>
        <p:spPr>
          <a:xfrm>
            <a:off x="6083534" y="6323059"/>
            <a:ext cx="1800352" cy="194990"/>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1" i="0" u="none" strike="noStrike" kern="1200" cap="none" spc="0" normalizeH="0" baseline="0" noProof="0">
                <a:ln>
                  <a:noFill/>
                </a:ln>
                <a:solidFill>
                  <a:srgbClr val="FFFFFF"/>
                </a:solidFill>
                <a:effectLst/>
                <a:uLnTx/>
                <a:uFillTx/>
                <a:latin typeface="Calibri"/>
                <a:ea typeface="+mn-ea"/>
                <a:cs typeface="+mn-cs"/>
              </a:rPr>
              <a:t>Headless</a:t>
            </a:r>
          </a:p>
        </p:txBody>
      </p:sp>
      <p:sp>
        <p:nvSpPr>
          <p:cNvPr id="94" name="TextBox 93"/>
          <p:cNvSpPr txBox="1"/>
          <p:nvPr/>
        </p:nvSpPr>
        <p:spPr>
          <a:xfrm>
            <a:off x="6074972" y="6538337"/>
            <a:ext cx="1800352" cy="164212"/>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C5D9F1"/>
                </a:solidFill>
                <a:effectLst/>
                <a:uLnTx/>
                <a:uFillTx/>
                <a:latin typeface="Calibri"/>
                <a:ea typeface="+mn-ea"/>
                <a:cs typeface="+mn-cs"/>
              </a:rPr>
              <a:t>Agility</a:t>
            </a:r>
          </a:p>
        </p:txBody>
      </p:sp>
      <p:sp>
        <p:nvSpPr>
          <p:cNvPr id="95" name="Rectangle 94"/>
          <p:cNvSpPr/>
          <p:nvPr/>
        </p:nvSpPr>
        <p:spPr>
          <a:xfrm>
            <a:off x="7865462" y="6310867"/>
            <a:ext cx="57437" cy="556997"/>
          </a:xfrm>
          <a:prstGeom prst="rect">
            <a:avLst/>
          </a:prstGeom>
          <a:solidFill>
            <a:srgbClr val="1E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96" name="Rectangle 95"/>
          <p:cNvSpPr/>
          <p:nvPr/>
        </p:nvSpPr>
        <p:spPr>
          <a:xfrm>
            <a:off x="7981422" y="6237715"/>
            <a:ext cx="1824736" cy="60960"/>
          </a:xfrm>
          <a:prstGeom prst="rect">
            <a:avLst/>
          </a:prstGeom>
          <a:solidFill>
            <a:srgbClr val="1E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97" name="TextBox 96"/>
          <p:cNvSpPr txBox="1"/>
          <p:nvPr/>
        </p:nvSpPr>
        <p:spPr>
          <a:xfrm>
            <a:off x="8005806" y="6323059"/>
            <a:ext cx="1800352" cy="194990"/>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1" i="0" u="none" strike="noStrike" kern="1200" cap="none" spc="0" normalizeH="0" baseline="0" noProof="0">
                <a:ln>
                  <a:noFill/>
                </a:ln>
                <a:solidFill>
                  <a:srgbClr val="FFFFFF"/>
                </a:solidFill>
                <a:effectLst/>
                <a:uLnTx/>
                <a:uFillTx/>
                <a:latin typeface="Calibri"/>
                <a:ea typeface="+mn-ea"/>
                <a:cs typeface="+mn-cs"/>
              </a:rPr>
              <a:t>Lower Operational</a:t>
            </a:r>
          </a:p>
        </p:txBody>
      </p:sp>
      <p:sp>
        <p:nvSpPr>
          <p:cNvPr id="98" name="TextBox 97"/>
          <p:cNvSpPr txBox="1"/>
          <p:nvPr/>
        </p:nvSpPr>
        <p:spPr>
          <a:xfrm>
            <a:off x="8005806" y="6538337"/>
            <a:ext cx="1800352" cy="164212"/>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C5D9F1"/>
                </a:solidFill>
                <a:effectLst/>
                <a:uLnTx/>
                <a:uFillTx/>
                <a:latin typeface="Calibri"/>
                <a:ea typeface="+mn-ea"/>
                <a:cs typeface="+mn-cs"/>
              </a:rPr>
              <a:t>Friction</a:t>
            </a:r>
          </a:p>
        </p:txBody>
      </p:sp>
      <p:sp>
        <p:nvSpPr>
          <p:cNvPr id="99" name="Rectangle 98"/>
          <p:cNvSpPr/>
          <p:nvPr/>
        </p:nvSpPr>
        <p:spPr>
          <a:xfrm>
            <a:off x="9796295" y="6310867"/>
            <a:ext cx="48876" cy="556997"/>
          </a:xfrm>
          <a:prstGeom prst="rect">
            <a:avLst/>
          </a:prstGeom>
          <a:solidFill>
            <a:srgbClr val="1E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00" name="Rectangle 99"/>
          <p:cNvSpPr/>
          <p:nvPr/>
        </p:nvSpPr>
        <p:spPr>
          <a:xfrm>
            <a:off x="9903694" y="6237715"/>
            <a:ext cx="1824736" cy="60960"/>
          </a:xfrm>
          <a:prstGeom prst="rect">
            <a:avLst/>
          </a:prstGeom>
          <a:solidFill>
            <a:srgbClr val="2E7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p:cNvSpPr txBox="1"/>
          <p:nvPr/>
        </p:nvSpPr>
        <p:spPr>
          <a:xfrm>
            <a:off x="9928078" y="6323059"/>
            <a:ext cx="1800352" cy="194990"/>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267" b="1" i="0" u="none" strike="noStrike" kern="1200" cap="none" spc="0" normalizeH="0" baseline="0" noProof="0">
                <a:ln>
                  <a:noFill/>
                </a:ln>
                <a:solidFill>
                  <a:srgbClr val="FFFFFF"/>
                </a:solidFill>
                <a:effectLst/>
                <a:uLnTx/>
                <a:uFillTx/>
                <a:latin typeface="Calibri"/>
                <a:ea typeface="+mn-ea"/>
                <a:cs typeface="+mn-cs"/>
              </a:rPr>
              <a:t>Future-Ready</a:t>
            </a:r>
          </a:p>
        </p:txBody>
      </p:sp>
      <p:sp>
        <p:nvSpPr>
          <p:cNvPr id="102" name="TextBox 101"/>
          <p:cNvSpPr txBox="1"/>
          <p:nvPr/>
        </p:nvSpPr>
        <p:spPr>
          <a:xfrm>
            <a:off x="9928078" y="6538337"/>
            <a:ext cx="1800352" cy="164212"/>
          </a:xfrm>
          <a:prstGeom prst="rect">
            <a:avLst/>
          </a:prstGeom>
          <a:noFill/>
        </p:spPr>
        <p:txBody>
          <a:bodyPr wrap="square" lIns="0" tIns="0" rIns="0" bIns="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sz="1067" b="0" i="0" u="none" strike="noStrike" kern="1200" cap="none" spc="0" normalizeH="0" baseline="0" noProof="0">
                <a:ln>
                  <a:noFill/>
                </a:ln>
                <a:solidFill>
                  <a:srgbClr val="C5D9F1"/>
                </a:solidFill>
                <a:effectLst/>
                <a:uLnTx/>
                <a:uFillTx/>
                <a:latin typeface="Calibri"/>
                <a:ea typeface="+mn-ea"/>
                <a:cs typeface="+mn-cs"/>
              </a:rPr>
              <a:t>Platform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1168" y="99746"/>
            <a:ext cx="8595360" cy="33086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1F1F"/>
                </a:solidFill>
                <a:effectLst/>
                <a:uLnTx/>
                <a:uFillTx/>
                <a:latin typeface="Arial"/>
                <a:ea typeface="+mn-ea"/>
                <a:cs typeface="+mn-cs"/>
              </a:rPr>
              <a:t>Agentic</a:t>
            </a:r>
            <a:r>
              <a:rPr kumimoji="0" sz="2000" b="1" i="0" u="none" strike="noStrike" kern="1200" cap="none" spc="0" normalizeH="0" baseline="0" noProof="0">
                <a:ln>
                  <a:noFill/>
                </a:ln>
                <a:solidFill>
                  <a:srgbClr val="1F1F1F"/>
                </a:solidFill>
                <a:effectLst/>
                <a:uLnTx/>
                <a:uFillTx/>
                <a:latin typeface="Arial"/>
                <a:ea typeface="+mn-ea"/>
                <a:cs typeface="+mn-cs"/>
              </a:rPr>
              <a:t> Loan Origination System (LOS) </a:t>
            </a:r>
            <a:r>
              <a:rPr kumimoji="0" lang="en-US" sz="2000" b="1" i="0" u="none" strike="noStrike" kern="1200" cap="none" spc="0" normalizeH="0" baseline="0" noProof="0">
                <a:ln>
                  <a:noFill/>
                </a:ln>
                <a:solidFill>
                  <a:srgbClr val="1F1F1F"/>
                </a:solidFill>
                <a:effectLst/>
                <a:uLnTx/>
                <a:uFillTx/>
                <a:latin typeface="Arial"/>
                <a:ea typeface="+mn-ea"/>
                <a:cs typeface="+mn-cs"/>
              </a:rPr>
              <a:t>- </a:t>
            </a:r>
            <a:r>
              <a:rPr kumimoji="0" sz="2000" b="1" i="0" u="none" strike="noStrike" kern="1200" cap="none" spc="0" normalizeH="0" baseline="0" noProof="0">
                <a:ln>
                  <a:noFill/>
                </a:ln>
                <a:solidFill>
                  <a:srgbClr val="1F1F1F"/>
                </a:solidFill>
                <a:effectLst/>
                <a:uLnTx/>
                <a:uFillTx/>
                <a:latin typeface="Arial"/>
                <a:ea typeface="+mn-ea"/>
                <a:cs typeface="+mn-cs"/>
              </a:rPr>
              <a:t>AWS Reference Architecture</a:t>
            </a:r>
          </a:p>
        </p:txBody>
      </p:sp>
      <p:sp>
        <p:nvSpPr>
          <p:cNvPr id="3" name="TextBox 2"/>
          <p:cNvSpPr txBox="1"/>
          <p:nvPr/>
        </p:nvSpPr>
        <p:spPr>
          <a:xfrm>
            <a:off x="201168" y="457200"/>
            <a:ext cx="8046720" cy="20116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A636F"/>
                </a:solidFill>
                <a:effectLst/>
                <a:uLnTx/>
                <a:uFillTx/>
                <a:latin typeface="Arial"/>
                <a:ea typeface="+mn-ea"/>
                <a:cs typeface="+mn-cs"/>
              </a:rPr>
              <a:t>Core LOS platform on AWS with integrated enterprise systems and AI enablement layer.</a:t>
            </a:r>
          </a:p>
        </p:txBody>
      </p:sp>
      <p:sp>
        <p:nvSpPr>
          <p:cNvPr id="4" name="Rectangle 3"/>
          <p:cNvSpPr/>
          <p:nvPr/>
        </p:nvSpPr>
        <p:spPr>
          <a:xfrm>
            <a:off x="228600" y="786384"/>
            <a:ext cx="1783080" cy="4343400"/>
          </a:xfrm>
          <a:prstGeom prst="rect">
            <a:avLst/>
          </a:prstGeom>
          <a:solidFill>
            <a:srgbClr val="FFFFFF"/>
          </a:solidFill>
          <a:ln w="1143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Rectangle 4"/>
          <p:cNvSpPr/>
          <p:nvPr/>
        </p:nvSpPr>
        <p:spPr>
          <a:xfrm>
            <a:off x="228600" y="786384"/>
            <a:ext cx="1783080" cy="329184"/>
          </a:xfrm>
          <a:prstGeom prst="rect">
            <a:avLst/>
          </a:prstGeom>
          <a:solidFill>
            <a:srgbClr val="4E5258"/>
          </a:solidFill>
          <a:ln w="10160">
            <a:solidFill>
              <a:srgbClr val="4E52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p:cNvSpPr txBox="1"/>
          <p:nvPr/>
        </p:nvSpPr>
        <p:spPr>
          <a:xfrm>
            <a:off x="228600" y="856469"/>
            <a:ext cx="1783080" cy="161583"/>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Arial"/>
                <a:ea typeface="+mn-ea"/>
                <a:cs typeface="+mn-cs"/>
              </a:rPr>
              <a:t>Enterprise / Internal Systems</a:t>
            </a:r>
          </a:p>
        </p:txBody>
      </p:sp>
      <p:sp>
        <p:nvSpPr>
          <p:cNvPr id="7" name="Rectangle 6"/>
          <p:cNvSpPr/>
          <p:nvPr/>
        </p:nvSpPr>
        <p:spPr>
          <a:xfrm>
            <a:off x="274320" y="1188720"/>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8" name="Picture 7" descr="database_777777.png"/>
          <p:cNvPicPr>
            <a:picLocks noChangeAspect="1"/>
          </p:cNvPicPr>
          <p:nvPr/>
        </p:nvPicPr>
        <p:blipFill>
          <a:blip r:embed="rId2"/>
          <a:stretch>
            <a:fillRect/>
          </a:stretch>
        </p:blipFill>
        <p:spPr>
          <a:xfrm>
            <a:off x="320040" y="1393317"/>
            <a:ext cx="210312" cy="210312"/>
          </a:xfrm>
          <a:prstGeom prst="rect">
            <a:avLst/>
          </a:prstGeom>
        </p:spPr>
      </p:pic>
      <p:sp>
        <p:nvSpPr>
          <p:cNvPr id="9" name="TextBox 8"/>
          <p:cNvSpPr txBox="1"/>
          <p:nvPr/>
        </p:nvSpPr>
        <p:spPr>
          <a:xfrm>
            <a:off x="594360" y="1229868"/>
            <a:ext cx="1353312" cy="11887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latin typeface="Arial"/>
                <a:ea typeface="+mn-ea"/>
                <a:cs typeface="+mn-cs"/>
              </a:rPr>
              <a:t>Data Warehouse</a:t>
            </a:r>
          </a:p>
        </p:txBody>
      </p:sp>
      <p:sp>
        <p:nvSpPr>
          <p:cNvPr id="10" name="TextBox 9"/>
          <p:cNvSpPr txBox="1"/>
          <p:nvPr/>
        </p:nvSpPr>
        <p:spPr>
          <a:xfrm>
            <a:off x="594360" y="1353312"/>
            <a:ext cx="1353312" cy="43662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latin typeface="Arial"/>
                <a:ea typeface="+mn-ea"/>
                <a:cs typeface="+mn-cs"/>
              </a:rPr>
              <a:t>Insights &amp; reporting</a:t>
            </a:r>
          </a:p>
        </p:txBody>
      </p:sp>
      <p:sp>
        <p:nvSpPr>
          <p:cNvPr id="11" name="TextBox 10"/>
          <p:cNvSpPr txBox="1"/>
          <p:nvPr/>
        </p:nvSpPr>
        <p:spPr>
          <a:xfrm>
            <a:off x="2057400" y="143446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12" name="Rectangle 11"/>
          <p:cNvSpPr/>
          <p:nvPr/>
        </p:nvSpPr>
        <p:spPr>
          <a:xfrm>
            <a:off x="274320" y="1840230"/>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3" name="Picture 12" descr="shield_user_777777.png"/>
          <p:cNvPicPr>
            <a:picLocks noChangeAspect="1"/>
          </p:cNvPicPr>
          <p:nvPr/>
        </p:nvPicPr>
        <p:blipFill>
          <a:blip r:embed="rId3"/>
          <a:stretch>
            <a:fillRect/>
          </a:stretch>
        </p:blipFill>
        <p:spPr>
          <a:xfrm>
            <a:off x="320040" y="2044827"/>
            <a:ext cx="210312" cy="210312"/>
          </a:xfrm>
          <a:prstGeom prst="rect">
            <a:avLst/>
          </a:prstGeom>
        </p:spPr>
      </p:pic>
      <p:sp>
        <p:nvSpPr>
          <p:cNvPr id="14" name="TextBox 13"/>
          <p:cNvSpPr txBox="1"/>
          <p:nvPr/>
        </p:nvSpPr>
        <p:spPr>
          <a:xfrm>
            <a:off x="594360" y="1881378"/>
            <a:ext cx="1353312" cy="11887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latin typeface="Arial"/>
                <a:ea typeface="+mn-ea"/>
                <a:cs typeface="+mn-cs"/>
              </a:rPr>
              <a:t>SSO / IAM</a:t>
            </a:r>
          </a:p>
        </p:txBody>
      </p:sp>
      <p:sp>
        <p:nvSpPr>
          <p:cNvPr id="15" name="TextBox 14"/>
          <p:cNvSpPr txBox="1"/>
          <p:nvPr/>
        </p:nvSpPr>
        <p:spPr>
          <a:xfrm>
            <a:off x="594360" y="2004822"/>
            <a:ext cx="1353312" cy="43662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latin typeface="Arial"/>
                <a:ea typeface="+mn-ea"/>
                <a:cs typeface="+mn-cs"/>
              </a:rPr>
              <a:t>Authentication &amp; access management</a:t>
            </a:r>
          </a:p>
        </p:txBody>
      </p:sp>
      <p:sp>
        <p:nvSpPr>
          <p:cNvPr id="16" name="TextBox 15"/>
          <p:cNvSpPr txBox="1"/>
          <p:nvPr/>
        </p:nvSpPr>
        <p:spPr>
          <a:xfrm>
            <a:off x="2057400" y="208597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17" name="Rectangle 16"/>
          <p:cNvSpPr/>
          <p:nvPr/>
        </p:nvSpPr>
        <p:spPr>
          <a:xfrm>
            <a:off x="274320" y="2491740"/>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8" name="Picture 17" descr="document_777777.png"/>
          <p:cNvPicPr>
            <a:picLocks noChangeAspect="1"/>
          </p:cNvPicPr>
          <p:nvPr/>
        </p:nvPicPr>
        <p:blipFill>
          <a:blip r:embed="rId4"/>
          <a:stretch>
            <a:fillRect/>
          </a:stretch>
        </p:blipFill>
        <p:spPr>
          <a:xfrm>
            <a:off x="320040" y="2696337"/>
            <a:ext cx="210312" cy="210312"/>
          </a:xfrm>
          <a:prstGeom prst="rect">
            <a:avLst/>
          </a:prstGeom>
        </p:spPr>
      </p:pic>
      <p:sp>
        <p:nvSpPr>
          <p:cNvPr id="19" name="TextBox 18"/>
          <p:cNvSpPr txBox="1"/>
          <p:nvPr/>
        </p:nvSpPr>
        <p:spPr>
          <a:xfrm>
            <a:off x="594360" y="2532888"/>
            <a:ext cx="1353312" cy="11887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latin typeface="Arial"/>
                <a:ea typeface="+mn-ea"/>
                <a:cs typeface="+mn-cs"/>
              </a:rPr>
              <a:t>DMS</a:t>
            </a:r>
          </a:p>
        </p:txBody>
      </p:sp>
      <p:sp>
        <p:nvSpPr>
          <p:cNvPr id="20" name="TextBox 19"/>
          <p:cNvSpPr txBox="1"/>
          <p:nvPr/>
        </p:nvSpPr>
        <p:spPr>
          <a:xfrm>
            <a:off x="594360" y="2656332"/>
            <a:ext cx="1353312" cy="43662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latin typeface="Arial"/>
                <a:ea typeface="+mn-ea"/>
                <a:cs typeface="+mn-cs"/>
              </a:rPr>
              <a:t>Document repository &amp; management</a:t>
            </a:r>
          </a:p>
        </p:txBody>
      </p:sp>
      <p:sp>
        <p:nvSpPr>
          <p:cNvPr id="21" name="TextBox 20"/>
          <p:cNvSpPr txBox="1"/>
          <p:nvPr/>
        </p:nvSpPr>
        <p:spPr>
          <a:xfrm>
            <a:off x="2057400" y="273748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22" name="Rectangle 21"/>
          <p:cNvSpPr/>
          <p:nvPr/>
        </p:nvSpPr>
        <p:spPr>
          <a:xfrm>
            <a:off x="274320" y="3143250"/>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3" name="Picture 22" descr="gear_777777.png"/>
          <p:cNvPicPr>
            <a:picLocks noChangeAspect="1"/>
          </p:cNvPicPr>
          <p:nvPr/>
        </p:nvPicPr>
        <p:blipFill>
          <a:blip r:embed="rId5"/>
          <a:stretch>
            <a:fillRect/>
          </a:stretch>
        </p:blipFill>
        <p:spPr>
          <a:xfrm>
            <a:off x="320040" y="3347847"/>
            <a:ext cx="210312" cy="210312"/>
          </a:xfrm>
          <a:prstGeom prst="rect">
            <a:avLst/>
          </a:prstGeom>
        </p:spPr>
      </p:pic>
      <p:sp>
        <p:nvSpPr>
          <p:cNvPr id="24" name="TextBox 23"/>
          <p:cNvSpPr txBox="1"/>
          <p:nvPr/>
        </p:nvSpPr>
        <p:spPr>
          <a:xfrm>
            <a:off x="594360" y="3184398"/>
            <a:ext cx="1353312" cy="11887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latin typeface="Arial"/>
                <a:ea typeface="+mn-ea"/>
                <a:cs typeface="+mn-cs"/>
              </a:rPr>
              <a:t>BRE / Rules Engine</a:t>
            </a:r>
          </a:p>
        </p:txBody>
      </p:sp>
      <p:sp>
        <p:nvSpPr>
          <p:cNvPr id="25" name="TextBox 24"/>
          <p:cNvSpPr txBox="1"/>
          <p:nvPr/>
        </p:nvSpPr>
        <p:spPr>
          <a:xfrm>
            <a:off x="594360" y="3307842"/>
            <a:ext cx="1353312" cy="43662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latin typeface="Arial"/>
                <a:ea typeface="+mn-ea"/>
                <a:cs typeface="+mn-cs"/>
              </a:rPr>
              <a:t>Business rules &amp; decision engine</a:t>
            </a:r>
          </a:p>
        </p:txBody>
      </p:sp>
      <p:sp>
        <p:nvSpPr>
          <p:cNvPr id="26" name="TextBox 25"/>
          <p:cNvSpPr txBox="1"/>
          <p:nvPr/>
        </p:nvSpPr>
        <p:spPr>
          <a:xfrm>
            <a:off x="2057400" y="338899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27" name="Rectangle 26"/>
          <p:cNvSpPr/>
          <p:nvPr/>
        </p:nvSpPr>
        <p:spPr>
          <a:xfrm>
            <a:off x="274320" y="3794760"/>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8" name="Picture 27" descr="monitor_777777.png"/>
          <p:cNvPicPr>
            <a:picLocks noChangeAspect="1"/>
          </p:cNvPicPr>
          <p:nvPr/>
        </p:nvPicPr>
        <p:blipFill>
          <a:blip r:embed="rId6"/>
          <a:stretch>
            <a:fillRect/>
          </a:stretch>
        </p:blipFill>
        <p:spPr>
          <a:xfrm>
            <a:off x="320040" y="3999357"/>
            <a:ext cx="210312" cy="210312"/>
          </a:xfrm>
          <a:prstGeom prst="rect">
            <a:avLst/>
          </a:prstGeom>
        </p:spPr>
      </p:pic>
      <p:sp>
        <p:nvSpPr>
          <p:cNvPr id="29" name="TextBox 28"/>
          <p:cNvSpPr txBox="1"/>
          <p:nvPr/>
        </p:nvSpPr>
        <p:spPr>
          <a:xfrm>
            <a:off x="594360" y="3835908"/>
            <a:ext cx="1353312" cy="11887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latin typeface="Arial"/>
                <a:ea typeface="+mn-ea"/>
                <a:cs typeface="+mn-cs"/>
              </a:rPr>
              <a:t>LMS / Core Systems</a:t>
            </a:r>
          </a:p>
        </p:txBody>
      </p:sp>
      <p:sp>
        <p:nvSpPr>
          <p:cNvPr id="30" name="TextBox 29"/>
          <p:cNvSpPr txBox="1"/>
          <p:nvPr/>
        </p:nvSpPr>
        <p:spPr>
          <a:xfrm>
            <a:off x="594360" y="3959352"/>
            <a:ext cx="1353312" cy="43662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latin typeface="Arial"/>
                <a:ea typeface="+mn-ea"/>
                <a:cs typeface="+mn-cs"/>
              </a:rPr>
              <a:t>Loan management &amp; servicing systems</a:t>
            </a:r>
          </a:p>
        </p:txBody>
      </p:sp>
      <p:sp>
        <p:nvSpPr>
          <p:cNvPr id="31" name="TextBox 30"/>
          <p:cNvSpPr txBox="1"/>
          <p:nvPr/>
        </p:nvSpPr>
        <p:spPr>
          <a:xfrm>
            <a:off x="2057400" y="404050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32" name="Rectangle 31"/>
          <p:cNvSpPr/>
          <p:nvPr/>
        </p:nvSpPr>
        <p:spPr>
          <a:xfrm>
            <a:off x="274320" y="4446270"/>
            <a:ext cx="1691640" cy="619506"/>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33" name="Picture 32" descr="building_777777.png"/>
          <p:cNvPicPr>
            <a:picLocks noChangeAspect="1"/>
          </p:cNvPicPr>
          <p:nvPr/>
        </p:nvPicPr>
        <p:blipFill>
          <a:blip r:embed="rId7"/>
          <a:stretch>
            <a:fillRect/>
          </a:stretch>
        </p:blipFill>
        <p:spPr>
          <a:xfrm>
            <a:off x="320040" y="4650867"/>
            <a:ext cx="210312" cy="210312"/>
          </a:xfrm>
          <a:prstGeom prst="rect">
            <a:avLst/>
          </a:prstGeom>
        </p:spPr>
      </p:pic>
      <p:sp>
        <p:nvSpPr>
          <p:cNvPr id="34" name="TextBox 33"/>
          <p:cNvSpPr txBox="1"/>
          <p:nvPr/>
        </p:nvSpPr>
        <p:spPr>
          <a:xfrm>
            <a:off x="594360" y="4487418"/>
            <a:ext cx="1353312" cy="11887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40" b="1" i="0" u="none" strike="noStrike" kern="1200" cap="none" spc="0" normalizeH="0" baseline="0" noProof="0">
                <a:ln>
                  <a:noFill/>
                </a:ln>
                <a:solidFill>
                  <a:srgbClr val="1F1F1F"/>
                </a:solidFill>
                <a:effectLst/>
                <a:uLnTx/>
                <a:uFillTx/>
                <a:latin typeface="Arial"/>
                <a:ea typeface="+mn-ea"/>
                <a:cs typeface="+mn-cs"/>
              </a:rPr>
              <a:t>Other Enterprise Apps</a:t>
            </a:r>
          </a:p>
        </p:txBody>
      </p:sp>
      <p:sp>
        <p:nvSpPr>
          <p:cNvPr id="35" name="TextBox 34"/>
          <p:cNvSpPr txBox="1"/>
          <p:nvPr/>
        </p:nvSpPr>
        <p:spPr>
          <a:xfrm>
            <a:off x="594360" y="4610862"/>
            <a:ext cx="1353312" cy="436626"/>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40" b="0" i="0" u="none" strike="noStrike" kern="1200" cap="none" spc="0" normalizeH="0" baseline="0" noProof="0">
                <a:ln>
                  <a:noFill/>
                </a:ln>
                <a:solidFill>
                  <a:srgbClr val="1F1F1F"/>
                </a:solidFill>
                <a:effectLst/>
                <a:uLnTx/>
                <a:uFillTx/>
                <a:latin typeface="Arial"/>
                <a:ea typeface="+mn-ea"/>
                <a:cs typeface="+mn-cs"/>
              </a:rPr>
              <a:t>Finance, HR, ERP, CRM, etc.</a:t>
            </a:r>
          </a:p>
        </p:txBody>
      </p:sp>
      <p:sp>
        <p:nvSpPr>
          <p:cNvPr id="36" name="TextBox 35"/>
          <p:cNvSpPr txBox="1"/>
          <p:nvPr/>
        </p:nvSpPr>
        <p:spPr>
          <a:xfrm>
            <a:off x="2057400" y="469201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37" name="Rectangle 36"/>
          <p:cNvSpPr/>
          <p:nvPr/>
        </p:nvSpPr>
        <p:spPr>
          <a:xfrm>
            <a:off x="9582912" y="786384"/>
            <a:ext cx="2423160" cy="4343400"/>
          </a:xfrm>
          <a:prstGeom prst="rect">
            <a:avLst/>
          </a:prstGeom>
          <a:solidFill>
            <a:srgbClr val="FFFFFF"/>
          </a:solidFill>
          <a:ln w="1143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8" name="Rectangle 37"/>
          <p:cNvSpPr/>
          <p:nvPr/>
        </p:nvSpPr>
        <p:spPr>
          <a:xfrm>
            <a:off x="9582912" y="786384"/>
            <a:ext cx="2423160" cy="329184"/>
          </a:xfrm>
          <a:prstGeom prst="rect">
            <a:avLst/>
          </a:prstGeom>
          <a:solidFill>
            <a:srgbClr val="4E5258"/>
          </a:solidFill>
          <a:ln w="10160">
            <a:solidFill>
              <a:srgbClr val="4E525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9" name="TextBox 38"/>
          <p:cNvSpPr txBox="1"/>
          <p:nvPr/>
        </p:nvSpPr>
        <p:spPr>
          <a:xfrm>
            <a:off x="9582912" y="798716"/>
            <a:ext cx="2423160" cy="286232"/>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Arial"/>
                <a:ea typeface="+mn-ea"/>
                <a:cs typeface="+mn-cs"/>
              </a:rPr>
              <a:t>External / Regulatory /
Fintech Ecosystem</a:t>
            </a:r>
          </a:p>
        </p:txBody>
      </p:sp>
      <p:sp>
        <p:nvSpPr>
          <p:cNvPr id="40" name="Rectangle 39"/>
          <p:cNvSpPr/>
          <p:nvPr/>
        </p:nvSpPr>
        <p:spPr>
          <a:xfrm>
            <a:off x="9619488" y="1170432"/>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41" name="Picture 40" descr="id_card_777777.png"/>
          <p:cNvPicPr>
            <a:picLocks noChangeAspect="1"/>
          </p:cNvPicPr>
          <p:nvPr/>
        </p:nvPicPr>
        <p:blipFill>
          <a:blip r:embed="rId8"/>
          <a:stretch>
            <a:fillRect/>
          </a:stretch>
        </p:blipFill>
        <p:spPr>
          <a:xfrm>
            <a:off x="9656064" y="1263929"/>
            <a:ext cx="182880" cy="182880"/>
          </a:xfrm>
          <a:prstGeom prst="rect">
            <a:avLst/>
          </a:prstGeom>
        </p:spPr>
      </p:pic>
      <p:sp>
        <p:nvSpPr>
          <p:cNvPr id="42" name="TextBox 41"/>
          <p:cNvSpPr txBox="1"/>
          <p:nvPr/>
        </p:nvSpPr>
        <p:spPr>
          <a:xfrm>
            <a:off x="9893808" y="1190548"/>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Identity &amp; KYC</a:t>
            </a:r>
          </a:p>
        </p:txBody>
      </p:sp>
      <p:sp>
        <p:nvSpPr>
          <p:cNvPr id="43" name="TextBox 42"/>
          <p:cNvSpPr txBox="1"/>
          <p:nvPr/>
        </p:nvSpPr>
        <p:spPr>
          <a:xfrm>
            <a:off x="9893808" y="1289304"/>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PAN/Aadhaar OCR, DigiLocker, CKYC, Aadhaar vault/masking, OTP</a:t>
            </a:r>
          </a:p>
        </p:txBody>
      </p:sp>
      <p:sp>
        <p:nvSpPr>
          <p:cNvPr id="44" name="TextBox 43"/>
          <p:cNvSpPr txBox="1"/>
          <p:nvPr/>
        </p:nvSpPr>
        <p:spPr>
          <a:xfrm>
            <a:off x="9363456" y="1291361"/>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45" name="Rectangle 44"/>
          <p:cNvSpPr/>
          <p:nvPr/>
        </p:nvSpPr>
        <p:spPr>
          <a:xfrm>
            <a:off x="9619488" y="1563166"/>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46" name="Picture 45" descr="document_777777.png"/>
          <p:cNvPicPr>
            <a:picLocks noChangeAspect="1"/>
          </p:cNvPicPr>
          <p:nvPr/>
        </p:nvPicPr>
        <p:blipFill>
          <a:blip r:embed="rId4"/>
          <a:stretch>
            <a:fillRect/>
          </a:stretch>
        </p:blipFill>
        <p:spPr>
          <a:xfrm>
            <a:off x="9656064" y="1656664"/>
            <a:ext cx="182880" cy="182880"/>
          </a:xfrm>
          <a:prstGeom prst="rect">
            <a:avLst/>
          </a:prstGeom>
        </p:spPr>
      </p:pic>
      <p:sp>
        <p:nvSpPr>
          <p:cNvPr id="47" name="TextBox 46"/>
          <p:cNvSpPr txBox="1"/>
          <p:nvPr/>
        </p:nvSpPr>
        <p:spPr>
          <a:xfrm>
            <a:off x="9893808" y="1583282"/>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Documents &amp; Mandates</a:t>
            </a:r>
          </a:p>
        </p:txBody>
      </p:sp>
      <p:sp>
        <p:nvSpPr>
          <p:cNvPr id="48" name="TextBox 47"/>
          <p:cNvSpPr txBox="1"/>
          <p:nvPr/>
        </p:nvSpPr>
        <p:spPr>
          <a:xfrm>
            <a:off x="9893808" y="1682038"/>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OCR extraction, eSign, NAC/NPCI callbacks, DMS/PDD agreements</a:t>
            </a:r>
          </a:p>
        </p:txBody>
      </p:sp>
      <p:sp>
        <p:nvSpPr>
          <p:cNvPr id="49" name="TextBox 48"/>
          <p:cNvSpPr txBox="1"/>
          <p:nvPr/>
        </p:nvSpPr>
        <p:spPr>
          <a:xfrm>
            <a:off x="9363456" y="1684096"/>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50" name="Rectangle 49"/>
          <p:cNvSpPr/>
          <p:nvPr/>
        </p:nvSpPr>
        <p:spPr>
          <a:xfrm>
            <a:off x="9619488" y="1955901"/>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51" name="Picture 50" descr="chart_777777.png"/>
          <p:cNvPicPr>
            <a:picLocks noChangeAspect="1"/>
          </p:cNvPicPr>
          <p:nvPr/>
        </p:nvPicPr>
        <p:blipFill>
          <a:blip r:embed="rId9"/>
          <a:stretch>
            <a:fillRect/>
          </a:stretch>
        </p:blipFill>
        <p:spPr>
          <a:xfrm>
            <a:off x="9656064" y="2049399"/>
            <a:ext cx="182880" cy="182880"/>
          </a:xfrm>
          <a:prstGeom prst="rect">
            <a:avLst/>
          </a:prstGeom>
        </p:spPr>
      </p:pic>
      <p:sp>
        <p:nvSpPr>
          <p:cNvPr id="52" name="TextBox 51"/>
          <p:cNvSpPr txBox="1"/>
          <p:nvPr/>
        </p:nvSpPr>
        <p:spPr>
          <a:xfrm>
            <a:off x="9893808" y="1976017"/>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Credit &amp; Risk</a:t>
            </a:r>
          </a:p>
        </p:txBody>
      </p:sp>
      <p:sp>
        <p:nvSpPr>
          <p:cNvPr id="53" name="TextBox 52"/>
          <p:cNvSpPr txBox="1"/>
          <p:nvPr/>
        </p:nvSpPr>
        <p:spPr>
          <a:xfrm>
            <a:off x="9893808" y="2074773"/>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CIBIL, bureau, Hunter / DEDU / UCI</a:t>
            </a:r>
          </a:p>
        </p:txBody>
      </p:sp>
      <p:sp>
        <p:nvSpPr>
          <p:cNvPr id="54" name="TextBox 53"/>
          <p:cNvSpPr txBox="1"/>
          <p:nvPr/>
        </p:nvSpPr>
        <p:spPr>
          <a:xfrm>
            <a:off x="9363456" y="2076831"/>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55" name="Rectangle 54"/>
          <p:cNvSpPr/>
          <p:nvPr/>
        </p:nvSpPr>
        <p:spPr>
          <a:xfrm>
            <a:off x="9619488" y="2348636"/>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56" name="Picture 55" descr="bank_777777.png"/>
          <p:cNvPicPr>
            <a:picLocks noChangeAspect="1"/>
          </p:cNvPicPr>
          <p:nvPr/>
        </p:nvPicPr>
        <p:blipFill>
          <a:blip r:embed="rId10"/>
          <a:stretch>
            <a:fillRect/>
          </a:stretch>
        </p:blipFill>
        <p:spPr>
          <a:xfrm>
            <a:off x="9656064" y="2442133"/>
            <a:ext cx="182880" cy="182880"/>
          </a:xfrm>
          <a:prstGeom prst="rect">
            <a:avLst/>
          </a:prstGeom>
        </p:spPr>
      </p:pic>
      <p:sp>
        <p:nvSpPr>
          <p:cNvPr id="57" name="TextBox 56"/>
          <p:cNvSpPr txBox="1"/>
          <p:nvPr/>
        </p:nvSpPr>
        <p:spPr>
          <a:xfrm>
            <a:off x="9893808" y="2368752"/>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Financial &amp; Income</a:t>
            </a:r>
          </a:p>
        </p:txBody>
      </p:sp>
      <p:sp>
        <p:nvSpPr>
          <p:cNvPr id="58" name="TextBox 57"/>
          <p:cNvSpPr txBox="1"/>
          <p:nvPr/>
        </p:nvSpPr>
        <p:spPr>
          <a:xfrm>
            <a:off x="9893808" y="2467508"/>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Account aggregator, bank statement analysis, GST fetch</a:t>
            </a:r>
          </a:p>
        </p:txBody>
      </p:sp>
      <p:sp>
        <p:nvSpPr>
          <p:cNvPr id="59" name="TextBox 58"/>
          <p:cNvSpPr txBox="1"/>
          <p:nvPr/>
        </p:nvSpPr>
        <p:spPr>
          <a:xfrm>
            <a:off x="9363456" y="246956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60" name="Rectangle 59"/>
          <p:cNvSpPr/>
          <p:nvPr/>
        </p:nvSpPr>
        <p:spPr>
          <a:xfrm>
            <a:off x="9619488" y="2741371"/>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61" name="Picture 60" descr="group_777777.png"/>
          <p:cNvPicPr>
            <a:picLocks noChangeAspect="1"/>
          </p:cNvPicPr>
          <p:nvPr/>
        </p:nvPicPr>
        <p:blipFill>
          <a:blip r:embed="rId11"/>
          <a:stretch>
            <a:fillRect/>
          </a:stretch>
        </p:blipFill>
        <p:spPr>
          <a:xfrm>
            <a:off x="9656064" y="2834868"/>
            <a:ext cx="182880" cy="182880"/>
          </a:xfrm>
          <a:prstGeom prst="rect">
            <a:avLst/>
          </a:prstGeom>
        </p:spPr>
      </p:pic>
      <p:sp>
        <p:nvSpPr>
          <p:cNvPr id="62" name="TextBox 61"/>
          <p:cNvSpPr txBox="1"/>
          <p:nvPr/>
        </p:nvSpPr>
        <p:spPr>
          <a:xfrm>
            <a:off x="9893808" y="2761487"/>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Field / Partner Ops</a:t>
            </a:r>
          </a:p>
        </p:txBody>
      </p:sp>
      <p:sp>
        <p:nvSpPr>
          <p:cNvPr id="63" name="TextBox 62"/>
          <p:cNvSpPr txBox="1"/>
          <p:nvPr/>
        </p:nvSpPr>
        <p:spPr>
          <a:xfrm>
            <a:off x="9893808" y="2860243"/>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FI / Legal / Technical portals, vendor mgmt &amp; case updates</a:t>
            </a:r>
          </a:p>
        </p:txBody>
      </p:sp>
      <p:sp>
        <p:nvSpPr>
          <p:cNvPr id="64" name="TextBox 63"/>
          <p:cNvSpPr txBox="1"/>
          <p:nvPr/>
        </p:nvSpPr>
        <p:spPr>
          <a:xfrm>
            <a:off x="9363456" y="2862300"/>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65" name="Rectangle 64"/>
          <p:cNvSpPr/>
          <p:nvPr/>
        </p:nvSpPr>
        <p:spPr>
          <a:xfrm>
            <a:off x="9619488" y="3134106"/>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66" name="Picture 65" descr="pen_777777.png"/>
          <p:cNvPicPr>
            <a:picLocks noChangeAspect="1"/>
          </p:cNvPicPr>
          <p:nvPr/>
        </p:nvPicPr>
        <p:blipFill>
          <a:blip r:embed="rId12"/>
          <a:stretch>
            <a:fillRect/>
          </a:stretch>
        </p:blipFill>
        <p:spPr>
          <a:xfrm>
            <a:off x="9656064" y="3227603"/>
            <a:ext cx="182880" cy="182880"/>
          </a:xfrm>
          <a:prstGeom prst="rect">
            <a:avLst/>
          </a:prstGeom>
        </p:spPr>
      </p:pic>
      <p:sp>
        <p:nvSpPr>
          <p:cNvPr id="67" name="TextBox 66"/>
          <p:cNvSpPr txBox="1"/>
          <p:nvPr/>
        </p:nvSpPr>
        <p:spPr>
          <a:xfrm>
            <a:off x="9893808" y="3154222"/>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Digital Signature</a:t>
            </a:r>
          </a:p>
        </p:txBody>
      </p:sp>
      <p:sp>
        <p:nvSpPr>
          <p:cNvPr id="68" name="TextBox 67"/>
          <p:cNvSpPr txBox="1"/>
          <p:nvPr/>
        </p:nvSpPr>
        <p:spPr>
          <a:xfrm>
            <a:off x="9893808" y="3252978"/>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eSign providers &amp; DSC services</a:t>
            </a:r>
          </a:p>
        </p:txBody>
      </p:sp>
      <p:sp>
        <p:nvSpPr>
          <p:cNvPr id="69" name="TextBox 68"/>
          <p:cNvSpPr txBox="1"/>
          <p:nvPr/>
        </p:nvSpPr>
        <p:spPr>
          <a:xfrm>
            <a:off x="9363456" y="325503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70" name="Rectangle 69"/>
          <p:cNvSpPr/>
          <p:nvPr/>
        </p:nvSpPr>
        <p:spPr>
          <a:xfrm>
            <a:off x="9619488" y="3526840"/>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71" name="Picture 70" descr="payment_777777.png"/>
          <p:cNvPicPr>
            <a:picLocks noChangeAspect="1"/>
          </p:cNvPicPr>
          <p:nvPr/>
        </p:nvPicPr>
        <p:blipFill>
          <a:blip r:embed="rId13"/>
          <a:stretch>
            <a:fillRect/>
          </a:stretch>
        </p:blipFill>
        <p:spPr>
          <a:xfrm>
            <a:off x="9656064" y="3620338"/>
            <a:ext cx="182880" cy="182880"/>
          </a:xfrm>
          <a:prstGeom prst="rect">
            <a:avLst/>
          </a:prstGeom>
        </p:spPr>
      </p:pic>
      <p:sp>
        <p:nvSpPr>
          <p:cNvPr id="72" name="TextBox 71"/>
          <p:cNvSpPr txBox="1"/>
          <p:nvPr/>
        </p:nvSpPr>
        <p:spPr>
          <a:xfrm>
            <a:off x="9893808" y="3546956"/>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Payment Gateway / eStamp</a:t>
            </a:r>
          </a:p>
        </p:txBody>
      </p:sp>
      <p:sp>
        <p:nvSpPr>
          <p:cNvPr id="73" name="TextBox 72"/>
          <p:cNvSpPr txBox="1"/>
          <p:nvPr/>
        </p:nvSpPr>
        <p:spPr>
          <a:xfrm>
            <a:off x="9893808" y="3645712"/>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Payments, eStamping, challans</a:t>
            </a:r>
          </a:p>
        </p:txBody>
      </p:sp>
      <p:sp>
        <p:nvSpPr>
          <p:cNvPr id="74" name="TextBox 73"/>
          <p:cNvSpPr txBox="1"/>
          <p:nvPr/>
        </p:nvSpPr>
        <p:spPr>
          <a:xfrm>
            <a:off x="9363456" y="3647770"/>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75" name="Rectangle 74"/>
          <p:cNvSpPr/>
          <p:nvPr/>
        </p:nvSpPr>
        <p:spPr>
          <a:xfrm>
            <a:off x="9619488" y="3919575"/>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76" name="Picture 75" descr="shield_777777.png"/>
          <p:cNvPicPr>
            <a:picLocks noChangeAspect="1"/>
          </p:cNvPicPr>
          <p:nvPr/>
        </p:nvPicPr>
        <p:blipFill>
          <a:blip r:embed="rId14"/>
          <a:stretch>
            <a:fillRect/>
          </a:stretch>
        </p:blipFill>
        <p:spPr>
          <a:xfrm>
            <a:off x="9656064" y="4013073"/>
            <a:ext cx="182880" cy="182880"/>
          </a:xfrm>
          <a:prstGeom prst="rect">
            <a:avLst/>
          </a:prstGeom>
        </p:spPr>
      </p:pic>
      <p:sp>
        <p:nvSpPr>
          <p:cNvPr id="77" name="TextBox 76"/>
          <p:cNvSpPr txBox="1"/>
          <p:nvPr/>
        </p:nvSpPr>
        <p:spPr>
          <a:xfrm>
            <a:off x="9893808" y="3939691"/>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Anti-Money Laundering</a:t>
            </a:r>
          </a:p>
        </p:txBody>
      </p:sp>
      <p:sp>
        <p:nvSpPr>
          <p:cNvPr id="78" name="TextBox 77"/>
          <p:cNvSpPr txBox="1"/>
          <p:nvPr/>
        </p:nvSpPr>
        <p:spPr>
          <a:xfrm>
            <a:off x="9893808" y="4038447"/>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AML screening &amp; monitoring</a:t>
            </a:r>
          </a:p>
        </p:txBody>
      </p:sp>
      <p:sp>
        <p:nvSpPr>
          <p:cNvPr id="79" name="TextBox 78"/>
          <p:cNvSpPr txBox="1"/>
          <p:nvPr/>
        </p:nvSpPr>
        <p:spPr>
          <a:xfrm>
            <a:off x="9363456" y="4040505"/>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7E7E7E"/>
                </a:solidFill>
                <a:effectLst/>
                <a:uLnTx/>
                <a:uFillTx/>
                <a:latin typeface="Arial"/>
                <a:ea typeface="+mn-ea"/>
                <a:cs typeface="+mn-cs"/>
              </a:rPr>
              <a:t>↔</a:t>
            </a:r>
          </a:p>
        </p:txBody>
      </p:sp>
      <p:sp>
        <p:nvSpPr>
          <p:cNvPr id="80" name="Rectangle 79"/>
          <p:cNvSpPr/>
          <p:nvPr/>
        </p:nvSpPr>
        <p:spPr>
          <a:xfrm>
            <a:off x="9619488" y="4312310"/>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81" name="Picture 80" descr="building_777777.png"/>
          <p:cNvPicPr>
            <a:picLocks noChangeAspect="1"/>
          </p:cNvPicPr>
          <p:nvPr/>
        </p:nvPicPr>
        <p:blipFill>
          <a:blip r:embed="rId7"/>
          <a:stretch>
            <a:fillRect/>
          </a:stretch>
        </p:blipFill>
        <p:spPr>
          <a:xfrm>
            <a:off x="9656064" y="4405807"/>
            <a:ext cx="182880" cy="182880"/>
          </a:xfrm>
          <a:prstGeom prst="rect">
            <a:avLst/>
          </a:prstGeom>
        </p:spPr>
      </p:pic>
      <p:sp>
        <p:nvSpPr>
          <p:cNvPr id="82" name="TextBox 81"/>
          <p:cNvSpPr txBox="1"/>
          <p:nvPr/>
        </p:nvSpPr>
        <p:spPr>
          <a:xfrm>
            <a:off x="9893808" y="4332426"/>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Multi Bureau</a:t>
            </a:r>
          </a:p>
        </p:txBody>
      </p:sp>
      <p:sp>
        <p:nvSpPr>
          <p:cNvPr id="83" name="TextBox 82"/>
          <p:cNvSpPr txBox="1"/>
          <p:nvPr/>
        </p:nvSpPr>
        <p:spPr>
          <a:xfrm>
            <a:off x="9893808" y="4431182"/>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Bureau connectivity &amp; data</a:t>
            </a:r>
          </a:p>
        </p:txBody>
      </p:sp>
      <p:sp>
        <p:nvSpPr>
          <p:cNvPr id="84" name="Rectangle 83"/>
          <p:cNvSpPr/>
          <p:nvPr/>
        </p:nvSpPr>
        <p:spPr>
          <a:xfrm>
            <a:off x="9619488" y="4705045"/>
            <a:ext cx="2350008" cy="369874"/>
          </a:xfrm>
          <a:prstGeom prst="rect">
            <a:avLst/>
          </a:prstGeom>
          <a:solidFill>
            <a:srgbClr val="FFFFFF"/>
          </a:solidFill>
          <a:ln w="6350">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85" name="Picture 84" descr="chat_777777.png"/>
          <p:cNvPicPr>
            <a:picLocks noChangeAspect="1"/>
          </p:cNvPicPr>
          <p:nvPr/>
        </p:nvPicPr>
        <p:blipFill>
          <a:blip r:embed="rId15"/>
          <a:stretch>
            <a:fillRect/>
          </a:stretch>
        </p:blipFill>
        <p:spPr>
          <a:xfrm>
            <a:off x="9656064" y="4798542"/>
            <a:ext cx="182880" cy="182880"/>
          </a:xfrm>
          <a:prstGeom prst="rect">
            <a:avLst/>
          </a:prstGeom>
        </p:spPr>
      </p:pic>
      <p:sp>
        <p:nvSpPr>
          <p:cNvPr id="86" name="TextBox 85"/>
          <p:cNvSpPr txBox="1"/>
          <p:nvPr/>
        </p:nvSpPr>
        <p:spPr>
          <a:xfrm>
            <a:off x="9893808" y="4725161"/>
            <a:ext cx="2057400" cy="10058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80" b="1" i="0" u="none" strike="noStrike" kern="1200" cap="none" spc="0" normalizeH="0" baseline="0" noProof="0">
                <a:ln>
                  <a:noFill/>
                </a:ln>
                <a:solidFill>
                  <a:srgbClr val="1F1F1F"/>
                </a:solidFill>
                <a:effectLst/>
                <a:uLnTx/>
                <a:uFillTx/>
                <a:latin typeface="Arial"/>
                <a:ea typeface="+mn-ea"/>
                <a:cs typeface="+mn-cs"/>
              </a:rPr>
              <a:t>SMS / Email / CTI</a:t>
            </a:r>
          </a:p>
        </p:txBody>
      </p:sp>
      <p:sp>
        <p:nvSpPr>
          <p:cNvPr id="87" name="TextBox 86"/>
          <p:cNvSpPr txBox="1"/>
          <p:nvPr/>
        </p:nvSpPr>
        <p:spPr>
          <a:xfrm>
            <a:off x="9893808" y="4823917"/>
            <a:ext cx="2057400" cy="241858"/>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6000"/>
              </a:lnSpc>
              <a:spcBef>
                <a:spcPts val="0"/>
              </a:spcBef>
              <a:spcAft>
                <a:spcPts val="0"/>
              </a:spcAft>
              <a:buClrTx/>
              <a:buSzTx/>
              <a:buFontTx/>
              <a:buNone/>
              <a:tabLst/>
              <a:defRPr/>
            </a:pPr>
            <a:r>
              <a:rPr kumimoji="0" sz="590" b="0" i="0" u="none" strike="noStrike" kern="1200" cap="none" spc="0" normalizeH="0" baseline="0" noProof="0">
                <a:ln>
                  <a:noFill/>
                </a:ln>
                <a:solidFill>
                  <a:srgbClr val="1F1F1F"/>
                </a:solidFill>
                <a:effectLst/>
                <a:uLnTx/>
                <a:uFillTx/>
                <a:latin typeface="Arial"/>
                <a:ea typeface="+mn-ea"/>
                <a:cs typeface="+mn-cs"/>
              </a:rPr>
              <a:t>Communications &amp; notifications</a:t>
            </a:r>
          </a:p>
        </p:txBody>
      </p:sp>
      <p:sp>
        <p:nvSpPr>
          <p:cNvPr id="88" name="Rectangle 87"/>
          <p:cNvSpPr/>
          <p:nvPr/>
        </p:nvSpPr>
        <p:spPr>
          <a:xfrm>
            <a:off x="2286000" y="786384"/>
            <a:ext cx="7040880" cy="4343400"/>
          </a:xfrm>
          <a:prstGeom prst="rect">
            <a:avLst/>
          </a:prstGeom>
          <a:solidFill>
            <a:srgbClr val="FFFFFF"/>
          </a:solidFill>
          <a:ln w="17780">
            <a:solidFill>
              <a:srgbClr val="0D448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9" name="Rectangle 88"/>
          <p:cNvSpPr/>
          <p:nvPr/>
        </p:nvSpPr>
        <p:spPr>
          <a:xfrm>
            <a:off x="2286000" y="786384"/>
            <a:ext cx="7040880" cy="329184"/>
          </a:xfrm>
          <a:prstGeom prst="rect">
            <a:avLst/>
          </a:prstGeom>
          <a:solidFill>
            <a:srgbClr val="0D4482"/>
          </a:solidFill>
          <a:ln w="10160">
            <a:solidFill>
              <a:srgbClr val="0D448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0" name="TextBox 89"/>
          <p:cNvSpPr txBox="1"/>
          <p:nvPr/>
        </p:nvSpPr>
        <p:spPr>
          <a:xfrm>
            <a:off x="2286000" y="841080"/>
            <a:ext cx="7040880" cy="19236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a:ea typeface="+mn-ea"/>
                <a:cs typeface="+mn-cs"/>
              </a:rPr>
              <a:t>Agentic </a:t>
            </a:r>
            <a:r>
              <a:rPr kumimoji="0" sz="1100" b="1" i="0" u="none" strike="noStrike" kern="1200" cap="none" spc="0" normalizeH="0" baseline="0" noProof="0">
                <a:ln>
                  <a:noFill/>
                </a:ln>
                <a:solidFill>
                  <a:srgbClr val="FFFFFF"/>
                </a:solidFill>
                <a:effectLst/>
                <a:uLnTx/>
                <a:uFillTx/>
                <a:latin typeface="Arial"/>
                <a:ea typeface="+mn-ea"/>
                <a:cs typeface="+mn-cs"/>
              </a:rPr>
              <a:t>Loan Origination System (LOS)</a:t>
            </a:r>
          </a:p>
        </p:txBody>
      </p:sp>
      <p:pic>
        <p:nvPicPr>
          <p:cNvPr id="91" name="Picture 90" descr="cloud_1e5fa5.png"/>
          <p:cNvPicPr>
            <a:picLocks noChangeAspect="1"/>
          </p:cNvPicPr>
          <p:nvPr/>
        </p:nvPicPr>
        <p:blipFill>
          <a:blip r:embed="rId16"/>
          <a:stretch>
            <a:fillRect/>
          </a:stretch>
        </p:blipFill>
        <p:spPr>
          <a:xfrm>
            <a:off x="2395728" y="876432"/>
            <a:ext cx="164592" cy="164592"/>
          </a:xfrm>
          <a:prstGeom prst="rect">
            <a:avLst/>
          </a:prstGeom>
        </p:spPr>
      </p:pic>
      <p:sp>
        <p:nvSpPr>
          <p:cNvPr id="92" name="Rectangle 91"/>
          <p:cNvSpPr/>
          <p:nvPr/>
        </p:nvSpPr>
        <p:spPr>
          <a:xfrm>
            <a:off x="2377440" y="1197864"/>
            <a:ext cx="6858000" cy="3246120"/>
          </a:xfrm>
          <a:prstGeom prst="rect">
            <a:avLst/>
          </a:prstGeom>
          <a:solidFill>
            <a:srgbClr val="FFFFFF"/>
          </a:solidFill>
          <a:ln w="889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3" name="Rectangle 92"/>
          <p:cNvSpPr/>
          <p:nvPr/>
        </p:nvSpPr>
        <p:spPr>
          <a:xfrm>
            <a:off x="2404872" y="1271016"/>
            <a:ext cx="6803136" cy="612648"/>
          </a:xfrm>
          <a:prstGeom prst="rect">
            <a:avLst/>
          </a:prstGeom>
          <a:solidFill>
            <a:srgbClr val="FFFFFF"/>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4" name="TextBox 93"/>
          <p:cNvSpPr txBox="1"/>
          <p:nvPr/>
        </p:nvSpPr>
        <p:spPr>
          <a:xfrm>
            <a:off x="2432304" y="1393837"/>
            <a:ext cx="896112" cy="367005"/>
          </a:xfrm>
          <a:prstGeom prst="rect">
            <a:avLst/>
          </a:prstGeom>
          <a:solidFill>
            <a:srgbClr val="0D4482"/>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a:ea typeface="+mn-ea"/>
                <a:cs typeface="+mn-cs"/>
              </a:rPr>
              <a:t>Channels
&amp; Access</a:t>
            </a:r>
          </a:p>
        </p:txBody>
      </p:sp>
      <p:sp>
        <p:nvSpPr>
          <p:cNvPr id="95" name="Rectangle 94"/>
          <p:cNvSpPr/>
          <p:nvPr/>
        </p:nvSpPr>
        <p:spPr>
          <a:xfrm>
            <a:off x="2404872" y="1929384"/>
            <a:ext cx="6803136" cy="804672"/>
          </a:xfrm>
          <a:prstGeom prst="rect">
            <a:avLst/>
          </a:prstGeom>
          <a:solidFill>
            <a:srgbClr val="FFFFFF"/>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6" name="TextBox 95"/>
          <p:cNvSpPr txBox="1"/>
          <p:nvPr/>
        </p:nvSpPr>
        <p:spPr>
          <a:xfrm>
            <a:off x="2432304" y="2148217"/>
            <a:ext cx="896112" cy="367005"/>
          </a:xfrm>
          <a:prstGeom prst="rect">
            <a:avLst/>
          </a:prstGeom>
          <a:solidFill>
            <a:srgbClr val="0D4482"/>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a:ea typeface="+mn-ea"/>
                <a:cs typeface="+mn-cs"/>
              </a:rPr>
              <a:t>Application &amp;
API Layer</a:t>
            </a:r>
          </a:p>
        </p:txBody>
      </p:sp>
      <p:sp>
        <p:nvSpPr>
          <p:cNvPr id="97" name="Rectangle 96"/>
          <p:cNvSpPr/>
          <p:nvPr/>
        </p:nvSpPr>
        <p:spPr>
          <a:xfrm>
            <a:off x="2404872" y="2779776"/>
            <a:ext cx="6803136" cy="640080"/>
          </a:xfrm>
          <a:prstGeom prst="rect">
            <a:avLst/>
          </a:prstGeom>
          <a:solidFill>
            <a:srgbClr val="FFFFFF"/>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8" name="TextBox 97"/>
          <p:cNvSpPr txBox="1"/>
          <p:nvPr/>
        </p:nvSpPr>
        <p:spPr>
          <a:xfrm>
            <a:off x="2432304" y="2860914"/>
            <a:ext cx="896112" cy="477805"/>
          </a:xfrm>
          <a:prstGeom prst="rect">
            <a:avLst/>
          </a:prstGeom>
          <a:solidFill>
            <a:srgbClr val="0D4482"/>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a:ea typeface="+mn-ea"/>
                <a:cs typeface="+mn-cs"/>
              </a:rPr>
              <a:t>Data, Documents
&amp; Workflow</a:t>
            </a:r>
          </a:p>
        </p:txBody>
      </p:sp>
      <p:sp>
        <p:nvSpPr>
          <p:cNvPr id="99" name="Rectangle 98"/>
          <p:cNvSpPr/>
          <p:nvPr/>
        </p:nvSpPr>
        <p:spPr>
          <a:xfrm>
            <a:off x="2404872" y="3465576"/>
            <a:ext cx="6803136" cy="713232"/>
          </a:xfrm>
          <a:prstGeom prst="rect">
            <a:avLst/>
          </a:prstGeom>
          <a:solidFill>
            <a:srgbClr val="F0F6FC"/>
          </a:solidFill>
          <a:ln w="4445">
            <a:solidFill>
              <a:srgbClr val="CAD2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0" name="TextBox 99"/>
          <p:cNvSpPr txBox="1"/>
          <p:nvPr/>
        </p:nvSpPr>
        <p:spPr>
          <a:xfrm>
            <a:off x="2432304" y="3583290"/>
            <a:ext cx="896112" cy="477805"/>
          </a:xfrm>
          <a:prstGeom prst="rect">
            <a:avLst/>
          </a:prstGeom>
          <a:solidFill>
            <a:srgbClr val="0D4482"/>
          </a:solidFill>
        </p:spPr>
        <p:txBody>
          <a:bodyPr wrap="square" lIns="72000" tIns="72000" rIns="72000" bIns="7200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a:ea typeface="+mn-ea"/>
                <a:cs typeface="+mn-cs"/>
              </a:rPr>
              <a:t>Platform Foundations / Governance</a:t>
            </a:r>
          </a:p>
        </p:txBody>
      </p:sp>
      <p:sp>
        <p:nvSpPr>
          <p:cNvPr id="101" name="Rectangle 100"/>
          <p:cNvSpPr/>
          <p:nvPr/>
        </p:nvSpPr>
        <p:spPr>
          <a:xfrm>
            <a:off x="3447288" y="1344168"/>
            <a:ext cx="1196274"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02" name="Picture 101" descr="group_1e5fa5.png"/>
          <p:cNvPicPr>
            <a:picLocks noChangeAspect="1"/>
          </p:cNvPicPr>
          <p:nvPr/>
        </p:nvPicPr>
        <p:blipFill>
          <a:blip r:embed="rId17"/>
          <a:stretch>
            <a:fillRect/>
          </a:stretch>
        </p:blipFill>
        <p:spPr>
          <a:xfrm>
            <a:off x="3496387" y="1343970"/>
            <a:ext cx="137160" cy="137160"/>
          </a:xfrm>
          <a:prstGeom prst="rect">
            <a:avLst/>
          </a:prstGeom>
        </p:spPr>
      </p:pic>
      <p:sp>
        <p:nvSpPr>
          <p:cNvPr id="103" name="TextBox 102"/>
          <p:cNvSpPr txBox="1"/>
          <p:nvPr/>
        </p:nvSpPr>
        <p:spPr>
          <a:xfrm>
            <a:off x="3669924" y="1346576"/>
            <a:ext cx="667512" cy="13234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latin typeface="Arial"/>
                <a:ea typeface="+mn-ea"/>
                <a:cs typeface="+mn-cs"/>
              </a:rPr>
              <a:t>LOS Users</a:t>
            </a:r>
          </a:p>
        </p:txBody>
      </p:sp>
      <p:sp>
        <p:nvSpPr>
          <p:cNvPr id="104" name="TextBox 103"/>
          <p:cNvSpPr txBox="1"/>
          <p:nvPr/>
        </p:nvSpPr>
        <p:spPr>
          <a:xfrm>
            <a:off x="3655612" y="1508399"/>
            <a:ext cx="860729" cy="20621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latin typeface="Arial"/>
                <a:ea typeface="+mn-ea"/>
                <a:cs typeface="+mn-cs"/>
              </a:rPr>
              <a:t>Sales • CC • Credit
Ops • Other</a:t>
            </a:r>
          </a:p>
        </p:txBody>
      </p:sp>
      <p:sp>
        <p:nvSpPr>
          <p:cNvPr id="105" name="TextBox 104"/>
          <p:cNvSpPr txBox="1"/>
          <p:nvPr/>
        </p:nvSpPr>
        <p:spPr>
          <a:xfrm>
            <a:off x="5016875" y="1549710"/>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latin typeface="Arial"/>
                <a:ea typeface="+mn-ea"/>
                <a:cs typeface="+mn-cs"/>
              </a:rPr>
              <a:t>→</a:t>
            </a:r>
          </a:p>
        </p:txBody>
      </p:sp>
      <p:sp>
        <p:nvSpPr>
          <p:cNvPr id="106" name="Rectangle 105"/>
          <p:cNvSpPr/>
          <p:nvPr/>
        </p:nvSpPr>
        <p:spPr>
          <a:xfrm>
            <a:off x="4785492" y="1344168"/>
            <a:ext cx="1005840"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07" name="Picture 106" descr="globe_1e5fa5.png"/>
          <p:cNvPicPr>
            <a:picLocks noChangeAspect="1"/>
          </p:cNvPicPr>
          <p:nvPr/>
        </p:nvPicPr>
        <p:blipFill>
          <a:blip r:embed="rId18"/>
          <a:stretch>
            <a:fillRect/>
          </a:stretch>
        </p:blipFill>
        <p:spPr>
          <a:xfrm>
            <a:off x="4826640" y="1534801"/>
            <a:ext cx="137160" cy="137160"/>
          </a:xfrm>
          <a:prstGeom prst="rect">
            <a:avLst/>
          </a:prstGeom>
        </p:spPr>
      </p:pic>
      <p:sp>
        <p:nvSpPr>
          <p:cNvPr id="108" name="TextBox 107"/>
          <p:cNvSpPr txBox="1"/>
          <p:nvPr/>
        </p:nvSpPr>
        <p:spPr>
          <a:xfrm>
            <a:off x="4801395" y="1367028"/>
            <a:ext cx="804672"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latin typeface="Arial"/>
                <a:ea typeface="+mn-ea"/>
                <a:cs typeface="+mn-cs"/>
              </a:rPr>
              <a:t>Web App / Portal</a:t>
            </a:r>
          </a:p>
        </p:txBody>
      </p:sp>
      <p:sp>
        <p:nvSpPr>
          <p:cNvPr id="109" name="TextBox 108"/>
          <p:cNvSpPr txBox="1"/>
          <p:nvPr/>
        </p:nvSpPr>
        <p:spPr>
          <a:xfrm>
            <a:off x="5009719" y="1516576"/>
            <a:ext cx="914400" cy="20621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latin typeface="Arial"/>
                <a:ea typeface="+mn-ea"/>
                <a:cs typeface="+mn-cs"/>
              </a:rPr>
              <a:t>React / Next.js
on Amplify</a:t>
            </a:r>
          </a:p>
        </p:txBody>
      </p:sp>
      <p:sp>
        <p:nvSpPr>
          <p:cNvPr id="110" name="TextBox 109"/>
          <p:cNvSpPr txBox="1"/>
          <p:nvPr/>
        </p:nvSpPr>
        <p:spPr>
          <a:xfrm>
            <a:off x="6086723" y="1549710"/>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latin typeface="Arial"/>
                <a:ea typeface="+mn-ea"/>
                <a:cs typeface="+mn-cs"/>
              </a:rPr>
              <a:t>→</a:t>
            </a:r>
          </a:p>
        </p:txBody>
      </p:sp>
      <p:sp>
        <p:nvSpPr>
          <p:cNvPr id="111" name="Rectangle 110"/>
          <p:cNvSpPr/>
          <p:nvPr/>
        </p:nvSpPr>
        <p:spPr>
          <a:xfrm>
            <a:off x="5950755" y="1344169"/>
            <a:ext cx="1030490"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12" name="Picture 111" descr="shield_user_1e5fa5.png"/>
          <p:cNvPicPr>
            <a:picLocks noChangeAspect="1"/>
          </p:cNvPicPr>
          <p:nvPr/>
        </p:nvPicPr>
        <p:blipFill>
          <a:blip r:embed="rId19"/>
          <a:stretch>
            <a:fillRect/>
          </a:stretch>
        </p:blipFill>
        <p:spPr>
          <a:xfrm>
            <a:off x="5991903" y="1534802"/>
            <a:ext cx="137160" cy="137160"/>
          </a:xfrm>
          <a:prstGeom prst="rect">
            <a:avLst/>
          </a:prstGeom>
        </p:spPr>
      </p:pic>
      <p:sp>
        <p:nvSpPr>
          <p:cNvPr id="113" name="TextBox 112"/>
          <p:cNvSpPr txBox="1"/>
          <p:nvPr/>
        </p:nvSpPr>
        <p:spPr>
          <a:xfrm>
            <a:off x="6237003" y="1370431"/>
            <a:ext cx="621792" cy="13234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latin typeface="Arial"/>
                <a:ea typeface="+mn-ea"/>
                <a:cs typeface="+mn-cs"/>
              </a:rPr>
              <a:t>Cognito</a:t>
            </a:r>
          </a:p>
        </p:txBody>
      </p:sp>
      <p:sp>
        <p:nvSpPr>
          <p:cNvPr id="114" name="TextBox 113"/>
          <p:cNvSpPr txBox="1"/>
          <p:nvPr/>
        </p:nvSpPr>
        <p:spPr>
          <a:xfrm>
            <a:off x="6119321" y="1546455"/>
            <a:ext cx="949387" cy="114647"/>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latin typeface="Arial"/>
                <a:ea typeface="+mn-ea"/>
                <a:cs typeface="+mn-cs"/>
              </a:rPr>
              <a:t>Login • roles • JWT</a:t>
            </a:r>
          </a:p>
        </p:txBody>
      </p:sp>
      <p:sp>
        <p:nvSpPr>
          <p:cNvPr id="116" name="Rectangle 115"/>
          <p:cNvSpPr/>
          <p:nvPr/>
        </p:nvSpPr>
        <p:spPr>
          <a:xfrm>
            <a:off x="7100117" y="1336218"/>
            <a:ext cx="960120"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17" name="Picture 116" descr="globe_1e5fa5.png"/>
          <p:cNvPicPr>
            <a:picLocks noChangeAspect="1"/>
          </p:cNvPicPr>
          <p:nvPr/>
        </p:nvPicPr>
        <p:blipFill>
          <a:blip r:embed="rId18"/>
          <a:stretch>
            <a:fillRect/>
          </a:stretch>
        </p:blipFill>
        <p:spPr>
          <a:xfrm>
            <a:off x="7141265" y="1526851"/>
            <a:ext cx="137160" cy="137160"/>
          </a:xfrm>
          <a:prstGeom prst="rect">
            <a:avLst/>
          </a:prstGeom>
        </p:spPr>
      </p:pic>
      <p:sp>
        <p:nvSpPr>
          <p:cNvPr id="118" name="TextBox 117"/>
          <p:cNvSpPr txBox="1"/>
          <p:nvPr/>
        </p:nvSpPr>
        <p:spPr>
          <a:xfrm>
            <a:off x="7122184" y="1345583"/>
            <a:ext cx="1091514" cy="13234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latin typeface="Arial"/>
                <a:ea typeface="+mn-ea"/>
                <a:cs typeface="+mn-cs"/>
              </a:rPr>
              <a:t>CloudFront /</a:t>
            </a:r>
            <a:r>
              <a:rPr kumimoji="0" lang="en-US" sz="710" b="1" i="0" u="none" strike="noStrike" kern="1200" cap="none" spc="0" normalizeH="0" baseline="0" noProof="0">
                <a:ln>
                  <a:noFill/>
                </a:ln>
                <a:solidFill>
                  <a:srgbClr val="1F1F1F"/>
                </a:solidFill>
                <a:effectLst/>
                <a:uLnTx/>
                <a:uFillTx/>
                <a:latin typeface="Arial"/>
                <a:ea typeface="+mn-ea"/>
                <a:cs typeface="+mn-cs"/>
              </a:rPr>
              <a:t> </a:t>
            </a:r>
            <a:r>
              <a:rPr kumimoji="0" sz="710" b="1" i="0" u="none" strike="noStrike" kern="1200" cap="none" spc="0" normalizeH="0" baseline="0" noProof="0">
                <a:ln>
                  <a:noFill/>
                </a:ln>
                <a:solidFill>
                  <a:srgbClr val="1F1F1F"/>
                </a:solidFill>
                <a:effectLst/>
                <a:uLnTx/>
                <a:uFillTx/>
                <a:latin typeface="Arial"/>
                <a:ea typeface="+mn-ea"/>
                <a:cs typeface="+mn-cs"/>
              </a:rPr>
              <a:t>CDN</a:t>
            </a:r>
          </a:p>
        </p:txBody>
      </p:sp>
      <p:sp>
        <p:nvSpPr>
          <p:cNvPr id="119" name="TextBox 118"/>
          <p:cNvSpPr txBox="1"/>
          <p:nvPr/>
        </p:nvSpPr>
        <p:spPr>
          <a:xfrm>
            <a:off x="7300488" y="1529529"/>
            <a:ext cx="868680" cy="16440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540" b="0" i="0" u="none" strike="noStrike" kern="1200" cap="none" spc="0" normalizeH="0" baseline="0" noProof="0">
                <a:ln>
                  <a:noFill/>
                </a:ln>
                <a:solidFill>
                  <a:srgbClr val="1F1F1F"/>
                </a:solidFill>
                <a:effectLst/>
                <a:uLnTx/>
                <a:uFillTx/>
                <a:latin typeface="Arial"/>
                <a:ea typeface="+mn-ea"/>
                <a:cs typeface="+mn-cs"/>
              </a:rPr>
              <a:t>Caching + edge
security</a:t>
            </a:r>
          </a:p>
        </p:txBody>
      </p:sp>
      <p:sp>
        <p:nvSpPr>
          <p:cNvPr id="121" name="Rectangle 120"/>
          <p:cNvSpPr/>
          <p:nvPr/>
        </p:nvSpPr>
        <p:spPr>
          <a:xfrm>
            <a:off x="8219660" y="1328266"/>
            <a:ext cx="877824" cy="438912"/>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22" name="Picture 121" descr="shield_1e5fa5.png"/>
          <p:cNvPicPr>
            <a:picLocks noChangeAspect="1"/>
          </p:cNvPicPr>
          <p:nvPr/>
        </p:nvPicPr>
        <p:blipFill>
          <a:blip r:embed="rId20"/>
          <a:stretch>
            <a:fillRect/>
          </a:stretch>
        </p:blipFill>
        <p:spPr>
          <a:xfrm>
            <a:off x="8260808" y="1518899"/>
            <a:ext cx="137160" cy="137160"/>
          </a:xfrm>
          <a:prstGeom prst="rect">
            <a:avLst/>
          </a:prstGeom>
        </p:spPr>
      </p:pic>
      <p:sp>
        <p:nvSpPr>
          <p:cNvPr id="123" name="TextBox 122"/>
          <p:cNvSpPr txBox="1"/>
          <p:nvPr/>
        </p:nvSpPr>
        <p:spPr>
          <a:xfrm>
            <a:off x="8219660" y="1359078"/>
            <a:ext cx="676656"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10" b="1" i="0" u="none" strike="noStrike" kern="1200" cap="none" spc="0" normalizeH="0" baseline="0" noProof="0">
                <a:ln>
                  <a:noFill/>
                </a:ln>
                <a:solidFill>
                  <a:srgbClr val="1F1F1F"/>
                </a:solidFill>
                <a:effectLst/>
                <a:uLnTx/>
                <a:uFillTx/>
                <a:latin typeface="Arial"/>
                <a:ea typeface="+mn-ea"/>
                <a:cs typeface="+mn-cs"/>
              </a:rPr>
              <a:t>WAF + DNS</a:t>
            </a:r>
          </a:p>
        </p:txBody>
      </p:sp>
      <p:sp>
        <p:nvSpPr>
          <p:cNvPr id="124" name="TextBox 123"/>
          <p:cNvSpPr txBox="1"/>
          <p:nvPr/>
        </p:nvSpPr>
        <p:spPr>
          <a:xfrm>
            <a:off x="8427984" y="1505673"/>
            <a:ext cx="786384" cy="164404"/>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sz="540" b="0" i="0" u="none" strike="noStrike" kern="1200" cap="none" spc="0" normalizeH="0" baseline="0" noProof="0">
                <a:ln>
                  <a:noFill/>
                </a:ln>
                <a:solidFill>
                  <a:srgbClr val="1F1F1F"/>
                </a:solidFill>
                <a:effectLst/>
                <a:uLnTx/>
                <a:uFillTx/>
                <a:latin typeface="Arial"/>
                <a:ea typeface="+mn-ea"/>
                <a:cs typeface="+mn-cs"/>
              </a:rPr>
              <a:t>Route 53
edge security</a:t>
            </a:r>
          </a:p>
        </p:txBody>
      </p:sp>
      <p:sp>
        <p:nvSpPr>
          <p:cNvPr id="125" name="Rectangle 124"/>
          <p:cNvSpPr/>
          <p:nvPr/>
        </p:nvSpPr>
        <p:spPr>
          <a:xfrm>
            <a:off x="3447288" y="2011680"/>
            <a:ext cx="868680" cy="566928"/>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26" name="Picture 125" descr="api_1e5fa5.png"/>
          <p:cNvPicPr>
            <a:picLocks noChangeAspect="1"/>
          </p:cNvPicPr>
          <p:nvPr/>
        </p:nvPicPr>
        <p:blipFill>
          <a:blip r:embed="rId21"/>
          <a:stretch>
            <a:fillRect/>
          </a:stretch>
        </p:blipFill>
        <p:spPr>
          <a:xfrm>
            <a:off x="3480484" y="2250418"/>
            <a:ext cx="137160" cy="137160"/>
          </a:xfrm>
          <a:prstGeom prst="rect">
            <a:avLst/>
          </a:prstGeom>
        </p:spPr>
      </p:pic>
      <p:sp>
        <p:nvSpPr>
          <p:cNvPr id="127" name="TextBox 126"/>
          <p:cNvSpPr txBox="1"/>
          <p:nvPr/>
        </p:nvSpPr>
        <p:spPr>
          <a:xfrm>
            <a:off x="3526801" y="2058394"/>
            <a:ext cx="667512"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20" b="1" i="0" u="none" strike="noStrike" kern="1200" cap="none" spc="0" normalizeH="0" baseline="0" noProof="0">
                <a:ln>
                  <a:noFill/>
                </a:ln>
                <a:solidFill>
                  <a:srgbClr val="1F1F1F"/>
                </a:solidFill>
                <a:effectLst/>
                <a:uLnTx/>
                <a:uFillTx/>
                <a:latin typeface="Arial"/>
                <a:ea typeface="+mn-ea"/>
                <a:cs typeface="+mn-cs"/>
              </a:rPr>
              <a:t>API Gateway</a:t>
            </a:r>
          </a:p>
        </p:txBody>
      </p:sp>
      <p:sp>
        <p:nvSpPr>
          <p:cNvPr id="128" name="TextBox 127"/>
          <p:cNvSpPr txBox="1"/>
          <p:nvPr/>
        </p:nvSpPr>
        <p:spPr>
          <a:xfrm>
            <a:off x="3576099" y="2224242"/>
            <a:ext cx="677849" cy="20621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latin typeface="Arial"/>
                <a:ea typeface="+mn-ea"/>
                <a:cs typeface="+mn-cs"/>
              </a:rPr>
              <a:t>Secured LOS APIs</a:t>
            </a:r>
          </a:p>
        </p:txBody>
      </p:sp>
      <p:sp>
        <p:nvSpPr>
          <p:cNvPr id="129" name="TextBox 128"/>
          <p:cNvSpPr txBox="1"/>
          <p:nvPr/>
        </p:nvSpPr>
        <p:spPr>
          <a:xfrm>
            <a:off x="4325112" y="2249424"/>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latin typeface="Arial"/>
                <a:ea typeface="+mn-ea"/>
                <a:cs typeface="+mn-cs"/>
              </a:rPr>
              <a:t>→</a:t>
            </a:r>
          </a:p>
        </p:txBody>
      </p:sp>
      <p:sp>
        <p:nvSpPr>
          <p:cNvPr id="130" name="Rectangle 129"/>
          <p:cNvSpPr/>
          <p:nvPr/>
        </p:nvSpPr>
        <p:spPr>
          <a:xfrm>
            <a:off x="4422117" y="2011680"/>
            <a:ext cx="2885131" cy="566928"/>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31" name="Picture 130" descr="lambda_1e5fa5.png"/>
          <p:cNvPicPr>
            <a:picLocks noChangeAspect="1"/>
          </p:cNvPicPr>
          <p:nvPr/>
        </p:nvPicPr>
        <p:blipFill>
          <a:blip r:embed="rId22"/>
          <a:stretch>
            <a:fillRect/>
          </a:stretch>
        </p:blipFill>
        <p:spPr>
          <a:xfrm>
            <a:off x="4523497" y="2267315"/>
            <a:ext cx="146304" cy="146304"/>
          </a:xfrm>
          <a:prstGeom prst="rect">
            <a:avLst/>
          </a:prstGeom>
        </p:spPr>
      </p:pic>
      <p:sp>
        <p:nvSpPr>
          <p:cNvPr id="132" name="TextBox 131"/>
          <p:cNvSpPr txBox="1"/>
          <p:nvPr/>
        </p:nvSpPr>
        <p:spPr>
          <a:xfrm>
            <a:off x="4521112" y="2032255"/>
            <a:ext cx="1709928" cy="136961"/>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40" b="1" i="0" u="none" strike="noStrike" kern="1200" cap="none" spc="0" normalizeH="0" baseline="0" noProof="0">
                <a:ln>
                  <a:noFill/>
                </a:ln>
                <a:solidFill>
                  <a:srgbClr val="1F1F1F"/>
                </a:solidFill>
                <a:effectLst/>
                <a:uLnTx/>
                <a:uFillTx/>
                <a:latin typeface="Arial"/>
                <a:ea typeface="+mn-ea"/>
                <a:cs typeface="+mn-cs"/>
              </a:rPr>
              <a:t>Lambda Business Services</a:t>
            </a:r>
          </a:p>
        </p:txBody>
      </p:sp>
      <p:sp>
        <p:nvSpPr>
          <p:cNvPr id="133" name="TextBox 132"/>
          <p:cNvSpPr txBox="1"/>
          <p:nvPr/>
        </p:nvSpPr>
        <p:spPr>
          <a:xfrm>
            <a:off x="4634814" y="2225435"/>
            <a:ext cx="2362333" cy="20621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latin typeface="Arial"/>
                <a:ea typeface="+mn-ea"/>
                <a:cs typeface="+mn-cs"/>
              </a:rPr>
              <a:t>Lead | Application | Customer | Document
Workflow service | Integration adapters</a:t>
            </a:r>
          </a:p>
        </p:txBody>
      </p:sp>
      <p:sp>
        <p:nvSpPr>
          <p:cNvPr id="134" name="TextBox 133"/>
          <p:cNvSpPr txBox="1"/>
          <p:nvPr/>
        </p:nvSpPr>
        <p:spPr>
          <a:xfrm>
            <a:off x="7303671" y="2225570"/>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latin typeface="Arial"/>
                <a:ea typeface="+mn-ea"/>
                <a:cs typeface="+mn-cs"/>
              </a:rPr>
              <a:t>→</a:t>
            </a:r>
          </a:p>
        </p:txBody>
      </p:sp>
      <p:sp>
        <p:nvSpPr>
          <p:cNvPr id="135" name="Rectangle 134"/>
          <p:cNvSpPr/>
          <p:nvPr/>
        </p:nvSpPr>
        <p:spPr>
          <a:xfrm>
            <a:off x="7513983" y="2003729"/>
            <a:ext cx="1558453" cy="566928"/>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36" name="Picture 135" descr="network_1e5fa5.png"/>
          <p:cNvPicPr>
            <a:picLocks noChangeAspect="1"/>
          </p:cNvPicPr>
          <p:nvPr/>
        </p:nvPicPr>
        <p:blipFill>
          <a:blip r:embed="rId23"/>
          <a:stretch>
            <a:fillRect/>
          </a:stretch>
        </p:blipFill>
        <p:spPr>
          <a:xfrm>
            <a:off x="7592898" y="2274273"/>
            <a:ext cx="137160" cy="137160"/>
          </a:xfrm>
          <a:prstGeom prst="rect">
            <a:avLst/>
          </a:prstGeom>
        </p:spPr>
      </p:pic>
      <p:sp>
        <p:nvSpPr>
          <p:cNvPr id="137" name="TextBox 136"/>
          <p:cNvSpPr txBox="1"/>
          <p:nvPr/>
        </p:nvSpPr>
        <p:spPr>
          <a:xfrm>
            <a:off x="7564289" y="2052551"/>
            <a:ext cx="999265" cy="12772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1" i="0" u="none" strike="noStrike" kern="1200" cap="none" spc="0" normalizeH="0" baseline="0" noProof="0" err="1">
                <a:ln>
                  <a:noFill/>
                </a:ln>
                <a:solidFill>
                  <a:srgbClr val="1F1F1F"/>
                </a:solidFill>
                <a:effectLst/>
                <a:uLnTx/>
                <a:uFillTx/>
                <a:latin typeface="Arial"/>
                <a:ea typeface="+mn-ea"/>
                <a:cs typeface="+mn-cs"/>
              </a:rPr>
              <a:t>EventBridge</a:t>
            </a:r>
            <a:r>
              <a:rPr kumimoji="0" sz="680" b="1" i="0" u="none" strike="noStrike" kern="1200" cap="none" spc="0" normalizeH="0" baseline="0" noProof="0">
                <a:ln>
                  <a:noFill/>
                </a:ln>
                <a:solidFill>
                  <a:srgbClr val="1F1F1F"/>
                </a:solidFill>
                <a:effectLst/>
                <a:uLnTx/>
                <a:uFillTx/>
                <a:latin typeface="Arial"/>
                <a:ea typeface="+mn-ea"/>
                <a:cs typeface="+mn-cs"/>
              </a:rPr>
              <a:t> / SQS</a:t>
            </a:r>
          </a:p>
        </p:txBody>
      </p:sp>
      <p:sp>
        <p:nvSpPr>
          <p:cNvPr id="138" name="TextBox 137"/>
          <p:cNvSpPr txBox="1"/>
          <p:nvPr/>
        </p:nvSpPr>
        <p:spPr>
          <a:xfrm>
            <a:off x="7640804" y="2256047"/>
            <a:ext cx="1145385" cy="20621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700" b="0" i="0" u="none" strike="noStrike" kern="1200" cap="none" spc="0" normalizeH="0" baseline="0" noProof="0">
                <a:ln>
                  <a:noFill/>
                </a:ln>
                <a:solidFill>
                  <a:srgbClr val="1F1F1F"/>
                </a:solidFill>
                <a:effectLst/>
                <a:uLnTx/>
                <a:uFillTx/>
                <a:latin typeface="Arial"/>
                <a:ea typeface="+mn-ea"/>
                <a:cs typeface="+mn-cs"/>
              </a:rPr>
              <a:t>Async events
retries, callbacks</a:t>
            </a:r>
          </a:p>
        </p:txBody>
      </p:sp>
      <p:sp>
        <p:nvSpPr>
          <p:cNvPr id="143" name="Rectangle 142"/>
          <p:cNvSpPr/>
          <p:nvPr/>
        </p:nvSpPr>
        <p:spPr>
          <a:xfrm>
            <a:off x="3447288" y="2852928"/>
            <a:ext cx="1060704"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44" name="Picture 143" descr="database_1e5fa5.png"/>
          <p:cNvPicPr>
            <a:picLocks noChangeAspect="1"/>
          </p:cNvPicPr>
          <p:nvPr/>
        </p:nvPicPr>
        <p:blipFill>
          <a:blip r:embed="rId24"/>
          <a:stretch>
            <a:fillRect/>
          </a:stretch>
        </p:blipFill>
        <p:spPr>
          <a:xfrm>
            <a:off x="3488436" y="3012948"/>
            <a:ext cx="137160" cy="137160"/>
          </a:xfrm>
          <a:prstGeom prst="rect">
            <a:avLst/>
          </a:prstGeom>
        </p:spPr>
      </p:pic>
      <p:sp>
        <p:nvSpPr>
          <p:cNvPr id="145" name="TextBox 144"/>
          <p:cNvSpPr txBox="1"/>
          <p:nvPr/>
        </p:nvSpPr>
        <p:spPr>
          <a:xfrm>
            <a:off x="3617155" y="2912364"/>
            <a:ext cx="859536"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latin typeface="Arial"/>
                <a:ea typeface="+mn-ea"/>
                <a:cs typeface="+mn-cs"/>
              </a:rPr>
              <a:t>Aurora PostgreSQL</a:t>
            </a:r>
          </a:p>
        </p:txBody>
      </p:sp>
      <p:sp>
        <p:nvSpPr>
          <p:cNvPr id="146" name="TextBox 145"/>
          <p:cNvSpPr txBox="1"/>
          <p:nvPr/>
        </p:nvSpPr>
        <p:spPr>
          <a:xfrm>
            <a:off x="3520440" y="2990088"/>
            <a:ext cx="969264" cy="3108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latin typeface="Arial"/>
                <a:ea typeface="+mn-ea"/>
                <a:cs typeface="+mn-cs"/>
              </a:rPr>
              <a:t>Applications, customers,
KYC docs, audit</a:t>
            </a:r>
          </a:p>
        </p:txBody>
      </p:sp>
      <p:sp>
        <p:nvSpPr>
          <p:cNvPr id="147" name="TextBox 146"/>
          <p:cNvSpPr txBox="1"/>
          <p:nvPr/>
        </p:nvSpPr>
        <p:spPr>
          <a:xfrm>
            <a:off x="4517136" y="3035808"/>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latin typeface="Arial"/>
                <a:ea typeface="+mn-ea"/>
                <a:cs typeface="+mn-cs"/>
              </a:rPr>
              <a:t>→</a:t>
            </a:r>
          </a:p>
        </p:txBody>
      </p:sp>
      <p:sp>
        <p:nvSpPr>
          <p:cNvPr id="148" name="Rectangle 147"/>
          <p:cNvSpPr/>
          <p:nvPr/>
        </p:nvSpPr>
        <p:spPr>
          <a:xfrm>
            <a:off x="4581144" y="2852928"/>
            <a:ext cx="987552"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49" name="Picture 148" descr="bucket_1e5fa5.png"/>
          <p:cNvPicPr>
            <a:picLocks noChangeAspect="1"/>
          </p:cNvPicPr>
          <p:nvPr/>
        </p:nvPicPr>
        <p:blipFill>
          <a:blip r:embed="rId25"/>
          <a:stretch>
            <a:fillRect/>
          </a:stretch>
        </p:blipFill>
        <p:spPr>
          <a:xfrm>
            <a:off x="4622292" y="3012948"/>
            <a:ext cx="137160" cy="137160"/>
          </a:xfrm>
          <a:prstGeom prst="rect">
            <a:avLst/>
          </a:prstGeom>
        </p:spPr>
      </p:pic>
      <p:sp>
        <p:nvSpPr>
          <p:cNvPr id="150" name="TextBox 149"/>
          <p:cNvSpPr txBox="1"/>
          <p:nvPr/>
        </p:nvSpPr>
        <p:spPr>
          <a:xfrm>
            <a:off x="4764024" y="2875788"/>
            <a:ext cx="786384"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latin typeface="Arial"/>
                <a:ea typeface="+mn-ea"/>
                <a:cs typeface="+mn-cs"/>
              </a:rPr>
              <a:t>Amazon S3</a:t>
            </a:r>
          </a:p>
        </p:txBody>
      </p:sp>
      <p:sp>
        <p:nvSpPr>
          <p:cNvPr id="151" name="TextBox 150"/>
          <p:cNvSpPr txBox="1"/>
          <p:nvPr/>
        </p:nvSpPr>
        <p:spPr>
          <a:xfrm>
            <a:off x="4654296" y="2990088"/>
            <a:ext cx="896112" cy="3108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latin typeface="Arial"/>
                <a:ea typeface="+mn-ea"/>
                <a:cs typeface="+mn-cs"/>
              </a:rPr>
              <a:t>Forms, statements,
agreements</a:t>
            </a:r>
          </a:p>
        </p:txBody>
      </p:sp>
      <p:sp>
        <p:nvSpPr>
          <p:cNvPr id="152" name="TextBox 151"/>
          <p:cNvSpPr txBox="1"/>
          <p:nvPr/>
        </p:nvSpPr>
        <p:spPr>
          <a:xfrm>
            <a:off x="5577840" y="3035808"/>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latin typeface="Arial"/>
                <a:ea typeface="+mn-ea"/>
                <a:cs typeface="+mn-cs"/>
              </a:rPr>
              <a:t>→</a:t>
            </a:r>
          </a:p>
        </p:txBody>
      </p:sp>
      <p:sp>
        <p:nvSpPr>
          <p:cNvPr id="153" name="Rectangle 152"/>
          <p:cNvSpPr/>
          <p:nvPr/>
        </p:nvSpPr>
        <p:spPr>
          <a:xfrm>
            <a:off x="5641848" y="2852928"/>
            <a:ext cx="1060704"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54" name="Picture 153" descr="workflow_1e5fa5.png"/>
          <p:cNvPicPr>
            <a:picLocks noChangeAspect="1"/>
          </p:cNvPicPr>
          <p:nvPr/>
        </p:nvPicPr>
        <p:blipFill>
          <a:blip r:embed="rId26"/>
          <a:stretch>
            <a:fillRect/>
          </a:stretch>
        </p:blipFill>
        <p:spPr>
          <a:xfrm>
            <a:off x="5682996" y="3012948"/>
            <a:ext cx="137160" cy="137160"/>
          </a:xfrm>
          <a:prstGeom prst="rect">
            <a:avLst/>
          </a:prstGeom>
        </p:spPr>
      </p:pic>
      <p:sp>
        <p:nvSpPr>
          <p:cNvPr id="155" name="TextBox 154"/>
          <p:cNvSpPr txBox="1"/>
          <p:nvPr/>
        </p:nvSpPr>
        <p:spPr>
          <a:xfrm>
            <a:off x="5824728" y="2875788"/>
            <a:ext cx="859536"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latin typeface="Arial"/>
                <a:ea typeface="+mn-ea"/>
                <a:cs typeface="+mn-cs"/>
              </a:rPr>
              <a:t>Step Functions</a:t>
            </a:r>
          </a:p>
        </p:txBody>
      </p:sp>
      <p:sp>
        <p:nvSpPr>
          <p:cNvPr id="156" name="TextBox 155"/>
          <p:cNvSpPr txBox="1"/>
          <p:nvPr/>
        </p:nvSpPr>
        <p:spPr>
          <a:xfrm>
            <a:off x="5715000" y="2990088"/>
            <a:ext cx="969264" cy="3108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latin typeface="Arial"/>
                <a:ea typeface="+mn-ea"/>
                <a:cs typeface="+mn-cs"/>
              </a:rPr>
              <a:t>KYC • bureau • credit
approval • disb.</a:t>
            </a:r>
          </a:p>
        </p:txBody>
      </p:sp>
      <p:sp>
        <p:nvSpPr>
          <p:cNvPr id="157" name="TextBox 156"/>
          <p:cNvSpPr txBox="1"/>
          <p:nvPr/>
        </p:nvSpPr>
        <p:spPr>
          <a:xfrm>
            <a:off x="6711696" y="3035808"/>
            <a:ext cx="201168"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E6FB2"/>
                </a:solidFill>
                <a:effectLst/>
                <a:uLnTx/>
                <a:uFillTx/>
                <a:latin typeface="Arial"/>
                <a:ea typeface="+mn-ea"/>
                <a:cs typeface="+mn-cs"/>
              </a:rPr>
              <a:t>→</a:t>
            </a:r>
          </a:p>
        </p:txBody>
      </p:sp>
      <p:sp>
        <p:nvSpPr>
          <p:cNvPr id="158" name="Rectangle 157"/>
          <p:cNvSpPr/>
          <p:nvPr/>
        </p:nvSpPr>
        <p:spPr>
          <a:xfrm>
            <a:off x="6775704" y="2852928"/>
            <a:ext cx="1005840" cy="457200"/>
          </a:xfrm>
          <a:prstGeom prst="rect">
            <a:avLst/>
          </a:prstGeom>
          <a:solidFill>
            <a:schemeClr val="tx2">
              <a:lumMod val="10000"/>
              <a:lumOff val="90000"/>
            </a:schemeClr>
          </a:solidFill>
          <a:ln w="6985">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59" name="Picture 158" descr="chart_1e5fa5.png"/>
          <p:cNvPicPr>
            <a:picLocks noChangeAspect="1"/>
          </p:cNvPicPr>
          <p:nvPr/>
        </p:nvPicPr>
        <p:blipFill>
          <a:blip r:embed="rId27"/>
          <a:stretch>
            <a:fillRect/>
          </a:stretch>
        </p:blipFill>
        <p:spPr>
          <a:xfrm>
            <a:off x="6816852" y="3012948"/>
            <a:ext cx="137160" cy="137160"/>
          </a:xfrm>
          <a:prstGeom prst="rect">
            <a:avLst/>
          </a:prstGeom>
        </p:spPr>
      </p:pic>
      <p:sp>
        <p:nvSpPr>
          <p:cNvPr id="160" name="TextBox 159"/>
          <p:cNvSpPr txBox="1"/>
          <p:nvPr/>
        </p:nvSpPr>
        <p:spPr>
          <a:xfrm>
            <a:off x="6949791" y="2911537"/>
            <a:ext cx="804672"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latin typeface="Arial"/>
                <a:ea typeface="+mn-ea"/>
                <a:cs typeface="+mn-cs"/>
              </a:rPr>
              <a:t>Audit &amp; Monitoring</a:t>
            </a:r>
          </a:p>
        </p:txBody>
      </p:sp>
      <p:sp>
        <p:nvSpPr>
          <p:cNvPr id="161" name="TextBox 160"/>
          <p:cNvSpPr txBox="1"/>
          <p:nvPr/>
        </p:nvSpPr>
        <p:spPr>
          <a:xfrm>
            <a:off x="6848856" y="2990088"/>
            <a:ext cx="914400" cy="3108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sz="509" b="0" i="0" u="none" strike="noStrike" kern="1200" cap="none" spc="0" normalizeH="0" baseline="0" noProof="0">
                <a:ln>
                  <a:noFill/>
                </a:ln>
                <a:solidFill>
                  <a:srgbClr val="1F1F1F"/>
                </a:solidFill>
                <a:effectLst/>
                <a:uLnTx/>
                <a:uFillTx/>
                <a:latin typeface="Arial"/>
                <a:ea typeface="+mn-ea"/>
                <a:cs typeface="+mn-cs"/>
              </a:rPr>
              <a:t>CloudWatch, X-Ray,
logs, traceability</a:t>
            </a:r>
          </a:p>
        </p:txBody>
      </p:sp>
      <p:sp>
        <p:nvSpPr>
          <p:cNvPr id="162" name="Rectangle 161"/>
          <p:cNvSpPr/>
          <p:nvPr/>
        </p:nvSpPr>
        <p:spPr>
          <a:xfrm>
            <a:off x="3447288" y="3557016"/>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63" name="Picture 162" descr="shield_user_1e5fa5.png"/>
          <p:cNvPicPr>
            <a:picLocks noChangeAspect="1"/>
          </p:cNvPicPr>
          <p:nvPr/>
        </p:nvPicPr>
        <p:blipFill>
          <a:blip r:embed="rId19"/>
          <a:stretch>
            <a:fillRect/>
          </a:stretch>
        </p:blipFill>
        <p:spPr>
          <a:xfrm>
            <a:off x="3483864" y="3730752"/>
            <a:ext cx="118872" cy="118872"/>
          </a:xfrm>
          <a:prstGeom prst="rect">
            <a:avLst/>
          </a:prstGeom>
        </p:spPr>
      </p:pic>
      <p:sp>
        <p:nvSpPr>
          <p:cNvPr id="164" name="TextBox 163"/>
          <p:cNvSpPr txBox="1"/>
          <p:nvPr/>
        </p:nvSpPr>
        <p:spPr>
          <a:xfrm>
            <a:off x="3602736" y="3584448"/>
            <a:ext cx="566928" cy="822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latin typeface="Arial"/>
                <a:ea typeface="+mn-ea"/>
                <a:cs typeface="+mn-cs"/>
              </a:rPr>
              <a:t>IAM &amp; Auth</a:t>
            </a:r>
          </a:p>
        </p:txBody>
      </p:sp>
      <p:sp>
        <p:nvSpPr>
          <p:cNvPr id="165" name="TextBox 164"/>
          <p:cNvSpPr txBox="1"/>
          <p:nvPr/>
        </p:nvSpPr>
        <p:spPr>
          <a:xfrm>
            <a:off x="3474720" y="3712464"/>
            <a:ext cx="694944"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latin typeface="Arial"/>
                <a:ea typeface="+mn-ea"/>
                <a:cs typeface="+mn-cs"/>
              </a:rPr>
              <a:t>Users, roles
MFA</a:t>
            </a:r>
          </a:p>
        </p:txBody>
      </p:sp>
      <p:sp>
        <p:nvSpPr>
          <p:cNvPr id="166" name="Rectangle 165"/>
          <p:cNvSpPr/>
          <p:nvPr/>
        </p:nvSpPr>
        <p:spPr>
          <a:xfrm>
            <a:off x="4242816" y="3557016"/>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67" name="Picture 166" descr="log_1e5fa5.png"/>
          <p:cNvPicPr>
            <a:picLocks noChangeAspect="1"/>
          </p:cNvPicPr>
          <p:nvPr/>
        </p:nvPicPr>
        <p:blipFill>
          <a:blip r:embed="rId28"/>
          <a:stretch>
            <a:fillRect/>
          </a:stretch>
        </p:blipFill>
        <p:spPr>
          <a:xfrm>
            <a:off x="4279392" y="3730752"/>
            <a:ext cx="118872" cy="118872"/>
          </a:xfrm>
          <a:prstGeom prst="rect">
            <a:avLst/>
          </a:prstGeom>
        </p:spPr>
      </p:pic>
      <p:sp>
        <p:nvSpPr>
          <p:cNvPr id="168" name="TextBox 167"/>
          <p:cNvSpPr txBox="1"/>
          <p:nvPr/>
        </p:nvSpPr>
        <p:spPr>
          <a:xfrm>
            <a:off x="4398264" y="3584448"/>
            <a:ext cx="566928" cy="822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latin typeface="Arial"/>
                <a:ea typeface="+mn-ea"/>
                <a:cs typeface="+mn-cs"/>
              </a:rPr>
              <a:t>Audit &amp; Log</a:t>
            </a:r>
          </a:p>
        </p:txBody>
      </p:sp>
      <p:sp>
        <p:nvSpPr>
          <p:cNvPr id="169" name="TextBox 168"/>
          <p:cNvSpPr txBox="1"/>
          <p:nvPr/>
        </p:nvSpPr>
        <p:spPr>
          <a:xfrm>
            <a:off x="4270248" y="3712464"/>
            <a:ext cx="694944"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latin typeface="Arial"/>
                <a:ea typeface="+mn-ea"/>
                <a:cs typeface="+mn-cs"/>
              </a:rPr>
              <a:t>CloudTrail
Audit logs</a:t>
            </a:r>
          </a:p>
        </p:txBody>
      </p:sp>
      <p:sp>
        <p:nvSpPr>
          <p:cNvPr id="170" name="Rectangle 169"/>
          <p:cNvSpPr/>
          <p:nvPr/>
        </p:nvSpPr>
        <p:spPr>
          <a:xfrm>
            <a:off x="5038344" y="3557016"/>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71" name="Picture 170" descr="chart_1e5fa5.png"/>
          <p:cNvPicPr>
            <a:picLocks noChangeAspect="1"/>
          </p:cNvPicPr>
          <p:nvPr/>
        </p:nvPicPr>
        <p:blipFill>
          <a:blip r:embed="rId27"/>
          <a:stretch>
            <a:fillRect/>
          </a:stretch>
        </p:blipFill>
        <p:spPr>
          <a:xfrm>
            <a:off x="5074920" y="3730752"/>
            <a:ext cx="118872" cy="118872"/>
          </a:xfrm>
          <a:prstGeom prst="rect">
            <a:avLst/>
          </a:prstGeom>
        </p:spPr>
      </p:pic>
      <p:sp>
        <p:nvSpPr>
          <p:cNvPr id="172" name="TextBox 171"/>
          <p:cNvSpPr txBox="1"/>
          <p:nvPr/>
        </p:nvSpPr>
        <p:spPr>
          <a:xfrm>
            <a:off x="5193792" y="3584448"/>
            <a:ext cx="566928" cy="822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latin typeface="Arial"/>
                <a:ea typeface="+mn-ea"/>
                <a:cs typeface="+mn-cs"/>
              </a:rPr>
              <a:t>Observability</a:t>
            </a:r>
          </a:p>
        </p:txBody>
      </p:sp>
      <p:sp>
        <p:nvSpPr>
          <p:cNvPr id="173" name="TextBox 172"/>
          <p:cNvSpPr txBox="1"/>
          <p:nvPr/>
        </p:nvSpPr>
        <p:spPr>
          <a:xfrm>
            <a:off x="5065776" y="3712464"/>
            <a:ext cx="694944"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latin typeface="Arial"/>
                <a:ea typeface="+mn-ea"/>
                <a:cs typeface="+mn-cs"/>
              </a:rPr>
              <a:t>Metrics
logs traces</a:t>
            </a:r>
          </a:p>
        </p:txBody>
      </p:sp>
      <p:sp>
        <p:nvSpPr>
          <p:cNvPr id="174" name="Rectangle 173"/>
          <p:cNvSpPr/>
          <p:nvPr/>
        </p:nvSpPr>
        <p:spPr>
          <a:xfrm>
            <a:off x="5833872" y="3557016"/>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75" name="Picture 174" descr="lock_1e5fa5.png"/>
          <p:cNvPicPr>
            <a:picLocks noChangeAspect="1"/>
          </p:cNvPicPr>
          <p:nvPr/>
        </p:nvPicPr>
        <p:blipFill>
          <a:blip r:embed="rId29"/>
          <a:stretch>
            <a:fillRect/>
          </a:stretch>
        </p:blipFill>
        <p:spPr>
          <a:xfrm>
            <a:off x="5870448" y="3730752"/>
            <a:ext cx="118872" cy="118872"/>
          </a:xfrm>
          <a:prstGeom prst="rect">
            <a:avLst/>
          </a:prstGeom>
        </p:spPr>
      </p:pic>
      <p:sp>
        <p:nvSpPr>
          <p:cNvPr id="176" name="TextBox 175"/>
          <p:cNvSpPr txBox="1"/>
          <p:nvPr/>
        </p:nvSpPr>
        <p:spPr>
          <a:xfrm>
            <a:off x="5989320" y="3584448"/>
            <a:ext cx="566928" cy="822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latin typeface="Arial"/>
                <a:ea typeface="+mn-ea"/>
                <a:cs typeface="+mn-cs"/>
              </a:rPr>
              <a:t>Security</a:t>
            </a:r>
          </a:p>
        </p:txBody>
      </p:sp>
      <p:sp>
        <p:nvSpPr>
          <p:cNvPr id="177" name="TextBox 176"/>
          <p:cNvSpPr txBox="1"/>
          <p:nvPr/>
        </p:nvSpPr>
        <p:spPr>
          <a:xfrm>
            <a:off x="5861304" y="3712464"/>
            <a:ext cx="694944"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latin typeface="Arial"/>
                <a:ea typeface="+mn-ea"/>
                <a:cs typeface="+mn-cs"/>
              </a:rPr>
              <a:t>KMS secrets
encryption</a:t>
            </a:r>
          </a:p>
        </p:txBody>
      </p:sp>
      <p:sp>
        <p:nvSpPr>
          <p:cNvPr id="178" name="Rectangle 177"/>
          <p:cNvSpPr/>
          <p:nvPr/>
        </p:nvSpPr>
        <p:spPr>
          <a:xfrm>
            <a:off x="6629400" y="3557016"/>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79" name="Picture 178" descr="clipboard_1e5fa5.png"/>
          <p:cNvPicPr>
            <a:picLocks noChangeAspect="1"/>
          </p:cNvPicPr>
          <p:nvPr/>
        </p:nvPicPr>
        <p:blipFill>
          <a:blip r:embed="rId30"/>
          <a:stretch>
            <a:fillRect/>
          </a:stretch>
        </p:blipFill>
        <p:spPr>
          <a:xfrm>
            <a:off x="6665976" y="3730752"/>
            <a:ext cx="118872" cy="118872"/>
          </a:xfrm>
          <a:prstGeom prst="rect">
            <a:avLst/>
          </a:prstGeom>
        </p:spPr>
      </p:pic>
      <p:sp>
        <p:nvSpPr>
          <p:cNvPr id="180" name="TextBox 179"/>
          <p:cNvSpPr txBox="1"/>
          <p:nvPr/>
        </p:nvSpPr>
        <p:spPr>
          <a:xfrm>
            <a:off x="6784848" y="3584448"/>
            <a:ext cx="566928" cy="822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latin typeface="Arial"/>
                <a:ea typeface="+mn-ea"/>
                <a:cs typeface="+mn-cs"/>
              </a:rPr>
              <a:t>Compliance</a:t>
            </a:r>
          </a:p>
        </p:txBody>
      </p:sp>
      <p:sp>
        <p:nvSpPr>
          <p:cNvPr id="181" name="TextBox 180"/>
          <p:cNvSpPr txBox="1"/>
          <p:nvPr/>
        </p:nvSpPr>
        <p:spPr>
          <a:xfrm>
            <a:off x="6656832" y="3712464"/>
            <a:ext cx="694944"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latin typeface="Arial"/>
                <a:ea typeface="+mn-ea"/>
                <a:cs typeface="+mn-cs"/>
              </a:rPr>
              <a:t>Policy + data
residency</a:t>
            </a:r>
          </a:p>
        </p:txBody>
      </p:sp>
      <p:sp>
        <p:nvSpPr>
          <p:cNvPr id="182" name="Rectangle 181"/>
          <p:cNvSpPr/>
          <p:nvPr/>
        </p:nvSpPr>
        <p:spPr>
          <a:xfrm>
            <a:off x="7424928" y="3557016"/>
            <a:ext cx="749808" cy="493776"/>
          </a:xfrm>
          <a:prstGeom prst="rect">
            <a:avLst/>
          </a:prstGeom>
          <a:solidFill>
            <a:srgbClr val="FFFFFF"/>
          </a:solidFill>
          <a:ln w="635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83" name="Picture 182" descr="refresh_1e5fa5.png"/>
          <p:cNvPicPr>
            <a:picLocks noChangeAspect="1"/>
          </p:cNvPicPr>
          <p:nvPr/>
        </p:nvPicPr>
        <p:blipFill>
          <a:blip r:embed="rId31"/>
          <a:stretch>
            <a:fillRect/>
          </a:stretch>
        </p:blipFill>
        <p:spPr>
          <a:xfrm>
            <a:off x="7461504" y="3730752"/>
            <a:ext cx="118872" cy="118872"/>
          </a:xfrm>
          <a:prstGeom prst="rect">
            <a:avLst/>
          </a:prstGeom>
        </p:spPr>
      </p:pic>
      <p:sp>
        <p:nvSpPr>
          <p:cNvPr id="184" name="TextBox 183"/>
          <p:cNvSpPr txBox="1"/>
          <p:nvPr/>
        </p:nvSpPr>
        <p:spPr>
          <a:xfrm>
            <a:off x="7580376" y="3584448"/>
            <a:ext cx="566928" cy="82296"/>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90" b="1" i="0" u="none" strike="noStrike" kern="1200" cap="none" spc="0" normalizeH="0" baseline="0" noProof="0">
                <a:ln>
                  <a:noFill/>
                </a:ln>
                <a:solidFill>
                  <a:srgbClr val="1F1F1F"/>
                </a:solidFill>
                <a:effectLst/>
                <a:uLnTx/>
                <a:uFillTx/>
                <a:latin typeface="Arial"/>
                <a:ea typeface="+mn-ea"/>
                <a:cs typeface="+mn-cs"/>
              </a:rPr>
              <a:t>Backup &amp; DR</a:t>
            </a:r>
          </a:p>
        </p:txBody>
      </p:sp>
      <p:sp>
        <p:nvSpPr>
          <p:cNvPr id="185" name="TextBox 184"/>
          <p:cNvSpPr txBox="1"/>
          <p:nvPr/>
        </p:nvSpPr>
        <p:spPr>
          <a:xfrm>
            <a:off x="7452360" y="3712464"/>
            <a:ext cx="694944"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00" b="0" i="0" u="none" strike="noStrike" kern="1200" cap="none" spc="0" normalizeH="0" baseline="0" noProof="0">
                <a:ln>
                  <a:noFill/>
                </a:ln>
                <a:solidFill>
                  <a:srgbClr val="1F1F1F"/>
                </a:solidFill>
                <a:effectLst/>
                <a:uLnTx/>
                <a:uFillTx/>
                <a:latin typeface="Arial"/>
                <a:ea typeface="+mn-ea"/>
                <a:cs typeface="+mn-cs"/>
              </a:rPr>
              <a:t>PITR backups
RTO/RPO</a:t>
            </a:r>
          </a:p>
        </p:txBody>
      </p:sp>
      <p:sp>
        <p:nvSpPr>
          <p:cNvPr id="186" name="Rectangle 185"/>
          <p:cNvSpPr/>
          <p:nvPr/>
        </p:nvSpPr>
        <p:spPr>
          <a:xfrm>
            <a:off x="2377440" y="4536618"/>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87" name="Picture 186" descr="app_form_777777.png"/>
          <p:cNvPicPr>
            <a:picLocks noChangeAspect="1"/>
          </p:cNvPicPr>
          <p:nvPr/>
        </p:nvPicPr>
        <p:blipFill>
          <a:blip r:embed="rId32"/>
          <a:stretch>
            <a:fillRect/>
          </a:stretch>
        </p:blipFill>
        <p:spPr>
          <a:xfrm>
            <a:off x="2446617" y="4667018"/>
            <a:ext cx="164592" cy="164592"/>
          </a:xfrm>
          <a:prstGeom prst="rect">
            <a:avLst/>
          </a:prstGeom>
        </p:spPr>
      </p:pic>
      <p:sp>
        <p:nvSpPr>
          <p:cNvPr id="188" name="TextBox 187"/>
          <p:cNvSpPr txBox="1"/>
          <p:nvPr/>
        </p:nvSpPr>
        <p:spPr>
          <a:xfrm>
            <a:off x="2430713" y="4628852"/>
            <a:ext cx="1059909" cy="30970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latin typeface="Arial"/>
                <a:ea typeface="+mn-ea"/>
                <a:cs typeface="+mn-cs"/>
              </a:rPr>
              <a:t>Loan
Application</a:t>
            </a:r>
            <a:r>
              <a:rPr kumimoji="0" lang="en-IN" sz="690" b="0" i="0" u="none" strike="noStrike" kern="1200" cap="none" spc="0" normalizeH="0" baseline="0" noProof="0">
                <a:ln>
                  <a:noFill/>
                </a:ln>
                <a:solidFill>
                  <a:srgbClr val="1F1F1F"/>
                </a:solidFill>
                <a:effectLst/>
                <a:uLnTx/>
                <a:uFillTx/>
                <a:latin typeface="Arial"/>
                <a:ea typeface="+mn-ea"/>
                <a:cs typeface="+mn-cs"/>
              </a:rPr>
              <a:t>
</a:t>
            </a:r>
            <a:r>
              <a:rPr kumimoji="0" sz="690" b="0" i="0" u="none" strike="noStrike" kern="1200" cap="none" spc="0" normalizeH="0" baseline="0" noProof="0">
                <a:ln>
                  <a:noFill/>
                </a:ln>
                <a:solidFill>
                  <a:srgbClr val="1F1F1F"/>
                </a:solidFill>
                <a:effectLst/>
                <a:uLnTx/>
                <a:uFillTx/>
                <a:latin typeface="Arial"/>
                <a:ea typeface="+mn-ea"/>
                <a:cs typeface="+mn-cs"/>
              </a:rPr>
              <a:t>Entry</a:t>
            </a:r>
          </a:p>
        </p:txBody>
      </p:sp>
      <p:sp>
        <p:nvSpPr>
          <p:cNvPr id="189" name="Rectangle 188"/>
          <p:cNvSpPr/>
          <p:nvPr/>
        </p:nvSpPr>
        <p:spPr>
          <a:xfrm>
            <a:off x="3550920" y="4536618"/>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90" name="Picture 189" descr="checklist_777777.png"/>
          <p:cNvPicPr>
            <a:picLocks noChangeAspect="1"/>
          </p:cNvPicPr>
          <p:nvPr/>
        </p:nvPicPr>
        <p:blipFill>
          <a:blip r:embed="rId33"/>
          <a:stretch>
            <a:fillRect/>
          </a:stretch>
        </p:blipFill>
        <p:spPr>
          <a:xfrm>
            <a:off x="3620097" y="4667018"/>
            <a:ext cx="164592" cy="164592"/>
          </a:xfrm>
          <a:prstGeom prst="rect">
            <a:avLst/>
          </a:prstGeom>
        </p:spPr>
      </p:pic>
      <p:sp>
        <p:nvSpPr>
          <p:cNvPr id="191" name="TextBox 190"/>
          <p:cNvSpPr txBox="1"/>
          <p:nvPr/>
        </p:nvSpPr>
        <p:spPr>
          <a:xfrm>
            <a:off x="3651901" y="4544966"/>
            <a:ext cx="880872" cy="4297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latin typeface="Arial"/>
                <a:ea typeface="+mn-ea"/>
                <a:cs typeface="+mn-cs"/>
              </a:rPr>
              <a:t>Document &amp;
Verification</a:t>
            </a:r>
          </a:p>
        </p:txBody>
      </p:sp>
      <p:sp>
        <p:nvSpPr>
          <p:cNvPr id="192" name="Rectangle 191"/>
          <p:cNvSpPr/>
          <p:nvPr/>
        </p:nvSpPr>
        <p:spPr>
          <a:xfrm>
            <a:off x="4724400" y="4536618"/>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93" name="Picture 192" descr="person_check_777777.png"/>
          <p:cNvPicPr>
            <a:picLocks noChangeAspect="1"/>
          </p:cNvPicPr>
          <p:nvPr/>
        </p:nvPicPr>
        <p:blipFill>
          <a:blip r:embed="rId34"/>
          <a:stretch>
            <a:fillRect/>
          </a:stretch>
        </p:blipFill>
        <p:spPr>
          <a:xfrm>
            <a:off x="4793577" y="4667018"/>
            <a:ext cx="164592" cy="164592"/>
          </a:xfrm>
          <a:prstGeom prst="rect">
            <a:avLst/>
          </a:prstGeom>
        </p:spPr>
      </p:pic>
      <p:sp>
        <p:nvSpPr>
          <p:cNvPr id="194" name="TextBox 193"/>
          <p:cNvSpPr txBox="1"/>
          <p:nvPr/>
        </p:nvSpPr>
        <p:spPr>
          <a:xfrm>
            <a:off x="4857187" y="4552917"/>
            <a:ext cx="880872" cy="4297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latin typeface="Arial"/>
                <a:ea typeface="+mn-ea"/>
                <a:cs typeface="+mn-cs"/>
              </a:rPr>
              <a:t>Onboarding &amp;
Eligibility</a:t>
            </a:r>
          </a:p>
        </p:txBody>
      </p:sp>
      <p:sp>
        <p:nvSpPr>
          <p:cNvPr id="195" name="Rectangle 194"/>
          <p:cNvSpPr/>
          <p:nvPr/>
        </p:nvSpPr>
        <p:spPr>
          <a:xfrm>
            <a:off x="5897880" y="4536618"/>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96" name="Picture 195" descr="magnifier_777777.png"/>
          <p:cNvPicPr>
            <a:picLocks noChangeAspect="1"/>
          </p:cNvPicPr>
          <p:nvPr/>
        </p:nvPicPr>
        <p:blipFill>
          <a:blip r:embed="rId35"/>
          <a:stretch>
            <a:fillRect/>
          </a:stretch>
        </p:blipFill>
        <p:spPr>
          <a:xfrm>
            <a:off x="5967057" y="4667018"/>
            <a:ext cx="164592" cy="164592"/>
          </a:xfrm>
          <a:prstGeom prst="rect">
            <a:avLst/>
          </a:prstGeom>
        </p:spPr>
      </p:pic>
      <p:sp>
        <p:nvSpPr>
          <p:cNvPr id="197" name="TextBox 196"/>
          <p:cNvSpPr txBox="1"/>
          <p:nvPr/>
        </p:nvSpPr>
        <p:spPr>
          <a:xfrm>
            <a:off x="6022716" y="4560868"/>
            <a:ext cx="880872" cy="4297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latin typeface="Arial"/>
                <a:ea typeface="+mn-ea"/>
                <a:cs typeface="+mn-cs"/>
              </a:rPr>
              <a:t>Credit
Underwriting</a:t>
            </a:r>
          </a:p>
        </p:txBody>
      </p:sp>
      <p:sp>
        <p:nvSpPr>
          <p:cNvPr id="198" name="Rectangle 197"/>
          <p:cNvSpPr/>
          <p:nvPr/>
        </p:nvSpPr>
        <p:spPr>
          <a:xfrm>
            <a:off x="7071360" y="4536618"/>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199" name="Picture 198" descr="scale_777777.png"/>
          <p:cNvPicPr>
            <a:picLocks noChangeAspect="1"/>
          </p:cNvPicPr>
          <p:nvPr/>
        </p:nvPicPr>
        <p:blipFill>
          <a:blip r:embed="rId36"/>
          <a:stretch>
            <a:fillRect/>
          </a:stretch>
        </p:blipFill>
        <p:spPr>
          <a:xfrm>
            <a:off x="7140537" y="4667018"/>
            <a:ext cx="164592" cy="164592"/>
          </a:xfrm>
          <a:prstGeom prst="rect">
            <a:avLst/>
          </a:prstGeom>
        </p:spPr>
      </p:pic>
      <p:sp>
        <p:nvSpPr>
          <p:cNvPr id="200" name="TextBox 199"/>
          <p:cNvSpPr txBox="1"/>
          <p:nvPr/>
        </p:nvSpPr>
        <p:spPr>
          <a:xfrm>
            <a:off x="7172342" y="4544965"/>
            <a:ext cx="880872" cy="429767"/>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sz="690" b="0" i="0" u="none" strike="noStrike" kern="1200" cap="none" spc="0" normalizeH="0" baseline="0" noProof="0">
                <a:ln>
                  <a:noFill/>
                </a:ln>
                <a:solidFill>
                  <a:srgbClr val="1F1F1F"/>
                </a:solidFill>
                <a:effectLst/>
                <a:uLnTx/>
                <a:uFillTx/>
                <a:latin typeface="Arial"/>
                <a:ea typeface="+mn-ea"/>
                <a:cs typeface="+mn-cs"/>
              </a:rPr>
              <a:t>Credit
Decisioning</a:t>
            </a:r>
          </a:p>
        </p:txBody>
      </p:sp>
      <p:sp>
        <p:nvSpPr>
          <p:cNvPr id="201" name="Rectangle 200"/>
          <p:cNvSpPr/>
          <p:nvPr/>
        </p:nvSpPr>
        <p:spPr>
          <a:xfrm>
            <a:off x="8244840" y="4536618"/>
            <a:ext cx="985962" cy="456802"/>
          </a:xfrm>
          <a:prstGeom prst="rect">
            <a:avLst/>
          </a:prstGeom>
          <a:solidFill>
            <a:schemeClr val="bg1">
              <a:lumMod val="85000"/>
            </a:schemeClr>
          </a:solidFill>
          <a:ln w="8255">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02" name="Picture 201" descr="bank_777777.png"/>
          <p:cNvPicPr>
            <a:picLocks noChangeAspect="1"/>
          </p:cNvPicPr>
          <p:nvPr/>
        </p:nvPicPr>
        <p:blipFill>
          <a:blip r:embed="rId10"/>
          <a:stretch>
            <a:fillRect/>
          </a:stretch>
        </p:blipFill>
        <p:spPr>
          <a:xfrm>
            <a:off x="8314017" y="4667018"/>
            <a:ext cx="164592" cy="164592"/>
          </a:xfrm>
          <a:prstGeom prst="rect">
            <a:avLst/>
          </a:prstGeom>
        </p:spPr>
      </p:pic>
      <p:sp>
        <p:nvSpPr>
          <p:cNvPr id="203" name="TextBox 202"/>
          <p:cNvSpPr txBox="1"/>
          <p:nvPr/>
        </p:nvSpPr>
        <p:spPr>
          <a:xfrm>
            <a:off x="8329919" y="4674185"/>
            <a:ext cx="880872" cy="203133"/>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IN" sz="650" b="0" i="0" u="none" strike="noStrike" kern="1200" cap="none" spc="0" normalizeH="0" baseline="0" noProof="0">
                <a:ln>
                  <a:noFill/>
                </a:ln>
                <a:solidFill>
                  <a:srgbClr val="1F1F1F"/>
                </a:solidFill>
                <a:effectLst/>
                <a:uLnTx/>
                <a:uFillTx/>
                <a:latin typeface="Arial"/>
                <a:ea typeface="+mn-ea"/>
                <a:cs typeface="+mn-cs"/>
              </a:rPr>
              <a:t>Post Sales / Servicing
/ Disbursement</a:t>
            </a:r>
          </a:p>
        </p:txBody>
      </p:sp>
      <p:sp>
        <p:nvSpPr>
          <p:cNvPr id="204" name="Rectangle 203"/>
          <p:cNvSpPr/>
          <p:nvPr/>
        </p:nvSpPr>
        <p:spPr>
          <a:xfrm>
            <a:off x="228600" y="5413248"/>
            <a:ext cx="11658600" cy="969264"/>
          </a:xfrm>
          <a:prstGeom prst="rect">
            <a:avLst/>
          </a:prstGeom>
          <a:solidFill>
            <a:srgbClr val="FFFFFF"/>
          </a:solidFill>
          <a:ln w="1270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5" name="Rectangle 204"/>
          <p:cNvSpPr/>
          <p:nvPr/>
        </p:nvSpPr>
        <p:spPr>
          <a:xfrm>
            <a:off x="228600" y="5413248"/>
            <a:ext cx="11658600" cy="237744"/>
          </a:xfrm>
          <a:prstGeom prst="rect">
            <a:avLst/>
          </a:prstGeom>
          <a:solidFill>
            <a:srgbClr val="0D4482"/>
          </a:solidFill>
          <a:ln w="10160">
            <a:solidFill>
              <a:srgbClr val="0D448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6" name="TextBox 205"/>
          <p:cNvSpPr txBox="1"/>
          <p:nvPr/>
        </p:nvSpPr>
        <p:spPr>
          <a:xfrm>
            <a:off x="228600" y="5431536"/>
            <a:ext cx="11658600" cy="164592"/>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AI Enablement Layer</a:t>
            </a:r>
          </a:p>
        </p:txBody>
      </p:sp>
      <p:cxnSp>
        <p:nvCxnSpPr>
          <p:cNvPr id="207" name="Connector 206"/>
          <p:cNvCxnSpPr/>
          <p:nvPr/>
        </p:nvCxnSpPr>
        <p:spPr>
          <a:xfrm>
            <a:off x="3337560" y="5074919"/>
            <a:ext cx="0" cy="320041"/>
          </a:xfrm>
          <a:prstGeom prst="line">
            <a:avLst/>
          </a:prstGeom>
          <a:ln w="13970">
            <a:solidFill>
              <a:srgbClr val="1E5FA5"/>
            </a:solidFill>
          </a:ln>
        </p:spPr>
        <p:style>
          <a:lnRef idx="2">
            <a:schemeClr val="accent1"/>
          </a:lnRef>
          <a:fillRef idx="0">
            <a:schemeClr val="accent1"/>
          </a:fillRef>
          <a:effectRef idx="1">
            <a:schemeClr val="accent1"/>
          </a:effectRef>
          <a:fontRef idx="minor">
            <a:schemeClr val="tx1"/>
          </a:fontRef>
        </p:style>
      </p:cxnSp>
      <p:sp>
        <p:nvSpPr>
          <p:cNvPr id="208" name="TextBox 207"/>
          <p:cNvSpPr txBox="1"/>
          <p:nvPr/>
        </p:nvSpPr>
        <p:spPr>
          <a:xfrm>
            <a:off x="2926080" y="5129783"/>
            <a:ext cx="822960" cy="10058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20" b="1" i="0" u="none" strike="noStrike" kern="1200" cap="none" spc="0" normalizeH="0" baseline="0" noProof="0">
                <a:ln>
                  <a:noFill/>
                </a:ln>
                <a:solidFill>
                  <a:srgbClr val="1E5FA5"/>
                </a:solidFill>
                <a:effectLst/>
                <a:uLnTx/>
                <a:uFillTx/>
                <a:latin typeface="Arial"/>
                <a:ea typeface="+mn-ea"/>
                <a:cs typeface="+mn-cs"/>
              </a:rPr>
              <a:t>assistant interaction</a:t>
            </a:r>
          </a:p>
        </p:txBody>
      </p:sp>
      <p:sp>
        <p:nvSpPr>
          <p:cNvPr id="209" name="TextBox 208"/>
          <p:cNvSpPr txBox="1"/>
          <p:nvPr/>
        </p:nvSpPr>
        <p:spPr>
          <a:xfrm>
            <a:off x="3264408" y="5312664"/>
            <a:ext cx="146304" cy="9144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1E5FA5"/>
                </a:solidFill>
                <a:effectLst/>
                <a:uLnTx/>
                <a:uFillTx/>
                <a:latin typeface="Arial"/>
                <a:ea typeface="+mn-ea"/>
                <a:cs typeface="+mn-cs"/>
              </a:rPr>
              <a:t>▼</a:t>
            </a:r>
          </a:p>
        </p:txBody>
      </p:sp>
      <p:cxnSp>
        <p:nvCxnSpPr>
          <p:cNvPr id="210" name="Connector 209"/>
          <p:cNvCxnSpPr/>
          <p:nvPr/>
        </p:nvCxnSpPr>
        <p:spPr>
          <a:xfrm>
            <a:off x="5486400" y="5074919"/>
            <a:ext cx="0" cy="320041"/>
          </a:xfrm>
          <a:prstGeom prst="line">
            <a:avLst/>
          </a:prstGeom>
          <a:ln w="13970">
            <a:solidFill>
              <a:srgbClr val="1E5FA5"/>
            </a:solidFill>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5074920" y="5129783"/>
            <a:ext cx="822960" cy="10058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20" b="1" i="0" u="none" strike="noStrike" kern="1200" cap="none" spc="0" normalizeH="0" baseline="0" noProof="0">
                <a:ln>
                  <a:noFill/>
                </a:ln>
                <a:solidFill>
                  <a:srgbClr val="1E5FA5"/>
                </a:solidFill>
                <a:effectLst/>
                <a:uLnTx/>
                <a:uFillTx/>
                <a:latin typeface="Arial"/>
                <a:ea typeface="+mn-ea"/>
                <a:cs typeface="+mn-cs"/>
              </a:rPr>
              <a:t>approved actions</a:t>
            </a:r>
          </a:p>
        </p:txBody>
      </p:sp>
      <p:sp>
        <p:nvSpPr>
          <p:cNvPr id="212" name="TextBox 211"/>
          <p:cNvSpPr txBox="1"/>
          <p:nvPr/>
        </p:nvSpPr>
        <p:spPr>
          <a:xfrm>
            <a:off x="5413248" y="5312664"/>
            <a:ext cx="146304" cy="9144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1E5FA5"/>
                </a:solidFill>
                <a:effectLst/>
                <a:uLnTx/>
                <a:uFillTx/>
                <a:latin typeface="Arial"/>
                <a:ea typeface="+mn-ea"/>
                <a:cs typeface="+mn-cs"/>
              </a:rPr>
              <a:t>▼</a:t>
            </a:r>
          </a:p>
        </p:txBody>
      </p:sp>
      <p:cxnSp>
        <p:nvCxnSpPr>
          <p:cNvPr id="213" name="Connector 212"/>
          <p:cNvCxnSpPr/>
          <p:nvPr/>
        </p:nvCxnSpPr>
        <p:spPr>
          <a:xfrm>
            <a:off x="7818120" y="5074919"/>
            <a:ext cx="0" cy="320041"/>
          </a:xfrm>
          <a:prstGeom prst="line">
            <a:avLst/>
          </a:prstGeom>
          <a:ln w="13970">
            <a:solidFill>
              <a:srgbClr val="1E5FA5"/>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7406640" y="5129783"/>
            <a:ext cx="822960" cy="10058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20" b="1" i="0" u="none" strike="noStrike" kern="1200" cap="none" spc="0" normalizeH="0" baseline="0" noProof="0">
                <a:ln>
                  <a:noFill/>
                </a:ln>
                <a:solidFill>
                  <a:srgbClr val="1E5FA5"/>
                </a:solidFill>
                <a:effectLst/>
                <a:uLnTx/>
                <a:uFillTx/>
                <a:latin typeface="Arial"/>
                <a:ea typeface="+mn-ea"/>
                <a:cs typeface="+mn-cs"/>
              </a:rPr>
              <a:t>retrieval / context</a:t>
            </a:r>
          </a:p>
        </p:txBody>
      </p:sp>
      <p:sp>
        <p:nvSpPr>
          <p:cNvPr id="215" name="TextBox 214"/>
          <p:cNvSpPr txBox="1"/>
          <p:nvPr/>
        </p:nvSpPr>
        <p:spPr>
          <a:xfrm>
            <a:off x="7744968" y="5312664"/>
            <a:ext cx="146304" cy="9144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1E5FA5"/>
                </a:solidFill>
                <a:effectLst/>
                <a:uLnTx/>
                <a:uFillTx/>
                <a:latin typeface="Arial"/>
                <a:ea typeface="+mn-ea"/>
                <a:cs typeface="+mn-cs"/>
              </a:rPr>
              <a:t>▼</a:t>
            </a:r>
          </a:p>
        </p:txBody>
      </p:sp>
      <p:sp>
        <p:nvSpPr>
          <p:cNvPr id="216" name="Rectangle 215"/>
          <p:cNvSpPr/>
          <p:nvPr/>
        </p:nvSpPr>
        <p:spPr>
          <a:xfrm>
            <a:off x="283464" y="5724144"/>
            <a:ext cx="205740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17" name="Picture 216" descr="brain_1e5fa5.png"/>
          <p:cNvPicPr>
            <a:picLocks noChangeAspect="1"/>
          </p:cNvPicPr>
          <p:nvPr/>
        </p:nvPicPr>
        <p:blipFill>
          <a:blip r:embed="rId37"/>
          <a:stretch>
            <a:fillRect/>
          </a:stretch>
        </p:blipFill>
        <p:spPr>
          <a:xfrm>
            <a:off x="329184" y="5888736"/>
            <a:ext cx="146304" cy="146304"/>
          </a:xfrm>
          <a:prstGeom prst="rect">
            <a:avLst/>
          </a:prstGeom>
        </p:spPr>
      </p:pic>
      <p:sp>
        <p:nvSpPr>
          <p:cNvPr id="218" name="TextBox 217"/>
          <p:cNvSpPr txBox="1"/>
          <p:nvPr/>
        </p:nvSpPr>
        <p:spPr>
          <a:xfrm>
            <a:off x="502920" y="5756148"/>
            <a:ext cx="1801368"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F1F1F"/>
                </a:solidFill>
                <a:effectLst/>
                <a:uLnTx/>
                <a:uFillTx/>
                <a:latin typeface="Arial"/>
                <a:ea typeface="+mn-ea"/>
                <a:cs typeface="+mn-cs"/>
              </a:rPr>
              <a:t>Amazon Bedrock Agent</a:t>
            </a:r>
          </a:p>
        </p:txBody>
      </p:sp>
      <p:sp>
        <p:nvSpPr>
          <p:cNvPr id="219" name="TextBox 218"/>
          <p:cNvSpPr txBox="1"/>
          <p:nvPr/>
        </p:nvSpPr>
        <p:spPr>
          <a:xfrm>
            <a:off x="338328" y="5888736"/>
            <a:ext cx="1965960"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80" b="0" i="0" u="none" strike="noStrike" kern="1200" cap="none" spc="0" normalizeH="0" baseline="0" noProof="0">
                <a:ln>
                  <a:noFill/>
                </a:ln>
                <a:solidFill>
                  <a:srgbClr val="1F1F1F"/>
                </a:solidFill>
                <a:effectLst/>
                <a:uLnTx/>
                <a:uFillTx/>
                <a:latin typeface="Arial"/>
                <a:ea typeface="+mn-ea"/>
                <a:cs typeface="+mn-cs"/>
              </a:rPr>
              <a:t>Orchestrates assistant requests
and invokes approved actions</a:t>
            </a:r>
          </a:p>
        </p:txBody>
      </p:sp>
      <p:sp>
        <p:nvSpPr>
          <p:cNvPr id="220" name="Rectangle 219"/>
          <p:cNvSpPr/>
          <p:nvPr/>
        </p:nvSpPr>
        <p:spPr>
          <a:xfrm>
            <a:off x="2391156" y="5724144"/>
            <a:ext cx="109728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21" name="Picture 220" descr="code_1e5fa5.png"/>
          <p:cNvPicPr>
            <a:picLocks noChangeAspect="1"/>
          </p:cNvPicPr>
          <p:nvPr/>
        </p:nvPicPr>
        <p:blipFill>
          <a:blip r:embed="rId38"/>
          <a:stretch>
            <a:fillRect/>
          </a:stretch>
        </p:blipFill>
        <p:spPr>
          <a:xfrm>
            <a:off x="2436876" y="5888736"/>
            <a:ext cx="146304" cy="146304"/>
          </a:xfrm>
          <a:prstGeom prst="rect">
            <a:avLst/>
          </a:prstGeom>
        </p:spPr>
      </p:pic>
      <p:sp>
        <p:nvSpPr>
          <p:cNvPr id="222" name="TextBox 221"/>
          <p:cNvSpPr txBox="1"/>
          <p:nvPr/>
        </p:nvSpPr>
        <p:spPr>
          <a:xfrm>
            <a:off x="2610612" y="5756148"/>
            <a:ext cx="841248"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latin typeface="Arial"/>
                <a:ea typeface="+mn-ea"/>
                <a:cs typeface="+mn-cs"/>
              </a:rPr>
              <a:t>Action Groups</a:t>
            </a:r>
          </a:p>
        </p:txBody>
      </p:sp>
      <p:sp>
        <p:nvSpPr>
          <p:cNvPr id="223" name="TextBox 222"/>
          <p:cNvSpPr txBox="1"/>
          <p:nvPr/>
        </p:nvSpPr>
        <p:spPr>
          <a:xfrm>
            <a:off x="2446020" y="5888736"/>
            <a:ext cx="1005840"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60" b="0" i="0" u="none" strike="noStrike" kern="1200" cap="none" spc="0" normalizeH="0" baseline="0" noProof="0">
                <a:ln>
                  <a:noFill/>
                </a:ln>
                <a:solidFill>
                  <a:srgbClr val="1F1F1F"/>
                </a:solidFill>
                <a:effectLst/>
                <a:uLnTx/>
                <a:uFillTx/>
                <a:latin typeface="Arial"/>
                <a:ea typeface="+mn-ea"/>
                <a:cs typeface="+mn-cs"/>
              </a:rPr>
              <a:t>OpenAPI schema
Lambda-backed actions</a:t>
            </a:r>
          </a:p>
        </p:txBody>
      </p:sp>
      <p:sp>
        <p:nvSpPr>
          <p:cNvPr id="224" name="Rectangle 223"/>
          <p:cNvSpPr/>
          <p:nvPr/>
        </p:nvSpPr>
        <p:spPr>
          <a:xfrm>
            <a:off x="3538728" y="5724144"/>
            <a:ext cx="1078992"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25" name="Picture 224" descr="shield_1e5fa5.png"/>
          <p:cNvPicPr>
            <a:picLocks noChangeAspect="1"/>
          </p:cNvPicPr>
          <p:nvPr/>
        </p:nvPicPr>
        <p:blipFill>
          <a:blip r:embed="rId20"/>
          <a:stretch>
            <a:fillRect/>
          </a:stretch>
        </p:blipFill>
        <p:spPr>
          <a:xfrm>
            <a:off x="3584448" y="5888736"/>
            <a:ext cx="146304" cy="146304"/>
          </a:xfrm>
          <a:prstGeom prst="rect">
            <a:avLst/>
          </a:prstGeom>
        </p:spPr>
      </p:pic>
      <p:sp>
        <p:nvSpPr>
          <p:cNvPr id="226" name="TextBox 225"/>
          <p:cNvSpPr txBox="1"/>
          <p:nvPr/>
        </p:nvSpPr>
        <p:spPr>
          <a:xfrm>
            <a:off x="3758184" y="5756148"/>
            <a:ext cx="822960"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latin typeface="Arial"/>
                <a:ea typeface="+mn-ea"/>
                <a:cs typeface="+mn-cs"/>
              </a:rPr>
              <a:t>Guardrails</a:t>
            </a:r>
          </a:p>
        </p:txBody>
      </p:sp>
      <p:sp>
        <p:nvSpPr>
          <p:cNvPr id="227" name="TextBox 226"/>
          <p:cNvSpPr txBox="1"/>
          <p:nvPr/>
        </p:nvSpPr>
        <p:spPr>
          <a:xfrm>
            <a:off x="3593592" y="5888736"/>
            <a:ext cx="987552"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60" b="0" i="0" u="none" strike="noStrike" kern="1200" cap="none" spc="0" normalizeH="0" baseline="0" noProof="0">
                <a:ln>
                  <a:noFill/>
                </a:ln>
                <a:solidFill>
                  <a:srgbClr val="1F1F1F"/>
                </a:solidFill>
                <a:effectLst/>
                <a:uLnTx/>
                <a:uFillTx/>
                <a:latin typeface="Arial"/>
                <a:ea typeface="+mn-ea"/>
                <a:cs typeface="+mn-cs"/>
              </a:rPr>
              <a:t>Safety / policy
controls</a:t>
            </a:r>
          </a:p>
        </p:txBody>
      </p:sp>
      <p:sp>
        <p:nvSpPr>
          <p:cNvPr id="228" name="Rectangle 227"/>
          <p:cNvSpPr/>
          <p:nvPr/>
        </p:nvSpPr>
        <p:spPr>
          <a:xfrm>
            <a:off x="4668012" y="5724144"/>
            <a:ext cx="178308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29" name="Picture 228" descr="book_1e5fa5.png"/>
          <p:cNvPicPr>
            <a:picLocks noChangeAspect="1"/>
          </p:cNvPicPr>
          <p:nvPr/>
        </p:nvPicPr>
        <p:blipFill>
          <a:blip r:embed="rId39"/>
          <a:stretch>
            <a:fillRect/>
          </a:stretch>
        </p:blipFill>
        <p:spPr>
          <a:xfrm>
            <a:off x="4713732" y="5888736"/>
            <a:ext cx="146304" cy="146304"/>
          </a:xfrm>
          <a:prstGeom prst="rect">
            <a:avLst/>
          </a:prstGeom>
        </p:spPr>
      </p:pic>
      <p:sp>
        <p:nvSpPr>
          <p:cNvPr id="230" name="TextBox 229"/>
          <p:cNvSpPr txBox="1"/>
          <p:nvPr/>
        </p:nvSpPr>
        <p:spPr>
          <a:xfrm>
            <a:off x="4887468" y="5756148"/>
            <a:ext cx="1527048"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latin typeface="Arial"/>
                <a:ea typeface="+mn-ea"/>
                <a:cs typeface="+mn-cs"/>
              </a:rPr>
              <a:t>Bedrock Knowledge Bases</a:t>
            </a:r>
          </a:p>
        </p:txBody>
      </p:sp>
      <p:sp>
        <p:nvSpPr>
          <p:cNvPr id="231" name="TextBox 230"/>
          <p:cNvSpPr txBox="1"/>
          <p:nvPr/>
        </p:nvSpPr>
        <p:spPr>
          <a:xfrm>
            <a:off x="4722876" y="5888736"/>
            <a:ext cx="1691640"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60" b="0" i="0" u="none" strike="noStrike" kern="1200" cap="none" spc="0" normalizeH="0" baseline="0" noProof="0">
                <a:ln>
                  <a:noFill/>
                </a:ln>
                <a:solidFill>
                  <a:srgbClr val="1F1F1F"/>
                </a:solidFill>
                <a:effectLst/>
                <a:uLnTx/>
                <a:uFillTx/>
                <a:latin typeface="Arial"/>
                <a:ea typeface="+mn-ea"/>
                <a:cs typeface="+mn-cs"/>
              </a:rPr>
              <a:t>Retrieval over policies, SOPs,
product rules and FAQs</a:t>
            </a:r>
          </a:p>
        </p:txBody>
      </p:sp>
      <p:sp>
        <p:nvSpPr>
          <p:cNvPr id="232" name="Rectangle 231"/>
          <p:cNvSpPr/>
          <p:nvPr/>
        </p:nvSpPr>
        <p:spPr>
          <a:xfrm>
            <a:off x="6501384" y="5724144"/>
            <a:ext cx="1874519"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33" name="Picture 232" descr="database_1e5fa5.png"/>
          <p:cNvPicPr>
            <a:picLocks noChangeAspect="1"/>
          </p:cNvPicPr>
          <p:nvPr/>
        </p:nvPicPr>
        <p:blipFill>
          <a:blip r:embed="rId24"/>
          <a:stretch>
            <a:fillRect/>
          </a:stretch>
        </p:blipFill>
        <p:spPr>
          <a:xfrm>
            <a:off x="6547104" y="5888736"/>
            <a:ext cx="146304" cy="146304"/>
          </a:xfrm>
          <a:prstGeom prst="rect">
            <a:avLst/>
          </a:prstGeom>
        </p:spPr>
      </p:pic>
      <p:sp>
        <p:nvSpPr>
          <p:cNvPr id="234" name="TextBox 233"/>
          <p:cNvSpPr txBox="1"/>
          <p:nvPr/>
        </p:nvSpPr>
        <p:spPr>
          <a:xfrm>
            <a:off x="6720840" y="5756148"/>
            <a:ext cx="1618487"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latin typeface="Arial"/>
                <a:ea typeface="+mn-ea"/>
                <a:cs typeface="+mn-cs"/>
              </a:rPr>
              <a:t>Vector / Search Store</a:t>
            </a:r>
          </a:p>
        </p:txBody>
      </p:sp>
      <p:sp>
        <p:nvSpPr>
          <p:cNvPr id="235" name="TextBox 234"/>
          <p:cNvSpPr txBox="1"/>
          <p:nvPr/>
        </p:nvSpPr>
        <p:spPr>
          <a:xfrm>
            <a:off x="6556248" y="5888736"/>
            <a:ext cx="1783079"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80" b="0" i="0" u="none" strike="noStrike" kern="1200" cap="none" spc="0" normalizeH="0" baseline="0" noProof="0">
                <a:ln>
                  <a:noFill/>
                </a:ln>
                <a:solidFill>
                  <a:srgbClr val="1F1F1F"/>
                </a:solidFill>
                <a:effectLst/>
                <a:uLnTx/>
                <a:uFillTx/>
                <a:latin typeface="Arial"/>
                <a:ea typeface="+mn-ea"/>
                <a:cs typeface="+mn-cs"/>
              </a:rPr>
              <a:t>Aurora pgvector  |  OpenSearch Serverless
vector / search options</a:t>
            </a:r>
          </a:p>
        </p:txBody>
      </p:sp>
      <p:sp>
        <p:nvSpPr>
          <p:cNvPr id="236" name="Rectangle 235"/>
          <p:cNvSpPr/>
          <p:nvPr/>
        </p:nvSpPr>
        <p:spPr>
          <a:xfrm>
            <a:off x="8426195" y="5724144"/>
            <a:ext cx="2788920" cy="512064"/>
          </a:xfrm>
          <a:prstGeom prst="rect">
            <a:avLst/>
          </a:prstGeom>
          <a:solidFill>
            <a:srgbClr val="FFFFFF"/>
          </a:solidFill>
          <a:ln w="7620">
            <a:solidFill>
              <a:srgbClr val="2E6FB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237" name="Picture 236" descr="chart_1e5fa5.png"/>
          <p:cNvPicPr>
            <a:picLocks noChangeAspect="1"/>
          </p:cNvPicPr>
          <p:nvPr/>
        </p:nvPicPr>
        <p:blipFill>
          <a:blip r:embed="rId27"/>
          <a:stretch>
            <a:fillRect/>
          </a:stretch>
        </p:blipFill>
        <p:spPr>
          <a:xfrm>
            <a:off x="8471915" y="5888736"/>
            <a:ext cx="146304" cy="146304"/>
          </a:xfrm>
          <a:prstGeom prst="rect">
            <a:avLst/>
          </a:prstGeom>
        </p:spPr>
      </p:pic>
      <p:sp>
        <p:nvSpPr>
          <p:cNvPr id="238" name="TextBox 237"/>
          <p:cNvSpPr txBox="1"/>
          <p:nvPr/>
        </p:nvSpPr>
        <p:spPr>
          <a:xfrm>
            <a:off x="8645651" y="5756148"/>
            <a:ext cx="2532888" cy="9144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690" b="1" i="0" u="none" strike="noStrike" kern="1200" cap="none" spc="0" normalizeH="0" baseline="0" noProof="0">
                <a:ln>
                  <a:noFill/>
                </a:ln>
                <a:solidFill>
                  <a:srgbClr val="1E5FA5"/>
                </a:solidFill>
                <a:effectLst/>
                <a:uLnTx/>
                <a:uFillTx/>
                <a:latin typeface="Arial"/>
                <a:ea typeface="+mn-ea"/>
                <a:cs typeface="+mn-cs"/>
              </a:rPr>
              <a:t>AI Use Cases</a:t>
            </a:r>
          </a:p>
        </p:txBody>
      </p:sp>
      <p:sp>
        <p:nvSpPr>
          <p:cNvPr id="239" name="TextBox 238"/>
          <p:cNvSpPr txBox="1"/>
          <p:nvPr/>
        </p:nvSpPr>
        <p:spPr>
          <a:xfrm>
            <a:off x="8481059" y="5888736"/>
            <a:ext cx="2697480" cy="329184"/>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sz="580" b="0" i="0" u="none" strike="noStrike" kern="1200" cap="none" spc="0" normalizeH="0" baseline="0" noProof="0">
                <a:ln>
                  <a:noFill/>
                </a:ln>
                <a:solidFill>
                  <a:srgbClr val="1F1F1F"/>
                </a:solidFill>
                <a:effectLst/>
                <a:uLnTx/>
                <a:uFillTx/>
                <a:latin typeface="Arial"/>
                <a:ea typeface="+mn-ea"/>
                <a:cs typeface="+mn-cs"/>
              </a:rPr>
              <a:t>Lead/application status assist • Document checks • Policy Q&amp;A
Case assist • CAM/credit support • Operations guidance</a:t>
            </a:r>
          </a:p>
        </p:txBody>
      </p:sp>
      <p:sp>
        <p:nvSpPr>
          <p:cNvPr id="240" name="TextBox 239"/>
          <p:cNvSpPr txBox="1"/>
          <p:nvPr/>
        </p:nvSpPr>
        <p:spPr>
          <a:xfrm>
            <a:off x="228600" y="6473952"/>
            <a:ext cx="1645920" cy="137160"/>
          </a:xfrm>
          <a:prstGeom prst="rect">
            <a:avLst/>
          </a:prstGeom>
          <a:noFill/>
        </p:spPr>
        <p:txBody>
          <a:bodyPr wrap="square" lIns="22860" tIns="11430" rIns="22860" bIns="1143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A636F"/>
                </a:solidFill>
                <a:effectLst/>
                <a:uLnTx/>
                <a:uFillTx/>
                <a:latin typeface="Arial"/>
                <a:ea typeface="+mn-ea"/>
                <a:cs typeface="+mn-cs"/>
              </a:rPr>
              <a:t>© 2026. All rights reserved.</a:t>
            </a:r>
          </a:p>
        </p:txBody>
      </p:sp>
      <p:sp>
        <p:nvSpPr>
          <p:cNvPr id="241" name="TextBox 240"/>
          <p:cNvSpPr txBox="1"/>
          <p:nvPr/>
        </p:nvSpPr>
        <p:spPr>
          <a:xfrm>
            <a:off x="2743200" y="6473952"/>
            <a:ext cx="6035040" cy="13716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5A636F"/>
                </a:solidFill>
                <a:effectLst/>
                <a:uLnTx/>
                <a:uFillTx/>
                <a:latin typeface="Arial"/>
                <a:ea typeface="+mn-ea"/>
                <a:cs typeface="+mn-cs"/>
              </a:rPr>
              <a:t>Note: This is a high-level reference architecture. Detailed flows and components will be elaborated in subsequent slides.</a:t>
            </a:r>
          </a:p>
        </p:txBody>
      </p:sp>
      <p:sp>
        <p:nvSpPr>
          <p:cNvPr id="242" name="TextBox 241"/>
          <p:cNvSpPr txBox="1"/>
          <p:nvPr/>
        </p:nvSpPr>
        <p:spPr>
          <a:xfrm>
            <a:off x="9765792" y="6473952"/>
            <a:ext cx="1828800" cy="137160"/>
          </a:xfrm>
          <a:prstGeom prst="rect">
            <a:avLst/>
          </a:prstGeom>
          <a:noFill/>
        </p:spPr>
        <p:txBody>
          <a:bodyPr wrap="square" lIns="22860" tIns="11430" rIns="22860" bIns="1143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A636F"/>
                </a:solidFill>
                <a:effectLst/>
                <a:uLnTx/>
                <a:uFillTx/>
                <a:latin typeface="Arial"/>
                <a:ea typeface="+mn-ea"/>
                <a:cs typeface="+mn-cs"/>
              </a:rPr>
              <a:t>Confidential – For Discussion Purposes Only</a:t>
            </a:r>
          </a:p>
        </p:txBody>
      </p:sp>
      <p:sp>
        <p:nvSpPr>
          <p:cNvPr id="243" name="TextBox 242"/>
          <p:cNvSpPr txBox="1"/>
          <p:nvPr/>
        </p:nvSpPr>
        <p:spPr>
          <a:xfrm>
            <a:off x="11768328" y="6473952"/>
            <a:ext cx="146304" cy="137160"/>
          </a:xfrm>
          <a:prstGeom prst="rect">
            <a:avLst/>
          </a:prstGeom>
          <a:noFill/>
        </p:spPr>
        <p:txBody>
          <a:bodyPr wrap="square" lIns="22860" tIns="11430" rIns="22860" bIns="1143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F1F1F"/>
                </a:solidFill>
                <a:effectLst/>
                <a:uLnTx/>
                <a:uFillTx/>
                <a:latin typeface="Arial"/>
                <a:ea typeface="+mn-ea"/>
                <a:cs typeface="+mn-cs"/>
              </a:rPr>
              <a:t>2</a:t>
            </a:r>
          </a:p>
        </p:txBody>
      </p:sp>
      <p:sp>
        <p:nvSpPr>
          <p:cNvPr id="244" name="TextBox 243">
            <a:extLst>
              <a:ext uri="{FF2B5EF4-FFF2-40B4-BE49-F238E27FC236}">
                <a16:creationId xmlns:a16="http://schemas.microsoft.com/office/drawing/2014/main" id="{E694468E-5FDF-CAAF-3196-6D1A7B5CA11A}"/>
              </a:ext>
            </a:extLst>
          </p:cNvPr>
          <p:cNvSpPr txBox="1"/>
          <p:nvPr/>
        </p:nvSpPr>
        <p:spPr>
          <a:xfrm rot="5400000">
            <a:off x="4780147" y="1749423"/>
            <a:ext cx="612251"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2E6FB2"/>
                </a:solidFill>
                <a:effectLst/>
                <a:uLnTx/>
                <a:uFillTx/>
                <a:latin typeface="Arial"/>
                <a:ea typeface="+mn-ea"/>
                <a:cs typeface="+mn-cs"/>
              </a:rPr>
              <a:t>→</a:t>
            </a:r>
          </a:p>
        </p:txBody>
      </p:sp>
      <p:sp>
        <p:nvSpPr>
          <p:cNvPr id="245" name="TextBox 244">
            <a:extLst>
              <a:ext uri="{FF2B5EF4-FFF2-40B4-BE49-F238E27FC236}">
                <a16:creationId xmlns:a16="http://schemas.microsoft.com/office/drawing/2014/main" id="{5AB64D76-B8D1-1463-2D39-692F0FF40724}"/>
              </a:ext>
            </a:extLst>
          </p:cNvPr>
          <p:cNvSpPr txBox="1"/>
          <p:nvPr/>
        </p:nvSpPr>
        <p:spPr>
          <a:xfrm>
            <a:off x="11147729" y="805422"/>
            <a:ext cx="842838" cy="314830"/>
          </a:xfrm>
          <a:prstGeom prst="rect">
            <a:avLst/>
          </a:prstGeom>
          <a:noFill/>
        </p:spPr>
        <p:txBody>
          <a:bodyPr wrap="square" lIns="36576" tIns="18288" rIns="36576" bIns="18288" anchor="ctr">
            <a:sp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1000" b="1" i="1" u="none" strike="noStrike" kern="1200" cap="none" spc="0" normalizeH="0" baseline="0" noProof="0">
                <a:ln>
                  <a:noFill/>
                </a:ln>
                <a:solidFill>
                  <a:srgbClr val="0F9ED5">
                    <a:lumMod val="40000"/>
                    <a:lumOff val="60000"/>
                  </a:srgbClr>
                </a:solidFill>
                <a:effectLst/>
                <a:uLnTx/>
                <a:uFillTx/>
                <a:latin typeface="Aptos"/>
                <a:ea typeface="+mn-ea"/>
                <a:cs typeface="+mn-cs"/>
              </a:rPr>
              <a:t>40+</a:t>
            </a:r>
            <a:br>
              <a:rPr kumimoji="0" lang="en-US" sz="1000" b="1" i="1" u="none" strike="noStrike" kern="1200" cap="none" spc="0" normalizeH="0" baseline="0" noProof="0">
                <a:ln>
                  <a:noFill/>
                </a:ln>
                <a:solidFill>
                  <a:srgbClr val="0F9ED5">
                    <a:lumMod val="40000"/>
                    <a:lumOff val="60000"/>
                  </a:srgbClr>
                </a:solidFill>
                <a:effectLst/>
                <a:uLnTx/>
                <a:uFillTx/>
                <a:latin typeface="Aptos"/>
                <a:ea typeface="+mn-ea"/>
                <a:cs typeface="+mn-cs"/>
              </a:rPr>
            </a:br>
            <a:r>
              <a:rPr kumimoji="0" lang="en-US" sz="1000" b="1" i="1" u="none" strike="noStrike" kern="1200" cap="none" spc="0" normalizeH="0" baseline="0" noProof="0">
                <a:ln>
                  <a:noFill/>
                </a:ln>
                <a:solidFill>
                  <a:srgbClr val="0F9ED5">
                    <a:lumMod val="40000"/>
                    <a:lumOff val="60000"/>
                  </a:srgbClr>
                </a:solidFill>
                <a:effectLst/>
                <a:uLnTx/>
                <a:uFillTx/>
                <a:latin typeface="Aptos"/>
                <a:ea typeface="+mn-ea"/>
                <a:cs typeface="+mn-cs"/>
              </a:rPr>
              <a:t>Touchpoints</a:t>
            </a:r>
            <a:endParaRPr kumimoji="0" sz="1000" b="1" i="1" u="none" strike="noStrike" kern="1200" cap="none" spc="0" normalizeH="0" baseline="0" noProof="0">
              <a:ln>
                <a:noFill/>
              </a:ln>
              <a:solidFill>
                <a:srgbClr val="0F9ED5">
                  <a:lumMod val="40000"/>
                  <a:lumOff val="60000"/>
                </a:srgbClr>
              </a:solidFill>
              <a:effectLst/>
              <a:uLnTx/>
              <a:uFillTx/>
              <a:latin typeface="Aptos"/>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733CA93AA63E4E8CAE2250DC0C3426" ma:contentTypeVersion="11" ma:contentTypeDescription="Create a new document." ma:contentTypeScope="" ma:versionID="530d2949a1f744ca43ad3273c1f664a3">
  <xsd:schema xmlns:xsd="http://www.w3.org/2001/XMLSchema" xmlns:xs="http://www.w3.org/2001/XMLSchema" xmlns:p="http://schemas.microsoft.com/office/2006/metadata/properties" xmlns:ns2="77e34bf6-ecaa-49cd-bc25-bee59559d1ec" xmlns:ns3="6b624e6c-d02a-4ab6-ab8e-7ab0185478da" targetNamespace="http://schemas.microsoft.com/office/2006/metadata/properties" ma:root="true" ma:fieldsID="13ecd38f2495231b5847cab16604733d" ns2:_="" ns3:_="">
    <xsd:import namespace="77e34bf6-ecaa-49cd-bc25-bee59559d1ec"/>
    <xsd:import namespace="6b624e6c-d02a-4ab6-ab8e-7ab0185478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e34bf6-ecaa-49cd-bc25-bee59559d1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b624e6c-d02a-4ab6-ab8e-7ab0185478d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e2a396a-e8dd-445d-8c9b-fba83cdbcff1}" ma:internalName="TaxCatchAll" ma:showField="CatchAllData" ma:web="6b624e6c-d02a-4ab6-ab8e-7ab0185478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b624e6c-d02a-4ab6-ab8e-7ab0185478da" xsi:nil="true"/>
    <lcf76f155ced4ddcb4097134ff3c332f xmlns="77e34bf6-ecaa-49cd-bc25-bee59559d1e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CA93DFD-842F-4165-9D3A-555E00C3E361}">
  <ds:schemaRefs>
    <ds:schemaRef ds:uri="6b624e6c-d02a-4ab6-ab8e-7ab0185478da"/>
    <ds:schemaRef ds:uri="77e34bf6-ecaa-49cd-bc25-bee59559d1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DFCE49A-E058-4091-8F9E-8686DD5746CB}">
  <ds:schemaRefs>
    <ds:schemaRef ds:uri="http://schemas.microsoft.com/sharepoint/v3/contenttype/forms"/>
  </ds:schemaRefs>
</ds:datastoreItem>
</file>

<file path=customXml/itemProps3.xml><?xml version="1.0" encoding="utf-8"?>
<ds:datastoreItem xmlns:ds="http://schemas.openxmlformats.org/officeDocument/2006/customXml" ds:itemID="{0FA9F37E-E395-42C0-BE0E-725407F8C744}">
  <ds:schemaRefs>
    <ds:schemaRef ds:uri="6b624e6c-d02a-4ab6-ab8e-7ab0185478da"/>
    <ds:schemaRef ds:uri="77e34bf6-ecaa-49cd-bc25-bee59559d1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2</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2026-06-23T06:10:00Z</dcterms:created>
  <dcterms:modified xsi:type="dcterms:W3CDTF">2026-06-26T06:24:09Z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0x01010045733CA93AA63E4E8CAE2250DC0C3426</vt:lpwstr>
  </property>
  <property fmtid="{D5CDD505-2E9C-101B-9397-08002B2CF9AE}" pid="3" name="MediaServiceImageTags">
    <vt:lpwstr/>
  </property>
</Properties>
</file>