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436" cy="5143500"/>
          </a:xfrm>
          <a:prstGeom prst="rect">
            <a:avLst/>
          </a:prstGeom>
          <a:solidFill>
            <a:srgbClr val="1E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0" y="3291840"/>
            <a:ext cx="3200400" cy="1851660"/>
          </a:xfrm>
          <a:prstGeom prst="rect">
            <a:avLst/>
          </a:prstGeom>
          <a:solidFill>
            <a:srgbClr val="0D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0" y="3611880"/>
            <a:ext cx="2560320" cy="1531620"/>
          </a:xfrm>
          <a:prstGeom prst="rect">
            <a:avLst/>
          </a:prstGeom>
          <a:solidFill>
            <a:srgbClr val="11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201168"/>
            <a:ext cx="2926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 kern="500">
              <a:rPr sz="1800" b="1" i="0">
                <a:solidFill>
                  <a:srgbClr val="FFFFFF"/>
                </a:solidFill>
                <a:latin typeface="Calibri"/>
              </a:rPr>
              <a:t>DELOITTE</a:t>
            </a:r>
          </a:p>
        </p:txBody>
      </p:sp>
      <p:sp>
        <p:nvSpPr>
          <p:cNvPr id="6" name="Oval 5"/>
          <p:cNvSpPr/>
          <p:nvPr/>
        </p:nvSpPr>
        <p:spPr>
          <a:xfrm>
            <a:off x="1805940" y="278892"/>
            <a:ext cx="62179" cy="62179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" y="731520"/>
            <a:ext cx="2331720" cy="7315"/>
          </a:xfrm>
          <a:prstGeom prst="rect">
            <a:avLst/>
          </a:prstGeom>
          <a:solidFill>
            <a:srgbClr val="1E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1536192"/>
            <a:ext cx="7223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Custom LOS on AWS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2331720"/>
            <a:ext cx="6858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5D9F1"/>
                </a:solidFill>
                <a:latin typeface="Calibri"/>
              </a:rPr>
              <a:t>Building a Faster, Controlled,</a:t>
            </a:r>
          </a:p>
          <a:p>
            <a:pPr algn="l"/>
            <a:r>
              <a:rPr sz="2200" b="0" i="0">
                <a:solidFill>
                  <a:srgbClr val="C5D9F1"/>
                </a:solidFill>
                <a:latin typeface="Calibri"/>
              </a:rPr>
              <a:t>AI-Ready Lending Platform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3154680"/>
            <a:ext cx="5120640" cy="7315"/>
          </a:xfrm>
          <a:prstGeom prst="rect">
            <a:avLst/>
          </a:prstGeom>
          <a:solidFill>
            <a:srgbClr val="1E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" y="4754880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Calibri"/>
              </a:rPr>
              <a:t>Private and Confidential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621792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" y="91440"/>
            <a:ext cx="8778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Custom LOS on AWS: Building a Faster, Controlled, AI-Ready Lending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685800"/>
            <a:ext cx="2212848" cy="3017520"/>
          </a:xfrm>
          <a:prstGeom prst="rect">
            <a:avLst/>
          </a:prstGeom>
          <a:solidFill>
            <a:srgbClr val="071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685800"/>
            <a:ext cx="59436" cy="301752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88036" y="685800"/>
            <a:ext cx="2153412" cy="475488"/>
          </a:xfrm>
          <a:prstGeom prst="rect">
            <a:avLst/>
          </a:prstGeom>
          <a:solidFill>
            <a:srgbClr val="0D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" y="722376"/>
            <a:ext cx="204825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 kern="150">
              <a:rPr sz="750" b="1" i="0">
                <a:solidFill>
                  <a:srgbClr val="86BC25"/>
                </a:solidFill>
                <a:latin typeface="Calibri"/>
              </a:rPr>
              <a:t>CLIENT CHALLENGES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" y="886968"/>
            <a:ext cx="20482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Why Clients Are Asking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234440"/>
            <a:ext cx="2011679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8016" indent="-128016">
              <a:buClr>
                <a:srgbClr val="5b96d8"/>
              </a:buClr>
              <a:buFont typeface="Calibri"/>
              <a:buChar char="›"/>
              <a:spcAft>
                <a:spcPts val="550"/>
              </a:spcAft>
            </a:pPr>
            <a:r>
              <a:rPr sz="750" b="0" i="0">
                <a:solidFill>
                  <a:srgbClr val="B4CFE8"/>
                </a:solidFill>
                <a:latin typeface="Calibri"/>
              </a:rPr>
              <a:t>Reduce lead-to-disbursal TAT across sales, credit, verification, and disbursement</a:t>
            </a:r>
          </a:p>
          <a:p>
            <a:pPr marL="128016" indent="-128016">
              <a:buClr>
                <a:srgbClr val="5b96d8"/>
              </a:buClr>
              <a:buFont typeface="Calibri"/>
              <a:buChar char="›"/>
              <a:spcAft>
                <a:spcPts val="550"/>
              </a:spcAft>
            </a:pPr>
            <a:r>
              <a:rPr sz="750" b="0" i="0">
                <a:solidFill>
                  <a:srgbClr val="B4CFE8"/>
                </a:solidFill>
                <a:latin typeface="Calibri"/>
              </a:rPr>
              <a:t>Lower cost per application — cut manual follow-ups, data entry, and rework</a:t>
            </a:r>
          </a:p>
          <a:p>
            <a:pPr marL="128016" indent="-128016">
              <a:buClr>
                <a:srgbClr val="5b96d8"/>
              </a:buClr>
              <a:buFont typeface="Calibri"/>
              <a:buChar char="›"/>
              <a:spcAft>
                <a:spcPts val="550"/>
              </a:spcAft>
            </a:pPr>
            <a:r>
              <a:rPr sz="750" b="0" i="0">
                <a:solidFill>
                  <a:srgbClr val="B4CFE8"/>
                </a:solidFill>
                <a:latin typeface="Calibri"/>
              </a:rPr>
              <a:t>Improve visibility across branch, DSA, digital, ops, and credit teams</a:t>
            </a:r>
          </a:p>
          <a:p>
            <a:pPr marL="128016" indent="-128016">
              <a:buClr>
                <a:srgbClr val="5b96d8"/>
              </a:buClr>
              <a:buFont typeface="Calibri"/>
              <a:buChar char="›"/>
              <a:spcAft>
                <a:spcPts val="550"/>
              </a:spcAft>
            </a:pPr>
            <a:r>
              <a:rPr sz="750" b="0" i="0">
                <a:solidFill>
                  <a:srgbClr val="B4CFE8"/>
                </a:solidFill>
                <a:latin typeface="Calibri"/>
              </a:rPr>
              <a:t>Gain stronger control over workflows, policies, approvals, and data</a:t>
            </a:r>
          </a:p>
          <a:p>
            <a:pPr marL="128016" indent="-128016">
              <a:buClr>
                <a:srgbClr val="5b96d8"/>
              </a:buClr>
              <a:buFont typeface="Calibri"/>
              <a:buChar char="›"/>
              <a:spcAft>
                <a:spcPts val="550"/>
              </a:spcAft>
            </a:pPr>
            <a:r>
              <a:rPr sz="750" b="0" i="0">
                <a:solidFill>
                  <a:srgbClr val="B4CFE8"/>
                </a:solidFill>
                <a:latin typeface="Calibri"/>
              </a:rPr>
              <a:t>Enable AI-led lending: OCR, document checks, fraud signals, and routing</a:t>
            </a:r>
          </a:p>
          <a:p>
            <a:pPr marL="128016" indent="-128016">
              <a:buClr>
                <a:srgbClr val="5b96d8"/>
              </a:buClr>
              <a:buFont typeface="Calibri"/>
              <a:buChar char="›"/>
              <a:spcAft>
                <a:spcPts val="550"/>
              </a:spcAft>
            </a:pPr>
            <a:r>
              <a:rPr sz="750" b="0" i="0">
                <a:solidFill>
                  <a:srgbClr val="B4CFE8"/>
                </a:solidFill>
                <a:latin typeface="Calibri"/>
              </a:rPr>
              <a:t>Scale across products, geographies, partners, and digital models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51176" y="685800"/>
            <a:ext cx="3474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C8D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51176" y="685800"/>
            <a:ext cx="91440" cy="3017520"/>
          </a:xfrm>
          <a:prstGeom prst="rect">
            <a:avLst/>
          </a:prstGeom>
          <a:solidFill>
            <a:srgbClr val="1E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42616" y="685800"/>
            <a:ext cx="3383279" cy="50292"/>
          </a:xfrm>
          <a:prstGeom prst="rect">
            <a:avLst/>
          </a:prstGeom>
          <a:solidFill>
            <a:srgbClr val="1E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34056" y="758952"/>
            <a:ext cx="321868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 kern="150">
              <a:rPr sz="750" b="1" i="0">
                <a:solidFill>
                  <a:srgbClr val="1E5FA5"/>
                </a:solidFill>
                <a:latin typeface="Calibri"/>
              </a:rPr>
              <a:t>OUR 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34056" y="914400"/>
            <a:ext cx="32186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5FA5"/>
                </a:solidFill>
                <a:latin typeface="Calibri"/>
              </a:rPr>
              <a:t>What We Are Building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34056" y="1234440"/>
            <a:ext cx="32186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A cloud-native, end-to-end LOS platform on AWS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34056" y="1463040"/>
            <a:ext cx="3200400" cy="731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34056" y="1536192"/>
            <a:ext cx="3200400" cy="2084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8016" indent="-128016">
              <a:buClr>
                <a:srgbClr val="1e5fa5"/>
              </a:buClr>
              <a:buFont typeface="Calibri"/>
              <a:buChar char="◆"/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Lead capture and orchestration: branch, DSA, digital, aggregator, contact center</a:t>
            </a:r>
          </a:p>
          <a:p>
            <a:pPr marL="128016" indent="-128016">
              <a:buClr>
                <a:srgbClr val="1e5fa5"/>
              </a:buClr>
              <a:buFont typeface="Calibri"/>
              <a:buChar char="◆"/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Applicant, co-applicant, income, employment, collateral, and document capture</a:t>
            </a:r>
          </a:p>
          <a:p>
            <a:pPr marL="128016" indent="-128016">
              <a:buClr>
                <a:srgbClr val="1e5fa5"/>
              </a:buClr>
              <a:buFont typeface="Calibri"/>
              <a:buChar char="◆"/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Integrated KYC, bureau, OCR, DigiLocker, CKYC, eSign, payment, and onboarding APIs</a:t>
            </a:r>
          </a:p>
          <a:p>
            <a:pPr marL="128016" indent="-128016">
              <a:buClr>
                <a:srgbClr val="1e5fa5"/>
              </a:buClr>
              <a:buFont typeface="Calibri"/>
              <a:buChar char="◆"/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Configurable workflows for verification, credit review, approvals, and disbursement</a:t>
            </a:r>
          </a:p>
          <a:p>
            <a:pPr marL="128016" indent="-128016">
              <a:buClr>
                <a:srgbClr val="1e5fa5"/>
              </a:buClr>
              <a:buFont typeface="Calibri"/>
              <a:buChar char="◆"/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Role-based dashboards for sales, credit, operations, compliance, and leadership</a:t>
            </a:r>
          </a:p>
          <a:p>
            <a:pPr marL="128016" indent="-128016">
              <a:buClr>
                <a:srgbClr val="1e5fa5"/>
              </a:buClr>
              <a:buFont typeface="Calibri"/>
              <a:buChar char="◆"/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AI-ready architecture for document intelligence, anomaly detection, decision support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35624" y="685800"/>
            <a:ext cx="2779776" cy="3017520"/>
          </a:xfrm>
          <a:prstGeom prst="rect">
            <a:avLst/>
          </a:prstGeom>
          <a:solidFill>
            <a:srgbClr val="1E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35624" y="685800"/>
            <a:ext cx="59436" cy="3017520"/>
          </a:xfrm>
          <a:prstGeom prst="rect">
            <a:avLst/>
          </a:prstGeom>
          <a:solidFill>
            <a:srgbClr val="15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5060" y="685800"/>
            <a:ext cx="2720340" cy="475488"/>
          </a:xfrm>
          <a:prstGeom prst="rect">
            <a:avLst/>
          </a:prstGeom>
          <a:solidFill>
            <a:srgbClr val="15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2784" y="722376"/>
            <a:ext cx="25968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 kern="150">
              <a:rPr sz="750" b="1" i="0">
                <a:solidFill>
                  <a:srgbClr val="C5D9F1"/>
                </a:solidFill>
                <a:latin typeface="Calibri"/>
              </a:rPr>
              <a:t>AWS PLATFORM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2784" y="886968"/>
            <a:ext cx="2596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Why AWS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2784" y="1234440"/>
            <a:ext cx="2578608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8016" indent="-128016">
              <a:buClr>
                <a:srgbClr val="c5d9f1"/>
              </a:buClr>
              <a:buFont typeface="Calibri"/>
              <a:buChar char="›"/>
              <a:spcAft>
                <a:spcPts val="550"/>
              </a:spcAft>
            </a:pPr>
            <a:r>
              <a:rPr sz="750" b="0" i="0">
                <a:solidFill>
                  <a:srgbClr val="DDEEFF"/>
                </a:solidFill>
                <a:latin typeface="Calibri"/>
              </a:rPr>
              <a:t>Own cloud infrastructure — no dependency on vendor-controlled LOS platforms</a:t>
            </a:r>
          </a:p>
          <a:p>
            <a:pPr marL="128016" indent="-128016">
              <a:buClr>
                <a:srgbClr val="c5d9f1"/>
              </a:buClr>
              <a:buFont typeface="Calibri"/>
              <a:buChar char="›"/>
              <a:spcAft>
                <a:spcPts val="550"/>
              </a:spcAft>
            </a:pPr>
            <a:r>
              <a:rPr sz="750" b="0" i="0">
                <a:solidFill>
                  <a:srgbClr val="DDEEFF"/>
                </a:solidFill>
                <a:latin typeface="Calibri"/>
              </a:rPr>
              <a:t>Scale dynamically for peak origination, campaigns, partner traffic, and batch ops</a:t>
            </a:r>
          </a:p>
          <a:p>
            <a:pPr marL="128016" indent="-128016">
              <a:buClr>
                <a:srgbClr val="c5d9f1"/>
              </a:buClr>
              <a:buFont typeface="Calibri"/>
              <a:buChar char="›"/>
              <a:spcAft>
                <a:spcPts val="550"/>
              </a:spcAft>
            </a:pPr>
            <a:r>
              <a:rPr sz="750" b="0" i="0">
                <a:solidFill>
                  <a:srgbClr val="DDEEFF"/>
                </a:solidFill>
                <a:latin typeface="Calibri"/>
              </a:rPr>
              <a:t>Managed services reduce infrastructure overhead and improve reliability</a:t>
            </a:r>
          </a:p>
          <a:p>
            <a:pPr marL="128016" indent="-128016">
              <a:buClr>
                <a:srgbClr val="c5d9f1"/>
              </a:buClr>
              <a:buFont typeface="Calibri"/>
              <a:buChar char="›"/>
              <a:spcAft>
                <a:spcPts val="550"/>
              </a:spcAft>
            </a:pPr>
            <a:r>
              <a:rPr sz="750" b="0" i="0">
                <a:solidFill>
                  <a:srgbClr val="DDEEFF"/>
                </a:solidFill>
                <a:latin typeface="Calibri"/>
              </a:rPr>
              <a:t>Secure documents, customer data, APIs, and integrations — enterprise-grade controls</a:t>
            </a:r>
          </a:p>
          <a:p>
            <a:pPr marL="128016" indent="-128016">
              <a:buClr>
                <a:srgbClr val="c5d9f1"/>
              </a:buClr>
              <a:buFont typeface="Calibri"/>
              <a:buChar char="›"/>
              <a:spcAft>
                <a:spcPts val="550"/>
              </a:spcAft>
            </a:pPr>
            <a:r>
              <a:rPr sz="750" b="0" i="0">
                <a:solidFill>
                  <a:srgbClr val="DDEEFF"/>
                </a:solidFill>
                <a:latin typeface="Calibri"/>
              </a:rPr>
              <a:t>Event-driven, API-first integration with internal systems and third-party services</a:t>
            </a:r>
          </a:p>
          <a:p>
            <a:pPr marL="128016" indent="-128016">
              <a:buClr>
                <a:srgbClr val="c5d9f1"/>
              </a:buClr>
              <a:buFont typeface="Calibri"/>
              <a:buChar char="›"/>
              <a:spcAft>
                <a:spcPts val="550"/>
              </a:spcAft>
            </a:pPr>
            <a:r>
              <a:rPr sz="750" b="0" i="0">
                <a:solidFill>
                  <a:srgbClr val="DDEEFF"/>
                </a:solidFill>
                <a:latin typeface="Calibri"/>
              </a:rPr>
              <a:t>Extend with AWS Bedrock, document intelligence, analytics, and automation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3703320"/>
            <a:ext cx="9144000" cy="1440180"/>
          </a:xfrm>
          <a:prstGeom prst="rect">
            <a:avLst/>
          </a:prstGeom>
          <a:solidFill>
            <a:srgbClr val="07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6888" y="3794759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 kern="200">
              <a:rPr sz="1000" b="1" i="0">
                <a:solidFill>
                  <a:srgbClr val="86BC25"/>
                </a:solidFill>
                <a:latin typeface="Calibri"/>
              </a:rPr>
              <a:t>EXPECTED BUSINESS IMPACT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776472"/>
            <a:ext cx="1444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 kern="250">
              <a:rPr sz="950" b="1" i="0">
                <a:solidFill>
                  <a:srgbClr val="C5D9F1"/>
                </a:solidFill>
                <a:latin typeface="Calibri"/>
              </a:rPr>
              <a:t>DELOITTE</a:t>
            </a:r>
          </a:p>
        </p:txBody>
      </p:sp>
      <p:sp>
        <p:nvSpPr>
          <p:cNvPr id="28" name="Oval 27"/>
          <p:cNvSpPr/>
          <p:nvPr/>
        </p:nvSpPr>
        <p:spPr>
          <a:xfrm>
            <a:off x="8686800" y="3822191"/>
            <a:ext cx="50292" cy="50292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46888" y="4087368"/>
            <a:ext cx="8650224" cy="7315"/>
          </a:xfrm>
          <a:prstGeom prst="rect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3464" y="4160520"/>
            <a:ext cx="1368552" cy="50292"/>
          </a:xfrm>
          <a:prstGeom prst="rect">
            <a:avLst/>
          </a:prstGeom>
          <a:solidFill>
            <a:srgbClr val="1E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1752" y="4233672"/>
            <a:ext cx="13502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B8FC2"/>
                </a:solidFill>
                <a:latin typeface="Calibri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752" y="4434840"/>
            <a:ext cx="1350264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Faster TAT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" y="4690872"/>
            <a:ext cx="1350264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800" b="0" i="0">
                <a:solidFill>
                  <a:srgbClr val="C5D9F1"/>
                </a:solidFill>
                <a:latin typeface="Calibri"/>
              </a:rPr>
              <a:t>Lead to disbursement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70304" y="4215383"/>
            <a:ext cx="10972" cy="909828"/>
          </a:xfrm>
          <a:prstGeom prst="rect">
            <a:avLst/>
          </a:prstGeom>
          <a:solidFill>
            <a:srgbClr val="1E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725168" y="4160520"/>
            <a:ext cx="1368552" cy="50292"/>
          </a:xfrm>
          <a:prstGeom prst="rect">
            <a:avLst/>
          </a:prstGeom>
          <a:solidFill>
            <a:srgbClr val="2E7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743456" y="4233672"/>
            <a:ext cx="13502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B8FC2"/>
                </a:solidFill>
                <a:latin typeface="Calibri"/>
              </a:rPr>
              <a:t>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43456" y="4434840"/>
            <a:ext cx="1350264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Lower Cost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43456" y="4690872"/>
            <a:ext cx="1350264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800" b="0" i="0">
                <a:solidFill>
                  <a:srgbClr val="C5D9F1"/>
                </a:solidFill>
                <a:latin typeface="Calibri"/>
              </a:rPr>
              <a:t>Per application / file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12008" y="4215383"/>
            <a:ext cx="10972" cy="909828"/>
          </a:xfrm>
          <a:prstGeom prst="rect">
            <a:avLst/>
          </a:prstGeom>
          <a:solidFill>
            <a:srgbClr val="1E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166872" y="4160520"/>
            <a:ext cx="1368552" cy="50292"/>
          </a:xfrm>
          <a:prstGeom prst="rect">
            <a:avLst/>
          </a:prstGeom>
          <a:solidFill>
            <a:srgbClr val="1E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85160" y="4233672"/>
            <a:ext cx="13502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B8FC2"/>
                </a:solidFill>
                <a:latin typeface="Calibri"/>
              </a:rPr>
              <a:t>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85160" y="4434840"/>
            <a:ext cx="1350264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Higher Productivity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85160" y="4690872"/>
            <a:ext cx="1350264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800" b="0" i="0">
                <a:solidFill>
                  <a:srgbClr val="C5D9F1"/>
                </a:solidFill>
                <a:latin typeface="Calibri"/>
              </a:rPr>
              <a:t>Sales, credit &amp; ops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53712" y="4215383"/>
            <a:ext cx="10972" cy="909828"/>
          </a:xfrm>
          <a:prstGeom prst="rect">
            <a:avLst/>
          </a:prstGeom>
          <a:solidFill>
            <a:srgbClr val="1E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608576" y="4160520"/>
            <a:ext cx="1368552" cy="50292"/>
          </a:xfrm>
          <a:prstGeom prst="rect">
            <a:avLst/>
          </a:prstGeom>
          <a:solidFill>
            <a:srgbClr val="2E7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26864" y="4233672"/>
            <a:ext cx="13502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B8FC2"/>
                </a:solidFill>
                <a:latin typeface="Calibri"/>
              </a:rPr>
              <a:t>04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26864" y="4434840"/>
            <a:ext cx="1350264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Better Compliance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26864" y="4690872"/>
            <a:ext cx="1350264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800" b="0" i="0">
                <a:solidFill>
                  <a:srgbClr val="C5D9F1"/>
                </a:solidFill>
                <a:latin typeface="Calibri"/>
              </a:rPr>
              <a:t>Auditability &amp; data control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95416" y="4215383"/>
            <a:ext cx="10972" cy="909828"/>
          </a:xfrm>
          <a:prstGeom prst="rect">
            <a:avLst/>
          </a:prstGeom>
          <a:solidFill>
            <a:srgbClr val="1E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050280" y="4160520"/>
            <a:ext cx="1368552" cy="50292"/>
          </a:xfrm>
          <a:prstGeom prst="rect">
            <a:avLst/>
          </a:prstGeom>
          <a:solidFill>
            <a:srgbClr val="1E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68568" y="4233672"/>
            <a:ext cx="13502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B8FC2"/>
                </a:solidFill>
                <a:latin typeface="Calibri"/>
              </a:rPr>
              <a:t>05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68568" y="4434840"/>
            <a:ext cx="1350264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Faster Launch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68568" y="4690872"/>
            <a:ext cx="1350264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800" b="0" i="0">
                <a:solidFill>
                  <a:srgbClr val="C5D9F1"/>
                </a:solidFill>
                <a:latin typeface="Calibri"/>
              </a:rPr>
              <a:t>New products &amp; policies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437120" y="4215383"/>
            <a:ext cx="10972" cy="909828"/>
          </a:xfrm>
          <a:prstGeom prst="rect">
            <a:avLst/>
          </a:prstGeom>
          <a:solidFill>
            <a:srgbClr val="1E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491984" y="4160520"/>
            <a:ext cx="1368552" cy="50292"/>
          </a:xfrm>
          <a:prstGeom prst="rect">
            <a:avLst/>
          </a:prstGeom>
          <a:solidFill>
            <a:srgbClr val="2E7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510272" y="4233672"/>
            <a:ext cx="13502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B8FC2"/>
                </a:solidFill>
                <a:latin typeface="Calibri"/>
              </a:rPr>
              <a:t>06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10272" y="4434840"/>
            <a:ext cx="1350264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AI-Ready at Scale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10272" y="4690872"/>
            <a:ext cx="1350264" cy="2011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800" b="0" i="0">
                <a:solidFill>
                  <a:srgbClr val="C5D9F1"/>
                </a:solidFill>
                <a:latin typeface="Calibri"/>
              </a:rPr>
              <a:t>Intelligent operations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