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" cy="5143500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3291840"/>
            <a:ext cx="3200400" cy="18516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3611880"/>
            <a:ext cx="2560320" cy="1531620"/>
          </a:xfrm>
          <a:prstGeom prst="rect">
            <a:avLst/>
          </a:prstGeom>
          <a:solidFill>
            <a:srgbClr val="11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 kern="500">
              <a:rPr sz="1800" b="1" i="0">
                <a:solidFill>
                  <a:srgbClr val="FFFFFF"/>
                </a:solidFill>
                <a:latin typeface="Calibri"/>
              </a:rPr>
              <a:t>DELOITTE</a:t>
            </a:r>
          </a:p>
        </p:txBody>
      </p:sp>
      <p:sp>
        <p:nvSpPr>
          <p:cNvPr id="6" name="Oval 5"/>
          <p:cNvSpPr/>
          <p:nvPr/>
        </p:nvSpPr>
        <p:spPr>
          <a:xfrm>
            <a:off x="1805940" y="278892"/>
            <a:ext cx="62179" cy="62179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731520"/>
            <a:ext cx="2331720" cy="7315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536192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Custom LOS on 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331720"/>
            <a:ext cx="6858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5D9F1"/>
                </a:solidFill>
                <a:latin typeface="Calibri"/>
              </a:rPr>
              <a:t>Building a Faster, Controlled,</a:t>
            </a:r>
          </a:p>
          <a:p>
            <a:pPr algn="l"/>
            <a:r>
              <a:rPr sz="2200" b="0" i="0">
                <a:solidFill>
                  <a:srgbClr val="C5D9F1"/>
                </a:solidFill>
                <a:latin typeface="Calibri"/>
              </a:rPr>
              <a:t>AI-Ready Lending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3154680"/>
            <a:ext cx="5120640" cy="7315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475488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Private and 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585216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82296"/>
            <a:ext cx="8778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Custom LOS on AWS: Building a Faster, Controlled, AI-Ready Lending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" y="658368"/>
            <a:ext cx="2807208" cy="41148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888" y="1062532"/>
            <a:ext cx="2807208" cy="7315"/>
          </a:xfrm>
          <a:prstGeom prst="rect">
            <a:avLst/>
          </a:prstGeom>
          <a:solidFill>
            <a:srgbClr val="2E7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" y="662940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Why Clients Are Asking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" y="1069848"/>
            <a:ext cx="2807208" cy="2615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1179576"/>
            <a:ext cx="2624327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Reduce lead-to-disbursal TAT across sales, credit, verification, and disbursement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Lower cost per application — cut manual follow-ups, duplicate data entry, and rework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Improve visibility across branch, DSA, digital, ops, contact center, and credit teams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Gain stronger control over workflows, policies, approvals, data, and integrations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Enable AI-led lending: OCR, document checks, fraud signals, and smart case routing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Build a platform that scales across products, geographies, partners, and digital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0964" y="658368"/>
            <a:ext cx="2807208" cy="411480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40964" y="1062532"/>
            <a:ext cx="2807208" cy="7315"/>
          </a:xfrm>
          <a:prstGeom prst="rect">
            <a:avLst/>
          </a:prstGeom>
          <a:solidFill>
            <a:srgbClr val="2E7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0692" y="662940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What We Are Building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0964" y="1069848"/>
            <a:ext cx="2807208" cy="2615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0692" y="1179576"/>
            <a:ext cx="2624327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Lead capture and orchestration: branch, DSA, digital, aggregator, contact center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Applicant, co-applicant, income, employment, collateral, and document capture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Integrated KYC, bureau, OCR, DigiLocker, CKYC, eSign, payment, and onboarding APIs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Configurable workflows for verification, credit review, approvals, and disbursement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Role-based dashboards for sales, credit, operations, compliance, and leadership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AI-ready architecture for document intelligence, anomaly detection, decision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658368"/>
            <a:ext cx="2807208" cy="41148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062532"/>
            <a:ext cx="2807208" cy="7315"/>
          </a:xfrm>
          <a:prstGeom prst="rect">
            <a:avLst/>
          </a:prstGeom>
          <a:solidFill>
            <a:srgbClr val="2E7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662940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Why AWS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069848"/>
            <a:ext cx="2807208" cy="2615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179576"/>
            <a:ext cx="2624327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Own cloud infrastructure — no dependency on vendor-controlled LOS platforms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Scale dynamically for peak origination, campaigns, partner traffic, and batch ops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Managed services reduce infrastructure overhead and improve platform reliability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Secure documents, customer data, APIs, and integrations with enterprise-grade controls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Event-driven, API-first integration with internal systems and third-party services</a:t>
            </a:r>
          </a:p>
          <a:p>
            <a:pPr marL="128016" indent="-128016">
              <a:buFont typeface="Calibri"/>
              <a:buChar char="›"/>
              <a:spcAft>
                <a:spcPts val="400"/>
              </a:spcAft>
            </a:pPr>
            <a:r>
              <a:rPr sz="800" b="0" i="0">
                <a:solidFill>
                  <a:srgbClr val="1E293B"/>
                </a:solidFill>
                <a:latin typeface="Calibri"/>
              </a:rPr>
              <a:t>Extend with AWS Bedrock, document intelligence, analytics, and automation capabilities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685032"/>
            <a:ext cx="9144000" cy="1458468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37673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Expected Business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37398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 kern="250">
              <a:rPr sz="950" b="1" i="0">
                <a:solidFill>
                  <a:srgbClr val="C5D9F1"/>
                </a:solidFill>
                <a:latin typeface="Calibri"/>
              </a:rPr>
              <a:t>DELOITTE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3794760"/>
            <a:ext cx="52120" cy="5212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6888" y="4078224"/>
            <a:ext cx="8650224" cy="7315"/>
          </a:xfrm>
          <a:prstGeom prst="rect">
            <a:avLst/>
          </a:prstGeom>
          <a:solidFill>
            <a:srgbClr val="C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6888" y="4215384"/>
            <a:ext cx="64008" cy="64008"/>
          </a:xfrm>
          <a:prstGeom prst="ellipse">
            <a:avLst/>
          </a:prstGeom>
          <a:solidFill>
            <a:srgbClr val="C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4151376"/>
            <a:ext cx="2724912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Faster loan processing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and reduced TAT</a:t>
            </a:r>
          </a:p>
        </p:txBody>
      </p:sp>
      <p:sp>
        <p:nvSpPr>
          <p:cNvPr id="27" name="Oval 26"/>
          <p:cNvSpPr/>
          <p:nvPr/>
        </p:nvSpPr>
        <p:spPr>
          <a:xfrm>
            <a:off x="3163824" y="4215384"/>
            <a:ext cx="64008" cy="64008"/>
          </a:xfrm>
          <a:prstGeom prst="ellipse">
            <a:avLst/>
          </a:prstGeom>
          <a:solidFill>
            <a:srgbClr val="C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151376"/>
            <a:ext cx="2724912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Lower operating cost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per file</a:t>
            </a:r>
          </a:p>
        </p:txBody>
      </p:sp>
      <p:sp>
        <p:nvSpPr>
          <p:cNvPr id="29" name="Oval 28"/>
          <p:cNvSpPr/>
          <p:nvPr/>
        </p:nvSpPr>
        <p:spPr>
          <a:xfrm>
            <a:off x="6080760" y="4215384"/>
            <a:ext cx="64008" cy="64008"/>
          </a:xfrm>
          <a:prstGeom prst="ellipse">
            <a:avLst/>
          </a:prstGeom>
          <a:solidFill>
            <a:srgbClr val="C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8776" y="4151376"/>
            <a:ext cx="2724912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Higher sales, credit, and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operations productivity</a:t>
            </a:r>
          </a:p>
        </p:txBody>
      </p:sp>
      <p:sp>
        <p:nvSpPr>
          <p:cNvPr id="31" name="Oval 30"/>
          <p:cNvSpPr/>
          <p:nvPr/>
        </p:nvSpPr>
        <p:spPr>
          <a:xfrm>
            <a:off x="246888" y="4654296"/>
            <a:ext cx="64008" cy="64008"/>
          </a:xfrm>
          <a:prstGeom prst="ellipse">
            <a:avLst/>
          </a:prstGeom>
          <a:solidFill>
            <a:srgbClr val="C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4590288"/>
            <a:ext cx="2724912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Better compliance,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auditability, and data control</a:t>
            </a:r>
          </a:p>
        </p:txBody>
      </p:sp>
      <p:sp>
        <p:nvSpPr>
          <p:cNvPr id="33" name="Oval 32"/>
          <p:cNvSpPr/>
          <p:nvPr/>
        </p:nvSpPr>
        <p:spPr>
          <a:xfrm>
            <a:off x="3163824" y="4654296"/>
            <a:ext cx="64008" cy="64008"/>
          </a:xfrm>
          <a:prstGeom prst="ellipse">
            <a:avLst/>
          </a:prstGeom>
          <a:solidFill>
            <a:srgbClr val="C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590288"/>
            <a:ext cx="2724912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Faster launch of new products,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policies, and partner journeys</a:t>
            </a:r>
          </a:p>
        </p:txBody>
      </p:sp>
      <p:sp>
        <p:nvSpPr>
          <p:cNvPr id="35" name="Oval 34"/>
          <p:cNvSpPr/>
          <p:nvPr/>
        </p:nvSpPr>
        <p:spPr>
          <a:xfrm>
            <a:off x="6080760" y="4654296"/>
            <a:ext cx="64008" cy="64008"/>
          </a:xfrm>
          <a:prstGeom prst="ellipse">
            <a:avLst/>
          </a:prstGeom>
          <a:solidFill>
            <a:srgbClr val="C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4590288"/>
            <a:ext cx="2724912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Scalable foundation for AI-assisted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underwriting and intelligent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